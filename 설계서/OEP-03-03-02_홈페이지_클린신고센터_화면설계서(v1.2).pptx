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54" r:id="rId2"/>
    <p:sldMasterId id="2147483660" r:id="rId3"/>
  </p:sldMasterIdLst>
  <p:notesMasterIdLst>
    <p:notesMasterId r:id="rId21"/>
  </p:notesMasterIdLst>
  <p:handoutMasterIdLst>
    <p:handoutMasterId r:id="rId22"/>
  </p:handoutMasterIdLst>
  <p:sldIdLst>
    <p:sldId id="1572" r:id="rId4"/>
    <p:sldId id="330" r:id="rId5"/>
    <p:sldId id="1732" r:id="rId6"/>
    <p:sldId id="2299" r:id="rId7"/>
    <p:sldId id="2348" r:id="rId8"/>
    <p:sldId id="2349" r:id="rId9"/>
    <p:sldId id="2350" r:id="rId10"/>
    <p:sldId id="1855" r:id="rId11"/>
    <p:sldId id="2300" r:id="rId12"/>
    <p:sldId id="2305" r:id="rId13"/>
    <p:sldId id="2345" r:id="rId14"/>
    <p:sldId id="2342" r:id="rId15"/>
    <p:sldId id="2346" r:id="rId16"/>
    <p:sldId id="2351" r:id="rId17"/>
    <p:sldId id="2347" r:id="rId18"/>
    <p:sldId id="2344" r:id="rId19"/>
    <p:sldId id="2343" r:id="rId20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7" userDrawn="1">
          <p15:clr>
            <a:srgbClr val="A4A3A4"/>
          </p15:clr>
        </p15:guide>
        <p15:guide id="7" pos="104">
          <p15:clr>
            <a:srgbClr val="A4A3A4"/>
          </p15:clr>
        </p15:guide>
        <p15:guide id="15" pos="4345" userDrawn="1">
          <p15:clr>
            <a:srgbClr val="A4A3A4"/>
          </p15:clr>
        </p15:guide>
        <p15:guide id="16" orient="horz" pos="1412" userDrawn="1">
          <p15:clr>
            <a:srgbClr val="A4A3A4"/>
          </p15:clr>
        </p15:guide>
        <p15:guide id="18" orient="horz" pos="4088" userDrawn="1">
          <p15:clr>
            <a:srgbClr val="A4A3A4"/>
          </p15:clr>
        </p15:guide>
        <p15:guide id="19" pos="172" userDrawn="1">
          <p15:clr>
            <a:srgbClr val="A4A3A4"/>
          </p15:clr>
        </p15:guide>
        <p15:guide id="20" pos="4277" userDrawn="1">
          <p15:clr>
            <a:srgbClr val="A4A3A4"/>
          </p15:clr>
        </p15:guide>
        <p15:guide id="21" orient="horz" pos="102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66"/>
    <a:srgbClr val="6699FF"/>
    <a:srgbClr val="00FF00"/>
    <a:srgbClr val="0033CC"/>
    <a:srgbClr val="99CCFF"/>
    <a:srgbClr val="CCECFF"/>
    <a:srgbClr val="77D717"/>
    <a:srgbClr val="FF4F4F"/>
    <a:srgbClr val="0000CC"/>
    <a:srgbClr val="FFE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76" autoAdjust="0"/>
    <p:restoredTop sz="83420" autoAdjust="0"/>
  </p:normalViewPr>
  <p:slideViewPr>
    <p:cSldViewPr>
      <p:cViewPr varScale="1">
        <p:scale>
          <a:sx n="120" d="100"/>
          <a:sy n="120" d="100"/>
        </p:scale>
        <p:origin x="1380" y="108"/>
      </p:cViewPr>
      <p:guideLst>
        <p:guide orient="horz" pos="867"/>
        <p:guide pos="104"/>
        <p:guide pos="4345"/>
        <p:guide orient="horz" pos="1412"/>
        <p:guide orient="horz" pos="4088"/>
        <p:guide pos="172"/>
        <p:guide pos="4277"/>
        <p:guide orient="horz" pos="102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87" d="100"/>
          <a:sy n="87" d="100"/>
        </p:scale>
        <p:origin x="-3756" y="-78"/>
      </p:cViewPr>
      <p:guideLst>
        <p:guide orient="horz" pos="3126"/>
        <p:guide pos="214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984" cy="496574"/>
          </a:xfrm>
          <a:prstGeom prst="rect">
            <a:avLst/>
          </a:prstGeom>
        </p:spPr>
        <p:txBody>
          <a:bodyPr vert="horz" lIns="93103" tIns="46552" rIns="93103" bIns="4655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070" y="0"/>
            <a:ext cx="2945984" cy="496574"/>
          </a:xfrm>
          <a:prstGeom prst="rect">
            <a:avLst/>
          </a:prstGeom>
        </p:spPr>
        <p:txBody>
          <a:bodyPr vert="horz" lIns="93103" tIns="46552" rIns="93103" bIns="46552" rtlCol="0"/>
          <a:lstStyle>
            <a:lvl1pPr algn="r">
              <a:defRPr sz="1200"/>
            </a:lvl1pPr>
          </a:lstStyle>
          <a:p>
            <a:fld id="{C8666A89-3649-4A26-B076-8BB61794613B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28452"/>
            <a:ext cx="2945984" cy="496574"/>
          </a:xfrm>
          <a:prstGeom prst="rect">
            <a:avLst/>
          </a:prstGeom>
        </p:spPr>
        <p:txBody>
          <a:bodyPr vert="horz" lIns="93103" tIns="46552" rIns="93103" bIns="4655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070" y="9428452"/>
            <a:ext cx="2945984" cy="496574"/>
          </a:xfrm>
          <a:prstGeom prst="rect">
            <a:avLst/>
          </a:prstGeom>
        </p:spPr>
        <p:txBody>
          <a:bodyPr vert="horz" lIns="93103" tIns="46552" rIns="93103" bIns="46552" rtlCol="0" anchor="b"/>
          <a:lstStyle>
            <a:lvl1pPr algn="r">
              <a:defRPr sz="1200"/>
            </a:lvl1pPr>
          </a:lstStyle>
          <a:p>
            <a:fld id="{598925E5-C1E6-4986-9C33-22AD8CBAF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80394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5B9C9D-B269-4765-BAF2-65AF33F6B00F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52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46C2E9-C377-4C23-9E6D-618FB56A7D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086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04B90-27FD-422C-8CC6-2AADAD122D08}" type="slidenum">
              <a:rPr lang="ko-KR" altLang="en-US" smtClean="0">
                <a:solidFill>
                  <a:prstClr val="black"/>
                </a:solidFill>
              </a:rPr>
              <a:pPr/>
              <a:t>1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9325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36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DC0A5A12-DAA7-4BD5-9F8E-1FC5DDE13A02}" type="datetimeFigureOut">
              <a:rPr lang="ko-KR" altLang="en-US" smtClean="0"/>
              <a:pPr/>
              <a:t>2025-11-04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6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33C5AA6D-4F05-4FE9-A936-59D8F48292D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89390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6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DC0A5A12-DAA7-4BD5-9F8E-1FC5DDE13A02}" type="datetimeFigureOut">
              <a:rPr lang="ko-KR" altLang="en-US" smtClean="0"/>
              <a:pPr/>
              <a:t>2025-11-04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6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33C5AA6D-4F05-4FE9-A936-59D8F48292D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6069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" y="284"/>
            <a:ext cx="9905181" cy="6857433"/>
          </a:xfrm>
          <a:prstGeom prst="rect">
            <a:avLst/>
          </a:prstGeom>
        </p:spPr>
      </p:pic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95300" y="6429397"/>
            <a:ext cx="2311400" cy="292079"/>
          </a:xfrm>
          <a:prstGeom prst="rect">
            <a:avLst/>
          </a:prstGeom>
        </p:spPr>
        <p:txBody>
          <a:bodyPr/>
          <a:lstStyle/>
          <a:p>
            <a:fld id="{ED3D6733-6F27-4404-AB51-585418F146E5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2025-11-04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384550" y="6429397"/>
            <a:ext cx="3136900" cy="292079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099300" y="6429397"/>
            <a:ext cx="2311400" cy="292079"/>
          </a:xfrm>
          <a:prstGeom prst="rect">
            <a:avLst/>
          </a:prstGeom>
        </p:spPr>
        <p:txBody>
          <a:bodyPr/>
          <a:lstStyle/>
          <a:p>
            <a:fld id="{EE6BC638-39B7-4287-91A7-2A3DDA573295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9685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" y="287"/>
            <a:ext cx="9905181" cy="6857433"/>
          </a:xfrm>
          <a:prstGeom prst="rect">
            <a:avLst/>
          </a:prstGeom>
        </p:spPr>
      </p:pic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543756" y="1916839"/>
            <a:ext cx="4290477" cy="450573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굴림체" pitchFamily="49" charset="-127"/>
              <a:buNone/>
              <a:defRPr lang="ko-KR" altLang="en-US" sz="1800" kern="1200" baseline="0" dirty="0">
                <a:solidFill>
                  <a:srgbClr val="D4D1CE"/>
                </a:solidFill>
                <a:effectLst/>
                <a:latin typeface="Noto Sans" panose="020B0502040504020204" pitchFamily="34" charset="0"/>
                <a:ea typeface="맑은 고딕" panose="020B0503020000020004" pitchFamily="50" charset="-127"/>
                <a:cs typeface="+mj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6733-6F27-4404-AB51-585418F146E5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2025-11-04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제목 1"/>
          <p:cNvSpPr>
            <a:spLocks noGrp="1"/>
          </p:cNvSpPr>
          <p:nvPr>
            <p:ph type="ctrTitle" hasCustomPrompt="1"/>
          </p:nvPr>
        </p:nvSpPr>
        <p:spPr>
          <a:xfrm>
            <a:off x="543756" y="550335"/>
            <a:ext cx="4290477" cy="1412579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굴림체" pitchFamily="49" charset="-127"/>
              <a:buNone/>
              <a:defRPr lang="ko-KR" altLang="en-US" sz="4300" kern="1200" baseline="0" dirty="0">
                <a:solidFill>
                  <a:srgbClr val="D4D1CE"/>
                </a:solidFill>
                <a:effectLst/>
                <a:latin typeface="Noto Sans" panose="020B0502040504020204" pitchFamily="34" charset="0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입력하시오</a:t>
            </a:r>
          </a:p>
        </p:txBody>
      </p:sp>
    </p:spTree>
    <p:extLst>
      <p:ext uri="{BB962C8B-B14F-4D97-AF65-F5344CB8AC3E}">
        <p14:creationId xmlns:p14="http://schemas.microsoft.com/office/powerpoint/2010/main" val="2732881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" y="287"/>
            <a:ext cx="9905181" cy="6857433"/>
          </a:xfrm>
          <a:prstGeom prst="rect">
            <a:avLst/>
          </a:prstGeom>
        </p:spPr>
      </p:pic>
      <p:sp>
        <p:nvSpPr>
          <p:cNvPr id="8" name="모서리가 둥근 직사각형 7"/>
          <p:cNvSpPr/>
          <p:nvPr userDrawn="1"/>
        </p:nvSpPr>
        <p:spPr>
          <a:xfrm>
            <a:off x="134144" y="577180"/>
            <a:ext cx="9655394" cy="5940000"/>
          </a:xfrm>
          <a:prstGeom prst="roundRect">
            <a:avLst>
              <a:gd name="adj" fmla="val 902"/>
            </a:avLst>
          </a:prstGeom>
          <a:gradFill>
            <a:gsLst>
              <a:gs pos="0">
                <a:srgbClr val="FFFFFF">
                  <a:alpha val="85000"/>
                </a:srgbClr>
              </a:gs>
              <a:gs pos="29000">
                <a:schemeClr val="bg1"/>
              </a:gs>
            </a:gsLst>
            <a:lin ang="5400000" scaled="0"/>
          </a:gradFill>
          <a:ln w="12700">
            <a:gradFill>
              <a:gsLst>
                <a:gs pos="100000">
                  <a:srgbClr val="005EA4">
                    <a:alpha val="70000"/>
                  </a:srgbClr>
                </a:gs>
                <a:gs pos="2000">
                  <a:schemeClr val="tx2">
                    <a:lumMod val="20000"/>
                    <a:lumOff val="80000"/>
                  </a:schemeClr>
                </a:gs>
                <a:gs pos="62000">
                  <a:srgbClr val="E1E8F5">
                    <a:alpha val="0"/>
                  </a:srgbClr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689" y="6577092"/>
            <a:ext cx="901852" cy="209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 userDrawn="1"/>
        </p:nvSpPr>
        <p:spPr>
          <a:xfrm>
            <a:off x="134144" y="6597932"/>
            <a:ext cx="28632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prstClr val="black"/>
                </a:solidFill>
                <a:latin typeface="나눔고딕" pitchFamily="50" charset="-127"/>
                <a:ea typeface="나눔고딕" pitchFamily="50" charset="-127"/>
              </a:rPr>
              <a:t>Copyright ⓒ 2022 WIZWIG CO., LTD.,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394769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36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DC0A5A12-DAA7-4BD5-9F8E-1FC5DDE13A02}" type="datetimeFigureOut">
              <a:rPr lang="ko-KR" altLang="en-US" smtClean="0">
                <a:solidFill>
                  <a:prstClr val="black"/>
                </a:solidFill>
              </a:rPr>
              <a:pPr/>
              <a:t>2025-11-04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6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33C5AA6D-4F05-4FE9-A936-59D8F48292D4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20756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6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DC0A5A12-DAA7-4BD5-9F8E-1FC5DDE13A02}" type="datetimeFigureOut">
              <a:rPr lang="ko-KR" altLang="en-US" smtClean="0">
                <a:solidFill>
                  <a:prstClr val="black"/>
                </a:solidFill>
              </a:rPr>
              <a:pPr/>
              <a:t>2025-11-04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6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33C5AA6D-4F05-4FE9-A936-59D8F48292D4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14165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직선 연결선 32"/>
          <p:cNvCxnSpPr/>
          <p:nvPr/>
        </p:nvCxnSpPr>
        <p:spPr>
          <a:xfrm>
            <a:off x="165100" y="6563894"/>
            <a:ext cx="95758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 Box 119"/>
          <p:cNvSpPr txBox="1">
            <a:spLocks noChangeArrowheads="1"/>
          </p:cNvSpPr>
          <p:nvPr/>
        </p:nvSpPr>
        <p:spPr bwMode="auto">
          <a:xfrm>
            <a:off x="4776509" y="6581661"/>
            <a:ext cx="35298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96004F94-3BE7-4D60-B404-1745300C98A2}" type="slidenum">
              <a:rPr lang="ko-KR" altLang="en-US" sz="1000" b="1">
                <a:latin typeface="맑은 고딕" pitchFamily="50" charset="-127"/>
                <a:ea typeface="맑은 고딕" pitchFamily="50" charset="-127"/>
              </a:rPr>
              <a:pPr/>
              <a:t>‹#›</a:t>
            </a:fld>
            <a:endParaRPr lang="en-US" altLang="ko-KR" sz="1000" b="1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2" name="Picture 2" descr="D:\WIZWIG\01 로고\2018년 New 디자인\wizwig_log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7282" y="6617695"/>
            <a:ext cx="624252" cy="160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49826" y="6581012"/>
            <a:ext cx="260359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latin typeface="맑은 고딕" pitchFamily="50" charset="-127"/>
                <a:ea typeface="맑은 고딕" pitchFamily="50" charset="-127"/>
              </a:rPr>
              <a:t>Copyright ⓒ 2025 WIZWIG CO., LTD. All rights reserved</a:t>
            </a:r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68315" y="497938"/>
            <a:ext cx="9751252" cy="158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68315" y="539950"/>
            <a:ext cx="9751252" cy="158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표 15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232328696"/>
              </p:ext>
            </p:extLst>
          </p:nvPr>
        </p:nvGraphicFramePr>
        <p:xfrm>
          <a:off x="164472" y="590019"/>
          <a:ext cx="9577063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83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8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5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0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04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059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4287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맑은 고딕" pitchFamily="50" charset="-127"/>
                          <a:ea typeface="맑은 고딕" pitchFamily="50" charset="-127"/>
                        </a:rPr>
                        <a:t>화면설계서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단위시스템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홈페이지</a:t>
                      </a:r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_</a:t>
                      </a:r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클린신고센터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단계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설계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문서번호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맑은 고딕" pitchFamily="50" charset="-127"/>
                          <a:ea typeface="+mn-ea"/>
                        </a:rPr>
                        <a:t>OEP-03-03-02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83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latin typeface="맑은 고딕" pitchFamily="50" charset="-127"/>
                          <a:ea typeface="맑은 고딕" pitchFamily="50" charset="-127"/>
                        </a:rPr>
                        <a:t>최성열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작성일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2025.10.13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문서버젼</a:t>
                      </a:r>
                      <a:endParaRPr lang="ko-KR" altLang="en-US" sz="800" b="1" dirty="0"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1.0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 userDrawn="1"/>
        </p:nvSpPr>
        <p:spPr>
          <a:xfrm>
            <a:off x="8095943" y="188650"/>
            <a:ext cx="16979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000" b="1" dirty="0">
                <a:latin typeface="나눔고딕" pitchFamily="50" charset="-127"/>
                <a:ea typeface="나눔고딕" pitchFamily="50" charset="-127"/>
              </a:rPr>
              <a:t>오산교육재단 홈페이지 개편</a:t>
            </a:r>
            <a:endParaRPr lang="ko-KR" altLang="en-US" sz="1000" b="1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FEA842D7-2E7B-E0E0-E4B6-842AA36B601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68" y="166184"/>
            <a:ext cx="1184930" cy="302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8167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75" r:id="rId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19026"/>
            <a:ext cx="8915400" cy="7969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062021"/>
            <a:ext cx="8915400" cy="5286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429403"/>
            <a:ext cx="2311400" cy="2920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3D6733-6F27-4404-AB51-585418F146E5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2025-11-04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429403"/>
            <a:ext cx="3136900" cy="2920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429403"/>
            <a:ext cx="2311400" cy="2920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BC638-39B7-4287-91A7-2A3DDA573295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774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1" hangingPunct="1">
        <a:spcBef>
          <a:spcPct val="0"/>
        </a:spcBef>
        <a:buNone/>
        <a:defRPr lang="ko-KR" altLang="en-US" sz="3500" kern="1200">
          <a:solidFill>
            <a:sysClr val="windowText" lastClr="000000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lang="ko-KR" altLang="en-US" sz="2500" kern="120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lang="ko-KR" altLang="en-US" sz="1800" kern="120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lang="ko-KR" altLang="en-US" sz="1800" kern="120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lang="ko-KR" altLang="en-US" sz="1800" kern="120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lang="ko-KR" altLang="en-US"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직선 연결선 32"/>
          <p:cNvCxnSpPr/>
          <p:nvPr/>
        </p:nvCxnSpPr>
        <p:spPr>
          <a:xfrm>
            <a:off x="68315" y="6563894"/>
            <a:ext cx="9751252" cy="158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9826" y="6581012"/>
            <a:ext cx="260359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prstClr val="black"/>
                </a:solidFill>
              </a:rPr>
              <a:t>Copyright ⓒ 2025 WIZWIG CO., LTD. All rights reserved</a:t>
            </a:r>
          </a:p>
        </p:txBody>
      </p:sp>
      <p:graphicFrame>
        <p:nvGraphicFramePr>
          <p:cNvPr id="36" name="표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4267840"/>
              </p:ext>
            </p:extLst>
          </p:nvPr>
        </p:nvGraphicFramePr>
        <p:xfrm>
          <a:off x="164472" y="1080490"/>
          <a:ext cx="9577063" cy="54284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00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7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5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8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0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lang="en-US" altLang="ko-KR" sz="9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Layout</a:t>
                      </a:r>
                      <a:endParaRPr lang="ko-KR" altLang="en-US" sz="9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Comment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146">
                <a:tc rowSpan="8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오산교육재단 홈페이지 개편</a:t>
                      </a: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1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맑은 고딕" pitchFamily="50" charset="-127"/>
                          <a:ea typeface="맑은 고딕" pitchFamily="50" charset="-127"/>
                        </a:rPr>
                        <a:t>Code</a:t>
                      </a:r>
                      <a:endParaRPr lang="ko-KR" altLang="en-US" sz="8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화면 명</a:t>
                      </a: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15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1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latin typeface="맑은 고딕" pitchFamily="50" charset="-127"/>
                          <a:ea typeface="맑은 고딕" pitchFamily="50" charset="-127"/>
                        </a:rPr>
                        <a:t>경로</a:t>
                      </a:r>
                      <a:endParaRPr lang="ko-KR" altLang="en-US" sz="8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8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1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처리기능설명</a:t>
                      </a: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805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66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latin typeface="맑은 고딕" pitchFamily="50" charset="-127"/>
                          <a:ea typeface="맑은 고딕" pitchFamily="50" charset="-127"/>
                        </a:rPr>
                        <a:t>요구사항</a:t>
                      </a:r>
                      <a:endParaRPr lang="ko-KR" altLang="en-US" sz="7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785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latin typeface="맑은 고딕" pitchFamily="50" charset="-127"/>
                          <a:ea typeface="맑은 고딕" pitchFamily="50" charset="-127"/>
                        </a:rPr>
                        <a:t>요구사항 </a:t>
                      </a:r>
                      <a:r>
                        <a:rPr lang="en-US" altLang="ko-KR" sz="700" b="1"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  <a:endParaRPr lang="ko-KR" altLang="en-US" sz="7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8" name="Text Box 119"/>
          <p:cNvSpPr txBox="1">
            <a:spLocks noChangeArrowheads="1"/>
          </p:cNvSpPr>
          <p:nvPr/>
        </p:nvSpPr>
        <p:spPr bwMode="auto">
          <a:xfrm>
            <a:off x="4767190" y="6581661"/>
            <a:ext cx="35298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96004F94-3BE7-4D60-B404-1745300C98A2}" type="slidenum">
              <a:rPr lang="ko-KR" altLang="en-US" sz="1000" b="1">
                <a:solidFill>
                  <a:prstClr val="black"/>
                </a:solidFill>
              </a:rPr>
              <a:pPr/>
              <a:t>‹#›</a:t>
            </a:fld>
            <a:endParaRPr lang="en-US" altLang="ko-KR" sz="1000" b="1" dirty="0">
              <a:solidFill>
                <a:prstClr val="black"/>
              </a:solidFill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BCDF37A-9E17-2C5B-1A28-648924BD24E3}"/>
              </a:ext>
            </a:extLst>
          </p:cNvPr>
          <p:cNvCxnSpPr/>
          <p:nvPr userDrawn="1"/>
        </p:nvCxnSpPr>
        <p:spPr>
          <a:xfrm>
            <a:off x="68315" y="497938"/>
            <a:ext cx="9751252" cy="158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59CCF9C-C5EC-79F2-8923-600FA3621F58}"/>
              </a:ext>
            </a:extLst>
          </p:cNvPr>
          <p:cNvCxnSpPr/>
          <p:nvPr userDrawn="1"/>
        </p:nvCxnSpPr>
        <p:spPr>
          <a:xfrm>
            <a:off x="68315" y="539950"/>
            <a:ext cx="9751252" cy="158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9EBA9369-EFA3-9DB3-17EE-A5F64E7C4CF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934521894"/>
              </p:ext>
            </p:extLst>
          </p:nvPr>
        </p:nvGraphicFramePr>
        <p:xfrm>
          <a:off x="164472" y="590019"/>
          <a:ext cx="9577063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83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8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5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0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04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059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4287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맑은 고딕" pitchFamily="50" charset="-127"/>
                          <a:ea typeface="맑은 고딕" pitchFamily="50" charset="-127"/>
                        </a:rPr>
                        <a:t>화면설계서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단위시스템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홈페이지</a:t>
                      </a:r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_</a:t>
                      </a:r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클린신고센터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단계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설계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문서번호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맑은 고딕" pitchFamily="50" charset="-127"/>
                          <a:ea typeface="+mn-ea"/>
                        </a:rPr>
                        <a:t>OEP-03-03-02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83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latin typeface="맑은 고딕" pitchFamily="50" charset="-127"/>
                          <a:ea typeface="맑은 고딕" pitchFamily="50" charset="-127"/>
                        </a:rPr>
                        <a:t>최성열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작성일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2025.10.13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문서버젼</a:t>
                      </a:r>
                      <a:endParaRPr lang="ko-KR" altLang="en-US" sz="800" b="1" dirty="0"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1.0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2930493-0B2F-AFFF-0F03-B1A0FE24F9B8}"/>
              </a:ext>
            </a:extLst>
          </p:cNvPr>
          <p:cNvSpPr txBox="1"/>
          <p:nvPr userDrawn="1"/>
        </p:nvSpPr>
        <p:spPr>
          <a:xfrm>
            <a:off x="8095943" y="188650"/>
            <a:ext cx="16979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000" b="1" dirty="0">
                <a:latin typeface="나눔고딕" pitchFamily="50" charset="-127"/>
                <a:ea typeface="나눔고딕" pitchFamily="50" charset="-127"/>
              </a:rPr>
              <a:t>오산교육재단 홈페이지 개편</a:t>
            </a:r>
            <a:endParaRPr lang="ko-KR" altLang="en-US" sz="1000" b="1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1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0A8F1F73-8FB4-6755-1EA6-4165F276548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68" y="166184"/>
            <a:ext cx="1184930" cy="302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640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16465" y="833221"/>
            <a:ext cx="5412601" cy="540060"/>
          </a:xfrm>
        </p:spPr>
        <p:txBody>
          <a:bodyPr/>
          <a:lstStyle/>
          <a:p>
            <a:r>
              <a:rPr lang="ko-KR" altLang="en-US" sz="3200" b="1" dirty="0">
                <a:latin typeface="나눔고딕" pitchFamily="50" charset="-127"/>
                <a:ea typeface="나눔고딕" pitchFamily="50" charset="-127"/>
              </a:rPr>
              <a:t>오산교육재단</a:t>
            </a:r>
            <a:br>
              <a:rPr lang="en-US" altLang="ko-KR" sz="3200" b="1" dirty="0">
                <a:latin typeface="나눔고딕" pitchFamily="50" charset="-127"/>
                <a:ea typeface="나눔고딕" pitchFamily="50" charset="-127"/>
              </a:rPr>
            </a:br>
            <a:r>
              <a:rPr lang="ko-KR" altLang="en-US" sz="3200" b="1" dirty="0">
                <a:latin typeface="나눔고딕" pitchFamily="50" charset="-127"/>
                <a:ea typeface="나눔고딕" pitchFamily="50" charset="-127"/>
              </a:rPr>
              <a:t>홈페이지 개편</a:t>
            </a:r>
            <a:endParaRPr lang="ko-KR" altLang="en-US" sz="3000" b="1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28464" y="2024844"/>
            <a:ext cx="2364750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400" b="1">
                <a:solidFill>
                  <a:schemeClr val="bg1"/>
                </a:solidFill>
              </a:rPr>
              <a:t>화면설계서</a:t>
            </a: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9381" y="6077898"/>
            <a:ext cx="1290559" cy="2949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6770236" y="6453336"/>
            <a:ext cx="298511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 ⓒ 2025 WIZWIG CO., LTD., All rights reserved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128464" y="2744924"/>
            <a:ext cx="172354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</a:rPr>
              <a:t>[</a:t>
            </a:r>
            <a:r>
              <a:rPr lang="ko-KR" altLang="en-US" sz="2000" b="1" dirty="0">
                <a:solidFill>
                  <a:schemeClr val="bg1"/>
                </a:solidFill>
              </a:rPr>
              <a:t>홈페이지</a:t>
            </a:r>
            <a:r>
              <a:rPr lang="en-US" altLang="ko-KR" sz="2000" b="1" dirty="0">
                <a:solidFill>
                  <a:schemeClr val="bg1"/>
                </a:solidFill>
              </a:rPr>
              <a:t>]</a:t>
            </a:r>
          </a:p>
          <a:p>
            <a:r>
              <a:rPr lang="ko-KR" altLang="en-US" sz="2000" b="1" dirty="0">
                <a:solidFill>
                  <a:schemeClr val="bg1"/>
                </a:solidFill>
              </a:rPr>
              <a:t>클린신고센터</a:t>
            </a: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5D2B0827-74F0-A0F7-9599-1B004FECC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6517" y="342531"/>
            <a:ext cx="1303423" cy="332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6887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roup 109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3010074"/>
              </p:ext>
            </p:extLst>
          </p:nvPr>
        </p:nvGraphicFramePr>
        <p:xfrm>
          <a:off x="165106" y="1183340"/>
          <a:ext cx="9575801" cy="3506713"/>
        </p:xfrm>
        <a:graphic>
          <a:graphicData uri="http://schemas.openxmlformats.org/drawingml/2006/table">
            <a:tbl>
              <a:tblPr/>
              <a:tblGrid>
                <a:gridCol w="13057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3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0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61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3221">
                <a:tc gridSpan="4"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문서이력표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53177" marR="53177" marT="42541" marB="425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53177" marR="53177" marT="42541" marB="425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53177" marR="53177" marT="42541" marB="425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862">
                <a:tc gridSpan="4">
                  <a:txBody>
                    <a:bodyPr/>
                    <a:lstStyle/>
                    <a:p>
                      <a:pPr marL="0" marR="0" lvl="0" indent="0" algn="l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오산교육재단 홈페이지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&gt;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열린경영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&gt;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클린신고센터 화면설계서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53177" marR="53177" marT="42541" marB="425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862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문서버젼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개정일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개정내용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작성자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1.0</a:t>
                      </a: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2025.10.13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>
                          <a:latin typeface="나눔고딕" pitchFamily="50" charset="-127"/>
                          <a:ea typeface="나눔고딕" pitchFamily="50" charset="-127"/>
                        </a:rPr>
                        <a:t>최초 작성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>
                          <a:latin typeface="나눔고딕" pitchFamily="50" charset="-127"/>
                          <a:ea typeface="나눔고딕" pitchFamily="50" charset="-127"/>
                        </a:rPr>
                        <a:t>최성열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1.1</a:t>
                      </a: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2025.10.27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화면 코멘트 작업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최성열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1.2</a:t>
                      </a: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2025.10.29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 err="1">
                          <a:latin typeface="나눔고딕" pitchFamily="50" charset="-127"/>
                          <a:ea typeface="나눔고딕" pitchFamily="50" charset="-127"/>
                        </a:rPr>
                        <a:t>클린신고센터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 메인 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[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국민권익위원회 </a:t>
                      </a:r>
                      <a:r>
                        <a:rPr lang="ko-KR" altLang="en-US" sz="1000" dirty="0" err="1">
                          <a:latin typeface="나눔고딕" pitchFamily="50" charset="-127"/>
                          <a:ea typeface="나눔고딕" pitchFamily="50" charset="-127"/>
                        </a:rPr>
                        <a:t>청렴포털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 바로가기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외부신고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)]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버튼 추가</a:t>
                      </a:r>
                      <a:endParaRPr lang="en-US" altLang="ko-KR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92075" marR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버튼 클릭 시 새창으로 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https://www.clean.go.kr/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사이트가 보인다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.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최성열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7482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roup 109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67835488"/>
              </p:ext>
            </p:extLst>
          </p:nvPr>
        </p:nvGraphicFramePr>
        <p:xfrm>
          <a:off x="165100" y="1175295"/>
          <a:ext cx="9575800" cy="237482"/>
        </p:xfrm>
        <a:graphic>
          <a:graphicData uri="http://schemas.openxmlformats.org/drawingml/2006/table">
            <a:tbl>
              <a:tblPr/>
              <a:tblGrid>
                <a:gridCol w="957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9436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홈페이지 메뉴 구조</a:t>
                      </a: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5" name="모서리가 둥근 직사각형 74"/>
          <p:cNvSpPr/>
          <p:nvPr/>
        </p:nvSpPr>
        <p:spPr>
          <a:xfrm>
            <a:off x="4064743" y="1520788"/>
            <a:ext cx="1931636" cy="229116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tx1">
                <a:lumMod val="95000"/>
                <a:lumOff val="5000"/>
              </a:schemeClr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 홈페이지</a:t>
            </a:r>
          </a:p>
        </p:txBody>
      </p:sp>
      <p:sp>
        <p:nvSpPr>
          <p:cNvPr id="76" name="모서리가 둥근 직사각형 75"/>
          <p:cNvSpPr/>
          <p:nvPr/>
        </p:nvSpPr>
        <p:spPr>
          <a:xfrm>
            <a:off x="164468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</a:t>
            </a:r>
          </a:p>
        </p:txBody>
      </p:sp>
      <p:sp>
        <p:nvSpPr>
          <p:cNvPr id="81" name="모서리가 둥근 직사각형 80"/>
          <p:cNvSpPr/>
          <p:nvPr/>
        </p:nvSpPr>
        <p:spPr>
          <a:xfrm>
            <a:off x="1068205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</a:t>
            </a:r>
          </a:p>
        </p:txBody>
      </p:sp>
      <p:sp>
        <p:nvSpPr>
          <p:cNvPr id="82" name="모서리가 둥근 직사각형 81"/>
          <p:cNvSpPr/>
          <p:nvPr/>
        </p:nvSpPr>
        <p:spPr>
          <a:xfrm>
            <a:off x="1976252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회원가입</a:t>
            </a:r>
          </a:p>
        </p:txBody>
      </p:sp>
      <p:sp>
        <p:nvSpPr>
          <p:cNvPr id="83" name="모서리가 둥근 직사각형 82"/>
          <p:cNvSpPr/>
          <p:nvPr/>
        </p:nvSpPr>
        <p:spPr>
          <a:xfrm>
            <a:off x="3044788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ID/PW</a:t>
            </a:r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찾기</a:t>
            </a: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088904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재단소개</a:t>
            </a:r>
          </a:p>
        </p:txBody>
      </p:sp>
      <p:sp>
        <p:nvSpPr>
          <p:cNvPr id="85" name="모서리가 둥근 직사각형 84"/>
          <p:cNvSpPr/>
          <p:nvPr/>
        </p:nvSpPr>
        <p:spPr>
          <a:xfrm>
            <a:off x="6009278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열린경영</a:t>
            </a:r>
            <a:endParaRPr lang="ko-KR" altLang="en-US" sz="8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" name="모서리가 둥근 직사각형 94"/>
          <p:cNvSpPr/>
          <p:nvPr/>
        </p:nvSpPr>
        <p:spPr>
          <a:xfrm>
            <a:off x="8875660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마이페이지</a:t>
            </a:r>
          </a:p>
        </p:txBody>
      </p:sp>
      <p:cxnSp>
        <p:nvCxnSpPr>
          <p:cNvPr id="104" name="꺾인 연결선 103"/>
          <p:cNvCxnSpPr>
            <a:stCxn id="76" idx="0"/>
            <a:endCxn id="75" idx="2"/>
          </p:cNvCxnSpPr>
          <p:nvPr/>
        </p:nvCxnSpPr>
        <p:spPr>
          <a:xfrm rot="5400000" flipH="1" flipV="1">
            <a:off x="2641771" y="-295398"/>
            <a:ext cx="343487" cy="4434093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연결선 105"/>
          <p:cNvCxnSpPr>
            <a:stCxn id="81" idx="0"/>
            <a:endCxn id="75" idx="2"/>
          </p:cNvCxnSpPr>
          <p:nvPr/>
        </p:nvCxnSpPr>
        <p:spPr>
          <a:xfrm rot="5400000" flipH="1" flipV="1">
            <a:off x="3093640" y="156470"/>
            <a:ext cx="343487" cy="3530356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꺾인 연결선 106"/>
          <p:cNvCxnSpPr>
            <a:stCxn id="82" idx="0"/>
            <a:endCxn id="75" idx="2"/>
          </p:cNvCxnSpPr>
          <p:nvPr/>
        </p:nvCxnSpPr>
        <p:spPr>
          <a:xfrm rot="5400000" flipH="1" flipV="1">
            <a:off x="3547663" y="610494"/>
            <a:ext cx="343487" cy="2622309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꺾인 연결선 108"/>
          <p:cNvCxnSpPr>
            <a:cxnSpLocks/>
            <a:stCxn id="83" idx="0"/>
            <a:endCxn id="75" idx="2"/>
          </p:cNvCxnSpPr>
          <p:nvPr/>
        </p:nvCxnSpPr>
        <p:spPr>
          <a:xfrm rot="5400000" flipH="1" flipV="1">
            <a:off x="4081931" y="1144762"/>
            <a:ext cx="343487" cy="1553773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꺾인 연결선 109"/>
          <p:cNvCxnSpPr>
            <a:stCxn id="84" idx="0"/>
            <a:endCxn id="75" idx="2"/>
          </p:cNvCxnSpPr>
          <p:nvPr/>
        </p:nvCxnSpPr>
        <p:spPr>
          <a:xfrm rot="5400000" flipH="1" flipV="1">
            <a:off x="4603989" y="1666820"/>
            <a:ext cx="343487" cy="509657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꺾인 연결선 111"/>
          <p:cNvCxnSpPr>
            <a:stCxn id="85" idx="0"/>
            <a:endCxn id="75" idx="2"/>
          </p:cNvCxnSpPr>
          <p:nvPr/>
        </p:nvCxnSpPr>
        <p:spPr>
          <a:xfrm rot="16200000" flipV="1">
            <a:off x="5564177" y="1216289"/>
            <a:ext cx="343487" cy="1410717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꺾인 연결선 116"/>
          <p:cNvCxnSpPr>
            <a:cxnSpLocks/>
            <a:stCxn id="14" idx="0"/>
            <a:endCxn id="75" idx="2"/>
          </p:cNvCxnSpPr>
          <p:nvPr/>
        </p:nvCxnSpPr>
        <p:spPr>
          <a:xfrm rot="16200000" flipV="1">
            <a:off x="6528104" y="252362"/>
            <a:ext cx="343487" cy="3338571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꺾인 연결선 145">
            <a:extLst>
              <a:ext uri="{FF2B5EF4-FFF2-40B4-BE49-F238E27FC236}">
                <a16:creationId xmlns:a16="http://schemas.microsoft.com/office/drawing/2014/main" id="{644307EB-4AEF-9DF9-A665-63EC3A4CFC16}"/>
              </a:ext>
            </a:extLst>
          </p:cNvPr>
          <p:cNvCxnSpPr>
            <a:cxnSpLocks/>
            <a:stCxn id="95" idx="0"/>
            <a:endCxn id="75" idx="2"/>
          </p:cNvCxnSpPr>
          <p:nvPr/>
        </p:nvCxnSpPr>
        <p:spPr>
          <a:xfrm rot="16200000" flipV="1">
            <a:off x="6997368" y="-216902"/>
            <a:ext cx="343487" cy="4277099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모서리가 둥근 직사각형 84">
            <a:extLst>
              <a:ext uri="{FF2B5EF4-FFF2-40B4-BE49-F238E27FC236}">
                <a16:creationId xmlns:a16="http://schemas.microsoft.com/office/drawing/2014/main" id="{FF428B43-48C0-330F-58DF-A58897517C69}"/>
              </a:ext>
            </a:extLst>
          </p:cNvPr>
          <p:cNvSpPr/>
          <p:nvPr/>
        </p:nvSpPr>
        <p:spPr>
          <a:xfrm>
            <a:off x="7937132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프로그램신청</a:t>
            </a:r>
          </a:p>
        </p:txBody>
      </p:sp>
      <p:sp>
        <p:nvSpPr>
          <p:cNvPr id="3" name="모서리가 둥근 직사각형 83">
            <a:extLst>
              <a:ext uri="{FF2B5EF4-FFF2-40B4-BE49-F238E27FC236}">
                <a16:creationId xmlns:a16="http://schemas.microsoft.com/office/drawing/2014/main" id="{B6628934-0CC3-8B75-8F1A-251C2087CDC7}"/>
              </a:ext>
            </a:extLst>
          </p:cNvPr>
          <p:cNvSpPr/>
          <p:nvPr/>
        </p:nvSpPr>
        <p:spPr>
          <a:xfrm>
            <a:off x="4624329" y="2344450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재단안내</a:t>
            </a:r>
          </a:p>
        </p:txBody>
      </p:sp>
      <p:cxnSp>
        <p:nvCxnSpPr>
          <p:cNvPr id="4" name="꺾인 연결선 111">
            <a:extLst>
              <a:ext uri="{FF2B5EF4-FFF2-40B4-BE49-F238E27FC236}">
                <a16:creationId xmlns:a16="http://schemas.microsoft.com/office/drawing/2014/main" id="{49A95291-24B8-81D0-2B5C-A4201A8D5064}"/>
              </a:ext>
            </a:extLst>
          </p:cNvPr>
          <p:cNvCxnSpPr>
            <a:cxnSpLocks/>
            <a:stCxn id="3" idx="1"/>
            <a:endCxn id="84" idx="2"/>
          </p:cNvCxnSpPr>
          <p:nvPr/>
        </p:nvCxnSpPr>
        <p:spPr>
          <a:xfrm rot="10800000">
            <a:off x="4520905" y="2282743"/>
            <a:ext cx="103425" cy="147776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모서리가 둥근 직사각형 83">
            <a:extLst>
              <a:ext uri="{FF2B5EF4-FFF2-40B4-BE49-F238E27FC236}">
                <a16:creationId xmlns:a16="http://schemas.microsoft.com/office/drawing/2014/main" id="{542BC5F9-0DEA-6F6A-05DA-7CC81AC03EA5}"/>
              </a:ext>
            </a:extLst>
          </p:cNvPr>
          <p:cNvSpPr/>
          <p:nvPr/>
        </p:nvSpPr>
        <p:spPr>
          <a:xfrm>
            <a:off x="4624329" y="3383751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조직안내</a:t>
            </a:r>
          </a:p>
        </p:txBody>
      </p:sp>
      <p:sp>
        <p:nvSpPr>
          <p:cNvPr id="11" name="모서리가 둥근 직사각형 83">
            <a:extLst>
              <a:ext uri="{FF2B5EF4-FFF2-40B4-BE49-F238E27FC236}">
                <a16:creationId xmlns:a16="http://schemas.microsoft.com/office/drawing/2014/main" id="{D7CDACE6-F8F4-78E6-FE6E-80FE46ECB8C7}"/>
              </a:ext>
            </a:extLst>
          </p:cNvPr>
          <p:cNvSpPr/>
          <p:nvPr/>
        </p:nvSpPr>
        <p:spPr>
          <a:xfrm>
            <a:off x="4624329" y="4214716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사업소개</a:t>
            </a:r>
          </a:p>
        </p:txBody>
      </p:sp>
      <p:sp>
        <p:nvSpPr>
          <p:cNvPr id="12" name="모서리가 둥근 직사각형 83">
            <a:extLst>
              <a:ext uri="{FF2B5EF4-FFF2-40B4-BE49-F238E27FC236}">
                <a16:creationId xmlns:a16="http://schemas.microsoft.com/office/drawing/2014/main" id="{E0DFAD42-1C52-DC6A-734F-22B90376EDD5}"/>
              </a:ext>
            </a:extLst>
          </p:cNvPr>
          <p:cNvSpPr/>
          <p:nvPr/>
        </p:nvSpPr>
        <p:spPr>
          <a:xfrm>
            <a:off x="4624329" y="4873543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찾아오시는길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모서리가 둥근 직사각형 83">
            <a:extLst>
              <a:ext uri="{FF2B5EF4-FFF2-40B4-BE49-F238E27FC236}">
                <a16:creationId xmlns:a16="http://schemas.microsoft.com/office/drawing/2014/main" id="{E9485B48-F211-25A4-0EC7-9E6F19A48105}"/>
              </a:ext>
            </a:extLst>
          </p:cNvPr>
          <p:cNvSpPr/>
          <p:nvPr/>
        </p:nvSpPr>
        <p:spPr>
          <a:xfrm>
            <a:off x="4624329" y="5523506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약관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모서리가 둥근 직사각형 83">
            <a:extLst>
              <a:ext uri="{FF2B5EF4-FFF2-40B4-BE49-F238E27FC236}">
                <a16:creationId xmlns:a16="http://schemas.microsoft.com/office/drawing/2014/main" id="{9BAB1E5B-B43B-1151-5345-B7B8B01608B9}"/>
              </a:ext>
            </a:extLst>
          </p:cNvPr>
          <p:cNvSpPr/>
          <p:nvPr/>
        </p:nvSpPr>
        <p:spPr>
          <a:xfrm>
            <a:off x="3580212" y="2344450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아이디 찾기</a:t>
            </a:r>
          </a:p>
        </p:txBody>
      </p:sp>
      <p:cxnSp>
        <p:nvCxnSpPr>
          <p:cNvPr id="23" name="꺾인 연결선 111">
            <a:extLst>
              <a:ext uri="{FF2B5EF4-FFF2-40B4-BE49-F238E27FC236}">
                <a16:creationId xmlns:a16="http://schemas.microsoft.com/office/drawing/2014/main" id="{8B98DE72-7318-9BF4-88B0-552DE03FA791}"/>
              </a:ext>
            </a:extLst>
          </p:cNvPr>
          <p:cNvCxnSpPr>
            <a:cxnSpLocks/>
            <a:stCxn id="22" idx="1"/>
            <a:endCxn id="83" idx="2"/>
          </p:cNvCxnSpPr>
          <p:nvPr/>
        </p:nvCxnSpPr>
        <p:spPr>
          <a:xfrm rot="10800000">
            <a:off x="3476788" y="2282743"/>
            <a:ext cx="103424" cy="147776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모서리가 둥근 직사각형 83">
            <a:extLst>
              <a:ext uri="{FF2B5EF4-FFF2-40B4-BE49-F238E27FC236}">
                <a16:creationId xmlns:a16="http://schemas.microsoft.com/office/drawing/2014/main" id="{F21E7618-094F-0680-56DE-93F241DE3734}"/>
              </a:ext>
            </a:extLst>
          </p:cNvPr>
          <p:cNvSpPr/>
          <p:nvPr/>
        </p:nvSpPr>
        <p:spPr>
          <a:xfrm>
            <a:off x="3580212" y="2549702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비밀번호 찾기</a:t>
            </a:r>
          </a:p>
        </p:txBody>
      </p:sp>
      <p:sp>
        <p:nvSpPr>
          <p:cNvPr id="30" name="모서리가 둥근 직사각형 83">
            <a:extLst>
              <a:ext uri="{FF2B5EF4-FFF2-40B4-BE49-F238E27FC236}">
                <a16:creationId xmlns:a16="http://schemas.microsoft.com/office/drawing/2014/main" id="{69F46221-6C97-4B2E-708F-CC9E97DD3547}"/>
              </a:ext>
            </a:extLst>
          </p:cNvPr>
          <p:cNvSpPr/>
          <p:nvPr/>
        </p:nvSpPr>
        <p:spPr>
          <a:xfrm>
            <a:off x="2511676" y="2344450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이용약관동의</a:t>
            </a:r>
          </a:p>
        </p:txBody>
      </p:sp>
      <p:cxnSp>
        <p:nvCxnSpPr>
          <p:cNvPr id="31" name="꺾인 연결선 111">
            <a:extLst>
              <a:ext uri="{FF2B5EF4-FFF2-40B4-BE49-F238E27FC236}">
                <a16:creationId xmlns:a16="http://schemas.microsoft.com/office/drawing/2014/main" id="{0AD55E6D-B5A9-5C8D-5E00-3CB784F7CA74}"/>
              </a:ext>
            </a:extLst>
          </p:cNvPr>
          <p:cNvCxnSpPr>
            <a:cxnSpLocks/>
            <a:stCxn id="30" idx="1"/>
            <a:endCxn id="82" idx="2"/>
          </p:cNvCxnSpPr>
          <p:nvPr/>
        </p:nvCxnSpPr>
        <p:spPr>
          <a:xfrm rot="10800000">
            <a:off x="2408252" y="2282743"/>
            <a:ext cx="103424" cy="147776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모서리가 둥근 직사각형 83">
            <a:extLst>
              <a:ext uri="{FF2B5EF4-FFF2-40B4-BE49-F238E27FC236}">
                <a16:creationId xmlns:a16="http://schemas.microsoft.com/office/drawing/2014/main" id="{4EFD5377-C79E-BF81-3A68-CFD38A4C88FE}"/>
              </a:ext>
            </a:extLst>
          </p:cNvPr>
          <p:cNvSpPr/>
          <p:nvPr/>
        </p:nvSpPr>
        <p:spPr>
          <a:xfrm>
            <a:off x="2511676" y="2549702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만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14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세 미만</a:t>
            </a:r>
          </a:p>
        </p:txBody>
      </p:sp>
      <p:sp>
        <p:nvSpPr>
          <p:cNvPr id="33" name="모서리가 둥근 직사각형 83">
            <a:extLst>
              <a:ext uri="{FF2B5EF4-FFF2-40B4-BE49-F238E27FC236}">
                <a16:creationId xmlns:a16="http://schemas.microsoft.com/office/drawing/2014/main" id="{5A3B1B57-2331-7D22-5E6B-A8A8A647A70D}"/>
              </a:ext>
            </a:extLst>
          </p:cNvPr>
          <p:cNvSpPr/>
          <p:nvPr/>
        </p:nvSpPr>
        <p:spPr>
          <a:xfrm>
            <a:off x="2511676" y="2751743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만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14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세 이상</a:t>
            </a:r>
          </a:p>
        </p:txBody>
      </p:sp>
      <p:sp>
        <p:nvSpPr>
          <p:cNvPr id="34" name="모서리가 둥근 직사각형 83">
            <a:extLst>
              <a:ext uri="{FF2B5EF4-FFF2-40B4-BE49-F238E27FC236}">
                <a16:creationId xmlns:a16="http://schemas.microsoft.com/office/drawing/2014/main" id="{8388D7C8-00F5-81BB-0B86-4807235E4F0F}"/>
              </a:ext>
            </a:extLst>
          </p:cNvPr>
          <p:cNvSpPr/>
          <p:nvPr/>
        </p:nvSpPr>
        <p:spPr>
          <a:xfrm>
            <a:off x="2511676" y="2953784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회원정보 작성</a:t>
            </a:r>
          </a:p>
        </p:txBody>
      </p:sp>
      <p:sp>
        <p:nvSpPr>
          <p:cNvPr id="35" name="모서리가 둥근 직사각형 83">
            <a:extLst>
              <a:ext uri="{FF2B5EF4-FFF2-40B4-BE49-F238E27FC236}">
                <a16:creationId xmlns:a16="http://schemas.microsoft.com/office/drawing/2014/main" id="{BBEF9BFD-D023-5D5E-96F3-B30E868F1588}"/>
              </a:ext>
            </a:extLst>
          </p:cNvPr>
          <p:cNvSpPr/>
          <p:nvPr/>
        </p:nvSpPr>
        <p:spPr>
          <a:xfrm>
            <a:off x="2511676" y="3155825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가입신청 완료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7" name="모서리가 둥근 직사각형 83">
            <a:extLst>
              <a:ext uri="{FF2B5EF4-FFF2-40B4-BE49-F238E27FC236}">
                <a16:creationId xmlns:a16="http://schemas.microsoft.com/office/drawing/2014/main" id="{2AF7E80B-C64D-D588-A623-80F881C2630D}"/>
              </a:ext>
            </a:extLst>
          </p:cNvPr>
          <p:cNvSpPr/>
          <p:nvPr/>
        </p:nvSpPr>
        <p:spPr>
          <a:xfrm>
            <a:off x="5162602" y="2574696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이상장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인사말</a:t>
            </a:r>
          </a:p>
        </p:txBody>
      </p:sp>
      <p:cxnSp>
        <p:nvCxnSpPr>
          <p:cNvPr id="38" name="꺾인 연결선 111">
            <a:extLst>
              <a:ext uri="{FF2B5EF4-FFF2-40B4-BE49-F238E27FC236}">
                <a16:creationId xmlns:a16="http://schemas.microsoft.com/office/drawing/2014/main" id="{DBC2A0F1-56AB-CBE0-6102-B053D63E53F2}"/>
              </a:ext>
            </a:extLst>
          </p:cNvPr>
          <p:cNvCxnSpPr>
            <a:cxnSpLocks/>
            <a:stCxn id="37" idx="1"/>
            <a:endCxn id="3" idx="2"/>
          </p:cNvCxnSpPr>
          <p:nvPr/>
        </p:nvCxnSpPr>
        <p:spPr>
          <a:xfrm rot="10800000">
            <a:off x="5049508" y="2516589"/>
            <a:ext cx="113095" cy="144177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모서리가 둥근 직사각형 83">
            <a:extLst>
              <a:ext uri="{FF2B5EF4-FFF2-40B4-BE49-F238E27FC236}">
                <a16:creationId xmlns:a16="http://schemas.microsoft.com/office/drawing/2014/main" id="{C72AAB59-5BB5-D485-2800-852879DA7D16}"/>
              </a:ext>
            </a:extLst>
          </p:cNvPr>
          <p:cNvSpPr/>
          <p:nvPr/>
        </p:nvSpPr>
        <p:spPr>
          <a:xfrm>
            <a:off x="5162602" y="2765866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연혁 및 소개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2" name="모서리가 둥근 직사각형 83">
            <a:extLst>
              <a:ext uri="{FF2B5EF4-FFF2-40B4-BE49-F238E27FC236}">
                <a16:creationId xmlns:a16="http://schemas.microsoft.com/office/drawing/2014/main" id="{49AC9C30-79F1-138D-161C-D6B7D3C0DEB9}"/>
              </a:ext>
            </a:extLst>
          </p:cNvPr>
          <p:cNvSpPr/>
          <p:nvPr/>
        </p:nvSpPr>
        <p:spPr>
          <a:xfrm>
            <a:off x="5162602" y="2964364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비전및핵심가치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3" name="모서리가 둥근 직사각형 83">
            <a:extLst>
              <a:ext uri="{FF2B5EF4-FFF2-40B4-BE49-F238E27FC236}">
                <a16:creationId xmlns:a16="http://schemas.microsoft.com/office/drawing/2014/main" id="{254FDB1A-DBB2-3E62-F405-0B7F7B0E79F9}"/>
              </a:ext>
            </a:extLst>
          </p:cNvPr>
          <p:cNvSpPr/>
          <p:nvPr/>
        </p:nvSpPr>
        <p:spPr>
          <a:xfrm>
            <a:off x="5162602" y="3163776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설립취지</a:t>
            </a:r>
          </a:p>
        </p:txBody>
      </p:sp>
      <p:cxnSp>
        <p:nvCxnSpPr>
          <p:cNvPr id="44" name="꺾인 연결선 111">
            <a:extLst>
              <a:ext uri="{FF2B5EF4-FFF2-40B4-BE49-F238E27FC236}">
                <a16:creationId xmlns:a16="http://schemas.microsoft.com/office/drawing/2014/main" id="{E8598AB6-25DE-35BB-D3BF-368255A026E9}"/>
              </a:ext>
            </a:extLst>
          </p:cNvPr>
          <p:cNvCxnSpPr>
            <a:cxnSpLocks/>
            <a:stCxn id="9" idx="1"/>
            <a:endCxn id="84" idx="2"/>
          </p:cNvCxnSpPr>
          <p:nvPr/>
        </p:nvCxnSpPr>
        <p:spPr>
          <a:xfrm rot="10800000">
            <a:off x="4520905" y="2282744"/>
            <a:ext cx="103425" cy="1187077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모서리가 둥근 직사각형 83">
            <a:extLst>
              <a:ext uri="{FF2B5EF4-FFF2-40B4-BE49-F238E27FC236}">
                <a16:creationId xmlns:a16="http://schemas.microsoft.com/office/drawing/2014/main" id="{F347DBDD-05DC-F45E-4EB8-E10DA3E3B6A3}"/>
              </a:ext>
            </a:extLst>
          </p:cNvPr>
          <p:cNvSpPr/>
          <p:nvPr/>
        </p:nvSpPr>
        <p:spPr>
          <a:xfrm>
            <a:off x="5162602" y="3608303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조직도</a:t>
            </a:r>
          </a:p>
        </p:txBody>
      </p:sp>
      <p:cxnSp>
        <p:nvCxnSpPr>
          <p:cNvPr id="48" name="꺾인 연결선 111">
            <a:extLst>
              <a:ext uri="{FF2B5EF4-FFF2-40B4-BE49-F238E27FC236}">
                <a16:creationId xmlns:a16="http://schemas.microsoft.com/office/drawing/2014/main" id="{C75EBD39-12CB-2691-4735-62CA7AE1D6FC}"/>
              </a:ext>
            </a:extLst>
          </p:cNvPr>
          <p:cNvCxnSpPr>
            <a:cxnSpLocks/>
            <a:stCxn id="47" idx="1"/>
            <a:endCxn id="9" idx="2"/>
          </p:cNvCxnSpPr>
          <p:nvPr/>
        </p:nvCxnSpPr>
        <p:spPr>
          <a:xfrm rot="10800000">
            <a:off x="5049508" y="3555890"/>
            <a:ext cx="113095" cy="138483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모서리가 둥근 직사각형 83">
            <a:extLst>
              <a:ext uri="{FF2B5EF4-FFF2-40B4-BE49-F238E27FC236}">
                <a16:creationId xmlns:a16="http://schemas.microsoft.com/office/drawing/2014/main" id="{6BFA6220-A9E3-C632-2A99-B15148E9B1D3}"/>
              </a:ext>
            </a:extLst>
          </p:cNvPr>
          <p:cNvSpPr/>
          <p:nvPr/>
        </p:nvSpPr>
        <p:spPr>
          <a:xfrm>
            <a:off x="5162602" y="3807424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담당업무</a:t>
            </a:r>
          </a:p>
        </p:txBody>
      </p:sp>
      <p:sp>
        <p:nvSpPr>
          <p:cNvPr id="51" name="모서리가 둥근 직사각형 83">
            <a:extLst>
              <a:ext uri="{FF2B5EF4-FFF2-40B4-BE49-F238E27FC236}">
                <a16:creationId xmlns:a16="http://schemas.microsoft.com/office/drawing/2014/main" id="{F32A935E-9A99-1265-31F6-6303826976EF}"/>
              </a:ext>
            </a:extLst>
          </p:cNvPr>
          <p:cNvSpPr/>
          <p:nvPr/>
        </p:nvSpPr>
        <p:spPr>
          <a:xfrm>
            <a:off x="5162602" y="3999507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임원현황</a:t>
            </a:r>
          </a:p>
        </p:txBody>
      </p:sp>
      <p:cxnSp>
        <p:nvCxnSpPr>
          <p:cNvPr id="52" name="꺾인 연결선 111">
            <a:extLst>
              <a:ext uri="{FF2B5EF4-FFF2-40B4-BE49-F238E27FC236}">
                <a16:creationId xmlns:a16="http://schemas.microsoft.com/office/drawing/2014/main" id="{525B40D7-4721-70B3-F911-4D2F26F5EFB6}"/>
              </a:ext>
            </a:extLst>
          </p:cNvPr>
          <p:cNvCxnSpPr>
            <a:cxnSpLocks/>
            <a:stCxn id="32" idx="1"/>
            <a:endCxn id="82" idx="2"/>
          </p:cNvCxnSpPr>
          <p:nvPr/>
        </p:nvCxnSpPr>
        <p:spPr>
          <a:xfrm rot="10800000">
            <a:off x="2408252" y="2282743"/>
            <a:ext cx="103424" cy="353028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꺾인 연결선 111">
            <a:extLst>
              <a:ext uri="{FF2B5EF4-FFF2-40B4-BE49-F238E27FC236}">
                <a16:creationId xmlns:a16="http://schemas.microsoft.com/office/drawing/2014/main" id="{1EE1A782-A743-B6B7-71CC-4D5F11844199}"/>
              </a:ext>
            </a:extLst>
          </p:cNvPr>
          <p:cNvCxnSpPr>
            <a:cxnSpLocks/>
            <a:stCxn id="33" idx="1"/>
            <a:endCxn id="82" idx="2"/>
          </p:cNvCxnSpPr>
          <p:nvPr/>
        </p:nvCxnSpPr>
        <p:spPr>
          <a:xfrm rot="10800000">
            <a:off x="2408252" y="2282744"/>
            <a:ext cx="103424" cy="555069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꺾인 연결선 111">
            <a:extLst>
              <a:ext uri="{FF2B5EF4-FFF2-40B4-BE49-F238E27FC236}">
                <a16:creationId xmlns:a16="http://schemas.microsoft.com/office/drawing/2014/main" id="{94E241BD-E809-67AA-1726-C7DC5CD84B77}"/>
              </a:ext>
            </a:extLst>
          </p:cNvPr>
          <p:cNvCxnSpPr>
            <a:cxnSpLocks/>
            <a:stCxn id="34" idx="1"/>
            <a:endCxn id="82" idx="2"/>
          </p:cNvCxnSpPr>
          <p:nvPr/>
        </p:nvCxnSpPr>
        <p:spPr>
          <a:xfrm rot="10800000">
            <a:off x="2408252" y="2282743"/>
            <a:ext cx="103424" cy="757110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꺾인 연결선 111">
            <a:extLst>
              <a:ext uri="{FF2B5EF4-FFF2-40B4-BE49-F238E27FC236}">
                <a16:creationId xmlns:a16="http://schemas.microsoft.com/office/drawing/2014/main" id="{95350DA6-F948-FE41-F974-8A9CE6B93DDB}"/>
              </a:ext>
            </a:extLst>
          </p:cNvPr>
          <p:cNvCxnSpPr>
            <a:cxnSpLocks/>
            <a:stCxn id="35" idx="1"/>
            <a:endCxn id="82" idx="2"/>
          </p:cNvCxnSpPr>
          <p:nvPr/>
        </p:nvCxnSpPr>
        <p:spPr>
          <a:xfrm rot="10800000">
            <a:off x="2408252" y="2282744"/>
            <a:ext cx="103424" cy="959151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꺾인 연결선 111">
            <a:extLst>
              <a:ext uri="{FF2B5EF4-FFF2-40B4-BE49-F238E27FC236}">
                <a16:creationId xmlns:a16="http://schemas.microsoft.com/office/drawing/2014/main" id="{D565B3F3-68DE-294B-C4F6-B1D975437F25}"/>
              </a:ext>
            </a:extLst>
          </p:cNvPr>
          <p:cNvCxnSpPr>
            <a:cxnSpLocks/>
            <a:stCxn id="24" idx="1"/>
            <a:endCxn id="83" idx="2"/>
          </p:cNvCxnSpPr>
          <p:nvPr/>
        </p:nvCxnSpPr>
        <p:spPr>
          <a:xfrm rot="10800000">
            <a:off x="3476788" y="2282743"/>
            <a:ext cx="103424" cy="353028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꺾인 연결선 111">
            <a:extLst>
              <a:ext uri="{FF2B5EF4-FFF2-40B4-BE49-F238E27FC236}">
                <a16:creationId xmlns:a16="http://schemas.microsoft.com/office/drawing/2014/main" id="{00EE7086-BFFA-F6B2-F436-BB7C4449478B}"/>
              </a:ext>
            </a:extLst>
          </p:cNvPr>
          <p:cNvCxnSpPr>
            <a:cxnSpLocks/>
            <a:stCxn id="11" idx="1"/>
            <a:endCxn id="84" idx="2"/>
          </p:cNvCxnSpPr>
          <p:nvPr/>
        </p:nvCxnSpPr>
        <p:spPr>
          <a:xfrm rot="10800000">
            <a:off x="4520905" y="2282743"/>
            <a:ext cx="103425" cy="2018042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꺾인 연결선 111">
            <a:extLst>
              <a:ext uri="{FF2B5EF4-FFF2-40B4-BE49-F238E27FC236}">
                <a16:creationId xmlns:a16="http://schemas.microsoft.com/office/drawing/2014/main" id="{5677EEC1-01F7-36DC-5811-CCBEF0301880}"/>
              </a:ext>
            </a:extLst>
          </p:cNvPr>
          <p:cNvCxnSpPr>
            <a:cxnSpLocks/>
            <a:stCxn id="12" idx="1"/>
            <a:endCxn id="84" idx="2"/>
          </p:cNvCxnSpPr>
          <p:nvPr/>
        </p:nvCxnSpPr>
        <p:spPr>
          <a:xfrm rot="10800000">
            <a:off x="4520905" y="2282744"/>
            <a:ext cx="103425" cy="2676869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꺾인 연결선 111">
            <a:extLst>
              <a:ext uri="{FF2B5EF4-FFF2-40B4-BE49-F238E27FC236}">
                <a16:creationId xmlns:a16="http://schemas.microsoft.com/office/drawing/2014/main" id="{A5E72A2E-6DA7-A541-9121-1820F604FB80}"/>
              </a:ext>
            </a:extLst>
          </p:cNvPr>
          <p:cNvCxnSpPr>
            <a:cxnSpLocks/>
            <a:stCxn id="13" idx="1"/>
            <a:endCxn id="84" idx="2"/>
          </p:cNvCxnSpPr>
          <p:nvPr/>
        </p:nvCxnSpPr>
        <p:spPr>
          <a:xfrm rot="10800000">
            <a:off x="4520905" y="2282743"/>
            <a:ext cx="103425" cy="3326832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모서리가 둥근 직사각형 83">
            <a:extLst>
              <a:ext uri="{FF2B5EF4-FFF2-40B4-BE49-F238E27FC236}">
                <a16:creationId xmlns:a16="http://schemas.microsoft.com/office/drawing/2014/main" id="{50120EF7-868B-E4DC-9AD2-63B63D123538}"/>
              </a:ext>
            </a:extLst>
          </p:cNvPr>
          <p:cNvSpPr/>
          <p:nvPr/>
        </p:nvSpPr>
        <p:spPr>
          <a:xfrm>
            <a:off x="5162602" y="4438789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장학사업</a:t>
            </a:r>
          </a:p>
        </p:txBody>
      </p:sp>
      <p:cxnSp>
        <p:nvCxnSpPr>
          <p:cNvPr id="80" name="꺾인 연결선 111">
            <a:extLst>
              <a:ext uri="{FF2B5EF4-FFF2-40B4-BE49-F238E27FC236}">
                <a16:creationId xmlns:a16="http://schemas.microsoft.com/office/drawing/2014/main" id="{7B5EB351-D93A-D328-296A-3654D1D64778}"/>
              </a:ext>
            </a:extLst>
          </p:cNvPr>
          <p:cNvCxnSpPr>
            <a:cxnSpLocks/>
            <a:stCxn id="79" idx="1"/>
            <a:endCxn id="11" idx="2"/>
          </p:cNvCxnSpPr>
          <p:nvPr/>
        </p:nvCxnSpPr>
        <p:spPr>
          <a:xfrm rot="10800000">
            <a:off x="5049508" y="4386854"/>
            <a:ext cx="113095" cy="138004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모서리가 둥근 직사각형 83">
            <a:extLst>
              <a:ext uri="{FF2B5EF4-FFF2-40B4-BE49-F238E27FC236}">
                <a16:creationId xmlns:a16="http://schemas.microsoft.com/office/drawing/2014/main" id="{6C1EEFFE-832B-ABDC-66D7-D3952754F8C0}"/>
              </a:ext>
            </a:extLst>
          </p:cNvPr>
          <p:cNvSpPr/>
          <p:nvPr/>
        </p:nvSpPr>
        <p:spPr>
          <a:xfrm>
            <a:off x="5162602" y="4637910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교육사업</a:t>
            </a:r>
          </a:p>
        </p:txBody>
      </p:sp>
      <p:sp>
        <p:nvSpPr>
          <p:cNvPr id="91" name="모서리가 둥근 직사각형 83">
            <a:extLst>
              <a:ext uri="{FF2B5EF4-FFF2-40B4-BE49-F238E27FC236}">
                <a16:creationId xmlns:a16="http://schemas.microsoft.com/office/drawing/2014/main" id="{29F4F63E-ED10-29C5-1EEA-BC0D07D60AD0}"/>
              </a:ext>
            </a:extLst>
          </p:cNvPr>
          <p:cNvSpPr/>
          <p:nvPr/>
        </p:nvSpPr>
        <p:spPr>
          <a:xfrm>
            <a:off x="5162602" y="5109176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오산교육재단</a:t>
            </a:r>
          </a:p>
        </p:txBody>
      </p:sp>
      <p:cxnSp>
        <p:nvCxnSpPr>
          <p:cNvPr id="96" name="꺾인 연결선 111">
            <a:extLst>
              <a:ext uri="{FF2B5EF4-FFF2-40B4-BE49-F238E27FC236}">
                <a16:creationId xmlns:a16="http://schemas.microsoft.com/office/drawing/2014/main" id="{C7B8E469-1E70-9B5A-F59F-48B6D85135BE}"/>
              </a:ext>
            </a:extLst>
          </p:cNvPr>
          <p:cNvCxnSpPr>
            <a:cxnSpLocks/>
            <a:stCxn id="91" idx="1"/>
            <a:endCxn id="12" idx="2"/>
          </p:cNvCxnSpPr>
          <p:nvPr/>
        </p:nvCxnSpPr>
        <p:spPr>
          <a:xfrm rot="10800000">
            <a:off x="5049508" y="5045681"/>
            <a:ext cx="113095" cy="149564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모서리가 둥근 직사각형 83">
            <a:extLst>
              <a:ext uri="{FF2B5EF4-FFF2-40B4-BE49-F238E27FC236}">
                <a16:creationId xmlns:a16="http://schemas.microsoft.com/office/drawing/2014/main" id="{5FCF6EF1-9DC5-801C-D7FA-B4C1DEA29804}"/>
              </a:ext>
            </a:extLst>
          </p:cNvPr>
          <p:cNvSpPr/>
          <p:nvPr/>
        </p:nvSpPr>
        <p:spPr>
          <a:xfrm>
            <a:off x="5162602" y="5308297"/>
            <a:ext cx="1188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오산시진로진학상담센터</a:t>
            </a:r>
          </a:p>
        </p:txBody>
      </p:sp>
      <p:sp>
        <p:nvSpPr>
          <p:cNvPr id="100" name="모서리가 둥근 직사각형 83">
            <a:extLst>
              <a:ext uri="{FF2B5EF4-FFF2-40B4-BE49-F238E27FC236}">
                <a16:creationId xmlns:a16="http://schemas.microsoft.com/office/drawing/2014/main" id="{F2A980E0-E622-B1EC-8E7C-B80F5E46F8AF}"/>
              </a:ext>
            </a:extLst>
          </p:cNvPr>
          <p:cNvSpPr/>
          <p:nvPr/>
        </p:nvSpPr>
        <p:spPr>
          <a:xfrm>
            <a:off x="5162602" y="5747579"/>
            <a:ext cx="1028931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개인정보처리방침</a:t>
            </a:r>
          </a:p>
        </p:txBody>
      </p:sp>
      <p:cxnSp>
        <p:nvCxnSpPr>
          <p:cNvPr id="101" name="꺾인 연결선 111">
            <a:extLst>
              <a:ext uri="{FF2B5EF4-FFF2-40B4-BE49-F238E27FC236}">
                <a16:creationId xmlns:a16="http://schemas.microsoft.com/office/drawing/2014/main" id="{8955E71C-68EA-0A43-D30B-05B1BEE010EB}"/>
              </a:ext>
            </a:extLst>
          </p:cNvPr>
          <p:cNvCxnSpPr>
            <a:cxnSpLocks/>
            <a:stCxn id="100" idx="1"/>
            <a:endCxn id="13" idx="2"/>
          </p:cNvCxnSpPr>
          <p:nvPr/>
        </p:nvCxnSpPr>
        <p:spPr>
          <a:xfrm rot="10800000">
            <a:off x="5049508" y="5695644"/>
            <a:ext cx="113095" cy="138004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모서리가 둥근 직사각형 83">
            <a:extLst>
              <a:ext uri="{FF2B5EF4-FFF2-40B4-BE49-F238E27FC236}">
                <a16:creationId xmlns:a16="http://schemas.microsoft.com/office/drawing/2014/main" id="{4915AB0F-6514-3157-42E0-CD072F814681}"/>
              </a:ext>
            </a:extLst>
          </p:cNvPr>
          <p:cNvSpPr/>
          <p:nvPr/>
        </p:nvSpPr>
        <p:spPr>
          <a:xfrm>
            <a:off x="5162602" y="5946700"/>
            <a:ext cx="1028931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이메일무단수집거부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3" name="모서리가 둥근 직사각형 83">
            <a:extLst>
              <a:ext uri="{FF2B5EF4-FFF2-40B4-BE49-F238E27FC236}">
                <a16:creationId xmlns:a16="http://schemas.microsoft.com/office/drawing/2014/main" id="{04E4C69E-E272-488F-01CE-C3C85ED2E45B}"/>
              </a:ext>
            </a:extLst>
          </p:cNvPr>
          <p:cNvSpPr/>
          <p:nvPr/>
        </p:nvSpPr>
        <p:spPr>
          <a:xfrm>
            <a:off x="5162602" y="6138783"/>
            <a:ext cx="1028931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홈페이지운영지침</a:t>
            </a:r>
          </a:p>
        </p:txBody>
      </p:sp>
      <p:sp>
        <p:nvSpPr>
          <p:cNvPr id="113" name="모서리가 둥근 직사각형 83">
            <a:extLst>
              <a:ext uri="{FF2B5EF4-FFF2-40B4-BE49-F238E27FC236}">
                <a16:creationId xmlns:a16="http://schemas.microsoft.com/office/drawing/2014/main" id="{413B4E26-32D8-FC2C-0BE6-6640FAAFE4B4}"/>
              </a:ext>
            </a:extLst>
          </p:cNvPr>
          <p:cNvSpPr/>
          <p:nvPr/>
        </p:nvSpPr>
        <p:spPr>
          <a:xfrm>
            <a:off x="6539144" y="2344450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윤리경영</a:t>
            </a:r>
          </a:p>
        </p:txBody>
      </p:sp>
      <p:cxnSp>
        <p:nvCxnSpPr>
          <p:cNvPr id="114" name="꺾인 연결선 111">
            <a:extLst>
              <a:ext uri="{FF2B5EF4-FFF2-40B4-BE49-F238E27FC236}">
                <a16:creationId xmlns:a16="http://schemas.microsoft.com/office/drawing/2014/main" id="{E9993304-7A3F-563B-C989-982F6CFCFDBC}"/>
              </a:ext>
            </a:extLst>
          </p:cNvPr>
          <p:cNvCxnSpPr>
            <a:cxnSpLocks/>
            <a:stCxn id="113" idx="1"/>
            <a:endCxn id="85" idx="2"/>
          </p:cNvCxnSpPr>
          <p:nvPr/>
        </p:nvCxnSpPr>
        <p:spPr>
          <a:xfrm rot="10800000">
            <a:off x="6441278" y="2282743"/>
            <a:ext cx="97866" cy="147776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모서리가 둥근 직사각형 83">
            <a:extLst>
              <a:ext uri="{FF2B5EF4-FFF2-40B4-BE49-F238E27FC236}">
                <a16:creationId xmlns:a16="http://schemas.microsoft.com/office/drawing/2014/main" id="{8F956949-D441-C91F-24C5-EA5A11F9E241}"/>
              </a:ext>
            </a:extLst>
          </p:cNvPr>
          <p:cNvSpPr/>
          <p:nvPr/>
        </p:nvSpPr>
        <p:spPr>
          <a:xfrm>
            <a:off x="7077416" y="2574696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윤리헌장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19" name="꺾인 연결선 111">
            <a:extLst>
              <a:ext uri="{FF2B5EF4-FFF2-40B4-BE49-F238E27FC236}">
                <a16:creationId xmlns:a16="http://schemas.microsoft.com/office/drawing/2014/main" id="{DFEDBBF5-8ED6-C524-73AE-2EED0812A735}"/>
              </a:ext>
            </a:extLst>
          </p:cNvPr>
          <p:cNvCxnSpPr>
            <a:cxnSpLocks/>
            <a:stCxn id="118" idx="1"/>
            <a:endCxn id="113" idx="2"/>
          </p:cNvCxnSpPr>
          <p:nvPr/>
        </p:nvCxnSpPr>
        <p:spPr>
          <a:xfrm rot="10800000">
            <a:off x="6964322" y="2516589"/>
            <a:ext cx="113094" cy="144177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모서리가 둥근 직사각형 83">
            <a:extLst>
              <a:ext uri="{FF2B5EF4-FFF2-40B4-BE49-F238E27FC236}">
                <a16:creationId xmlns:a16="http://schemas.microsoft.com/office/drawing/2014/main" id="{D6ED765A-3F23-8F65-60B9-DF0811A41392}"/>
              </a:ext>
            </a:extLst>
          </p:cNvPr>
          <p:cNvSpPr/>
          <p:nvPr/>
        </p:nvSpPr>
        <p:spPr>
          <a:xfrm>
            <a:off x="7077416" y="2765866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행동강령</a:t>
            </a:r>
          </a:p>
        </p:txBody>
      </p:sp>
      <p:sp>
        <p:nvSpPr>
          <p:cNvPr id="121" name="모서리가 둥근 직사각형 83">
            <a:extLst>
              <a:ext uri="{FF2B5EF4-FFF2-40B4-BE49-F238E27FC236}">
                <a16:creationId xmlns:a16="http://schemas.microsoft.com/office/drawing/2014/main" id="{0E4BAFCF-A5DF-3161-EEEE-EB9E155A923E}"/>
              </a:ext>
            </a:extLst>
          </p:cNvPr>
          <p:cNvSpPr/>
          <p:nvPr/>
        </p:nvSpPr>
        <p:spPr>
          <a:xfrm>
            <a:off x="7077416" y="2964364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재단규정집</a:t>
            </a:r>
          </a:p>
        </p:txBody>
      </p:sp>
      <p:sp>
        <p:nvSpPr>
          <p:cNvPr id="123" name="모서리가 둥근 직사각형 83">
            <a:extLst>
              <a:ext uri="{FF2B5EF4-FFF2-40B4-BE49-F238E27FC236}">
                <a16:creationId xmlns:a16="http://schemas.microsoft.com/office/drawing/2014/main" id="{33A95D41-0E05-BC69-3A3D-DB1288757225}"/>
              </a:ext>
            </a:extLst>
          </p:cNvPr>
          <p:cNvSpPr/>
          <p:nvPr/>
        </p:nvSpPr>
        <p:spPr>
          <a:xfrm>
            <a:off x="6539144" y="3179034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경영공시</a:t>
            </a:r>
          </a:p>
        </p:txBody>
      </p:sp>
      <p:cxnSp>
        <p:nvCxnSpPr>
          <p:cNvPr id="124" name="꺾인 연결선 111">
            <a:extLst>
              <a:ext uri="{FF2B5EF4-FFF2-40B4-BE49-F238E27FC236}">
                <a16:creationId xmlns:a16="http://schemas.microsoft.com/office/drawing/2014/main" id="{7C493631-A755-58D2-E6BC-A093455CB3CB}"/>
              </a:ext>
            </a:extLst>
          </p:cNvPr>
          <p:cNvCxnSpPr>
            <a:cxnSpLocks/>
            <a:stCxn id="123" idx="1"/>
            <a:endCxn id="85" idx="2"/>
          </p:cNvCxnSpPr>
          <p:nvPr/>
        </p:nvCxnSpPr>
        <p:spPr>
          <a:xfrm rot="10800000">
            <a:off x="6441278" y="2282743"/>
            <a:ext cx="97866" cy="982360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모서리가 둥근 직사각형 83">
            <a:extLst>
              <a:ext uri="{FF2B5EF4-FFF2-40B4-BE49-F238E27FC236}">
                <a16:creationId xmlns:a16="http://schemas.microsoft.com/office/drawing/2014/main" id="{78E56597-BF3A-43EE-E8DC-7E5F773400B6}"/>
              </a:ext>
            </a:extLst>
          </p:cNvPr>
          <p:cNvSpPr/>
          <p:nvPr/>
        </p:nvSpPr>
        <p:spPr>
          <a:xfrm>
            <a:off x="7077416" y="3409280"/>
            <a:ext cx="936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경영계획및예산서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26" name="꺾인 연결선 111">
            <a:extLst>
              <a:ext uri="{FF2B5EF4-FFF2-40B4-BE49-F238E27FC236}">
                <a16:creationId xmlns:a16="http://schemas.microsoft.com/office/drawing/2014/main" id="{59F40F26-ED7E-A326-D29B-A486A793B0C0}"/>
              </a:ext>
            </a:extLst>
          </p:cNvPr>
          <p:cNvCxnSpPr>
            <a:cxnSpLocks/>
            <a:stCxn id="125" idx="1"/>
            <a:endCxn id="123" idx="2"/>
          </p:cNvCxnSpPr>
          <p:nvPr/>
        </p:nvCxnSpPr>
        <p:spPr>
          <a:xfrm rot="10800000">
            <a:off x="6964322" y="3351173"/>
            <a:ext cx="113094" cy="144177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모서리가 둥근 직사각형 83">
            <a:extLst>
              <a:ext uri="{FF2B5EF4-FFF2-40B4-BE49-F238E27FC236}">
                <a16:creationId xmlns:a16="http://schemas.microsoft.com/office/drawing/2014/main" id="{96FE0E3A-BD2B-D21F-112F-127566CD7446}"/>
              </a:ext>
            </a:extLst>
          </p:cNvPr>
          <p:cNvSpPr/>
          <p:nvPr/>
        </p:nvSpPr>
        <p:spPr>
          <a:xfrm>
            <a:off x="7077416" y="3600450"/>
            <a:ext cx="1620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경영평가 결과 및 성과계약 달성도</a:t>
            </a:r>
          </a:p>
        </p:txBody>
      </p:sp>
      <p:sp>
        <p:nvSpPr>
          <p:cNvPr id="128" name="모서리가 둥근 직사각형 83">
            <a:extLst>
              <a:ext uri="{FF2B5EF4-FFF2-40B4-BE49-F238E27FC236}">
                <a16:creationId xmlns:a16="http://schemas.microsoft.com/office/drawing/2014/main" id="{1E974D06-9FE5-1B25-374C-E1C4F9802327}"/>
              </a:ext>
            </a:extLst>
          </p:cNvPr>
          <p:cNvSpPr/>
          <p:nvPr/>
        </p:nvSpPr>
        <p:spPr>
          <a:xfrm>
            <a:off x="7077416" y="3798948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감사결과</a:t>
            </a:r>
          </a:p>
        </p:txBody>
      </p:sp>
      <p:sp>
        <p:nvSpPr>
          <p:cNvPr id="130" name="모서리가 둥근 직사각형 83">
            <a:extLst>
              <a:ext uri="{FF2B5EF4-FFF2-40B4-BE49-F238E27FC236}">
                <a16:creationId xmlns:a16="http://schemas.microsoft.com/office/drawing/2014/main" id="{EBBB4298-B966-E33F-0BDF-04D68F985A9F}"/>
              </a:ext>
            </a:extLst>
          </p:cNvPr>
          <p:cNvSpPr/>
          <p:nvPr/>
        </p:nvSpPr>
        <p:spPr>
          <a:xfrm>
            <a:off x="7077416" y="3998851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결산서</a:t>
            </a:r>
          </a:p>
        </p:txBody>
      </p:sp>
      <p:sp>
        <p:nvSpPr>
          <p:cNvPr id="131" name="모서리가 둥근 직사각형 83">
            <a:extLst>
              <a:ext uri="{FF2B5EF4-FFF2-40B4-BE49-F238E27FC236}">
                <a16:creationId xmlns:a16="http://schemas.microsoft.com/office/drawing/2014/main" id="{47462B9D-FE88-4F0B-44AD-8E29C1E39D3C}"/>
              </a:ext>
            </a:extLst>
          </p:cNvPr>
          <p:cNvSpPr/>
          <p:nvPr/>
        </p:nvSpPr>
        <p:spPr>
          <a:xfrm>
            <a:off x="7077416" y="4206765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인력현황</a:t>
            </a:r>
          </a:p>
        </p:txBody>
      </p:sp>
      <p:sp>
        <p:nvSpPr>
          <p:cNvPr id="132" name="모서리가 둥근 직사각형 83">
            <a:extLst>
              <a:ext uri="{FF2B5EF4-FFF2-40B4-BE49-F238E27FC236}">
                <a16:creationId xmlns:a16="http://schemas.microsoft.com/office/drawing/2014/main" id="{75833101-F7C3-7DBA-A314-0821642479C2}"/>
              </a:ext>
            </a:extLst>
          </p:cNvPr>
          <p:cNvSpPr/>
          <p:nvPr/>
        </p:nvSpPr>
        <p:spPr>
          <a:xfrm>
            <a:off x="7077416" y="4404461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인건비현황</a:t>
            </a:r>
          </a:p>
        </p:txBody>
      </p:sp>
      <p:sp>
        <p:nvSpPr>
          <p:cNvPr id="133" name="모서리가 둥근 직사각형 83">
            <a:extLst>
              <a:ext uri="{FF2B5EF4-FFF2-40B4-BE49-F238E27FC236}">
                <a16:creationId xmlns:a16="http://schemas.microsoft.com/office/drawing/2014/main" id="{2E4A4F23-5126-5DCE-5BE7-B0398C6C81C5}"/>
              </a:ext>
            </a:extLst>
          </p:cNvPr>
          <p:cNvSpPr/>
          <p:nvPr/>
        </p:nvSpPr>
        <p:spPr>
          <a:xfrm>
            <a:off x="7077416" y="4602157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재무현황</a:t>
            </a:r>
          </a:p>
        </p:txBody>
      </p:sp>
      <p:sp>
        <p:nvSpPr>
          <p:cNvPr id="134" name="모서리가 둥근 직사각형 83">
            <a:extLst>
              <a:ext uri="{FF2B5EF4-FFF2-40B4-BE49-F238E27FC236}">
                <a16:creationId xmlns:a16="http://schemas.microsoft.com/office/drawing/2014/main" id="{00AE515F-55E3-C663-50BA-F8A328F5EBDE}"/>
              </a:ext>
            </a:extLst>
          </p:cNvPr>
          <p:cNvSpPr/>
          <p:nvPr/>
        </p:nvSpPr>
        <p:spPr>
          <a:xfrm>
            <a:off x="7077416" y="4793710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기본재산현황</a:t>
            </a:r>
          </a:p>
        </p:txBody>
      </p:sp>
      <p:sp>
        <p:nvSpPr>
          <p:cNvPr id="135" name="모서리가 둥근 직사각형 83">
            <a:extLst>
              <a:ext uri="{FF2B5EF4-FFF2-40B4-BE49-F238E27FC236}">
                <a16:creationId xmlns:a16="http://schemas.microsoft.com/office/drawing/2014/main" id="{9841BEB9-D1B4-C2E2-5D0B-441960B3BCEC}"/>
              </a:ext>
            </a:extLst>
          </p:cNvPr>
          <p:cNvSpPr/>
          <p:nvPr/>
        </p:nvSpPr>
        <p:spPr>
          <a:xfrm>
            <a:off x="6539144" y="5028079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기타공시</a:t>
            </a:r>
          </a:p>
        </p:txBody>
      </p:sp>
      <p:cxnSp>
        <p:nvCxnSpPr>
          <p:cNvPr id="136" name="꺾인 연결선 111">
            <a:extLst>
              <a:ext uri="{FF2B5EF4-FFF2-40B4-BE49-F238E27FC236}">
                <a16:creationId xmlns:a16="http://schemas.microsoft.com/office/drawing/2014/main" id="{FE7B4AF4-A247-3CA5-60A3-F81484E55AB0}"/>
              </a:ext>
            </a:extLst>
          </p:cNvPr>
          <p:cNvCxnSpPr>
            <a:cxnSpLocks/>
            <a:stCxn id="135" idx="1"/>
            <a:endCxn id="85" idx="2"/>
          </p:cNvCxnSpPr>
          <p:nvPr/>
        </p:nvCxnSpPr>
        <p:spPr>
          <a:xfrm rot="10800000">
            <a:off x="6441278" y="2282744"/>
            <a:ext cx="97866" cy="2831405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모서리가 둥근 직사각형 83">
            <a:extLst>
              <a:ext uri="{FF2B5EF4-FFF2-40B4-BE49-F238E27FC236}">
                <a16:creationId xmlns:a16="http://schemas.microsoft.com/office/drawing/2014/main" id="{EED8CEAF-ADEC-992C-2CAC-126BE3A19591}"/>
              </a:ext>
            </a:extLst>
          </p:cNvPr>
          <p:cNvSpPr/>
          <p:nvPr/>
        </p:nvSpPr>
        <p:spPr>
          <a:xfrm>
            <a:off x="7077416" y="5258325"/>
            <a:ext cx="1260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복리후생비 및 업무추진비</a:t>
            </a:r>
          </a:p>
        </p:txBody>
      </p:sp>
      <p:cxnSp>
        <p:nvCxnSpPr>
          <p:cNvPr id="138" name="꺾인 연결선 111">
            <a:extLst>
              <a:ext uri="{FF2B5EF4-FFF2-40B4-BE49-F238E27FC236}">
                <a16:creationId xmlns:a16="http://schemas.microsoft.com/office/drawing/2014/main" id="{B4C32A8F-BEBD-3D94-F29E-8A45D76E5D9F}"/>
              </a:ext>
            </a:extLst>
          </p:cNvPr>
          <p:cNvCxnSpPr>
            <a:cxnSpLocks/>
            <a:stCxn id="137" idx="1"/>
            <a:endCxn id="135" idx="2"/>
          </p:cNvCxnSpPr>
          <p:nvPr/>
        </p:nvCxnSpPr>
        <p:spPr>
          <a:xfrm rot="10800000">
            <a:off x="6964322" y="5200218"/>
            <a:ext cx="113094" cy="144177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모서리가 둥근 직사각형 83">
            <a:extLst>
              <a:ext uri="{FF2B5EF4-FFF2-40B4-BE49-F238E27FC236}">
                <a16:creationId xmlns:a16="http://schemas.microsoft.com/office/drawing/2014/main" id="{5D195209-38E0-D767-BBDD-33812C95D645}"/>
              </a:ext>
            </a:extLst>
          </p:cNvPr>
          <p:cNvSpPr/>
          <p:nvPr/>
        </p:nvSpPr>
        <p:spPr>
          <a:xfrm>
            <a:off x="7077416" y="5449495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입찰 및 수의계약</a:t>
            </a:r>
          </a:p>
        </p:txBody>
      </p:sp>
      <p:sp>
        <p:nvSpPr>
          <p:cNvPr id="141" name="모서리가 둥근 직사각형 83">
            <a:extLst>
              <a:ext uri="{FF2B5EF4-FFF2-40B4-BE49-F238E27FC236}">
                <a16:creationId xmlns:a16="http://schemas.microsoft.com/office/drawing/2014/main" id="{5E689CB4-ACED-096D-71C8-FBCED0257015}"/>
              </a:ext>
            </a:extLst>
          </p:cNvPr>
          <p:cNvSpPr/>
          <p:nvPr/>
        </p:nvSpPr>
        <p:spPr>
          <a:xfrm>
            <a:off x="7077416" y="5647993"/>
            <a:ext cx="1008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친인척채용인원 공개</a:t>
            </a:r>
          </a:p>
        </p:txBody>
      </p:sp>
      <p:sp>
        <p:nvSpPr>
          <p:cNvPr id="148" name="모서리가 둥근 직사각형 83">
            <a:extLst>
              <a:ext uri="{FF2B5EF4-FFF2-40B4-BE49-F238E27FC236}">
                <a16:creationId xmlns:a16="http://schemas.microsoft.com/office/drawing/2014/main" id="{02A1A2EE-32E7-3990-7F92-87457014BCD0}"/>
              </a:ext>
            </a:extLst>
          </p:cNvPr>
          <p:cNvSpPr/>
          <p:nvPr/>
        </p:nvSpPr>
        <p:spPr>
          <a:xfrm>
            <a:off x="7077416" y="5862844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인권경영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9" name="모서리가 둥근 직사각형 83">
            <a:extLst>
              <a:ext uri="{FF2B5EF4-FFF2-40B4-BE49-F238E27FC236}">
                <a16:creationId xmlns:a16="http://schemas.microsoft.com/office/drawing/2014/main" id="{DEA42532-CFA3-1E33-BFD3-322E8B4FD591}"/>
              </a:ext>
            </a:extLst>
          </p:cNvPr>
          <p:cNvSpPr/>
          <p:nvPr/>
        </p:nvSpPr>
        <p:spPr>
          <a:xfrm>
            <a:off x="7077416" y="6077394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기타</a:t>
            </a:r>
          </a:p>
        </p:txBody>
      </p:sp>
      <p:sp>
        <p:nvSpPr>
          <p:cNvPr id="153" name="모서리가 둥근 직사각형 83">
            <a:extLst>
              <a:ext uri="{FF2B5EF4-FFF2-40B4-BE49-F238E27FC236}">
                <a16:creationId xmlns:a16="http://schemas.microsoft.com/office/drawing/2014/main" id="{8D6E2C33-D4C4-96DF-A58A-776919F9AD92}"/>
              </a:ext>
            </a:extLst>
          </p:cNvPr>
          <p:cNvSpPr/>
          <p:nvPr/>
        </p:nvSpPr>
        <p:spPr>
          <a:xfrm>
            <a:off x="6539144" y="6332572"/>
            <a:ext cx="638885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비공개기준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54" name="꺾인 연결선 111">
            <a:extLst>
              <a:ext uri="{FF2B5EF4-FFF2-40B4-BE49-F238E27FC236}">
                <a16:creationId xmlns:a16="http://schemas.microsoft.com/office/drawing/2014/main" id="{05DE6A99-5F58-5C32-1E74-D67C514CEEBC}"/>
              </a:ext>
            </a:extLst>
          </p:cNvPr>
          <p:cNvCxnSpPr>
            <a:cxnSpLocks/>
            <a:stCxn id="153" idx="1"/>
            <a:endCxn id="85" idx="2"/>
          </p:cNvCxnSpPr>
          <p:nvPr/>
        </p:nvCxnSpPr>
        <p:spPr>
          <a:xfrm rot="10800000">
            <a:off x="6441278" y="2282743"/>
            <a:ext cx="97866" cy="4135898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모서리가 둥근 직사각형 83">
            <a:extLst>
              <a:ext uri="{FF2B5EF4-FFF2-40B4-BE49-F238E27FC236}">
                <a16:creationId xmlns:a16="http://schemas.microsoft.com/office/drawing/2014/main" id="{B7BB25F9-ABE0-9CA4-4F0E-154790BC52A3}"/>
              </a:ext>
            </a:extLst>
          </p:cNvPr>
          <p:cNvSpPr/>
          <p:nvPr/>
        </p:nvSpPr>
        <p:spPr>
          <a:xfrm>
            <a:off x="7207004" y="6332572"/>
            <a:ext cx="638885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통합공시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8" name="모서리가 둥근 직사각형 83">
            <a:extLst>
              <a:ext uri="{FF2B5EF4-FFF2-40B4-BE49-F238E27FC236}">
                <a16:creationId xmlns:a16="http://schemas.microsoft.com/office/drawing/2014/main" id="{DE2F36DF-7A6E-F2C3-6043-BEF27AE22E97}"/>
              </a:ext>
            </a:extLst>
          </p:cNvPr>
          <p:cNvSpPr/>
          <p:nvPr/>
        </p:nvSpPr>
        <p:spPr>
          <a:xfrm>
            <a:off x="7871600" y="6332572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정보공개시스템</a:t>
            </a:r>
          </a:p>
        </p:txBody>
      </p:sp>
      <p:sp>
        <p:nvSpPr>
          <p:cNvPr id="159" name="모서리가 둥근 직사각형 83">
            <a:extLst>
              <a:ext uri="{FF2B5EF4-FFF2-40B4-BE49-F238E27FC236}">
                <a16:creationId xmlns:a16="http://schemas.microsoft.com/office/drawing/2014/main" id="{6010266C-54CB-103A-E43E-0BF61BDC0882}"/>
              </a:ext>
            </a:extLst>
          </p:cNvPr>
          <p:cNvSpPr/>
          <p:nvPr/>
        </p:nvSpPr>
        <p:spPr>
          <a:xfrm>
            <a:off x="8752679" y="6332572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</a:p>
        </p:txBody>
      </p:sp>
      <p:sp>
        <p:nvSpPr>
          <p:cNvPr id="164" name="모서리가 둥근 직사각형 84">
            <a:extLst>
              <a:ext uri="{FF2B5EF4-FFF2-40B4-BE49-F238E27FC236}">
                <a16:creationId xmlns:a16="http://schemas.microsoft.com/office/drawing/2014/main" id="{F01CFABE-8E2D-7956-80DE-7EDD03D621FB}"/>
              </a:ext>
            </a:extLst>
          </p:cNvPr>
          <p:cNvSpPr/>
          <p:nvPr/>
        </p:nvSpPr>
        <p:spPr>
          <a:xfrm>
            <a:off x="6981569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재단소식</a:t>
            </a:r>
          </a:p>
        </p:txBody>
      </p:sp>
      <p:cxnSp>
        <p:nvCxnSpPr>
          <p:cNvPr id="165" name="꺾인 연결선 111">
            <a:extLst>
              <a:ext uri="{FF2B5EF4-FFF2-40B4-BE49-F238E27FC236}">
                <a16:creationId xmlns:a16="http://schemas.microsoft.com/office/drawing/2014/main" id="{AA8B90FC-82BB-7060-E3C8-408FCE3DD0D9}"/>
              </a:ext>
            </a:extLst>
          </p:cNvPr>
          <p:cNvCxnSpPr>
            <a:cxnSpLocks/>
            <a:stCxn id="164" idx="0"/>
            <a:endCxn id="75" idx="2"/>
          </p:cNvCxnSpPr>
          <p:nvPr/>
        </p:nvCxnSpPr>
        <p:spPr>
          <a:xfrm rot="16200000" flipV="1">
            <a:off x="6050322" y="730144"/>
            <a:ext cx="343487" cy="238300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7141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1544E-6F62-9875-3406-9DE85A7A3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roup 1091">
            <a:extLst>
              <a:ext uri="{FF2B5EF4-FFF2-40B4-BE49-F238E27FC236}">
                <a16:creationId xmlns:a16="http://schemas.microsoft.com/office/drawing/2014/main" id="{72D2C25A-7B32-8925-1FED-02A7A5CA52A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12313409"/>
              </p:ext>
            </p:extLst>
          </p:nvPr>
        </p:nvGraphicFramePr>
        <p:xfrm>
          <a:off x="165100" y="1175295"/>
          <a:ext cx="9575800" cy="237482"/>
        </p:xfrm>
        <a:graphic>
          <a:graphicData uri="http://schemas.openxmlformats.org/drawingml/2006/table">
            <a:tbl>
              <a:tblPr/>
              <a:tblGrid>
                <a:gridCol w="957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9436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홈페이지 메뉴 구조</a:t>
                      </a: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5" name="모서리가 둥근 직사각형 74">
            <a:extLst>
              <a:ext uri="{FF2B5EF4-FFF2-40B4-BE49-F238E27FC236}">
                <a16:creationId xmlns:a16="http://schemas.microsoft.com/office/drawing/2014/main" id="{9A0CA255-B742-1975-D9BE-AD27BCB81D5B}"/>
              </a:ext>
            </a:extLst>
          </p:cNvPr>
          <p:cNvSpPr/>
          <p:nvPr/>
        </p:nvSpPr>
        <p:spPr>
          <a:xfrm>
            <a:off x="4064743" y="1520788"/>
            <a:ext cx="1931636" cy="229116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tx1">
                <a:lumMod val="95000"/>
                <a:lumOff val="5000"/>
              </a:schemeClr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 홈페이지</a:t>
            </a:r>
          </a:p>
        </p:txBody>
      </p:sp>
      <p:sp>
        <p:nvSpPr>
          <p:cNvPr id="76" name="모서리가 둥근 직사각형 75">
            <a:extLst>
              <a:ext uri="{FF2B5EF4-FFF2-40B4-BE49-F238E27FC236}">
                <a16:creationId xmlns:a16="http://schemas.microsoft.com/office/drawing/2014/main" id="{017EBBED-B5DA-4728-C030-809B009C6D25}"/>
              </a:ext>
            </a:extLst>
          </p:cNvPr>
          <p:cNvSpPr/>
          <p:nvPr/>
        </p:nvSpPr>
        <p:spPr>
          <a:xfrm>
            <a:off x="164468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</a:t>
            </a:r>
          </a:p>
        </p:txBody>
      </p:sp>
      <p:sp>
        <p:nvSpPr>
          <p:cNvPr id="81" name="모서리가 둥근 직사각형 80">
            <a:extLst>
              <a:ext uri="{FF2B5EF4-FFF2-40B4-BE49-F238E27FC236}">
                <a16:creationId xmlns:a16="http://schemas.microsoft.com/office/drawing/2014/main" id="{4A491572-9D15-0CC5-090C-F38932B08A42}"/>
              </a:ext>
            </a:extLst>
          </p:cNvPr>
          <p:cNvSpPr/>
          <p:nvPr/>
        </p:nvSpPr>
        <p:spPr>
          <a:xfrm>
            <a:off x="1068205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</a:t>
            </a:r>
          </a:p>
        </p:txBody>
      </p:sp>
      <p:sp>
        <p:nvSpPr>
          <p:cNvPr id="82" name="모서리가 둥근 직사각형 81">
            <a:extLst>
              <a:ext uri="{FF2B5EF4-FFF2-40B4-BE49-F238E27FC236}">
                <a16:creationId xmlns:a16="http://schemas.microsoft.com/office/drawing/2014/main" id="{480A9C06-EB14-CC9E-BBC9-60DF79819835}"/>
              </a:ext>
            </a:extLst>
          </p:cNvPr>
          <p:cNvSpPr/>
          <p:nvPr/>
        </p:nvSpPr>
        <p:spPr>
          <a:xfrm>
            <a:off x="1976252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회원가입</a:t>
            </a:r>
          </a:p>
        </p:txBody>
      </p:sp>
      <p:sp>
        <p:nvSpPr>
          <p:cNvPr id="83" name="모서리가 둥근 직사각형 82">
            <a:extLst>
              <a:ext uri="{FF2B5EF4-FFF2-40B4-BE49-F238E27FC236}">
                <a16:creationId xmlns:a16="http://schemas.microsoft.com/office/drawing/2014/main" id="{E0A5265F-A51F-1726-EAC7-7A6513E32EE7}"/>
              </a:ext>
            </a:extLst>
          </p:cNvPr>
          <p:cNvSpPr/>
          <p:nvPr/>
        </p:nvSpPr>
        <p:spPr>
          <a:xfrm>
            <a:off x="2919280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ID/PW</a:t>
            </a:r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찾기</a:t>
            </a:r>
          </a:p>
        </p:txBody>
      </p:sp>
      <p:sp>
        <p:nvSpPr>
          <p:cNvPr id="84" name="모서리가 둥근 직사각형 83">
            <a:extLst>
              <a:ext uri="{FF2B5EF4-FFF2-40B4-BE49-F238E27FC236}">
                <a16:creationId xmlns:a16="http://schemas.microsoft.com/office/drawing/2014/main" id="{2C6F652E-DA0A-64DC-8088-D03B6678B08E}"/>
              </a:ext>
            </a:extLst>
          </p:cNvPr>
          <p:cNvSpPr/>
          <p:nvPr/>
        </p:nvSpPr>
        <p:spPr>
          <a:xfrm>
            <a:off x="3859353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재단소개</a:t>
            </a:r>
          </a:p>
        </p:txBody>
      </p:sp>
      <p:sp>
        <p:nvSpPr>
          <p:cNvPr id="85" name="모서리가 둥근 직사각형 84">
            <a:extLst>
              <a:ext uri="{FF2B5EF4-FFF2-40B4-BE49-F238E27FC236}">
                <a16:creationId xmlns:a16="http://schemas.microsoft.com/office/drawing/2014/main" id="{B959220C-1EF3-9BC1-C84E-0FB47D74D28F}"/>
              </a:ext>
            </a:extLst>
          </p:cNvPr>
          <p:cNvSpPr/>
          <p:nvPr/>
        </p:nvSpPr>
        <p:spPr>
          <a:xfrm>
            <a:off x="4772461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열린경영</a:t>
            </a:r>
            <a:endParaRPr lang="ko-KR" altLang="en-US" sz="8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" name="모서리가 둥근 직사각형 94">
            <a:extLst>
              <a:ext uri="{FF2B5EF4-FFF2-40B4-BE49-F238E27FC236}">
                <a16:creationId xmlns:a16="http://schemas.microsoft.com/office/drawing/2014/main" id="{3A6E6E07-C73F-6C0D-4A8F-F609C74231A3}"/>
              </a:ext>
            </a:extLst>
          </p:cNvPr>
          <p:cNvSpPr/>
          <p:nvPr/>
        </p:nvSpPr>
        <p:spPr>
          <a:xfrm>
            <a:off x="7905328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마이페이지</a:t>
            </a:r>
          </a:p>
        </p:txBody>
      </p:sp>
      <p:cxnSp>
        <p:nvCxnSpPr>
          <p:cNvPr id="104" name="꺾인 연결선 103">
            <a:extLst>
              <a:ext uri="{FF2B5EF4-FFF2-40B4-BE49-F238E27FC236}">
                <a16:creationId xmlns:a16="http://schemas.microsoft.com/office/drawing/2014/main" id="{34E9835C-EEB8-DEDD-F99A-7C53B39CF777}"/>
              </a:ext>
            </a:extLst>
          </p:cNvPr>
          <p:cNvCxnSpPr>
            <a:stCxn id="76" idx="0"/>
            <a:endCxn id="75" idx="2"/>
          </p:cNvCxnSpPr>
          <p:nvPr/>
        </p:nvCxnSpPr>
        <p:spPr>
          <a:xfrm rot="5400000" flipH="1" flipV="1">
            <a:off x="2641771" y="-295398"/>
            <a:ext cx="343487" cy="4434093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연결선 105">
            <a:extLst>
              <a:ext uri="{FF2B5EF4-FFF2-40B4-BE49-F238E27FC236}">
                <a16:creationId xmlns:a16="http://schemas.microsoft.com/office/drawing/2014/main" id="{83557852-316D-2DD1-21BF-2B0ED83FB7BC}"/>
              </a:ext>
            </a:extLst>
          </p:cNvPr>
          <p:cNvCxnSpPr>
            <a:stCxn id="81" idx="0"/>
            <a:endCxn id="75" idx="2"/>
          </p:cNvCxnSpPr>
          <p:nvPr/>
        </p:nvCxnSpPr>
        <p:spPr>
          <a:xfrm rot="5400000" flipH="1" flipV="1">
            <a:off x="3093640" y="156470"/>
            <a:ext cx="343487" cy="3530356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꺾인 연결선 106">
            <a:extLst>
              <a:ext uri="{FF2B5EF4-FFF2-40B4-BE49-F238E27FC236}">
                <a16:creationId xmlns:a16="http://schemas.microsoft.com/office/drawing/2014/main" id="{9BDF283E-3A94-35FF-89EC-F4F9B8BD35DA}"/>
              </a:ext>
            </a:extLst>
          </p:cNvPr>
          <p:cNvCxnSpPr>
            <a:stCxn id="82" idx="0"/>
            <a:endCxn id="75" idx="2"/>
          </p:cNvCxnSpPr>
          <p:nvPr/>
        </p:nvCxnSpPr>
        <p:spPr>
          <a:xfrm rot="5400000" flipH="1" flipV="1">
            <a:off x="3547663" y="610494"/>
            <a:ext cx="343487" cy="2622309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꺾인 연결선 108">
            <a:extLst>
              <a:ext uri="{FF2B5EF4-FFF2-40B4-BE49-F238E27FC236}">
                <a16:creationId xmlns:a16="http://schemas.microsoft.com/office/drawing/2014/main" id="{6D67D85C-0E51-21F4-9742-E7600F9C7048}"/>
              </a:ext>
            </a:extLst>
          </p:cNvPr>
          <p:cNvCxnSpPr>
            <a:cxnSpLocks/>
            <a:stCxn id="83" idx="0"/>
            <a:endCxn id="75" idx="2"/>
          </p:cNvCxnSpPr>
          <p:nvPr/>
        </p:nvCxnSpPr>
        <p:spPr>
          <a:xfrm rot="5400000" flipH="1" flipV="1">
            <a:off x="4019177" y="1082008"/>
            <a:ext cx="343487" cy="1679281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꺾인 연결선 109">
            <a:extLst>
              <a:ext uri="{FF2B5EF4-FFF2-40B4-BE49-F238E27FC236}">
                <a16:creationId xmlns:a16="http://schemas.microsoft.com/office/drawing/2014/main" id="{88F9337A-7157-BDB1-3D2D-E866564EF8A8}"/>
              </a:ext>
            </a:extLst>
          </p:cNvPr>
          <p:cNvCxnSpPr>
            <a:stCxn id="84" idx="0"/>
            <a:endCxn id="75" idx="2"/>
          </p:cNvCxnSpPr>
          <p:nvPr/>
        </p:nvCxnSpPr>
        <p:spPr>
          <a:xfrm rot="5400000" flipH="1" flipV="1">
            <a:off x="4489214" y="1552044"/>
            <a:ext cx="343487" cy="73920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꺾인 연결선 111">
            <a:extLst>
              <a:ext uri="{FF2B5EF4-FFF2-40B4-BE49-F238E27FC236}">
                <a16:creationId xmlns:a16="http://schemas.microsoft.com/office/drawing/2014/main" id="{1602D228-343A-0737-29FA-B5DC06DB5419}"/>
              </a:ext>
            </a:extLst>
          </p:cNvPr>
          <p:cNvCxnSpPr>
            <a:stCxn id="85" idx="0"/>
            <a:endCxn id="75" idx="2"/>
          </p:cNvCxnSpPr>
          <p:nvPr/>
        </p:nvCxnSpPr>
        <p:spPr>
          <a:xfrm rot="16200000" flipV="1">
            <a:off x="4945768" y="1834698"/>
            <a:ext cx="343487" cy="173900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꺾인 연결선 116">
            <a:extLst>
              <a:ext uri="{FF2B5EF4-FFF2-40B4-BE49-F238E27FC236}">
                <a16:creationId xmlns:a16="http://schemas.microsoft.com/office/drawing/2014/main" id="{23E6EA51-46EF-FB1C-63AA-CAC6A3B68FF2}"/>
              </a:ext>
            </a:extLst>
          </p:cNvPr>
          <p:cNvCxnSpPr>
            <a:cxnSpLocks/>
            <a:stCxn id="14" idx="0"/>
            <a:endCxn id="75" idx="2"/>
          </p:cNvCxnSpPr>
          <p:nvPr/>
        </p:nvCxnSpPr>
        <p:spPr>
          <a:xfrm rot="16200000" flipV="1">
            <a:off x="5940586" y="839880"/>
            <a:ext cx="343487" cy="2163535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꺾인 연결선 145">
            <a:extLst>
              <a:ext uri="{FF2B5EF4-FFF2-40B4-BE49-F238E27FC236}">
                <a16:creationId xmlns:a16="http://schemas.microsoft.com/office/drawing/2014/main" id="{4B988DD0-30E7-B1A3-CD79-D79A84BE2B3B}"/>
              </a:ext>
            </a:extLst>
          </p:cNvPr>
          <p:cNvCxnSpPr>
            <a:cxnSpLocks/>
            <a:stCxn id="95" idx="0"/>
            <a:endCxn id="75" idx="2"/>
          </p:cNvCxnSpPr>
          <p:nvPr/>
        </p:nvCxnSpPr>
        <p:spPr>
          <a:xfrm rot="16200000" flipV="1">
            <a:off x="6512202" y="268264"/>
            <a:ext cx="343487" cy="3306767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모서리가 둥근 직사각형 84">
            <a:extLst>
              <a:ext uri="{FF2B5EF4-FFF2-40B4-BE49-F238E27FC236}">
                <a16:creationId xmlns:a16="http://schemas.microsoft.com/office/drawing/2014/main" id="{098AADA1-6721-9646-5EF8-DCCDB9E3406C}"/>
              </a:ext>
            </a:extLst>
          </p:cNvPr>
          <p:cNvSpPr/>
          <p:nvPr/>
        </p:nvSpPr>
        <p:spPr>
          <a:xfrm>
            <a:off x="6762096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프로그램신청</a:t>
            </a:r>
          </a:p>
        </p:txBody>
      </p:sp>
      <p:sp>
        <p:nvSpPr>
          <p:cNvPr id="30" name="모서리가 둥근 직사각형 83">
            <a:extLst>
              <a:ext uri="{FF2B5EF4-FFF2-40B4-BE49-F238E27FC236}">
                <a16:creationId xmlns:a16="http://schemas.microsoft.com/office/drawing/2014/main" id="{555E3155-5D13-21AB-C3AB-C8E406C97C15}"/>
              </a:ext>
            </a:extLst>
          </p:cNvPr>
          <p:cNvSpPr/>
          <p:nvPr/>
        </p:nvSpPr>
        <p:spPr>
          <a:xfrm>
            <a:off x="6228276" y="2344450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공지사항</a:t>
            </a:r>
          </a:p>
        </p:txBody>
      </p:sp>
      <p:cxnSp>
        <p:nvCxnSpPr>
          <p:cNvPr id="31" name="꺾인 연결선 111">
            <a:extLst>
              <a:ext uri="{FF2B5EF4-FFF2-40B4-BE49-F238E27FC236}">
                <a16:creationId xmlns:a16="http://schemas.microsoft.com/office/drawing/2014/main" id="{13F45691-3820-2A89-453F-C5355E393EC5}"/>
              </a:ext>
            </a:extLst>
          </p:cNvPr>
          <p:cNvCxnSpPr>
            <a:cxnSpLocks/>
            <a:stCxn id="30" idx="1"/>
            <a:endCxn id="164" idx="2"/>
          </p:cNvCxnSpPr>
          <p:nvPr/>
        </p:nvCxnSpPr>
        <p:spPr>
          <a:xfrm rot="10800000">
            <a:off x="6117570" y="2282743"/>
            <a:ext cx="110707" cy="147776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모서리가 둥근 직사각형 83">
            <a:extLst>
              <a:ext uri="{FF2B5EF4-FFF2-40B4-BE49-F238E27FC236}">
                <a16:creationId xmlns:a16="http://schemas.microsoft.com/office/drawing/2014/main" id="{248082DB-A60B-04DE-039F-89AA990A8BF0}"/>
              </a:ext>
            </a:extLst>
          </p:cNvPr>
          <p:cNvSpPr/>
          <p:nvPr/>
        </p:nvSpPr>
        <p:spPr>
          <a:xfrm>
            <a:off x="6228276" y="2549702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채용공고</a:t>
            </a:r>
          </a:p>
        </p:txBody>
      </p:sp>
      <p:sp>
        <p:nvSpPr>
          <p:cNvPr id="33" name="모서리가 둥근 직사각형 83">
            <a:extLst>
              <a:ext uri="{FF2B5EF4-FFF2-40B4-BE49-F238E27FC236}">
                <a16:creationId xmlns:a16="http://schemas.microsoft.com/office/drawing/2014/main" id="{D6866A08-AD4E-E56F-467C-92D733305963}"/>
              </a:ext>
            </a:extLst>
          </p:cNvPr>
          <p:cNvSpPr/>
          <p:nvPr/>
        </p:nvSpPr>
        <p:spPr>
          <a:xfrm>
            <a:off x="6228276" y="2751743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보도자료</a:t>
            </a:r>
          </a:p>
        </p:txBody>
      </p:sp>
      <p:sp>
        <p:nvSpPr>
          <p:cNvPr id="34" name="모서리가 둥근 직사각형 83">
            <a:extLst>
              <a:ext uri="{FF2B5EF4-FFF2-40B4-BE49-F238E27FC236}">
                <a16:creationId xmlns:a16="http://schemas.microsoft.com/office/drawing/2014/main" id="{0493B773-D557-5087-3C46-6F7006776BA9}"/>
              </a:ext>
            </a:extLst>
          </p:cNvPr>
          <p:cNvSpPr/>
          <p:nvPr/>
        </p:nvSpPr>
        <p:spPr>
          <a:xfrm>
            <a:off x="6228276" y="2953784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자료실</a:t>
            </a:r>
          </a:p>
        </p:txBody>
      </p:sp>
      <p:sp>
        <p:nvSpPr>
          <p:cNvPr id="35" name="모서리가 둥근 직사각형 83">
            <a:extLst>
              <a:ext uri="{FF2B5EF4-FFF2-40B4-BE49-F238E27FC236}">
                <a16:creationId xmlns:a16="http://schemas.microsoft.com/office/drawing/2014/main" id="{94EB47BD-53D1-5986-9AB2-14AB7EF7DD96}"/>
              </a:ext>
            </a:extLst>
          </p:cNvPr>
          <p:cNvSpPr/>
          <p:nvPr/>
        </p:nvSpPr>
        <p:spPr>
          <a:xfrm>
            <a:off x="6228276" y="3155825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후원현황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52" name="꺾인 연결선 111">
            <a:extLst>
              <a:ext uri="{FF2B5EF4-FFF2-40B4-BE49-F238E27FC236}">
                <a16:creationId xmlns:a16="http://schemas.microsoft.com/office/drawing/2014/main" id="{4FB1D6B5-22A7-CC45-B6E9-9E81804D5E83}"/>
              </a:ext>
            </a:extLst>
          </p:cNvPr>
          <p:cNvCxnSpPr>
            <a:cxnSpLocks/>
            <a:stCxn id="32" idx="1"/>
            <a:endCxn id="164" idx="2"/>
          </p:cNvCxnSpPr>
          <p:nvPr/>
        </p:nvCxnSpPr>
        <p:spPr>
          <a:xfrm rot="10800000">
            <a:off x="6117570" y="2282743"/>
            <a:ext cx="110707" cy="353028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꺾인 연결선 111">
            <a:extLst>
              <a:ext uri="{FF2B5EF4-FFF2-40B4-BE49-F238E27FC236}">
                <a16:creationId xmlns:a16="http://schemas.microsoft.com/office/drawing/2014/main" id="{151E8D67-FEDC-4AF8-2D95-959CCCA044EC}"/>
              </a:ext>
            </a:extLst>
          </p:cNvPr>
          <p:cNvCxnSpPr>
            <a:cxnSpLocks/>
            <a:stCxn id="33" idx="1"/>
            <a:endCxn id="164" idx="2"/>
          </p:cNvCxnSpPr>
          <p:nvPr/>
        </p:nvCxnSpPr>
        <p:spPr>
          <a:xfrm rot="10800000">
            <a:off x="6117570" y="2282744"/>
            <a:ext cx="110707" cy="555069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꺾인 연결선 111">
            <a:extLst>
              <a:ext uri="{FF2B5EF4-FFF2-40B4-BE49-F238E27FC236}">
                <a16:creationId xmlns:a16="http://schemas.microsoft.com/office/drawing/2014/main" id="{744DAA91-2EC2-F6C6-71AC-E7CA7974B272}"/>
              </a:ext>
            </a:extLst>
          </p:cNvPr>
          <p:cNvCxnSpPr>
            <a:cxnSpLocks/>
            <a:stCxn id="34" idx="1"/>
            <a:endCxn id="164" idx="2"/>
          </p:cNvCxnSpPr>
          <p:nvPr/>
        </p:nvCxnSpPr>
        <p:spPr>
          <a:xfrm rot="10800000">
            <a:off x="6117570" y="2282743"/>
            <a:ext cx="110707" cy="757110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꺾인 연결선 111">
            <a:extLst>
              <a:ext uri="{FF2B5EF4-FFF2-40B4-BE49-F238E27FC236}">
                <a16:creationId xmlns:a16="http://schemas.microsoft.com/office/drawing/2014/main" id="{62FC667D-D754-EE1D-3C74-E61B8D3EC66A}"/>
              </a:ext>
            </a:extLst>
          </p:cNvPr>
          <p:cNvCxnSpPr>
            <a:cxnSpLocks/>
            <a:stCxn id="35" idx="1"/>
            <a:endCxn id="164" idx="2"/>
          </p:cNvCxnSpPr>
          <p:nvPr/>
        </p:nvCxnSpPr>
        <p:spPr>
          <a:xfrm rot="10800000">
            <a:off x="6117570" y="2282744"/>
            <a:ext cx="110707" cy="959151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모서리가 둥근 직사각형 84">
            <a:extLst>
              <a:ext uri="{FF2B5EF4-FFF2-40B4-BE49-F238E27FC236}">
                <a16:creationId xmlns:a16="http://schemas.microsoft.com/office/drawing/2014/main" id="{205E6162-F9DA-61E8-8369-C4129CE62FE6}"/>
              </a:ext>
            </a:extLst>
          </p:cNvPr>
          <p:cNvSpPr/>
          <p:nvPr/>
        </p:nvSpPr>
        <p:spPr>
          <a:xfrm>
            <a:off x="5685569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재단소식</a:t>
            </a:r>
          </a:p>
        </p:txBody>
      </p:sp>
      <p:cxnSp>
        <p:nvCxnSpPr>
          <p:cNvPr id="165" name="꺾인 연결선 111">
            <a:extLst>
              <a:ext uri="{FF2B5EF4-FFF2-40B4-BE49-F238E27FC236}">
                <a16:creationId xmlns:a16="http://schemas.microsoft.com/office/drawing/2014/main" id="{DDACB877-92F9-6044-C0BA-CACCAFECD1EC}"/>
              </a:ext>
            </a:extLst>
          </p:cNvPr>
          <p:cNvCxnSpPr>
            <a:cxnSpLocks/>
            <a:stCxn id="164" idx="0"/>
            <a:endCxn id="75" idx="2"/>
          </p:cNvCxnSpPr>
          <p:nvPr/>
        </p:nvCxnSpPr>
        <p:spPr>
          <a:xfrm rot="16200000" flipV="1">
            <a:off x="5402322" y="1378144"/>
            <a:ext cx="343487" cy="108700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모서리가 둥근 직사각형 83">
            <a:extLst>
              <a:ext uri="{FF2B5EF4-FFF2-40B4-BE49-F238E27FC236}">
                <a16:creationId xmlns:a16="http://schemas.microsoft.com/office/drawing/2014/main" id="{CA42D6F7-2D19-E6F0-E848-E576945D724F}"/>
              </a:ext>
            </a:extLst>
          </p:cNvPr>
          <p:cNvSpPr/>
          <p:nvPr/>
        </p:nvSpPr>
        <p:spPr>
          <a:xfrm>
            <a:off x="6228276" y="3374799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행사안내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9" name="꺾인 연결선 111">
            <a:extLst>
              <a:ext uri="{FF2B5EF4-FFF2-40B4-BE49-F238E27FC236}">
                <a16:creationId xmlns:a16="http://schemas.microsoft.com/office/drawing/2014/main" id="{7A326E9A-74B3-872A-E648-52163982062D}"/>
              </a:ext>
            </a:extLst>
          </p:cNvPr>
          <p:cNvCxnSpPr>
            <a:cxnSpLocks/>
            <a:stCxn id="28" idx="1"/>
            <a:endCxn id="164" idx="2"/>
          </p:cNvCxnSpPr>
          <p:nvPr/>
        </p:nvCxnSpPr>
        <p:spPr>
          <a:xfrm rot="10800000">
            <a:off x="6117570" y="2282744"/>
            <a:ext cx="110707" cy="1178125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모서리가 둥근 직사각형 83">
            <a:extLst>
              <a:ext uri="{FF2B5EF4-FFF2-40B4-BE49-F238E27FC236}">
                <a16:creationId xmlns:a16="http://schemas.microsoft.com/office/drawing/2014/main" id="{E2E01A21-4704-D743-8C4E-66CB36A03746}"/>
              </a:ext>
            </a:extLst>
          </p:cNvPr>
          <p:cNvSpPr/>
          <p:nvPr/>
        </p:nvSpPr>
        <p:spPr>
          <a:xfrm>
            <a:off x="7293260" y="2344450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 장학금</a:t>
            </a:r>
          </a:p>
        </p:txBody>
      </p:sp>
      <p:cxnSp>
        <p:nvCxnSpPr>
          <p:cNvPr id="40" name="꺾인 연결선 111">
            <a:extLst>
              <a:ext uri="{FF2B5EF4-FFF2-40B4-BE49-F238E27FC236}">
                <a16:creationId xmlns:a16="http://schemas.microsoft.com/office/drawing/2014/main" id="{8C2AE7DD-3601-468E-A828-130A1E60A49A}"/>
              </a:ext>
            </a:extLst>
          </p:cNvPr>
          <p:cNvCxnSpPr>
            <a:cxnSpLocks/>
            <a:stCxn id="39" idx="1"/>
            <a:endCxn id="14" idx="2"/>
          </p:cNvCxnSpPr>
          <p:nvPr/>
        </p:nvCxnSpPr>
        <p:spPr>
          <a:xfrm rot="10800000">
            <a:off x="7194096" y="2282743"/>
            <a:ext cx="99164" cy="147776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모서리가 둥근 직사각형 83">
            <a:extLst>
              <a:ext uri="{FF2B5EF4-FFF2-40B4-BE49-F238E27FC236}">
                <a16:creationId xmlns:a16="http://schemas.microsoft.com/office/drawing/2014/main" id="{305C9485-CCB0-AABA-E288-3C5BED0E5992}"/>
              </a:ext>
            </a:extLst>
          </p:cNvPr>
          <p:cNvSpPr/>
          <p:nvPr/>
        </p:nvSpPr>
        <p:spPr>
          <a:xfrm>
            <a:off x="7293260" y="2549702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대학생 장학금</a:t>
            </a:r>
          </a:p>
        </p:txBody>
      </p:sp>
      <p:sp>
        <p:nvSpPr>
          <p:cNvPr id="46" name="모서리가 둥근 직사각형 83">
            <a:extLst>
              <a:ext uri="{FF2B5EF4-FFF2-40B4-BE49-F238E27FC236}">
                <a16:creationId xmlns:a16="http://schemas.microsoft.com/office/drawing/2014/main" id="{53850BF0-D47F-D1E1-1458-C4B387940D18}"/>
              </a:ext>
            </a:extLst>
          </p:cNvPr>
          <p:cNvSpPr/>
          <p:nvPr/>
        </p:nvSpPr>
        <p:spPr>
          <a:xfrm>
            <a:off x="7293260" y="2751743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특기생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장학금</a:t>
            </a:r>
          </a:p>
        </p:txBody>
      </p:sp>
      <p:sp>
        <p:nvSpPr>
          <p:cNvPr id="50" name="모서리가 둥근 직사각형 83">
            <a:extLst>
              <a:ext uri="{FF2B5EF4-FFF2-40B4-BE49-F238E27FC236}">
                <a16:creationId xmlns:a16="http://schemas.microsoft.com/office/drawing/2014/main" id="{2776E3B6-22AD-672C-AF1F-DEAC9AC4FA26}"/>
              </a:ext>
            </a:extLst>
          </p:cNvPr>
          <p:cNvSpPr/>
          <p:nvPr/>
        </p:nvSpPr>
        <p:spPr>
          <a:xfrm>
            <a:off x="7293260" y="2953784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행복기숙사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입사비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3" name="모서리가 둥근 직사각형 83">
            <a:extLst>
              <a:ext uri="{FF2B5EF4-FFF2-40B4-BE49-F238E27FC236}">
                <a16:creationId xmlns:a16="http://schemas.microsoft.com/office/drawing/2014/main" id="{F8D0F3E8-A95F-FA46-A460-6EB6DA059DE1}"/>
              </a:ext>
            </a:extLst>
          </p:cNvPr>
          <p:cNvSpPr/>
          <p:nvPr/>
        </p:nvSpPr>
        <p:spPr>
          <a:xfrm>
            <a:off x="7293260" y="3155825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평생교육장려금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54" name="꺾인 연결선 111">
            <a:extLst>
              <a:ext uri="{FF2B5EF4-FFF2-40B4-BE49-F238E27FC236}">
                <a16:creationId xmlns:a16="http://schemas.microsoft.com/office/drawing/2014/main" id="{DFBB6F6D-DC22-0442-88EB-C2B1EC616478}"/>
              </a:ext>
            </a:extLst>
          </p:cNvPr>
          <p:cNvCxnSpPr>
            <a:cxnSpLocks/>
            <a:stCxn id="45" idx="1"/>
            <a:endCxn id="14" idx="2"/>
          </p:cNvCxnSpPr>
          <p:nvPr/>
        </p:nvCxnSpPr>
        <p:spPr>
          <a:xfrm rot="10800000">
            <a:off x="7194096" y="2282743"/>
            <a:ext cx="99164" cy="353028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꺾인 연결선 111">
            <a:extLst>
              <a:ext uri="{FF2B5EF4-FFF2-40B4-BE49-F238E27FC236}">
                <a16:creationId xmlns:a16="http://schemas.microsoft.com/office/drawing/2014/main" id="{09464D84-F2FF-43A9-5E10-9BD0F11B8188}"/>
              </a:ext>
            </a:extLst>
          </p:cNvPr>
          <p:cNvCxnSpPr>
            <a:cxnSpLocks/>
            <a:stCxn id="46" idx="1"/>
            <a:endCxn id="14" idx="2"/>
          </p:cNvCxnSpPr>
          <p:nvPr/>
        </p:nvCxnSpPr>
        <p:spPr>
          <a:xfrm rot="10800000">
            <a:off x="7194096" y="2282744"/>
            <a:ext cx="99164" cy="555069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꺾인 연결선 111">
            <a:extLst>
              <a:ext uri="{FF2B5EF4-FFF2-40B4-BE49-F238E27FC236}">
                <a16:creationId xmlns:a16="http://schemas.microsoft.com/office/drawing/2014/main" id="{F7339286-A0DA-7FA6-19D0-D03FF85962CC}"/>
              </a:ext>
            </a:extLst>
          </p:cNvPr>
          <p:cNvCxnSpPr>
            <a:cxnSpLocks/>
            <a:stCxn id="50" idx="1"/>
            <a:endCxn id="14" idx="2"/>
          </p:cNvCxnSpPr>
          <p:nvPr/>
        </p:nvCxnSpPr>
        <p:spPr>
          <a:xfrm rot="10800000">
            <a:off x="7194096" y="2282743"/>
            <a:ext cx="99164" cy="757110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꺾인 연결선 111">
            <a:extLst>
              <a:ext uri="{FF2B5EF4-FFF2-40B4-BE49-F238E27FC236}">
                <a16:creationId xmlns:a16="http://schemas.microsoft.com/office/drawing/2014/main" id="{B0EE1558-5FE6-F41B-FB91-70722E0CE9AE}"/>
              </a:ext>
            </a:extLst>
          </p:cNvPr>
          <p:cNvCxnSpPr>
            <a:cxnSpLocks/>
            <a:stCxn id="53" idx="1"/>
            <a:endCxn id="14" idx="2"/>
          </p:cNvCxnSpPr>
          <p:nvPr/>
        </p:nvCxnSpPr>
        <p:spPr>
          <a:xfrm rot="10800000">
            <a:off x="7194096" y="2282744"/>
            <a:ext cx="99164" cy="959151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모서리가 둥근 직사각형 83">
            <a:extLst>
              <a:ext uri="{FF2B5EF4-FFF2-40B4-BE49-F238E27FC236}">
                <a16:creationId xmlns:a16="http://schemas.microsoft.com/office/drawing/2014/main" id="{B5C6A53B-EF9E-05C9-EB76-C6DDC738063E}"/>
              </a:ext>
            </a:extLst>
          </p:cNvPr>
          <p:cNvSpPr/>
          <p:nvPr/>
        </p:nvSpPr>
        <p:spPr>
          <a:xfrm>
            <a:off x="7293260" y="3374799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교육사업 신청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62" name="꺾인 연결선 111">
            <a:extLst>
              <a:ext uri="{FF2B5EF4-FFF2-40B4-BE49-F238E27FC236}">
                <a16:creationId xmlns:a16="http://schemas.microsoft.com/office/drawing/2014/main" id="{8276D9F3-AB3E-7B1F-58F1-E4F9D57EC168}"/>
              </a:ext>
            </a:extLst>
          </p:cNvPr>
          <p:cNvCxnSpPr>
            <a:cxnSpLocks/>
            <a:stCxn id="60" idx="1"/>
            <a:endCxn id="14" idx="2"/>
          </p:cNvCxnSpPr>
          <p:nvPr/>
        </p:nvCxnSpPr>
        <p:spPr>
          <a:xfrm rot="10800000">
            <a:off x="7194096" y="2282744"/>
            <a:ext cx="99164" cy="1178125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모서리가 둥근 직사각형 83">
            <a:extLst>
              <a:ext uri="{FF2B5EF4-FFF2-40B4-BE49-F238E27FC236}">
                <a16:creationId xmlns:a16="http://schemas.microsoft.com/office/drawing/2014/main" id="{38048623-CB42-8277-ECC9-A82CE7135E16}"/>
              </a:ext>
            </a:extLst>
          </p:cNvPr>
          <p:cNvSpPr/>
          <p:nvPr/>
        </p:nvSpPr>
        <p:spPr>
          <a:xfrm>
            <a:off x="8436492" y="2344450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내정보수정</a:t>
            </a:r>
          </a:p>
        </p:txBody>
      </p:sp>
      <p:cxnSp>
        <p:nvCxnSpPr>
          <p:cNvPr id="78" name="꺾인 연결선 111">
            <a:extLst>
              <a:ext uri="{FF2B5EF4-FFF2-40B4-BE49-F238E27FC236}">
                <a16:creationId xmlns:a16="http://schemas.microsoft.com/office/drawing/2014/main" id="{DDAA34CB-08F8-43F1-DFF2-B06139535516}"/>
              </a:ext>
            </a:extLst>
          </p:cNvPr>
          <p:cNvCxnSpPr>
            <a:cxnSpLocks/>
            <a:stCxn id="77" idx="1"/>
            <a:endCxn id="95" idx="2"/>
          </p:cNvCxnSpPr>
          <p:nvPr/>
        </p:nvCxnSpPr>
        <p:spPr>
          <a:xfrm rot="10800000">
            <a:off x="8337328" y="2282743"/>
            <a:ext cx="99164" cy="147776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모서리가 둥근 직사각형 83">
            <a:extLst>
              <a:ext uri="{FF2B5EF4-FFF2-40B4-BE49-F238E27FC236}">
                <a16:creationId xmlns:a16="http://schemas.microsoft.com/office/drawing/2014/main" id="{9B8F9C36-E968-0F79-D67C-AA2F393A1EC1}"/>
              </a:ext>
            </a:extLst>
          </p:cNvPr>
          <p:cNvSpPr/>
          <p:nvPr/>
        </p:nvSpPr>
        <p:spPr>
          <a:xfrm>
            <a:off x="8436492" y="2549702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회원탈퇴</a:t>
            </a:r>
          </a:p>
        </p:txBody>
      </p:sp>
      <p:sp>
        <p:nvSpPr>
          <p:cNvPr id="88" name="모서리가 둥근 직사각형 83">
            <a:extLst>
              <a:ext uri="{FF2B5EF4-FFF2-40B4-BE49-F238E27FC236}">
                <a16:creationId xmlns:a16="http://schemas.microsoft.com/office/drawing/2014/main" id="{5CF05777-9F6F-BA1A-A5FD-B7C66AD7105B}"/>
              </a:ext>
            </a:extLst>
          </p:cNvPr>
          <p:cNvSpPr/>
          <p:nvPr/>
        </p:nvSpPr>
        <p:spPr>
          <a:xfrm>
            <a:off x="8436492" y="2751743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나의신청내역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89" name="꺾인 연결선 111">
            <a:extLst>
              <a:ext uri="{FF2B5EF4-FFF2-40B4-BE49-F238E27FC236}">
                <a16:creationId xmlns:a16="http://schemas.microsoft.com/office/drawing/2014/main" id="{FDDB3BF7-B334-890B-F534-EBF856CCB2FC}"/>
              </a:ext>
            </a:extLst>
          </p:cNvPr>
          <p:cNvCxnSpPr>
            <a:cxnSpLocks/>
            <a:stCxn id="87" idx="1"/>
            <a:endCxn id="95" idx="2"/>
          </p:cNvCxnSpPr>
          <p:nvPr/>
        </p:nvCxnSpPr>
        <p:spPr>
          <a:xfrm rot="10800000">
            <a:off x="8337328" y="2282743"/>
            <a:ext cx="99164" cy="353028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꺾인 연결선 111">
            <a:extLst>
              <a:ext uri="{FF2B5EF4-FFF2-40B4-BE49-F238E27FC236}">
                <a16:creationId xmlns:a16="http://schemas.microsoft.com/office/drawing/2014/main" id="{8D620B14-6745-D571-B95A-E69D6E3498A3}"/>
              </a:ext>
            </a:extLst>
          </p:cNvPr>
          <p:cNvCxnSpPr>
            <a:cxnSpLocks/>
            <a:stCxn id="88" idx="1"/>
            <a:endCxn id="95" idx="2"/>
          </p:cNvCxnSpPr>
          <p:nvPr/>
        </p:nvCxnSpPr>
        <p:spPr>
          <a:xfrm rot="10800000">
            <a:off x="8337328" y="2282744"/>
            <a:ext cx="99164" cy="555069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3344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05AA5-9D25-9CC2-68D1-9EF31FC80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2221C3A8-BEAE-A295-8F5C-996A7EA36632}"/>
              </a:ext>
            </a:extLst>
          </p:cNvPr>
          <p:cNvSpPr txBox="1"/>
          <p:nvPr/>
        </p:nvSpPr>
        <p:spPr>
          <a:xfrm rot="16200000">
            <a:off x="-432110" y="1197338"/>
            <a:ext cx="23066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C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D7D7D7"/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O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NTENT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S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Noto Sans" panose="020B050204050402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Text Box 11">
            <a:extLst>
              <a:ext uri="{FF2B5EF4-FFF2-40B4-BE49-F238E27FC236}">
                <a16:creationId xmlns:a16="http://schemas.microsoft.com/office/drawing/2014/main" id="{B7F16648-2BF8-DFD1-2471-91FF6D07B9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5436" y="2140622"/>
            <a:ext cx="4765463" cy="469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굴림" pitchFamily="50" charset="-127"/>
              </a:rPr>
              <a:t>오산교육재단 홈페이지 메인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굴림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굴림" pitchFamily="50" charset="-127"/>
              </a:rPr>
              <a:t>● 홈페이지 메인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굴림" pitchFamily="50" charset="-127"/>
            </a:endParaRPr>
          </a:p>
        </p:txBody>
      </p:sp>
      <p:sp>
        <p:nvSpPr>
          <p:cNvPr id="31" name="Text Box 5">
            <a:extLst>
              <a:ext uri="{FF2B5EF4-FFF2-40B4-BE49-F238E27FC236}">
                <a16:creationId xmlns:a16="http://schemas.microsoft.com/office/drawing/2014/main" id="{0200CA08-921F-853B-A047-E430CFCBEE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6305" y="1477454"/>
            <a:ext cx="370309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Noto Sans" panose="020B0502040504020204" pitchFamily="34" charset="0"/>
                <a:ea typeface="맑은 고딕" panose="020B0503020000020004" pitchFamily="50" charset="-127"/>
              </a:rPr>
              <a:t>메인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Noto Sans" panose="020B050204050402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8E7B9EF4-6654-331C-5D93-DBC3355B8F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0483" y="1369732"/>
            <a:ext cx="764953" cy="5539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00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5435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1ADA5-3BD8-5CE4-78BB-CFE65A57A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roup 1091">
            <a:extLst>
              <a:ext uri="{FF2B5EF4-FFF2-40B4-BE49-F238E27FC236}">
                <a16:creationId xmlns:a16="http://schemas.microsoft.com/office/drawing/2014/main" id="{BDE72841-6CD5-5B2B-099B-183134927800}"/>
              </a:ext>
            </a:extLst>
          </p:cNvPr>
          <p:cNvGraphicFramePr>
            <a:graphicFrameLocks/>
          </p:cNvGraphicFramePr>
          <p:nvPr/>
        </p:nvGraphicFramePr>
        <p:xfrm>
          <a:off x="165100" y="1175295"/>
          <a:ext cx="9575800" cy="237482"/>
        </p:xfrm>
        <a:graphic>
          <a:graphicData uri="http://schemas.openxmlformats.org/drawingml/2006/table">
            <a:tbl>
              <a:tblPr/>
              <a:tblGrid>
                <a:gridCol w="957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9436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홈페이지 메뉴 구조</a:t>
                      </a: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5" name="모서리가 둥근 직사각형 74">
            <a:extLst>
              <a:ext uri="{FF2B5EF4-FFF2-40B4-BE49-F238E27FC236}">
                <a16:creationId xmlns:a16="http://schemas.microsoft.com/office/drawing/2014/main" id="{8F6584CF-E0A5-37AB-87A6-03005B07B9DA}"/>
              </a:ext>
            </a:extLst>
          </p:cNvPr>
          <p:cNvSpPr/>
          <p:nvPr/>
        </p:nvSpPr>
        <p:spPr>
          <a:xfrm>
            <a:off x="4064743" y="1520788"/>
            <a:ext cx="1931636" cy="229116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tx1">
                <a:lumMod val="95000"/>
                <a:lumOff val="5000"/>
              </a:schemeClr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오산교육재단 홈페이지</a:t>
            </a:r>
          </a:p>
        </p:txBody>
      </p:sp>
      <p:sp>
        <p:nvSpPr>
          <p:cNvPr id="76" name="모서리가 둥근 직사각형 75">
            <a:extLst>
              <a:ext uri="{FF2B5EF4-FFF2-40B4-BE49-F238E27FC236}">
                <a16:creationId xmlns:a16="http://schemas.microsoft.com/office/drawing/2014/main" id="{A55961FB-D353-A872-3B3A-D17A31719268}"/>
              </a:ext>
            </a:extLst>
          </p:cNvPr>
          <p:cNvSpPr/>
          <p:nvPr/>
        </p:nvSpPr>
        <p:spPr>
          <a:xfrm>
            <a:off x="164468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메인</a:t>
            </a:r>
          </a:p>
        </p:txBody>
      </p:sp>
      <p:sp>
        <p:nvSpPr>
          <p:cNvPr id="81" name="모서리가 둥근 직사각형 80">
            <a:extLst>
              <a:ext uri="{FF2B5EF4-FFF2-40B4-BE49-F238E27FC236}">
                <a16:creationId xmlns:a16="http://schemas.microsoft.com/office/drawing/2014/main" id="{9C907EFB-1541-8988-089E-62D1001A26DE}"/>
              </a:ext>
            </a:extLst>
          </p:cNvPr>
          <p:cNvSpPr/>
          <p:nvPr/>
        </p:nvSpPr>
        <p:spPr>
          <a:xfrm>
            <a:off x="1068205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로그인</a:t>
            </a:r>
          </a:p>
        </p:txBody>
      </p:sp>
      <p:sp>
        <p:nvSpPr>
          <p:cNvPr id="82" name="모서리가 둥근 직사각형 81">
            <a:extLst>
              <a:ext uri="{FF2B5EF4-FFF2-40B4-BE49-F238E27FC236}">
                <a16:creationId xmlns:a16="http://schemas.microsoft.com/office/drawing/2014/main" id="{2133C9CC-ADBF-C57F-2CB1-71B1299677D2}"/>
              </a:ext>
            </a:extLst>
          </p:cNvPr>
          <p:cNvSpPr/>
          <p:nvPr/>
        </p:nvSpPr>
        <p:spPr>
          <a:xfrm>
            <a:off x="1976252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회원가입</a:t>
            </a:r>
          </a:p>
        </p:txBody>
      </p:sp>
      <p:sp>
        <p:nvSpPr>
          <p:cNvPr id="83" name="모서리가 둥근 직사각형 82">
            <a:extLst>
              <a:ext uri="{FF2B5EF4-FFF2-40B4-BE49-F238E27FC236}">
                <a16:creationId xmlns:a16="http://schemas.microsoft.com/office/drawing/2014/main" id="{4F99C5A5-6B64-AB25-9A06-D0C818D38D38}"/>
              </a:ext>
            </a:extLst>
          </p:cNvPr>
          <p:cNvSpPr/>
          <p:nvPr/>
        </p:nvSpPr>
        <p:spPr>
          <a:xfrm>
            <a:off x="3044788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ID/PW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찾기</a:t>
            </a:r>
          </a:p>
        </p:txBody>
      </p:sp>
      <p:sp>
        <p:nvSpPr>
          <p:cNvPr id="84" name="모서리가 둥근 직사각형 83">
            <a:extLst>
              <a:ext uri="{FF2B5EF4-FFF2-40B4-BE49-F238E27FC236}">
                <a16:creationId xmlns:a16="http://schemas.microsoft.com/office/drawing/2014/main" id="{E002D975-0860-3D42-C919-5BFA8E981804}"/>
              </a:ext>
            </a:extLst>
          </p:cNvPr>
          <p:cNvSpPr/>
          <p:nvPr/>
        </p:nvSpPr>
        <p:spPr>
          <a:xfrm>
            <a:off x="4088904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재단소개</a:t>
            </a:r>
          </a:p>
        </p:txBody>
      </p:sp>
      <p:sp>
        <p:nvSpPr>
          <p:cNvPr id="85" name="모서리가 둥근 직사각형 84">
            <a:extLst>
              <a:ext uri="{FF2B5EF4-FFF2-40B4-BE49-F238E27FC236}">
                <a16:creationId xmlns:a16="http://schemas.microsoft.com/office/drawing/2014/main" id="{46477B6B-BEFA-E6A8-A1CD-54DDD3D279A7}"/>
              </a:ext>
            </a:extLst>
          </p:cNvPr>
          <p:cNvSpPr/>
          <p:nvPr/>
        </p:nvSpPr>
        <p:spPr>
          <a:xfrm>
            <a:off x="6009278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5" name="모서리가 둥근 직사각형 94">
            <a:extLst>
              <a:ext uri="{FF2B5EF4-FFF2-40B4-BE49-F238E27FC236}">
                <a16:creationId xmlns:a16="http://schemas.microsoft.com/office/drawing/2014/main" id="{A9CE48E5-A27D-A822-BF34-6174645A8EDE}"/>
              </a:ext>
            </a:extLst>
          </p:cNvPr>
          <p:cNvSpPr/>
          <p:nvPr/>
        </p:nvSpPr>
        <p:spPr>
          <a:xfrm>
            <a:off x="8875660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마이페이지</a:t>
            </a:r>
          </a:p>
        </p:txBody>
      </p:sp>
      <p:cxnSp>
        <p:nvCxnSpPr>
          <p:cNvPr id="104" name="꺾인 연결선 103">
            <a:extLst>
              <a:ext uri="{FF2B5EF4-FFF2-40B4-BE49-F238E27FC236}">
                <a16:creationId xmlns:a16="http://schemas.microsoft.com/office/drawing/2014/main" id="{F8A6B176-2D14-968D-4BC2-2CCFA199AF30}"/>
              </a:ext>
            </a:extLst>
          </p:cNvPr>
          <p:cNvCxnSpPr>
            <a:stCxn id="76" idx="0"/>
            <a:endCxn id="75" idx="2"/>
          </p:cNvCxnSpPr>
          <p:nvPr/>
        </p:nvCxnSpPr>
        <p:spPr>
          <a:xfrm rot="5400000" flipH="1" flipV="1">
            <a:off x="2641771" y="-295398"/>
            <a:ext cx="343487" cy="4434093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연결선 105">
            <a:extLst>
              <a:ext uri="{FF2B5EF4-FFF2-40B4-BE49-F238E27FC236}">
                <a16:creationId xmlns:a16="http://schemas.microsoft.com/office/drawing/2014/main" id="{53762A48-4F4B-1E5A-167E-7474D659868A}"/>
              </a:ext>
            </a:extLst>
          </p:cNvPr>
          <p:cNvCxnSpPr>
            <a:stCxn id="81" idx="0"/>
            <a:endCxn id="75" idx="2"/>
          </p:cNvCxnSpPr>
          <p:nvPr/>
        </p:nvCxnSpPr>
        <p:spPr>
          <a:xfrm rot="5400000" flipH="1" flipV="1">
            <a:off x="3093640" y="156470"/>
            <a:ext cx="343487" cy="3530356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꺾인 연결선 106">
            <a:extLst>
              <a:ext uri="{FF2B5EF4-FFF2-40B4-BE49-F238E27FC236}">
                <a16:creationId xmlns:a16="http://schemas.microsoft.com/office/drawing/2014/main" id="{94698086-415F-58BB-7479-A78451F7308C}"/>
              </a:ext>
            </a:extLst>
          </p:cNvPr>
          <p:cNvCxnSpPr>
            <a:stCxn id="82" idx="0"/>
            <a:endCxn id="75" idx="2"/>
          </p:cNvCxnSpPr>
          <p:nvPr/>
        </p:nvCxnSpPr>
        <p:spPr>
          <a:xfrm rot="5400000" flipH="1" flipV="1">
            <a:off x="3547663" y="610494"/>
            <a:ext cx="343487" cy="2622309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꺾인 연결선 108">
            <a:extLst>
              <a:ext uri="{FF2B5EF4-FFF2-40B4-BE49-F238E27FC236}">
                <a16:creationId xmlns:a16="http://schemas.microsoft.com/office/drawing/2014/main" id="{74784EF0-07BE-D645-7008-25C6B8DAAAD2}"/>
              </a:ext>
            </a:extLst>
          </p:cNvPr>
          <p:cNvCxnSpPr>
            <a:cxnSpLocks/>
            <a:stCxn id="83" idx="0"/>
            <a:endCxn id="75" idx="2"/>
          </p:cNvCxnSpPr>
          <p:nvPr/>
        </p:nvCxnSpPr>
        <p:spPr>
          <a:xfrm rot="5400000" flipH="1" flipV="1">
            <a:off x="4081931" y="1144762"/>
            <a:ext cx="343487" cy="1553773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꺾인 연결선 109">
            <a:extLst>
              <a:ext uri="{FF2B5EF4-FFF2-40B4-BE49-F238E27FC236}">
                <a16:creationId xmlns:a16="http://schemas.microsoft.com/office/drawing/2014/main" id="{DF37DC52-2B4D-C566-4BCC-C7CEB3140EE0}"/>
              </a:ext>
            </a:extLst>
          </p:cNvPr>
          <p:cNvCxnSpPr>
            <a:stCxn id="84" idx="0"/>
            <a:endCxn id="75" idx="2"/>
          </p:cNvCxnSpPr>
          <p:nvPr/>
        </p:nvCxnSpPr>
        <p:spPr>
          <a:xfrm rot="5400000" flipH="1" flipV="1">
            <a:off x="4603989" y="1666820"/>
            <a:ext cx="343487" cy="509657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꺾인 연결선 111">
            <a:extLst>
              <a:ext uri="{FF2B5EF4-FFF2-40B4-BE49-F238E27FC236}">
                <a16:creationId xmlns:a16="http://schemas.microsoft.com/office/drawing/2014/main" id="{62CB0677-49D5-CD43-0AF7-9459D42F2109}"/>
              </a:ext>
            </a:extLst>
          </p:cNvPr>
          <p:cNvCxnSpPr>
            <a:stCxn id="85" idx="0"/>
            <a:endCxn id="75" idx="2"/>
          </p:cNvCxnSpPr>
          <p:nvPr/>
        </p:nvCxnSpPr>
        <p:spPr>
          <a:xfrm rot="16200000" flipV="1">
            <a:off x="5564177" y="1216289"/>
            <a:ext cx="343487" cy="1410717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꺾인 연결선 116">
            <a:extLst>
              <a:ext uri="{FF2B5EF4-FFF2-40B4-BE49-F238E27FC236}">
                <a16:creationId xmlns:a16="http://schemas.microsoft.com/office/drawing/2014/main" id="{4D220882-1D06-B503-DC47-D6727C74D41A}"/>
              </a:ext>
            </a:extLst>
          </p:cNvPr>
          <p:cNvCxnSpPr>
            <a:cxnSpLocks/>
            <a:stCxn id="14" idx="0"/>
            <a:endCxn id="75" idx="2"/>
          </p:cNvCxnSpPr>
          <p:nvPr/>
        </p:nvCxnSpPr>
        <p:spPr>
          <a:xfrm rot="16200000" flipV="1">
            <a:off x="6528104" y="252362"/>
            <a:ext cx="343487" cy="3338571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꺾인 연결선 145">
            <a:extLst>
              <a:ext uri="{FF2B5EF4-FFF2-40B4-BE49-F238E27FC236}">
                <a16:creationId xmlns:a16="http://schemas.microsoft.com/office/drawing/2014/main" id="{475FAF0C-8027-8DA8-9317-044ECC6C6258}"/>
              </a:ext>
            </a:extLst>
          </p:cNvPr>
          <p:cNvCxnSpPr>
            <a:cxnSpLocks/>
            <a:stCxn id="95" idx="0"/>
            <a:endCxn id="75" idx="2"/>
          </p:cNvCxnSpPr>
          <p:nvPr/>
        </p:nvCxnSpPr>
        <p:spPr>
          <a:xfrm rot="16200000" flipV="1">
            <a:off x="6997368" y="-216902"/>
            <a:ext cx="343487" cy="4277099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모서리가 둥근 직사각형 84">
            <a:extLst>
              <a:ext uri="{FF2B5EF4-FFF2-40B4-BE49-F238E27FC236}">
                <a16:creationId xmlns:a16="http://schemas.microsoft.com/office/drawing/2014/main" id="{CC592326-17A0-4575-3F39-98A6BC40A6BB}"/>
              </a:ext>
            </a:extLst>
          </p:cNvPr>
          <p:cNvSpPr/>
          <p:nvPr/>
        </p:nvSpPr>
        <p:spPr>
          <a:xfrm>
            <a:off x="7937132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</a:t>
            </a:r>
          </a:p>
        </p:txBody>
      </p:sp>
      <p:sp>
        <p:nvSpPr>
          <p:cNvPr id="3" name="모서리가 둥근 직사각형 83">
            <a:extLst>
              <a:ext uri="{FF2B5EF4-FFF2-40B4-BE49-F238E27FC236}">
                <a16:creationId xmlns:a16="http://schemas.microsoft.com/office/drawing/2014/main" id="{CCEE022B-E5B4-883E-CFE2-F04AAD6C1BA9}"/>
              </a:ext>
            </a:extLst>
          </p:cNvPr>
          <p:cNvSpPr/>
          <p:nvPr/>
        </p:nvSpPr>
        <p:spPr>
          <a:xfrm>
            <a:off x="4624329" y="2344450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재단안내</a:t>
            </a:r>
          </a:p>
        </p:txBody>
      </p:sp>
      <p:cxnSp>
        <p:nvCxnSpPr>
          <p:cNvPr id="4" name="꺾인 연결선 111">
            <a:extLst>
              <a:ext uri="{FF2B5EF4-FFF2-40B4-BE49-F238E27FC236}">
                <a16:creationId xmlns:a16="http://schemas.microsoft.com/office/drawing/2014/main" id="{A5565335-5EA9-862E-F5FE-98581FEA2301}"/>
              </a:ext>
            </a:extLst>
          </p:cNvPr>
          <p:cNvCxnSpPr>
            <a:cxnSpLocks/>
            <a:stCxn id="3" idx="1"/>
            <a:endCxn id="84" idx="2"/>
          </p:cNvCxnSpPr>
          <p:nvPr/>
        </p:nvCxnSpPr>
        <p:spPr>
          <a:xfrm rot="10800000">
            <a:off x="4520905" y="2282743"/>
            <a:ext cx="103425" cy="147776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모서리가 둥근 직사각형 83">
            <a:extLst>
              <a:ext uri="{FF2B5EF4-FFF2-40B4-BE49-F238E27FC236}">
                <a16:creationId xmlns:a16="http://schemas.microsoft.com/office/drawing/2014/main" id="{1FA1482E-DD90-71E0-9AE2-B430D3922790}"/>
              </a:ext>
            </a:extLst>
          </p:cNvPr>
          <p:cNvSpPr/>
          <p:nvPr/>
        </p:nvSpPr>
        <p:spPr>
          <a:xfrm>
            <a:off x="4624329" y="3383751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조직안내</a:t>
            </a:r>
          </a:p>
        </p:txBody>
      </p:sp>
      <p:sp>
        <p:nvSpPr>
          <p:cNvPr id="11" name="모서리가 둥근 직사각형 83">
            <a:extLst>
              <a:ext uri="{FF2B5EF4-FFF2-40B4-BE49-F238E27FC236}">
                <a16:creationId xmlns:a16="http://schemas.microsoft.com/office/drawing/2014/main" id="{0FA686A5-ECB8-013F-E4D8-D99ED006D7B8}"/>
              </a:ext>
            </a:extLst>
          </p:cNvPr>
          <p:cNvSpPr/>
          <p:nvPr/>
        </p:nvSpPr>
        <p:spPr>
          <a:xfrm>
            <a:off x="4624329" y="4214716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사업소개</a:t>
            </a:r>
          </a:p>
        </p:txBody>
      </p:sp>
      <p:sp>
        <p:nvSpPr>
          <p:cNvPr id="12" name="모서리가 둥근 직사각형 83">
            <a:extLst>
              <a:ext uri="{FF2B5EF4-FFF2-40B4-BE49-F238E27FC236}">
                <a16:creationId xmlns:a16="http://schemas.microsoft.com/office/drawing/2014/main" id="{99B99D57-6A2F-A113-7642-635566855B0E}"/>
              </a:ext>
            </a:extLst>
          </p:cNvPr>
          <p:cNvSpPr/>
          <p:nvPr/>
        </p:nvSpPr>
        <p:spPr>
          <a:xfrm>
            <a:off x="4624329" y="4873543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찾아오시는길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모서리가 둥근 직사각형 83">
            <a:extLst>
              <a:ext uri="{FF2B5EF4-FFF2-40B4-BE49-F238E27FC236}">
                <a16:creationId xmlns:a16="http://schemas.microsoft.com/office/drawing/2014/main" id="{B923566E-DA2C-9A0D-7709-CCC9341411A8}"/>
              </a:ext>
            </a:extLst>
          </p:cNvPr>
          <p:cNvSpPr/>
          <p:nvPr/>
        </p:nvSpPr>
        <p:spPr>
          <a:xfrm>
            <a:off x="4624329" y="5523506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약관</a:t>
            </a:r>
          </a:p>
        </p:txBody>
      </p:sp>
      <p:sp>
        <p:nvSpPr>
          <p:cNvPr id="22" name="모서리가 둥근 직사각형 83">
            <a:extLst>
              <a:ext uri="{FF2B5EF4-FFF2-40B4-BE49-F238E27FC236}">
                <a16:creationId xmlns:a16="http://schemas.microsoft.com/office/drawing/2014/main" id="{38C143B2-0D35-DABB-5D64-CB29A1BB5F8F}"/>
              </a:ext>
            </a:extLst>
          </p:cNvPr>
          <p:cNvSpPr/>
          <p:nvPr/>
        </p:nvSpPr>
        <p:spPr>
          <a:xfrm>
            <a:off x="3580212" y="2344450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아이디 찾기</a:t>
            </a:r>
          </a:p>
        </p:txBody>
      </p:sp>
      <p:cxnSp>
        <p:nvCxnSpPr>
          <p:cNvPr id="23" name="꺾인 연결선 111">
            <a:extLst>
              <a:ext uri="{FF2B5EF4-FFF2-40B4-BE49-F238E27FC236}">
                <a16:creationId xmlns:a16="http://schemas.microsoft.com/office/drawing/2014/main" id="{74A0C86C-2030-6601-6667-18BD834FA497}"/>
              </a:ext>
            </a:extLst>
          </p:cNvPr>
          <p:cNvCxnSpPr>
            <a:cxnSpLocks/>
            <a:stCxn id="22" idx="1"/>
            <a:endCxn id="83" idx="2"/>
          </p:cNvCxnSpPr>
          <p:nvPr/>
        </p:nvCxnSpPr>
        <p:spPr>
          <a:xfrm rot="10800000">
            <a:off x="3476788" y="2282743"/>
            <a:ext cx="103424" cy="147776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모서리가 둥근 직사각형 83">
            <a:extLst>
              <a:ext uri="{FF2B5EF4-FFF2-40B4-BE49-F238E27FC236}">
                <a16:creationId xmlns:a16="http://schemas.microsoft.com/office/drawing/2014/main" id="{319C8AC3-DE10-00B3-F482-F26F8760EBE4}"/>
              </a:ext>
            </a:extLst>
          </p:cNvPr>
          <p:cNvSpPr/>
          <p:nvPr/>
        </p:nvSpPr>
        <p:spPr>
          <a:xfrm>
            <a:off x="3580212" y="2549702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비밀번호 찾기</a:t>
            </a:r>
          </a:p>
        </p:txBody>
      </p:sp>
      <p:sp>
        <p:nvSpPr>
          <p:cNvPr id="30" name="모서리가 둥근 직사각형 83">
            <a:extLst>
              <a:ext uri="{FF2B5EF4-FFF2-40B4-BE49-F238E27FC236}">
                <a16:creationId xmlns:a16="http://schemas.microsoft.com/office/drawing/2014/main" id="{1C9CCFB6-E7A5-B9A4-9838-161B5D3691C1}"/>
              </a:ext>
            </a:extLst>
          </p:cNvPr>
          <p:cNvSpPr/>
          <p:nvPr/>
        </p:nvSpPr>
        <p:spPr>
          <a:xfrm>
            <a:off x="2511676" y="2344450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이용약관동의</a:t>
            </a:r>
          </a:p>
        </p:txBody>
      </p:sp>
      <p:cxnSp>
        <p:nvCxnSpPr>
          <p:cNvPr id="31" name="꺾인 연결선 111">
            <a:extLst>
              <a:ext uri="{FF2B5EF4-FFF2-40B4-BE49-F238E27FC236}">
                <a16:creationId xmlns:a16="http://schemas.microsoft.com/office/drawing/2014/main" id="{68A2DD7F-616B-9752-1225-D5211688CD15}"/>
              </a:ext>
            </a:extLst>
          </p:cNvPr>
          <p:cNvCxnSpPr>
            <a:cxnSpLocks/>
            <a:stCxn id="30" idx="1"/>
            <a:endCxn id="82" idx="2"/>
          </p:cNvCxnSpPr>
          <p:nvPr/>
        </p:nvCxnSpPr>
        <p:spPr>
          <a:xfrm rot="10800000">
            <a:off x="2408252" y="2282743"/>
            <a:ext cx="103424" cy="147776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모서리가 둥근 직사각형 83">
            <a:extLst>
              <a:ext uri="{FF2B5EF4-FFF2-40B4-BE49-F238E27FC236}">
                <a16:creationId xmlns:a16="http://schemas.microsoft.com/office/drawing/2014/main" id="{4E55288E-1F57-6329-866D-EE749FB3A036}"/>
              </a:ext>
            </a:extLst>
          </p:cNvPr>
          <p:cNvSpPr/>
          <p:nvPr/>
        </p:nvSpPr>
        <p:spPr>
          <a:xfrm>
            <a:off x="2511676" y="2549702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만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14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세 미만</a:t>
            </a:r>
          </a:p>
        </p:txBody>
      </p:sp>
      <p:sp>
        <p:nvSpPr>
          <p:cNvPr id="33" name="모서리가 둥근 직사각형 83">
            <a:extLst>
              <a:ext uri="{FF2B5EF4-FFF2-40B4-BE49-F238E27FC236}">
                <a16:creationId xmlns:a16="http://schemas.microsoft.com/office/drawing/2014/main" id="{64BF2376-F4A9-0BB2-65B7-B3AAF17F42ED}"/>
              </a:ext>
            </a:extLst>
          </p:cNvPr>
          <p:cNvSpPr/>
          <p:nvPr/>
        </p:nvSpPr>
        <p:spPr>
          <a:xfrm>
            <a:off x="2511676" y="2751743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만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14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세 이상</a:t>
            </a:r>
          </a:p>
        </p:txBody>
      </p:sp>
      <p:sp>
        <p:nvSpPr>
          <p:cNvPr id="34" name="모서리가 둥근 직사각형 83">
            <a:extLst>
              <a:ext uri="{FF2B5EF4-FFF2-40B4-BE49-F238E27FC236}">
                <a16:creationId xmlns:a16="http://schemas.microsoft.com/office/drawing/2014/main" id="{42E6E235-A36F-5CAE-135F-39842B6E959F}"/>
              </a:ext>
            </a:extLst>
          </p:cNvPr>
          <p:cNvSpPr/>
          <p:nvPr/>
        </p:nvSpPr>
        <p:spPr>
          <a:xfrm>
            <a:off x="2511676" y="2953784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회원정보 작성</a:t>
            </a:r>
          </a:p>
        </p:txBody>
      </p:sp>
      <p:sp>
        <p:nvSpPr>
          <p:cNvPr id="35" name="모서리가 둥근 직사각형 83">
            <a:extLst>
              <a:ext uri="{FF2B5EF4-FFF2-40B4-BE49-F238E27FC236}">
                <a16:creationId xmlns:a16="http://schemas.microsoft.com/office/drawing/2014/main" id="{7784A90E-9439-969B-2133-F0567128862D}"/>
              </a:ext>
            </a:extLst>
          </p:cNvPr>
          <p:cNvSpPr/>
          <p:nvPr/>
        </p:nvSpPr>
        <p:spPr>
          <a:xfrm>
            <a:off x="2511676" y="3155825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가입신청 완료</a:t>
            </a:r>
          </a:p>
        </p:txBody>
      </p:sp>
      <p:sp>
        <p:nvSpPr>
          <p:cNvPr id="37" name="모서리가 둥근 직사각형 83">
            <a:extLst>
              <a:ext uri="{FF2B5EF4-FFF2-40B4-BE49-F238E27FC236}">
                <a16:creationId xmlns:a16="http://schemas.microsoft.com/office/drawing/2014/main" id="{8BFDC16B-6C0E-BE42-CDA5-161179E10ECB}"/>
              </a:ext>
            </a:extLst>
          </p:cNvPr>
          <p:cNvSpPr/>
          <p:nvPr/>
        </p:nvSpPr>
        <p:spPr>
          <a:xfrm>
            <a:off x="5162602" y="2574696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이상장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인사말</a:t>
            </a:r>
          </a:p>
        </p:txBody>
      </p:sp>
      <p:cxnSp>
        <p:nvCxnSpPr>
          <p:cNvPr id="38" name="꺾인 연결선 111">
            <a:extLst>
              <a:ext uri="{FF2B5EF4-FFF2-40B4-BE49-F238E27FC236}">
                <a16:creationId xmlns:a16="http://schemas.microsoft.com/office/drawing/2014/main" id="{123E45E1-FA33-D005-0351-BEF475063252}"/>
              </a:ext>
            </a:extLst>
          </p:cNvPr>
          <p:cNvCxnSpPr>
            <a:cxnSpLocks/>
            <a:stCxn id="37" idx="1"/>
            <a:endCxn id="3" idx="2"/>
          </p:cNvCxnSpPr>
          <p:nvPr/>
        </p:nvCxnSpPr>
        <p:spPr>
          <a:xfrm rot="10800000">
            <a:off x="5049508" y="2516589"/>
            <a:ext cx="113095" cy="144177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모서리가 둥근 직사각형 83">
            <a:extLst>
              <a:ext uri="{FF2B5EF4-FFF2-40B4-BE49-F238E27FC236}">
                <a16:creationId xmlns:a16="http://schemas.microsoft.com/office/drawing/2014/main" id="{7D8F9FE1-4318-11A8-14A2-3858DAAD9935}"/>
              </a:ext>
            </a:extLst>
          </p:cNvPr>
          <p:cNvSpPr/>
          <p:nvPr/>
        </p:nvSpPr>
        <p:spPr>
          <a:xfrm>
            <a:off x="5162602" y="2765866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연혁 및 소개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2" name="모서리가 둥근 직사각형 83">
            <a:extLst>
              <a:ext uri="{FF2B5EF4-FFF2-40B4-BE49-F238E27FC236}">
                <a16:creationId xmlns:a16="http://schemas.microsoft.com/office/drawing/2014/main" id="{64A1B990-5DBE-B353-FDF6-B2DCF939A4C0}"/>
              </a:ext>
            </a:extLst>
          </p:cNvPr>
          <p:cNvSpPr/>
          <p:nvPr/>
        </p:nvSpPr>
        <p:spPr>
          <a:xfrm>
            <a:off x="5162602" y="2964364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비전및핵심가치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3" name="모서리가 둥근 직사각형 83">
            <a:extLst>
              <a:ext uri="{FF2B5EF4-FFF2-40B4-BE49-F238E27FC236}">
                <a16:creationId xmlns:a16="http://schemas.microsoft.com/office/drawing/2014/main" id="{A8A339D3-36A3-E5A7-C391-027A08070F13}"/>
              </a:ext>
            </a:extLst>
          </p:cNvPr>
          <p:cNvSpPr/>
          <p:nvPr/>
        </p:nvSpPr>
        <p:spPr>
          <a:xfrm>
            <a:off x="5162602" y="3163776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설립취지</a:t>
            </a:r>
          </a:p>
        </p:txBody>
      </p:sp>
      <p:cxnSp>
        <p:nvCxnSpPr>
          <p:cNvPr id="44" name="꺾인 연결선 111">
            <a:extLst>
              <a:ext uri="{FF2B5EF4-FFF2-40B4-BE49-F238E27FC236}">
                <a16:creationId xmlns:a16="http://schemas.microsoft.com/office/drawing/2014/main" id="{5301725F-F1F4-D155-4B06-3BD2C45B1A31}"/>
              </a:ext>
            </a:extLst>
          </p:cNvPr>
          <p:cNvCxnSpPr>
            <a:cxnSpLocks/>
            <a:stCxn id="9" idx="1"/>
            <a:endCxn id="84" idx="2"/>
          </p:cNvCxnSpPr>
          <p:nvPr/>
        </p:nvCxnSpPr>
        <p:spPr>
          <a:xfrm rot="10800000">
            <a:off x="4520905" y="2282744"/>
            <a:ext cx="103425" cy="1187077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모서리가 둥근 직사각형 83">
            <a:extLst>
              <a:ext uri="{FF2B5EF4-FFF2-40B4-BE49-F238E27FC236}">
                <a16:creationId xmlns:a16="http://schemas.microsoft.com/office/drawing/2014/main" id="{A9184457-551C-905E-2B8B-B9FCFC110A5F}"/>
              </a:ext>
            </a:extLst>
          </p:cNvPr>
          <p:cNvSpPr/>
          <p:nvPr/>
        </p:nvSpPr>
        <p:spPr>
          <a:xfrm>
            <a:off x="5162602" y="3608303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조직도</a:t>
            </a:r>
          </a:p>
        </p:txBody>
      </p:sp>
      <p:cxnSp>
        <p:nvCxnSpPr>
          <p:cNvPr id="48" name="꺾인 연결선 111">
            <a:extLst>
              <a:ext uri="{FF2B5EF4-FFF2-40B4-BE49-F238E27FC236}">
                <a16:creationId xmlns:a16="http://schemas.microsoft.com/office/drawing/2014/main" id="{34EB3609-134D-4D11-D2C2-751D026D1660}"/>
              </a:ext>
            </a:extLst>
          </p:cNvPr>
          <p:cNvCxnSpPr>
            <a:cxnSpLocks/>
            <a:stCxn id="47" idx="1"/>
            <a:endCxn id="9" idx="2"/>
          </p:cNvCxnSpPr>
          <p:nvPr/>
        </p:nvCxnSpPr>
        <p:spPr>
          <a:xfrm rot="10800000">
            <a:off x="5049508" y="3555890"/>
            <a:ext cx="113095" cy="138483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모서리가 둥근 직사각형 83">
            <a:extLst>
              <a:ext uri="{FF2B5EF4-FFF2-40B4-BE49-F238E27FC236}">
                <a16:creationId xmlns:a16="http://schemas.microsoft.com/office/drawing/2014/main" id="{D175A0C3-A8C4-AD1E-5AEB-E148825787D8}"/>
              </a:ext>
            </a:extLst>
          </p:cNvPr>
          <p:cNvSpPr/>
          <p:nvPr/>
        </p:nvSpPr>
        <p:spPr>
          <a:xfrm>
            <a:off x="5162602" y="3807424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담당업무</a:t>
            </a:r>
          </a:p>
        </p:txBody>
      </p:sp>
      <p:sp>
        <p:nvSpPr>
          <p:cNvPr id="51" name="모서리가 둥근 직사각형 83">
            <a:extLst>
              <a:ext uri="{FF2B5EF4-FFF2-40B4-BE49-F238E27FC236}">
                <a16:creationId xmlns:a16="http://schemas.microsoft.com/office/drawing/2014/main" id="{977E66B0-1065-8EDD-F554-D75D96657F65}"/>
              </a:ext>
            </a:extLst>
          </p:cNvPr>
          <p:cNvSpPr/>
          <p:nvPr/>
        </p:nvSpPr>
        <p:spPr>
          <a:xfrm>
            <a:off x="5162602" y="3999507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임원현황</a:t>
            </a:r>
          </a:p>
        </p:txBody>
      </p:sp>
      <p:cxnSp>
        <p:nvCxnSpPr>
          <p:cNvPr id="52" name="꺾인 연결선 111">
            <a:extLst>
              <a:ext uri="{FF2B5EF4-FFF2-40B4-BE49-F238E27FC236}">
                <a16:creationId xmlns:a16="http://schemas.microsoft.com/office/drawing/2014/main" id="{37C1809B-7AE3-5327-63A3-46209E2F56B8}"/>
              </a:ext>
            </a:extLst>
          </p:cNvPr>
          <p:cNvCxnSpPr>
            <a:cxnSpLocks/>
            <a:stCxn id="32" idx="1"/>
            <a:endCxn id="82" idx="2"/>
          </p:cNvCxnSpPr>
          <p:nvPr/>
        </p:nvCxnSpPr>
        <p:spPr>
          <a:xfrm rot="10800000">
            <a:off x="2408252" y="2282743"/>
            <a:ext cx="103424" cy="353028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꺾인 연결선 111">
            <a:extLst>
              <a:ext uri="{FF2B5EF4-FFF2-40B4-BE49-F238E27FC236}">
                <a16:creationId xmlns:a16="http://schemas.microsoft.com/office/drawing/2014/main" id="{2479548E-5007-E586-C188-C9235DE2B265}"/>
              </a:ext>
            </a:extLst>
          </p:cNvPr>
          <p:cNvCxnSpPr>
            <a:cxnSpLocks/>
            <a:stCxn id="33" idx="1"/>
            <a:endCxn id="82" idx="2"/>
          </p:cNvCxnSpPr>
          <p:nvPr/>
        </p:nvCxnSpPr>
        <p:spPr>
          <a:xfrm rot="10800000">
            <a:off x="2408252" y="2282744"/>
            <a:ext cx="103424" cy="555069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꺾인 연결선 111">
            <a:extLst>
              <a:ext uri="{FF2B5EF4-FFF2-40B4-BE49-F238E27FC236}">
                <a16:creationId xmlns:a16="http://schemas.microsoft.com/office/drawing/2014/main" id="{A2A055A4-271D-0497-89AF-A0F996C91A1C}"/>
              </a:ext>
            </a:extLst>
          </p:cNvPr>
          <p:cNvCxnSpPr>
            <a:cxnSpLocks/>
            <a:stCxn id="34" idx="1"/>
            <a:endCxn id="82" idx="2"/>
          </p:cNvCxnSpPr>
          <p:nvPr/>
        </p:nvCxnSpPr>
        <p:spPr>
          <a:xfrm rot="10800000">
            <a:off x="2408252" y="2282743"/>
            <a:ext cx="103424" cy="757110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꺾인 연결선 111">
            <a:extLst>
              <a:ext uri="{FF2B5EF4-FFF2-40B4-BE49-F238E27FC236}">
                <a16:creationId xmlns:a16="http://schemas.microsoft.com/office/drawing/2014/main" id="{6E504099-468D-426C-68CB-959B6AE9D389}"/>
              </a:ext>
            </a:extLst>
          </p:cNvPr>
          <p:cNvCxnSpPr>
            <a:cxnSpLocks/>
            <a:stCxn id="35" idx="1"/>
            <a:endCxn id="82" idx="2"/>
          </p:cNvCxnSpPr>
          <p:nvPr/>
        </p:nvCxnSpPr>
        <p:spPr>
          <a:xfrm rot="10800000">
            <a:off x="2408252" y="2282744"/>
            <a:ext cx="103424" cy="959151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꺾인 연결선 111">
            <a:extLst>
              <a:ext uri="{FF2B5EF4-FFF2-40B4-BE49-F238E27FC236}">
                <a16:creationId xmlns:a16="http://schemas.microsoft.com/office/drawing/2014/main" id="{A778F079-8271-2C9A-306F-C56608B5C869}"/>
              </a:ext>
            </a:extLst>
          </p:cNvPr>
          <p:cNvCxnSpPr>
            <a:cxnSpLocks/>
            <a:stCxn id="24" idx="1"/>
            <a:endCxn id="83" idx="2"/>
          </p:cNvCxnSpPr>
          <p:nvPr/>
        </p:nvCxnSpPr>
        <p:spPr>
          <a:xfrm rot="10800000">
            <a:off x="3476788" y="2282743"/>
            <a:ext cx="103424" cy="353028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꺾인 연결선 111">
            <a:extLst>
              <a:ext uri="{FF2B5EF4-FFF2-40B4-BE49-F238E27FC236}">
                <a16:creationId xmlns:a16="http://schemas.microsoft.com/office/drawing/2014/main" id="{5C8CEFDF-D0D4-055D-7743-6771E00DACAB}"/>
              </a:ext>
            </a:extLst>
          </p:cNvPr>
          <p:cNvCxnSpPr>
            <a:cxnSpLocks/>
            <a:stCxn id="11" idx="1"/>
            <a:endCxn id="84" idx="2"/>
          </p:cNvCxnSpPr>
          <p:nvPr/>
        </p:nvCxnSpPr>
        <p:spPr>
          <a:xfrm rot="10800000">
            <a:off x="4520905" y="2282743"/>
            <a:ext cx="103425" cy="2018042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꺾인 연결선 111">
            <a:extLst>
              <a:ext uri="{FF2B5EF4-FFF2-40B4-BE49-F238E27FC236}">
                <a16:creationId xmlns:a16="http://schemas.microsoft.com/office/drawing/2014/main" id="{56FA95D7-6EA0-32F8-BF51-7FDD473FC8CC}"/>
              </a:ext>
            </a:extLst>
          </p:cNvPr>
          <p:cNvCxnSpPr>
            <a:cxnSpLocks/>
            <a:stCxn id="12" idx="1"/>
            <a:endCxn id="84" idx="2"/>
          </p:cNvCxnSpPr>
          <p:nvPr/>
        </p:nvCxnSpPr>
        <p:spPr>
          <a:xfrm rot="10800000">
            <a:off x="4520905" y="2282744"/>
            <a:ext cx="103425" cy="2676869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꺾인 연결선 111">
            <a:extLst>
              <a:ext uri="{FF2B5EF4-FFF2-40B4-BE49-F238E27FC236}">
                <a16:creationId xmlns:a16="http://schemas.microsoft.com/office/drawing/2014/main" id="{C9053CA7-866E-25B6-D303-40AEA1DA1FB9}"/>
              </a:ext>
            </a:extLst>
          </p:cNvPr>
          <p:cNvCxnSpPr>
            <a:cxnSpLocks/>
            <a:stCxn id="13" idx="1"/>
            <a:endCxn id="84" idx="2"/>
          </p:cNvCxnSpPr>
          <p:nvPr/>
        </p:nvCxnSpPr>
        <p:spPr>
          <a:xfrm rot="10800000">
            <a:off x="4520905" y="2282743"/>
            <a:ext cx="103425" cy="3326832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모서리가 둥근 직사각형 83">
            <a:extLst>
              <a:ext uri="{FF2B5EF4-FFF2-40B4-BE49-F238E27FC236}">
                <a16:creationId xmlns:a16="http://schemas.microsoft.com/office/drawing/2014/main" id="{B6B40E0B-77FC-245A-3F4B-3CA655A3FF11}"/>
              </a:ext>
            </a:extLst>
          </p:cNvPr>
          <p:cNvSpPr/>
          <p:nvPr/>
        </p:nvSpPr>
        <p:spPr>
          <a:xfrm>
            <a:off x="5162602" y="4438789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장학사업</a:t>
            </a:r>
          </a:p>
        </p:txBody>
      </p:sp>
      <p:cxnSp>
        <p:nvCxnSpPr>
          <p:cNvPr id="80" name="꺾인 연결선 111">
            <a:extLst>
              <a:ext uri="{FF2B5EF4-FFF2-40B4-BE49-F238E27FC236}">
                <a16:creationId xmlns:a16="http://schemas.microsoft.com/office/drawing/2014/main" id="{45D42079-D0F2-0EB3-693C-D4AD9C9244B2}"/>
              </a:ext>
            </a:extLst>
          </p:cNvPr>
          <p:cNvCxnSpPr>
            <a:cxnSpLocks/>
            <a:stCxn id="79" idx="1"/>
            <a:endCxn id="11" idx="2"/>
          </p:cNvCxnSpPr>
          <p:nvPr/>
        </p:nvCxnSpPr>
        <p:spPr>
          <a:xfrm rot="10800000">
            <a:off x="5049508" y="4386854"/>
            <a:ext cx="113095" cy="138004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모서리가 둥근 직사각형 83">
            <a:extLst>
              <a:ext uri="{FF2B5EF4-FFF2-40B4-BE49-F238E27FC236}">
                <a16:creationId xmlns:a16="http://schemas.microsoft.com/office/drawing/2014/main" id="{671380FD-487C-B962-CD40-7F942CAA8459}"/>
              </a:ext>
            </a:extLst>
          </p:cNvPr>
          <p:cNvSpPr/>
          <p:nvPr/>
        </p:nvSpPr>
        <p:spPr>
          <a:xfrm>
            <a:off x="5162602" y="4637910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교육사업</a:t>
            </a:r>
          </a:p>
        </p:txBody>
      </p:sp>
      <p:sp>
        <p:nvSpPr>
          <p:cNvPr id="91" name="모서리가 둥근 직사각형 83">
            <a:extLst>
              <a:ext uri="{FF2B5EF4-FFF2-40B4-BE49-F238E27FC236}">
                <a16:creationId xmlns:a16="http://schemas.microsoft.com/office/drawing/2014/main" id="{A23C5E2A-F1C7-DBA6-824A-41405ED81A1D}"/>
              </a:ext>
            </a:extLst>
          </p:cNvPr>
          <p:cNvSpPr/>
          <p:nvPr/>
        </p:nvSpPr>
        <p:spPr>
          <a:xfrm>
            <a:off x="5162602" y="5109176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오산교육재단</a:t>
            </a:r>
          </a:p>
        </p:txBody>
      </p:sp>
      <p:cxnSp>
        <p:nvCxnSpPr>
          <p:cNvPr id="96" name="꺾인 연결선 111">
            <a:extLst>
              <a:ext uri="{FF2B5EF4-FFF2-40B4-BE49-F238E27FC236}">
                <a16:creationId xmlns:a16="http://schemas.microsoft.com/office/drawing/2014/main" id="{F48EB8A3-1C6B-84CD-983C-6D5F260AC013}"/>
              </a:ext>
            </a:extLst>
          </p:cNvPr>
          <p:cNvCxnSpPr>
            <a:cxnSpLocks/>
            <a:stCxn id="91" idx="1"/>
            <a:endCxn id="12" idx="2"/>
          </p:cNvCxnSpPr>
          <p:nvPr/>
        </p:nvCxnSpPr>
        <p:spPr>
          <a:xfrm rot="10800000">
            <a:off x="5049508" y="5045681"/>
            <a:ext cx="113095" cy="149564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모서리가 둥근 직사각형 83">
            <a:extLst>
              <a:ext uri="{FF2B5EF4-FFF2-40B4-BE49-F238E27FC236}">
                <a16:creationId xmlns:a16="http://schemas.microsoft.com/office/drawing/2014/main" id="{188B6FF4-A9E9-B078-A18E-72D68E436B31}"/>
              </a:ext>
            </a:extLst>
          </p:cNvPr>
          <p:cNvSpPr/>
          <p:nvPr/>
        </p:nvSpPr>
        <p:spPr>
          <a:xfrm>
            <a:off x="5162602" y="5308297"/>
            <a:ext cx="1188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오산시진로진학상담센터</a:t>
            </a:r>
          </a:p>
        </p:txBody>
      </p:sp>
      <p:sp>
        <p:nvSpPr>
          <p:cNvPr id="100" name="모서리가 둥근 직사각형 83">
            <a:extLst>
              <a:ext uri="{FF2B5EF4-FFF2-40B4-BE49-F238E27FC236}">
                <a16:creationId xmlns:a16="http://schemas.microsoft.com/office/drawing/2014/main" id="{A9102D30-1020-A587-1501-23DD398AB6AA}"/>
              </a:ext>
            </a:extLst>
          </p:cNvPr>
          <p:cNvSpPr/>
          <p:nvPr/>
        </p:nvSpPr>
        <p:spPr>
          <a:xfrm>
            <a:off x="5162602" y="5747579"/>
            <a:ext cx="1028931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개인정보처리방침</a:t>
            </a:r>
          </a:p>
        </p:txBody>
      </p:sp>
      <p:cxnSp>
        <p:nvCxnSpPr>
          <p:cNvPr id="101" name="꺾인 연결선 111">
            <a:extLst>
              <a:ext uri="{FF2B5EF4-FFF2-40B4-BE49-F238E27FC236}">
                <a16:creationId xmlns:a16="http://schemas.microsoft.com/office/drawing/2014/main" id="{558BC498-F3EB-4392-DA7B-6D6890B9DCF8}"/>
              </a:ext>
            </a:extLst>
          </p:cNvPr>
          <p:cNvCxnSpPr>
            <a:cxnSpLocks/>
            <a:stCxn id="100" idx="1"/>
            <a:endCxn id="13" idx="2"/>
          </p:cNvCxnSpPr>
          <p:nvPr/>
        </p:nvCxnSpPr>
        <p:spPr>
          <a:xfrm rot="10800000">
            <a:off x="5049508" y="5695644"/>
            <a:ext cx="113095" cy="138004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모서리가 둥근 직사각형 83">
            <a:extLst>
              <a:ext uri="{FF2B5EF4-FFF2-40B4-BE49-F238E27FC236}">
                <a16:creationId xmlns:a16="http://schemas.microsoft.com/office/drawing/2014/main" id="{9F91BE8B-3596-E7FF-4F80-77A8B71021EA}"/>
              </a:ext>
            </a:extLst>
          </p:cNvPr>
          <p:cNvSpPr/>
          <p:nvPr/>
        </p:nvSpPr>
        <p:spPr>
          <a:xfrm>
            <a:off x="5162602" y="5946700"/>
            <a:ext cx="1028931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이메일무단수집거부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3" name="모서리가 둥근 직사각형 83">
            <a:extLst>
              <a:ext uri="{FF2B5EF4-FFF2-40B4-BE49-F238E27FC236}">
                <a16:creationId xmlns:a16="http://schemas.microsoft.com/office/drawing/2014/main" id="{2491B956-5862-A32E-CFE6-2790C43F66F4}"/>
              </a:ext>
            </a:extLst>
          </p:cNvPr>
          <p:cNvSpPr/>
          <p:nvPr/>
        </p:nvSpPr>
        <p:spPr>
          <a:xfrm>
            <a:off x="5162602" y="6138783"/>
            <a:ext cx="1028931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홈페이지운영지침</a:t>
            </a:r>
          </a:p>
        </p:txBody>
      </p:sp>
      <p:sp>
        <p:nvSpPr>
          <p:cNvPr id="113" name="모서리가 둥근 직사각형 83">
            <a:extLst>
              <a:ext uri="{FF2B5EF4-FFF2-40B4-BE49-F238E27FC236}">
                <a16:creationId xmlns:a16="http://schemas.microsoft.com/office/drawing/2014/main" id="{7F7AF5E9-1417-9834-75E3-6348A9963D56}"/>
              </a:ext>
            </a:extLst>
          </p:cNvPr>
          <p:cNvSpPr/>
          <p:nvPr/>
        </p:nvSpPr>
        <p:spPr>
          <a:xfrm>
            <a:off x="6539144" y="2344450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윤리경영</a:t>
            </a:r>
          </a:p>
        </p:txBody>
      </p:sp>
      <p:cxnSp>
        <p:nvCxnSpPr>
          <p:cNvPr id="114" name="꺾인 연결선 111">
            <a:extLst>
              <a:ext uri="{FF2B5EF4-FFF2-40B4-BE49-F238E27FC236}">
                <a16:creationId xmlns:a16="http://schemas.microsoft.com/office/drawing/2014/main" id="{C736F0B3-9CCE-E415-CC91-6E53832E26C6}"/>
              </a:ext>
            </a:extLst>
          </p:cNvPr>
          <p:cNvCxnSpPr>
            <a:cxnSpLocks/>
            <a:stCxn id="113" idx="1"/>
            <a:endCxn id="85" idx="2"/>
          </p:cNvCxnSpPr>
          <p:nvPr/>
        </p:nvCxnSpPr>
        <p:spPr>
          <a:xfrm rot="10800000">
            <a:off x="6441278" y="2282743"/>
            <a:ext cx="97866" cy="147776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모서리가 둥근 직사각형 83">
            <a:extLst>
              <a:ext uri="{FF2B5EF4-FFF2-40B4-BE49-F238E27FC236}">
                <a16:creationId xmlns:a16="http://schemas.microsoft.com/office/drawing/2014/main" id="{E389B09F-3A27-7F6C-4BDF-C33598D8B31A}"/>
              </a:ext>
            </a:extLst>
          </p:cNvPr>
          <p:cNvSpPr/>
          <p:nvPr/>
        </p:nvSpPr>
        <p:spPr>
          <a:xfrm>
            <a:off x="7077416" y="2574696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윤리헌장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19" name="꺾인 연결선 111">
            <a:extLst>
              <a:ext uri="{FF2B5EF4-FFF2-40B4-BE49-F238E27FC236}">
                <a16:creationId xmlns:a16="http://schemas.microsoft.com/office/drawing/2014/main" id="{029ADF03-935C-ED6E-38E1-E25BCB1F7F83}"/>
              </a:ext>
            </a:extLst>
          </p:cNvPr>
          <p:cNvCxnSpPr>
            <a:cxnSpLocks/>
            <a:stCxn id="118" idx="1"/>
            <a:endCxn id="113" idx="2"/>
          </p:cNvCxnSpPr>
          <p:nvPr/>
        </p:nvCxnSpPr>
        <p:spPr>
          <a:xfrm rot="10800000">
            <a:off x="6964322" y="2516589"/>
            <a:ext cx="113094" cy="144177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모서리가 둥근 직사각형 83">
            <a:extLst>
              <a:ext uri="{FF2B5EF4-FFF2-40B4-BE49-F238E27FC236}">
                <a16:creationId xmlns:a16="http://schemas.microsoft.com/office/drawing/2014/main" id="{FB359082-3100-71FF-EE58-4C8D90470DAD}"/>
              </a:ext>
            </a:extLst>
          </p:cNvPr>
          <p:cNvSpPr/>
          <p:nvPr/>
        </p:nvSpPr>
        <p:spPr>
          <a:xfrm>
            <a:off x="7077416" y="2765866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행동강령</a:t>
            </a:r>
          </a:p>
        </p:txBody>
      </p:sp>
      <p:sp>
        <p:nvSpPr>
          <p:cNvPr id="121" name="모서리가 둥근 직사각형 83">
            <a:extLst>
              <a:ext uri="{FF2B5EF4-FFF2-40B4-BE49-F238E27FC236}">
                <a16:creationId xmlns:a16="http://schemas.microsoft.com/office/drawing/2014/main" id="{3AEF1B91-8893-D16F-6B0D-EC0D819D1917}"/>
              </a:ext>
            </a:extLst>
          </p:cNvPr>
          <p:cNvSpPr/>
          <p:nvPr/>
        </p:nvSpPr>
        <p:spPr>
          <a:xfrm>
            <a:off x="7077416" y="2964364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재단규정집</a:t>
            </a:r>
          </a:p>
        </p:txBody>
      </p:sp>
      <p:sp>
        <p:nvSpPr>
          <p:cNvPr id="123" name="모서리가 둥근 직사각형 83">
            <a:extLst>
              <a:ext uri="{FF2B5EF4-FFF2-40B4-BE49-F238E27FC236}">
                <a16:creationId xmlns:a16="http://schemas.microsoft.com/office/drawing/2014/main" id="{35E3CF40-D38D-7AF6-507F-8302E676757B}"/>
              </a:ext>
            </a:extLst>
          </p:cNvPr>
          <p:cNvSpPr/>
          <p:nvPr/>
        </p:nvSpPr>
        <p:spPr>
          <a:xfrm>
            <a:off x="6539144" y="3179034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경영공시</a:t>
            </a:r>
          </a:p>
        </p:txBody>
      </p:sp>
      <p:cxnSp>
        <p:nvCxnSpPr>
          <p:cNvPr id="124" name="꺾인 연결선 111">
            <a:extLst>
              <a:ext uri="{FF2B5EF4-FFF2-40B4-BE49-F238E27FC236}">
                <a16:creationId xmlns:a16="http://schemas.microsoft.com/office/drawing/2014/main" id="{6F6EF03E-B603-4BD8-8E85-3C9387105B99}"/>
              </a:ext>
            </a:extLst>
          </p:cNvPr>
          <p:cNvCxnSpPr>
            <a:cxnSpLocks/>
            <a:stCxn id="123" idx="1"/>
            <a:endCxn id="85" idx="2"/>
          </p:cNvCxnSpPr>
          <p:nvPr/>
        </p:nvCxnSpPr>
        <p:spPr>
          <a:xfrm rot="10800000">
            <a:off x="6441278" y="2282743"/>
            <a:ext cx="97866" cy="982360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모서리가 둥근 직사각형 83">
            <a:extLst>
              <a:ext uri="{FF2B5EF4-FFF2-40B4-BE49-F238E27FC236}">
                <a16:creationId xmlns:a16="http://schemas.microsoft.com/office/drawing/2014/main" id="{667DFA42-77AF-8027-14C9-8C0B1E8743FF}"/>
              </a:ext>
            </a:extLst>
          </p:cNvPr>
          <p:cNvSpPr/>
          <p:nvPr/>
        </p:nvSpPr>
        <p:spPr>
          <a:xfrm>
            <a:off x="7077416" y="3409280"/>
            <a:ext cx="936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경영계획및예산서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26" name="꺾인 연결선 111">
            <a:extLst>
              <a:ext uri="{FF2B5EF4-FFF2-40B4-BE49-F238E27FC236}">
                <a16:creationId xmlns:a16="http://schemas.microsoft.com/office/drawing/2014/main" id="{AB062595-5D54-90E9-5D3F-3C8F85925E03}"/>
              </a:ext>
            </a:extLst>
          </p:cNvPr>
          <p:cNvCxnSpPr>
            <a:cxnSpLocks/>
            <a:stCxn id="125" idx="1"/>
            <a:endCxn id="123" idx="2"/>
          </p:cNvCxnSpPr>
          <p:nvPr/>
        </p:nvCxnSpPr>
        <p:spPr>
          <a:xfrm rot="10800000">
            <a:off x="6964322" y="3351173"/>
            <a:ext cx="113094" cy="144177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모서리가 둥근 직사각형 83">
            <a:extLst>
              <a:ext uri="{FF2B5EF4-FFF2-40B4-BE49-F238E27FC236}">
                <a16:creationId xmlns:a16="http://schemas.microsoft.com/office/drawing/2014/main" id="{A964C566-E712-2E18-B5D1-0E2228096658}"/>
              </a:ext>
            </a:extLst>
          </p:cNvPr>
          <p:cNvSpPr/>
          <p:nvPr/>
        </p:nvSpPr>
        <p:spPr>
          <a:xfrm>
            <a:off x="7077416" y="3600450"/>
            <a:ext cx="1620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경영평가 결과 및 성과계약 달성도</a:t>
            </a:r>
          </a:p>
        </p:txBody>
      </p:sp>
      <p:sp>
        <p:nvSpPr>
          <p:cNvPr id="128" name="모서리가 둥근 직사각형 83">
            <a:extLst>
              <a:ext uri="{FF2B5EF4-FFF2-40B4-BE49-F238E27FC236}">
                <a16:creationId xmlns:a16="http://schemas.microsoft.com/office/drawing/2014/main" id="{52186AFD-C83E-E6A3-1C36-9A54124FF1C6}"/>
              </a:ext>
            </a:extLst>
          </p:cNvPr>
          <p:cNvSpPr/>
          <p:nvPr/>
        </p:nvSpPr>
        <p:spPr>
          <a:xfrm>
            <a:off x="7077416" y="3798948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감사결과</a:t>
            </a:r>
          </a:p>
        </p:txBody>
      </p:sp>
      <p:sp>
        <p:nvSpPr>
          <p:cNvPr id="130" name="모서리가 둥근 직사각형 83">
            <a:extLst>
              <a:ext uri="{FF2B5EF4-FFF2-40B4-BE49-F238E27FC236}">
                <a16:creationId xmlns:a16="http://schemas.microsoft.com/office/drawing/2014/main" id="{2227738D-153B-07D0-FD5B-54C952242DC1}"/>
              </a:ext>
            </a:extLst>
          </p:cNvPr>
          <p:cNvSpPr/>
          <p:nvPr/>
        </p:nvSpPr>
        <p:spPr>
          <a:xfrm>
            <a:off x="7077416" y="3998851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결산서</a:t>
            </a:r>
          </a:p>
        </p:txBody>
      </p:sp>
      <p:sp>
        <p:nvSpPr>
          <p:cNvPr id="131" name="모서리가 둥근 직사각형 83">
            <a:extLst>
              <a:ext uri="{FF2B5EF4-FFF2-40B4-BE49-F238E27FC236}">
                <a16:creationId xmlns:a16="http://schemas.microsoft.com/office/drawing/2014/main" id="{B614779E-4367-91F8-38F3-F2967D110AB4}"/>
              </a:ext>
            </a:extLst>
          </p:cNvPr>
          <p:cNvSpPr/>
          <p:nvPr/>
        </p:nvSpPr>
        <p:spPr>
          <a:xfrm>
            <a:off x="7077416" y="4206765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인력현황</a:t>
            </a:r>
          </a:p>
        </p:txBody>
      </p:sp>
      <p:sp>
        <p:nvSpPr>
          <p:cNvPr id="132" name="모서리가 둥근 직사각형 83">
            <a:extLst>
              <a:ext uri="{FF2B5EF4-FFF2-40B4-BE49-F238E27FC236}">
                <a16:creationId xmlns:a16="http://schemas.microsoft.com/office/drawing/2014/main" id="{864BB53F-F4F1-0DD7-2F2A-90EE80977C0B}"/>
              </a:ext>
            </a:extLst>
          </p:cNvPr>
          <p:cNvSpPr/>
          <p:nvPr/>
        </p:nvSpPr>
        <p:spPr>
          <a:xfrm>
            <a:off x="7077416" y="4404461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인건비현황</a:t>
            </a:r>
          </a:p>
        </p:txBody>
      </p:sp>
      <p:sp>
        <p:nvSpPr>
          <p:cNvPr id="133" name="모서리가 둥근 직사각형 83">
            <a:extLst>
              <a:ext uri="{FF2B5EF4-FFF2-40B4-BE49-F238E27FC236}">
                <a16:creationId xmlns:a16="http://schemas.microsoft.com/office/drawing/2014/main" id="{F3D790B0-62ED-C2D1-DE97-181588237EBE}"/>
              </a:ext>
            </a:extLst>
          </p:cNvPr>
          <p:cNvSpPr/>
          <p:nvPr/>
        </p:nvSpPr>
        <p:spPr>
          <a:xfrm>
            <a:off x="7077416" y="4602157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재무현황</a:t>
            </a:r>
          </a:p>
        </p:txBody>
      </p:sp>
      <p:sp>
        <p:nvSpPr>
          <p:cNvPr id="134" name="모서리가 둥근 직사각형 83">
            <a:extLst>
              <a:ext uri="{FF2B5EF4-FFF2-40B4-BE49-F238E27FC236}">
                <a16:creationId xmlns:a16="http://schemas.microsoft.com/office/drawing/2014/main" id="{19560B71-0F60-5913-CE2F-8FCB87B6E171}"/>
              </a:ext>
            </a:extLst>
          </p:cNvPr>
          <p:cNvSpPr/>
          <p:nvPr/>
        </p:nvSpPr>
        <p:spPr>
          <a:xfrm>
            <a:off x="7077416" y="4793710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기본재산현황</a:t>
            </a:r>
          </a:p>
        </p:txBody>
      </p:sp>
      <p:sp>
        <p:nvSpPr>
          <p:cNvPr id="135" name="모서리가 둥근 직사각형 83">
            <a:extLst>
              <a:ext uri="{FF2B5EF4-FFF2-40B4-BE49-F238E27FC236}">
                <a16:creationId xmlns:a16="http://schemas.microsoft.com/office/drawing/2014/main" id="{3AADFF1C-4751-9EBD-F723-320F63DC7653}"/>
              </a:ext>
            </a:extLst>
          </p:cNvPr>
          <p:cNvSpPr/>
          <p:nvPr/>
        </p:nvSpPr>
        <p:spPr>
          <a:xfrm>
            <a:off x="6539144" y="5028079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기타공시</a:t>
            </a:r>
          </a:p>
        </p:txBody>
      </p:sp>
      <p:cxnSp>
        <p:nvCxnSpPr>
          <p:cNvPr id="136" name="꺾인 연결선 111">
            <a:extLst>
              <a:ext uri="{FF2B5EF4-FFF2-40B4-BE49-F238E27FC236}">
                <a16:creationId xmlns:a16="http://schemas.microsoft.com/office/drawing/2014/main" id="{9CAE8620-2E91-F02A-83DA-9F30013F383F}"/>
              </a:ext>
            </a:extLst>
          </p:cNvPr>
          <p:cNvCxnSpPr>
            <a:cxnSpLocks/>
            <a:stCxn id="135" idx="1"/>
            <a:endCxn id="85" idx="2"/>
          </p:cNvCxnSpPr>
          <p:nvPr/>
        </p:nvCxnSpPr>
        <p:spPr>
          <a:xfrm rot="10800000">
            <a:off x="6441278" y="2282744"/>
            <a:ext cx="97866" cy="2831405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모서리가 둥근 직사각형 83">
            <a:extLst>
              <a:ext uri="{FF2B5EF4-FFF2-40B4-BE49-F238E27FC236}">
                <a16:creationId xmlns:a16="http://schemas.microsoft.com/office/drawing/2014/main" id="{C22169D0-FF7A-55E4-63E9-64D0AC6D3BE3}"/>
              </a:ext>
            </a:extLst>
          </p:cNvPr>
          <p:cNvSpPr/>
          <p:nvPr/>
        </p:nvSpPr>
        <p:spPr>
          <a:xfrm>
            <a:off x="7077416" y="5258325"/>
            <a:ext cx="1260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복리후생비 및 업무추진비</a:t>
            </a:r>
          </a:p>
        </p:txBody>
      </p:sp>
      <p:cxnSp>
        <p:nvCxnSpPr>
          <p:cNvPr id="138" name="꺾인 연결선 111">
            <a:extLst>
              <a:ext uri="{FF2B5EF4-FFF2-40B4-BE49-F238E27FC236}">
                <a16:creationId xmlns:a16="http://schemas.microsoft.com/office/drawing/2014/main" id="{715E9A35-AD87-655C-356E-B13EFC1B377D}"/>
              </a:ext>
            </a:extLst>
          </p:cNvPr>
          <p:cNvCxnSpPr>
            <a:cxnSpLocks/>
            <a:stCxn id="137" idx="1"/>
            <a:endCxn id="135" idx="2"/>
          </p:cNvCxnSpPr>
          <p:nvPr/>
        </p:nvCxnSpPr>
        <p:spPr>
          <a:xfrm rot="10800000">
            <a:off x="6964322" y="5200218"/>
            <a:ext cx="113094" cy="144177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모서리가 둥근 직사각형 83">
            <a:extLst>
              <a:ext uri="{FF2B5EF4-FFF2-40B4-BE49-F238E27FC236}">
                <a16:creationId xmlns:a16="http://schemas.microsoft.com/office/drawing/2014/main" id="{F1E9FE05-B1CC-35A4-7B33-F30F156E97B6}"/>
              </a:ext>
            </a:extLst>
          </p:cNvPr>
          <p:cNvSpPr/>
          <p:nvPr/>
        </p:nvSpPr>
        <p:spPr>
          <a:xfrm>
            <a:off x="7077416" y="5449495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입찰 및 수의계약</a:t>
            </a:r>
          </a:p>
        </p:txBody>
      </p:sp>
      <p:sp>
        <p:nvSpPr>
          <p:cNvPr id="141" name="모서리가 둥근 직사각형 83">
            <a:extLst>
              <a:ext uri="{FF2B5EF4-FFF2-40B4-BE49-F238E27FC236}">
                <a16:creationId xmlns:a16="http://schemas.microsoft.com/office/drawing/2014/main" id="{B2A5AEE4-34B1-5D71-1AE0-C622CC067B4E}"/>
              </a:ext>
            </a:extLst>
          </p:cNvPr>
          <p:cNvSpPr/>
          <p:nvPr/>
        </p:nvSpPr>
        <p:spPr>
          <a:xfrm>
            <a:off x="7077416" y="5647993"/>
            <a:ext cx="1008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친인척채용인원 공개</a:t>
            </a:r>
          </a:p>
        </p:txBody>
      </p:sp>
      <p:sp>
        <p:nvSpPr>
          <p:cNvPr id="148" name="모서리가 둥근 직사각형 83">
            <a:extLst>
              <a:ext uri="{FF2B5EF4-FFF2-40B4-BE49-F238E27FC236}">
                <a16:creationId xmlns:a16="http://schemas.microsoft.com/office/drawing/2014/main" id="{8CFB0EBD-9405-4C3B-FD64-F5F7A4230D68}"/>
              </a:ext>
            </a:extLst>
          </p:cNvPr>
          <p:cNvSpPr/>
          <p:nvPr/>
        </p:nvSpPr>
        <p:spPr>
          <a:xfrm>
            <a:off x="7077416" y="5862844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인권경영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9" name="모서리가 둥근 직사각형 83">
            <a:extLst>
              <a:ext uri="{FF2B5EF4-FFF2-40B4-BE49-F238E27FC236}">
                <a16:creationId xmlns:a16="http://schemas.microsoft.com/office/drawing/2014/main" id="{F3594C6B-EF89-90CE-B9E8-30C5A66AC9E2}"/>
              </a:ext>
            </a:extLst>
          </p:cNvPr>
          <p:cNvSpPr/>
          <p:nvPr/>
        </p:nvSpPr>
        <p:spPr>
          <a:xfrm>
            <a:off x="7077416" y="6077394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기타</a:t>
            </a:r>
          </a:p>
        </p:txBody>
      </p:sp>
      <p:sp>
        <p:nvSpPr>
          <p:cNvPr id="153" name="모서리가 둥근 직사각형 83">
            <a:extLst>
              <a:ext uri="{FF2B5EF4-FFF2-40B4-BE49-F238E27FC236}">
                <a16:creationId xmlns:a16="http://schemas.microsoft.com/office/drawing/2014/main" id="{AD73F47A-70ED-8005-C54B-29376F00DCBF}"/>
              </a:ext>
            </a:extLst>
          </p:cNvPr>
          <p:cNvSpPr/>
          <p:nvPr/>
        </p:nvSpPr>
        <p:spPr>
          <a:xfrm>
            <a:off x="6539144" y="6332572"/>
            <a:ext cx="638885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비공개기준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54" name="꺾인 연결선 111">
            <a:extLst>
              <a:ext uri="{FF2B5EF4-FFF2-40B4-BE49-F238E27FC236}">
                <a16:creationId xmlns:a16="http://schemas.microsoft.com/office/drawing/2014/main" id="{58FEE469-B321-9E65-CA3F-D407D20C8DD7}"/>
              </a:ext>
            </a:extLst>
          </p:cNvPr>
          <p:cNvCxnSpPr>
            <a:cxnSpLocks/>
            <a:stCxn id="153" idx="1"/>
            <a:endCxn id="85" idx="2"/>
          </p:cNvCxnSpPr>
          <p:nvPr/>
        </p:nvCxnSpPr>
        <p:spPr>
          <a:xfrm rot="10800000">
            <a:off x="6441278" y="2282743"/>
            <a:ext cx="97866" cy="4135898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모서리가 둥근 직사각형 83">
            <a:extLst>
              <a:ext uri="{FF2B5EF4-FFF2-40B4-BE49-F238E27FC236}">
                <a16:creationId xmlns:a16="http://schemas.microsoft.com/office/drawing/2014/main" id="{D3870CE5-7643-3E9C-92E8-871BD0C3F172}"/>
              </a:ext>
            </a:extLst>
          </p:cNvPr>
          <p:cNvSpPr/>
          <p:nvPr/>
        </p:nvSpPr>
        <p:spPr>
          <a:xfrm>
            <a:off x="7207004" y="6332572"/>
            <a:ext cx="638885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통합공시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8" name="모서리가 둥근 직사각형 83">
            <a:extLst>
              <a:ext uri="{FF2B5EF4-FFF2-40B4-BE49-F238E27FC236}">
                <a16:creationId xmlns:a16="http://schemas.microsoft.com/office/drawing/2014/main" id="{9D8A046E-A4F8-7F4F-941B-A2AFD09B6B0C}"/>
              </a:ext>
            </a:extLst>
          </p:cNvPr>
          <p:cNvSpPr/>
          <p:nvPr/>
        </p:nvSpPr>
        <p:spPr>
          <a:xfrm>
            <a:off x="7871600" y="6332572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정보공개시스템</a:t>
            </a:r>
          </a:p>
        </p:txBody>
      </p:sp>
      <p:sp>
        <p:nvSpPr>
          <p:cNvPr id="159" name="모서리가 둥근 직사각형 83">
            <a:extLst>
              <a:ext uri="{FF2B5EF4-FFF2-40B4-BE49-F238E27FC236}">
                <a16:creationId xmlns:a16="http://schemas.microsoft.com/office/drawing/2014/main" id="{E94DC4BA-0681-B061-EED3-0D43AE6F66A8}"/>
              </a:ext>
            </a:extLst>
          </p:cNvPr>
          <p:cNvSpPr/>
          <p:nvPr/>
        </p:nvSpPr>
        <p:spPr>
          <a:xfrm>
            <a:off x="8752679" y="6332572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</a:p>
        </p:txBody>
      </p:sp>
      <p:sp>
        <p:nvSpPr>
          <p:cNvPr id="164" name="모서리가 둥근 직사각형 84">
            <a:extLst>
              <a:ext uri="{FF2B5EF4-FFF2-40B4-BE49-F238E27FC236}">
                <a16:creationId xmlns:a16="http://schemas.microsoft.com/office/drawing/2014/main" id="{23C1E8DB-6D9E-A20A-E59F-A61FA732D192}"/>
              </a:ext>
            </a:extLst>
          </p:cNvPr>
          <p:cNvSpPr/>
          <p:nvPr/>
        </p:nvSpPr>
        <p:spPr>
          <a:xfrm>
            <a:off x="6981569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</a:p>
        </p:txBody>
      </p:sp>
      <p:cxnSp>
        <p:nvCxnSpPr>
          <p:cNvPr id="165" name="꺾인 연결선 111">
            <a:extLst>
              <a:ext uri="{FF2B5EF4-FFF2-40B4-BE49-F238E27FC236}">
                <a16:creationId xmlns:a16="http://schemas.microsoft.com/office/drawing/2014/main" id="{A058CC53-77EE-2FFC-D0A6-AD2DFDD03BEF}"/>
              </a:ext>
            </a:extLst>
          </p:cNvPr>
          <p:cNvCxnSpPr>
            <a:cxnSpLocks/>
            <a:stCxn id="164" idx="0"/>
            <a:endCxn id="75" idx="2"/>
          </p:cNvCxnSpPr>
          <p:nvPr/>
        </p:nvCxnSpPr>
        <p:spPr>
          <a:xfrm rot="16200000" flipV="1">
            <a:off x="6050322" y="730144"/>
            <a:ext cx="343487" cy="238300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3368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25253-8016-28E9-1134-1281EEC77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44F0D0-E144-5A0F-1834-ED694FB63142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메인 화면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86F8069-6C68-1CD9-29C9-A36026D47DEC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4DBC447A-AFAF-C5DA-78B5-97951E4A77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0486010"/>
              </p:ext>
            </p:extLst>
          </p:nvPr>
        </p:nvGraphicFramePr>
        <p:xfrm>
          <a:off x="6969418" y="2548005"/>
          <a:ext cx="2772114" cy="647558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D002F58A-1AEF-AC2A-FBFD-CC6EA2AD36B7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index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ED0E2DD-E424-D620-6235-35FD1A3A58C5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3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C913BEAD-D0C6-4BD7-F992-F8ECA98B7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EF905AE0-E6DC-100C-F7CA-4E94BFE138EF}"/>
              </a:ext>
            </a:extLst>
          </p:cNvPr>
          <p:cNvSpPr/>
          <p:nvPr/>
        </p:nvSpPr>
        <p:spPr>
          <a:xfrm>
            <a:off x="5680946" y="1586865"/>
            <a:ext cx="1165384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오산시민 평생교육장려금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80601EC-6108-E1D6-5B9B-AAAC4F1BF425}"/>
              </a:ext>
            </a:extLst>
          </p:cNvPr>
          <p:cNvSpPr/>
          <p:nvPr/>
        </p:nvSpPr>
        <p:spPr>
          <a:xfrm>
            <a:off x="4831365" y="1586865"/>
            <a:ext cx="652423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 신청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D8F3666-386F-BE14-23B8-93ADCF6BFD25}"/>
              </a:ext>
            </a:extLst>
          </p:cNvPr>
          <p:cNvSpPr/>
          <p:nvPr/>
        </p:nvSpPr>
        <p:spPr>
          <a:xfrm>
            <a:off x="4223838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CA619ED-6A47-AD3F-210B-0EA85914B9D9}"/>
              </a:ext>
            </a:extLst>
          </p:cNvPr>
          <p:cNvSpPr/>
          <p:nvPr/>
        </p:nvSpPr>
        <p:spPr>
          <a:xfrm>
            <a:off x="3616311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FFD5800-E1F9-9EC7-3E9B-ED3D70C5E446}"/>
              </a:ext>
            </a:extLst>
          </p:cNvPr>
          <p:cNvSpPr/>
          <p:nvPr/>
        </p:nvSpPr>
        <p:spPr>
          <a:xfrm>
            <a:off x="3008784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재단소개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2A63401-A82A-9E01-1D1D-C647F9E9E81E}"/>
              </a:ext>
            </a:extLst>
          </p:cNvPr>
          <p:cNvSpPr/>
          <p:nvPr/>
        </p:nvSpPr>
        <p:spPr>
          <a:xfrm>
            <a:off x="165100" y="1790190"/>
            <a:ext cx="6732116" cy="1170758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메인 슬라이드 영역</a:t>
            </a: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81DFD2A-3A2D-2979-DB59-A28B91FD1063}"/>
              </a:ext>
            </a:extLst>
          </p:cNvPr>
          <p:cNvSpPr/>
          <p:nvPr/>
        </p:nvSpPr>
        <p:spPr>
          <a:xfrm>
            <a:off x="5997030" y="1428678"/>
            <a:ext cx="686086" cy="769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마이페이지  </a:t>
            </a:r>
            <a:r>
              <a:rPr kumimoji="0" lang="en-US" altLang="ko-KR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|  </a:t>
            </a:r>
            <a:r>
              <a:rPr kumimoji="0" lang="ko-KR" alt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로그아웃</a:t>
            </a:r>
          </a:p>
        </p:txBody>
      </p:sp>
      <p:pic>
        <p:nvPicPr>
          <p:cNvPr id="23" name="Picture 161" descr="D:\05 문서\02 문서 디자인\아이콘\icon2\appbar.lines.horizontal.4.png">
            <a:extLst>
              <a:ext uri="{FF2B5EF4-FFF2-40B4-BE49-F238E27FC236}">
                <a16:creationId xmlns:a16="http://schemas.microsoft.com/office/drawing/2014/main" id="{BB4B2DE2-462A-0C40-ECD7-A82AE9CEFD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7131" y="1370565"/>
            <a:ext cx="193896" cy="193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AC4043F8-69B1-BB0E-2B2F-534FB9BF7983}"/>
              </a:ext>
            </a:extLst>
          </p:cNvPr>
          <p:cNvSpPr/>
          <p:nvPr/>
        </p:nvSpPr>
        <p:spPr>
          <a:xfrm>
            <a:off x="165100" y="3005593"/>
            <a:ext cx="2155338" cy="1287548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F540647-5727-3658-4725-51AC821C0C3B}"/>
              </a:ext>
            </a:extLst>
          </p:cNvPr>
          <p:cNvSpPr/>
          <p:nvPr/>
        </p:nvSpPr>
        <p:spPr>
          <a:xfrm>
            <a:off x="210872" y="3055042"/>
            <a:ext cx="1003480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온라인 명예의 전당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E7CAAA1-7DB8-9378-8A49-ED2F3DB2E10B}"/>
              </a:ext>
            </a:extLst>
          </p:cNvPr>
          <p:cNvSpPr/>
          <p:nvPr/>
        </p:nvSpPr>
        <p:spPr>
          <a:xfrm>
            <a:off x="210872" y="3243431"/>
            <a:ext cx="448841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포토갤러리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14FCC45-4B77-36A7-4531-84A57E7511CE}"/>
              </a:ext>
            </a:extLst>
          </p:cNvPr>
          <p:cNvSpPr/>
          <p:nvPr/>
        </p:nvSpPr>
        <p:spPr>
          <a:xfrm>
            <a:off x="1979178" y="4098985"/>
            <a:ext cx="270908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◀ ▶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E6636BE-CD20-8874-A2EC-E4F3A7FEC5F8}"/>
              </a:ext>
            </a:extLst>
          </p:cNvPr>
          <p:cNvSpPr/>
          <p:nvPr/>
        </p:nvSpPr>
        <p:spPr>
          <a:xfrm>
            <a:off x="2396716" y="3005593"/>
            <a:ext cx="4484310" cy="1287548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48A32CA-6456-0CB7-EC57-8895FEBAAB45}"/>
              </a:ext>
            </a:extLst>
          </p:cNvPr>
          <p:cNvSpPr/>
          <p:nvPr/>
        </p:nvSpPr>
        <p:spPr>
          <a:xfrm>
            <a:off x="2506845" y="3055042"/>
            <a:ext cx="461665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  <a:endParaRPr kumimoji="0" lang="ko-KR" alt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04B43FE-9F4B-04C3-50FB-96FF62044298}"/>
              </a:ext>
            </a:extLst>
          </p:cNvPr>
          <p:cNvSpPr/>
          <p:nvPr/>
        </p:nvSpPr>
        <p:spPr>
          <a:xfrm>
            <a:off x="3207389" y="3055042"/>
            <a:ext cx="461665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공지사항</a:t>
            </a:r>
            <a:endParaRPr kumimoji="0" lang="ko-KR" alt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00373EA-96B6-90C9-E685-C7074CE14380}"/>
              </a:ext>
            </a:extLst>
          </p:cNvPr>
          <p:cNvSpPr/>
          <p:nvPr/>
        </p:nvSpPr>
        <p:spPr>
          <a:xfrm>
            <a:off x="3907933" y="3055042"/>
            <a:ext cx="461665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채용공고</a:t>
            </a:r>
            <a:endParaRPr kumimoji="0" lang="ko-KR" alt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64832E4-FD57-7C08-FAE5-13FD867E5BB7}"/>
              </a:ext>
            </a:extLst>
          </p:cNvPr>
          <p:cNvSpPr/>
          <p:nvPr/>
        </p:nvSpPr>
        <p:spPr>
          <a:xfrm>
            <a:off x="4608477" y="3055042"/>
            <a:ext cx="461665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보도자료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1778C3A-9B1D-0752-44DD-7A3802833A3B}"/>
              </a:ext>
            </a:extLst>
          </p:cNvPr>
          <p:cNvSpPr/>
          <p:nvPr/>
        </p:nvSpPr>
        <p:spPr>
          <a:xfrm>
            <a:off x="6753200" y="3020157"/>
            <a:ext cx="92974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+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498A807-0535-B96C-F1EB-58A48F0A184D}"/>
              </a:ext>
            </a:extLst>
          </p:cNvPr>
          <p:cNvSpPr/>
          <p:nvPr/>
        </p:nvSpPr>
        <p:spPr>
          <a:xfrm>
            <a:off x="2559317" y="3304728"/>
            <a:ext cx="872034" cy="94865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공지사항 제목 입니다</a:t>
            </a:r>
            <a:endParaRPr kumimoji="0" lang="en-US" altLang="ko-KR" sz="7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공지사항 제목 입니다</a:t>
            </a:r>
            <a:endParaRPr lang="en-US" altLang="ko-KR" sz="7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공지사항 제목 입니다</a:t>
            </a:r>
            <a:endParaRPr kumimoji="0" lang="en-US" altLang="ko-KR" sz="7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공지사항 제목 입니다</a:t>
            </a:r>
            <a:endParaRPr lang="en-US" altLang="ko-KR" sz="7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공지사항 제목 입니다</a:t>
            </a:r>
            <a:endParaRPr kumimoji="0" lang="en-US" altLang="ko-KR" sz="7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공지사항 제목 입니다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D3B56CC6-52AE-4DDE-84BE-75FEDA55442B}"/>
              </a:ext>
            </a:extLst>
          </p:cNvPr>
          <p:cNvCxnSpPr>
            <a:cxnSpLocks/>
          </p:cNvCxnSpPr>
          <p:nvPr/>
        </p:nvCxnSpPr>
        <p:spPr>
          <a:xfrm>
            <a:off x="2519562" y="3267284"/>
            <a:ext cx="4287013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F07BCD7-2807-AF22-E0EB-36ACBEF1FD9A}"/>
              </a:ext>
            </a:extLst>
          </p:cNvPr>
          <p:cNvSpPr/>
          <p:nvPr/>
        </p:nvSpPr>
        <p:spPr>
          <a:xfrm>
            <a:off x="6370558" y="3304728"/>
            <a:ext cx="436017" cy="94865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2025.10.28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2025.10.28</a:t>
            </a:r>
            <a:endParaRPr lang="en-US" altLang="ko-KR" sz="7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2025.10.28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2025.10.28</a:t>
            </a:r>
            <a:endParaRPr lang="en-US" altLang="ko-KR" sz="7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2025.10.28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2025.10.28</a:t>
            </a:r>
            <a:endParaRPr kumimoji="0" lang="ko-KR" altLang="en-US" sz="7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6CFC7C5-602D-6974-9451-6C884A77641C}"/>
              </a:ext>
            </a:extLst>
          </p:cNvPr>
          <p:cNvSpPr/>
          <p:nvPr/>
        </p:nvSpPr>
        <p:spPr>
          <a:xfrm>
            <a:off x="165100" y="4338674"/>
            <a:ext cx="6732116" cy="818518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8A10648-CC54-118A-2695-AA45DD0440C5}"/>
              </a:ext>
            </a:extLst>
          </p:cNvPr>
          <p:cNvSpPr/>
          <p:nvPr/>
        </p:nvSpPr>
        <p:spPr>
          <a:xfrm>
            <a:off x="210872" y="4426291"/>
            <a:ext cx="1194238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오산교육재단 사업안내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9122304-9B97-0195-1735-9AAA350FB5C2}"/>
              </a:ext>
            </a:extLst>
          </p:cNvPr>
          <p:cNvSpPr/>
          <p:nvPr/>
        </p:nvSpPr>
        <p:spPr>
          <a:xfrm>
            <a:off x="271480" y="4854038"/>
            <a:ext cx="829092" cy="174260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사업안내 </a:t>
            </a: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보러가기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0" name="모서리가 둥근 직사각형 121">
            <a:extLst>
              <a:ext uri="{FF2B5EF4-FFF2-40B4-BE49-F238E27FC236}">
                <a16:creationId xmlns:a16="http://schemas.microsoft.com/office/drawing/2014/main" id="{9B557019-00FF-2A1A-29CB-1D14DAD109A6}"/>
              </a:ext>
            </a:extLst>
          </p:cNvPr>
          <p:cNvSpPr/>
          <p:nvPr/>
        </p:nvSpPr>
        <p:spPr>
          <a:xfrm>
            <a:off x="2358477" y="4417189"/>
            <a:ext cx="2104240" cy="656868"/>
          </a:xfrm>
          <a:prstGeom prst="roundRect">
            <a:avLst>
              <a:gd name="adj" fmla="val 9900"/>
            </a:avLst>
          </a:prstGeom>
          <a:solidFill>
            <a:schemeClr val="bg1">
              <a:alpha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algn="ctr"/>
            <a:endParaRPr lang="ko-KR" altLang="en-US" sz="700" b="1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41" name="모서리가 둥근 직사각형 121">
            <a:extLst>
              <a:ext uri="{FF2B5EF4-FFF2-40B4-BE49-F238E27FC236}">
                <a16:creationId xmlns:a16="http://schemas.microsoft.com/office/drawing/2014/main" id="{C89544C1-B768-539F-C961-CD446CF4DE7F}"/>
              </a:ext>
            </a:extLst>
          </p:cNvPr>
          <p:cNvSpPr/>
          <p:nvPr/>
        </p:nvSpPr>
        <p:spPr>
          <a:xfrm>
            <a:off x="4608477" y="4417189"/>
            <a:ext cx="2104240" cy="656868"/>
          </a:xfrm>
          <a:prstGeom prst="roundRect">
            <a:avLst>
              <a:gd name="adj" fmla="val 7479"/>
            </a:avLst>
          </a:prstGeom>
          <a:solidFill>
            <a:schemeClr val="bg1">
              <a:alpha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algn="ctr"/>
            <a:endParaRPr lang="ko-KR" altLang="en-US" sz="700" b="1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523F60E-1263-9194-D3CD-A3EE4790247A}"/>
              </a:ext>
            </a:extLst>
          </p:cNvPr>
          <p:cNvSpPr/>
          <p:nvPr/>
        </p:nvSpPr>
        <p:spPr>
          <a:xfrm>
            <a:off x="3063326" y="4506496"/>
            <a:ext cx="461665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장학사업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165BAC2-B2C2-FDFD-5C37-13DCB38894EB}"/>
              </a:ext>
            </a:extLst>
          </p:cNvPr>
          <p:cNvSpPr/>
          <p:nvPr/>
        </p:nvSpPr>
        <p:spPr>
          <a:xfrm>
            <a:off x="3044788" y="4686934"/>
            <a:ext cx="1396870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 장학금</a:t>
            </a:r>
            <a:r>
              <a:rPr kumimoji="0" lang="en-US" altLang="ko-KR" sz="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대학생 장학금</a:t>
            </a:r>
            <a:r>
              <a:rPr kumimoji="0" lang="en-US" altLang="ko-KR" sz="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6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특기생</a:t>
            </a:r>
            <a:r>
              <a:rPr kumimoji="0" lang="ko-KR" altLang="en-US" sz="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장학금 </a:t>
            </a:r>
            <a:r>
              <a:rPr kumimoji="0" lang="ko-KR" altLang="en-US" sz="6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행복기숙사</a:t>
            </a:r>
            <a:r>
              <a:rPr kumimoji="0" lang="ko-KR" altLang="en-US" sz="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6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입사비</a:t>
            </a:r>
            <a:endParaRPr kumimoji="0" lang="ko-KR" altLang="en-US" sz="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053C60C7-9233-7E1C-AE0E-496C6C6D5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78389"/>
              </p:ext>
            </p:extLst>
          </p:nvPr>
        </p:nvGraphicFramePr>
        <p:xfrm>
          <a:off x="2439911" y="4489142"/>
          <a:ext cx="544502" cy="5038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38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이미지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BB62235D-B728-3193-0842-10E01C1ECB4E}"/>
              </a:ext>
            </a:extLst>
          </p:cNvPr>
          <p:cNvSpPr/>
          <p:nvPr/>
        </p:nvSpPr>
        <p:spPr>
          <a:xfrm>
            <a:off x="5304164" y="4506496"/>
            <a:ext cx="461665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장학사업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C8EC0975-55AA-CA0E-D059-958AFFFBD1A4}"/>
              </a:ext>
            </a:extLst>
          </p:cNvPr>
          <p:cNvSpPr/>
          <p:nvPr/>
        </p:nvSpPr>
        <p:spPr>
          <a:xfrm>
            <a:off x="5285626" y="4686934"/>
            <a:ext cx="139687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평생교육장려금</a:t>
            </a:r>
            <a:r>
              <a:rPr kumimoji="0" lang="en-US" altLang="ko-KR" sz="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교과학습체험</a:t>
            </a:r>
            <a:r>
              <a:rPr kumimoji="0" lang="en-US" altLang="ko-KR" sz="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교육강사양성</a:t>
            </a:r>
            <a:r>
              <a:rPr kumimoji="0" lang="en-US" altLang="ko-KR" sz="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진로진학상담</a:t>
            </a:r>
            <a:r>
              <a:rPr kumimoji="0" lang="en-US" altLang="ko-KR" sz="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6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드림멘토링</a:t>
            </a:r>
            <a:r>
              <a:rPr kumimoji="0" lang="en-US" altLang="ko-KR" sz="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6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학습코칭</a:t>
            </a:r>
            <a:r>
              <a:rPr kumimoji="0" lang="en-US" altLang="ko-KR" sz="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6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얼리버드</a:t>
            </a:r>
            <a:r>
              <a:rPr kumimoji="0" lang="en-US" altLang="ko-KR" sz="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지역협력체제구축</a:t>
            </a:r>
          </a:p>
        </p:txBody>
      </p:sp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660827B9-CD8D-E3FC-D261-5CEFEB9509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2256091"/>
              </p:ext>
            </p:extLst>
          </p:nvPr>
        </p:nvGraphicFramePr>
        <p:xfrm>
          <a:off x="4680749" y="4489142"/>
          <a:ext cx="544502" cy="5038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38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이미지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" name="직사각형 57">
            <a:extLst>
              <a:ext uri="{FF2B5EF4-FFF2-40B4-BE49-F238E27FC236}">
                <a16:creationId xmlns:a16="http://schemas.microsoft.com/office/drawing/2014/main" id="{54410FFC-AA65-3ED2-43D6-E12A76EF29E4}"/>
              </a:ext>
            </a:extLst>
          </p:cNvPr>
          <p:cNvSpPr/>
          <p:nvPr/>
        </p:nvSpPr>
        <p:spPr>
          <a:xfrm>
            <a:off x="4323910" y="4417434"/>
            <a:ext cx="92974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+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633ABD09-8A7F-20C7-5541-B4C92C823D27}"/>
              </a:ext>
            </a:extLst>
          </p:cNvPr>
          <p:cNvSpPr/>
          <p:nvPr/>
        </p:nvSpPr>
        <p:spPr>
          <a:xfrm>
            <a:off x="6583667" y="4417434"/>
            <a:ext cx="92974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+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77FE5628-A24A-FC49-C695-1AB0773DB1AC}"/>
              </a:ext>
            </a:extLst>
          </p:cNvPr>
          <p:cNvSpPr/>
          <p:nvPr/>
        </p:nvSpPr>
        <p:spPr>
          <a:xfrm>
            <a:off x="165100" y="5205292"/>
            <a:ext cx="6732116" cy="409918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b="1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스크롤 배너</a:t>
            </a: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B5763CAE-FECF-58E1-F94A-62B3A612F714}"/>
              </a:ext>
            </a:extLst>
          </p:cNvPr>
          <p:cNvSpPr/>
          <p:nvPr/>
        </p:nvSpPr>
        <p:spPr>
          <a:xfrm>
            <a:off x="201776" y="5324788"/>
            <a:ext cx="129506" cy="129506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&lt;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C9922BF0-8AA8-6D42-7369-3A5A9791A407}"/>
              </a:ext>
            </a:extLst>
          </p:cNvPr>
          <p:cNvSpPr/>
          <p:nvPr/>
        </p:nvSpPr>
        <p:spPr>
          <a:xfrm>
            <a:off x="6705773" y="5324788"/>
            <a:ext cx="129506" cy="129506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&gt;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F8EE1EC3-C300-6A24-3FFB-89A7CBEF61E9}"/>
              </a:ext>
            </a:extLst>
          </p:cNvPr>
          <p:cNvSpPr/>
          <p:nvPr/>
        </p:nvSpPr>
        <p:spPr>
          <a:xfrm>
            <a:off x="165100" y="5670867"/>
            <a:ext cx="6732116" cy="818834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F9C46A19-2310-E6E6-664C-966EE90E48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0329" y="5859092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E32BF364-BDB8-DFA8-2EC6-4A60B6E3412B}"/>
              </a:ext>
            </a:extLst>
          </p:cNvPr>
          <p:cNvSpPr txBox="1"/>
          <p:nvPr/>
        </p:nvSpPr>
        <p:spPr>
          <a:xfrm>
            <a:off x="2044783" y="6061492"/>
            <a:ext cx="31242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경기 오산시 </a:t>
            </a:r>
            <a:r>
              <a:rPr lang="ko-KR" altLang="en-US" sz="600" b="0" i="0" dirty="0" err="1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현충로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100 (</a:t>
            </a:r>
            <a:r>
              <a:rPr lang="ko-KR" altLang="en-US" sz="600" b="0" i="0" dirty="0" err="1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은계동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오산시립미술관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2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층 오산교육재단 사업자등록번호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124-82-15464</a:t>
            </a:r>
          </a:p>
          <a:p>
            <a:pPr algn="ctr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TEL. (031)377-1679 FAX. (031)377-1672</a:t>
            </a:r>
          </a:p>
          <a:p>
            <a:pPr algn="ctr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Copyrightⓒ2025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ALL RIGHTSRESERVED.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C5A05A38-74D6-E80B-8A5F-810D8BDF8872}"/>
              </a:ext>
            </a:extLst>
          </p:cNvPr>
          <p:cNvSpPr/>
          <p:nvPr/>
        </p:nvSpPr>
        <p:spPr>
          <a:xfrm>
            <a:off x="3120329" y="5707019"/>
            <a:ext cx="839974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이메일 무단수집거부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D0DA6C4F-B111-3497-06CB-3A518B3FEE66}"/>
              </a:ext>
            </a:extLst>
          </p:cNvPr>
          <p:cNvSpPr/>
          <p:nvPr/>
        </p:nvSpPr>
        <p:spPr>
          <a:xfrm>
            <a:off x="4101992" y="5707019"/>
            <a:ext cx="570669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찾아오시는 길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82C093D6-23CD-5A74-41CF-D76FBA177B37}"/>
              </a:ext>
            </a:extLst>
          </p:cNvPr>
          <p:cNvSpPr/>
          <p:nvPr/>
        </p:nvSpPr>
        <p:spPr>
          <a:xfrm>
            <a:off x="2264425" y="5707019"/>
            <a:ext cx="718146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개인정보처리방침</a:t>
            </a:r>
          </a:p>
        </p:txBody>
      </p:sp>
    </p:spTree>
    <p:extLst>
      <p:ext uri="{BB962C8B-B14F-4D97-AF65-F5344CB8AC3E}">
        <p14:creationId xmlns:p14="http://schemas.microsoft.com/office/powerpoint/2010/main" val="2028709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/>
          <p:cNvSpPr txBox="1"/>
          <p:nvPr/>
        </p:nvSpPr>
        <p:spPr>
          <a:xfrm rot="16200000">
            <a:off x="-432110" y="1197338"/>
            <a:ext cx="23066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C</a:t>
            </a:r>
            <a:r>
              <a:rPr lang="en-US" altLang="ko-KR" sz="3000" b="1" dirty="0">
                <a:solidFill>
                  <a:srgbClr val="D7D7D7"/>
                </a:solidFill>
                <a:latin typeface="Noto Sans" panose="020B0502040504020204" pitchFamily="34" charset="0"/>
              </a:rPr>
              <a:t>O</a:t>
            </a:r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NTENT</a:t>
            </a:r>
            <a:r>
              <a:rPr lang="en-US" altLang="ko-KR" sz="3000" b="1" dirty="0">
                <a:solidFill>
                  <a:srgbClr val="F0F0F0"/>
                </a:solidFill>
                <a:latin typeface="Noto Sans" panose="020B0502040504020204" pitchFamily="34" charset="0"/>
              </a:rPr>
              <a:t>S</a:t>
            </a:r>
            <a:endParaRPr lang="ko-KR" altLang="en-US" sz="3000" b="1" dirty="0">
              <a:solidFill>
                <a:srgbClr val="F0F0F0"/>
              </a:solidFill>
              <a:latin typeface="Noto Sans" panose="020B0502040504020204" pitchFamily="34" charset="0"/>
            </a:endParaRP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4975436" y="2140622"/>
            <a:ext cx="4765463" cy="677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고등학생 대상 장학금 신청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  <a:p>
            <a:pPr>
              <a:spcAft>
                <a:spcPts val="300"/>
              </a:spcAft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● 고등학생 장학금 프로그램 조회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  <a:p>
            <a:pPr>
              <a:spcAft>
                <a:spcPts val="300"/>
              </a:spcAft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● 장학금 신청 등록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</p:txBody>
      </p:sp>
      <p:sp>
        <p:nvSpPr>
          <p:cNvPr id="31" name="Text Box 5"/>
          <p:cNvSpPr txBox="1">
            <a:spLocks noChangeArrowheads="1"/>
          </p:cNvSpPr>
          <p:nvPr/>
        </p:nvSpPr>
        <p:spPr bwMode="auto">
          <a:xfrm>
            <a:off x="4886305" y="1477454"/>
            <a:ext cx="370309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ko-KR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Noto Sans" panose="020B0502040504020204" pitchFamily="34" charset="0"/>
              </a:rPr>
              <a:t>홈</a:t>
            </a:r>
            <a:r>
              <a:rPr lang="en-US" altLang="ko-KR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Noto Sans" panose="020B0502040504020204" pitchFamily="34" charset="0"/>
              </a:rPr>
              <a:t>&gt;</a:t>
            </a:r>
            <a:r>
              <a:rPr lang="ko-KR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Noto Sans" panose="020B0502040504020204" pitchFamily="34" charset="0"/>
              </a:rPr>
              <a:t>프로그램신청</a:t>
            </a:r>
            <a:r>
              <a:rPr lang="en-US" altLang="ko-KR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Noto Sans" panose="020B0502040504020204" pitchFamily="34" charset="0"/>
              </a:rPr>
              <a:t>&gt;</a:t>
            </a:r>
            <a:r>
              <a:rPr lang="ko-KR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Noto Sans" panose="020B0502040504020204" pitchFamily="34" charset="0"/>
              </a:rPr>
              <a:t>고등학생장학금</a:t>
            </a:r>
            <a:endParaRPr lang="en-US" altLang="ko-KR" sz="1600" b="1" dirty="0">
              <a:solidFill>
                <a:prstClr val="black">
                  <a:lumMod val="75000"/>
                  <a:lumOff val="25000"/>
                </a:prstClr>
              </a:solidFill>
              <a:latin typeface="Noto Sans" panose="020B0502040504020204" pitchFamily="34" charset="0"/>
            </a:endParaRPr>
          </a:p>
        </p:txBody>
      </p:sp>
      <p:sp>
        <p:nvSpPr>
          <p:cNvPr id="16" name="TextBox 13"/>
          <p:cNvSpPr txBox="1">
            <a:spLocks noChangeArrowheads="1"/>
          </p:cNvSpPr>
          <p:nvPr/>
        </p:nvSpPr>
        <p:spPr bwMode="auto">
          <a:xfrm>
            <a:off x="4210483" y="1369732"/>
            <a:ext cx="764953" cy="5539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prstClr val="white"/>
                </a:solidFill>
              </a:rPr>
              <a:t>01</a:t>
            </a:r>
            <a:endParaRPr lang="ko-KR" altLang="en-US" sz="2000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3055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1A71C-0770-BAD4-D722-CDCCFF9E3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roup 1091">
            <a:extLst>
              <a:ext uri="{FF2B5EF4-FFF2-40B4-BE49-F238E27FC236}">
                <a16:creationId xmlns:a16="http://schemas.microsoft.com/office/drawing/2014/main" id="{0B7021F2-3DD2-B87A-94ED-559EEF7F86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2878291"/>
              </p:ext>
            </p:extLst>
          </p:nvPr>
        </p:nvGraphicFramePr>
        <p:xfrm>
          <a:off x="165100" y="1175295"/>
          <a:ext cx="9575800" cy="237482"/>
        </p:xfrm>
        <a:graphic>
          <a:graphicData uri="http://schemas.openxmlformats.org/drawingml/2006/table">
            <a:tbl>
              <a:tblPr/>
              <a:tblGrid>
                <a:gridCol w="957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9436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홈페이지 메뉴 구조</a:t>
                      </a: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5" name="모서리가 둥근 직사각형 74">
            <a:extLst>
              <a:ext uri="{FF2B5EF4-FFF2-40B4-BE49-F238E27FC236}">
                <a16:creationId xmlns:a16="http://schemas.microsoft.com/office/drawing/2014/main" id="{093343A2-F4CA-B10F-3FAA-D53961AE665E}"/>
              </a:ext>
            </a:extLst>
          </p:cNvPr>
          <p:cNvSpPr/>
          <p:nvPr/>
        </p:nvSpPr>
        <p:spPr>
          <a:xfrm>
            <a:off x="4064743" y="1520788"/>
            <a:ext cx="1931636" cy="229116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tx1">
                <a:lumMod val="95000"/>
                <a:lumOff val="5000"/>
              </a:schemeClr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오산교육재단 홈페이지</a:t>
            </a:r>
          </a:p>
        </p:txBody>
      </p:sp>
      <p:sp>
        <p:nvSpPr>
          <p:cNvPr id="76" name="모서리가 둥근 직사각형 75">
            <a:extLst>
              <a:ext uri="{FF2B5EF4-FFF2-40B4-BE49-F238E27FC236}">
                <a16:creationId xmlns:a16="http://schemas.microsoft.com/office/drawing/2014/main" id="{4C48BB99-E70F-BA6F-5AF6-799015AC77A0}"/>
              </a:ext>
            </a:extLst>
          </p:cNvPr>
          <p:cNvSpPr/>
          <p:nvPr/>
        </p:nvSpPr>
        <p:spPr>
          <a:xfrm>
            <a:off x="164468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메인</a:t>
            </a:r>
          </a:p>
        </p:txBody>
      </p:sp>
      <p:sp>
        <p:nvSpPr>
          <p:cNvPr id="81" name="모서리가 둥근 직사각형 80">
            <a:extLst>
              <a:ext uri="{FF2B5EF4-FFF2-40B4-BE49-F238E27FC236}">
                <a16:creationId xmlns:a16="http://schemas.microsoft.com/office/drawing/2014/main" id="{ED0E0C1B-36A1-1778-A8E5-E835C4A53EE7}"/>
              </a:ext>
            </a:extLst>
          </p:cNvPr>
          <p:cNvSpPr/>
          <p:nvPr/>
        </p:nvSpPr>
        <p:spPr>
          <a:xfrm>
            <a:off x="1068205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로그인</a:t>
            </a:r>
          </a:p>
        </p:txBody>
      </p:sp>
      <p:sp>
        <p:nvSpPr>
          <p:cNvPr id="82" name="모서리가 둥근 직사각형 81">
            <a:extLst>
              <a:ext uri="{FF2B5EF4-FFF2-40B4-BE49-F238E27FC236}">
                <a16:creationId xmlns:a16="http://schemas.microsoft.com/office/drawing/2014/main" id="{54DA99A2-463D-1997-AC95-8982E349CD57}"/>
              </a:ext>
            </a:extLst>
          </p:cNvPr>
          <p:cNvSpPr/>
          <p:nvPr/>
        </p:nvSpPr>
        <p:spPr>
          <a:xfrm>
            <a:off x="1976252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회원가입</a:t>
            </a:r>
          </a:p>
        </p:txBody>
      </p:sp>
      <p:sp>
        <p:nvSpPr>
          <p:cNvPr id="83" name="모서리가 둥근 직사각형 82">
            <a:extLst>
              <a:ext uri="{FF2B5EF4-FFF2-40B4-BE49-F238E27FC236}">
                <a16:creationId xmlns:a16="http://schemas.microsoft.com/office/drawing/2014/main" id="{D56AF16C-60E5-2E3C-5902-4F4B8E8C0BAB}"/>
              </a:ext>
            </a:extLst>
          </p:cNvPr>
          <p:cNvSpPr/>
          <p:nvPr/>
        </p:nvSpPr>
        <p:spPr>
          <a:xfrm>
            <a:off x="2919280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ID/PW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찾기</a:t>
            </a:r>
          </a:p>
        </p:txBody>
      </p:sp>
      <p:sp>
        <p:nvSpPr>
          <p:cNvPr id="84" name="모서리가 둥근 직사각형 83">
            <a:extLst>
              <a:ext uri="{FF2B5EF4-FFF2-40B4-BE49-F238E27FC236}">
                <a16:creationId xmlns:a16="http://schemas.microsoft.com/office/drawing/2014/main" id="{7B5E6E03-79EE-04DF-14AE-F71822FA7F36}"/>
              </a:ext>
            </a:extLst>
          </p:cNvPr>
          <p:cNvSpPr/>
          <p:nvPr/>
        </p:nvSpPr>
        <p:spPr>
          <a:xfrm>
            <a:off x="3859353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재단소개</a:t>
            </a:r>
          </a:p>
        </p:txBody>
      </p:sp>
      <p:sp>
        <p:nvSpPr>
          <p:cNvPr id="85" name="모서리가 둥근 직사각형 84">
            <a:extLst>
              <a:ext uri="{FF2B5EF4-FFF2-40B4-BE49-F238E27FC236}">
                <a16:creationId xmlns:a16="http://schemas.microsoft.com/office/drawing/2014/main" id="{965E4A55-5AFD-4AAD-A642-73F6F9653013}"/>
              </a:ext>
            </a:extLst>
          </p:cNvPr>
          <p:cNvSpPr/>
          <p:nvPr/>
        </p:nvSpPr>
        <p:spPr>
          <a:xfrm>
            <a:off x="4772461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5" name="모서리가 둥근 직사각형 94">
            <a:extLst>
              <a:ext uri="{FF2B5EF4-FFF2-40B4-BE49-F238E27FC236}">
                <a16:creationId xmlns:a16="http://schemas.microsoft.com/office/drawing/2014/main" id="{CEE49844-156E-D94E-0104-BC20E4960A31}"/>
              </a:ext>
            </a:extLst>
          </p:cNvPr>
          <p:cNvSpPr/>
          <p:nvPr/>
        </p:nvSpPr>
        <p:spPr>
          <a:xfrm>
            <a:off x="8876900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마이페이지</a:t>
            </a:r>
          </a:p>
        </p:txBody>
      </p:sp>
      <p:cxnSp>
        <p:nvCxnSpPr>
          <p:cNvPr id="104" name="꺾인 연결선 103">
            <a:extLst>
              <a:ext uri="{FF2B5EF4-FFF2-40B4-BE49-F238E27FC236}">
                <a16:creationId xmlns:a16="http://schemas.microsoft.com/office/drawing/2014/main" id="{11A5BDB1-9465-E63E-8C6F-EFC46126FCF6}"/>
              </a:ext>
            </a:extLst>
          </p:cNvPr>
          <p:cNvCxnSpPr>
            <a:stCxn id="76" idx="0"/>
            <a:endCxn id="75" idx="2"/>
          </p:cNvCxnSpPr>
          <p:nvPr/>
        </p:nvCxnSpPr>
        <p:spPr>
          <a:xfrm rot="5400000" flipH="1" flipV="1">
            <a:off x="2641771" y="-295398"/>
            <a:ext cx="343487" cy="4434093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연결선 105">
            <a:extLst>
              <a:ext uri="{FF2B5EF4-FFF2-40B4-BE49-F238E27FC236}">
                <a16:creationId xmlns:a16="http://schemas.microsoft.com/office/drawing/2014/main" id="{2065FF27-689D-A55E-EB2C-BC2C44BD4751}"/>
              </a:ext>
            </a:extLst>
          </p:cNvPr>
          <p:cNvCxnSpPr>
            <a:stCxn id="81" idx="0"/>
            <a:endCxn id="75" idx="2"/>
          </p:cNvCxnSpPr>
          <p:nvPr/>
        </p:nvCxnSpPr>
        <p:spPr>
          <a:xfrm rot="5400000" flipH="1" flipV="1">
            <a:off x="3093640" y="156470"/>
            <a:ext cx="343487" cy="3530356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꺾인 연결선 106">
            <a:extLst>
              <a:ext uri="{FF2B5EF4-FFF2-40B4-BE49-F238E27FC236}">
                <a16:creationId xmlns:a16="http://schemas.microsoft.com/office/drawing/2014/main" id="{3F9675E4-4420-2EA9-F93B-994BFBF3D747}"/>
              </a:ext>
            </a:extLst>
          </p:cNvPr>
          <p:cNvCxnSpPr>
            <a:stCxn id="82" idx="0"/>
            <a:endCxn id="75" idx="2"/>
          </p:cNvCxnSpPr>
          <p:nvPr/>
        </p:nvCxnSpPr>
        <p:spPr>
          <a:xfrm rot="5400000" flipH="1" flipV="1">
            <a:off x="3547663" y="610494"/>
            <a:ext cx="343487" cy="2622309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꺾인 연결선 108">
            <a:extLst>
              <a:ext uri="{FF2B5EF4-FFF2-40B4-BE49-F238E27FC236}">
                <a16:creationId xmlns:a16="http://schemas.microsoft.com/office/drawing/2014/main" id="{1E4DAA34-109B-212A-2124-97EC98E3C06C}"/>
              </a:ext>
            </a:extLst>
          </p:cNvPr>
          <p:cNvCxnSpPr>
            <a:cxnSpLocks/>
            <a:stCxn id="83" idx="0"/>
            <a:endCxn id="75" idx="2"/>
          </p:cNvCxnSpPr>
          <p:nvPr/>
        </p:nvCxnSpPr>
        <p:spPr>
          <a:xfrm rot="5400000" flipH="1" flipV="1">
            <a:off x="4019177" y="1082008"/>
            <a:ext cx="343487" cy="1679281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꺾인 연결선 109">
            <a:extLst>
              <a:ext uri="{FF2B5EF4-FFF2-40B4-BE49-F238E27FC236}">
                <a16:creationId xmlns:a16="http://schemas.microsoft.com/office/drawing/2014/main" id="{424763BF-884D-9C98-2AA7-976A1483B7E1}"/>
              </a:ext>
            </a:extLst>
          </p:cNvPr>
          <p:cNvCxnSpPr>
            <a:stCxn id="84" idx="0"/>
            <a:endCxn id="75" idx="2"/>
          </p:cNvCxnSpPr>
          <p:nvPr/>
        </p:nvCxnSpPr>
        <p:spPr>
          <a:xfrm rot="5400000" flipH="1" flipV="1">
            <a:off x="4489214" y="1552044"/>
            <a:ext cx="343487" cy="73920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꺾인 연결선 111">
            <a:extLst>
              <a:ext uri="{FF2B5EF4-FFF2-40B4-BE49-F238E27FC236}">
                <a16:creationId xmlns:a16="http://schemas.microsoft.com/office/drawing/2014/main" id="{6510076E-3759-6B23-0E24-2EDB79AFAE21}"/>
              </a:ext>
            </a:extLst>
          </p:cNvPr>
          <p:cNvCxnSpPr>
            <a:stCxn id="85" idx="0"/>
            <a:endCxn id="75" idx="2"/>
          </p:cNvCxnSpPr>
          <p:nvPr/>
        </p:nvCxnSpPr>
        <p:spPr>
          <a:xfrm rot="16200000" flipV="1">
            <a:off x="4945768" y="1834698"/>
            <a:ext cx="343487" cy="173900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꺾인 연결선 116">
            <a:extLst>
              <a:ext uri="{FF2B5EF4-FFF2-40B4-BE49-F238E27FC236}">
                <a16:creationId xmlns:a16="http://schemas.microsoft.com/office/drawing/2014/main" id="{DEECECD5-0978-ED3D-3292-4E48C2AFA440}"/>
              </a:ext>
            </a:extLst>
          </p:cNvPr>
          <p:cNvCxnSpPr>
            <a:cxnSpLocks/>
            <a:stCxn id="14" idx="0"/>
            <a:endCxn id="75" idx="2"/>
          </p:cNvCxnSpPr>
          <p:nvPr/>
        </p:nvCxnSpPr>
        <p:spPr>
          <a:xfrm rot="16200000" flipV="1">
            <a:off x="5854079" y="926387"/>
            <a:ext cx="343487" cy="1990521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꺾인 연결선 145">
            <a:extLst>
              <a:ext uri="{FF2B5EF4-FFF2-40B4-BE49-F238E27FC236}">
                <a16:creationId xmlns:a16="http://schemas.microsoft.com/office/drawing/2014/main" id="{7F9CD72B-552E-82E4-E01E-348D6E297A26}"/>
              </a:ext>
            </a:extLst>
          </p:cNvPr>
          <p:cNvCxnSpPr>
            <a:cxnSpLocks/>
            <a:stCxn id="95" idx="0"/>
            <a:endCxn id="75" idx="2"/>
          </p:cNvCxnSpPr>
          <p:nvPr/>
        </p:nvCxnSpPr>
        <p:spPr>
          <a:xfrm rot="16200000" flipV="1">
            <a:off x="6997988" y="-217522"/>
            <a:ext cx="343487" cy="4278339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모서리가 둥근 직사각형 84">
            <a:extLst>
              <a:ext uri="{FF2B5EF4-FFF2-40B4-BE49-F238E27FC236}">
                <a16:creationId xmlns:a16="http://schemas.microsoft.com/office/drawing/2014/main" id="{775381A2-4297-90BA-D3AA-49359D00A755}"/>
              </a:ext>
            </a:extLst>
          </p:cNvPr>
          <p:cNvSpPr/>
          <p:nvPr/>
        </p:nvSpPr>
        <p:spPr>
          <a:xfrm>
            <a:off x="6589082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</a:t>
            </a:r>
          </a:p>
        </p:txBody>
      </p:sp>
      <p:sp>
        <p:nvSpPr>
          <p:cNvPr id="164" name="모서리가 둥근 직사각형 84">
            <a:extLst>
              <a:ext uri="{FF2B5EF4-FFF2-40B4-BE49-F238E27FC236}">
                <a16:creationId xmlns:a16="http://schemas.microsoft.com/office/drawing/2014/main" id="{021CEEF7-5FFF-137F-4F50-90D13432DBF7}"/>
              </a:ext>
            </a:extLst>
          </p:cNvPr>
          <p:cNvSpPr/>
          <p:nvPr/>
        </p:nvSpPr>
        <p:spPr>
          <a:xfrm>
            <a:off x="5685569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</a:p>
        </p:txBody>
      </p:sp>
      <p:cxnSp>
        <p:nvCxnSpPr>
          <p:cNvPr id="165" name="꺾인 연결선 111">
            <a:extLst>
              <a:ext uri="{FF2B5EF4-FFF2-40B4-BE49-F238E27FC236}">
                <a16:creationId xmlns:a16="http://schemas.microsoft.com/office/drawing/2014/main" id="{866EF586-91FE-DFA2-6B53-5D5DC88B1AD0}"/>
              </a:ext>
            </a:extLst>
          </p:cNvPr>
          <p:cNvCxnSpPr>
            <a:cxnSpLocks/>
            <a:stCxn id="164" idx="0"/>
            <a:endCxn id="75" idx="2"/>
          </p:cNvCxnSpPr>
          <p:nvPr/>
        </p:nvCxnSpPr>
        <p:spPr>
          <a:xfrm rot="16200000" flipV="1">
            <a:off x="5402322" y="1378144"/>
            <a:ext cx="343487" cy="108700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모서리가 둥근 직사각형 84">
            <a:extLst>
              <a:ext uri="{FF2B5EF4-FFF2-40B4-BE49-F238E27FC236}">
                <a16:creationId xmlns:a16="http://schemas.microsoft.com/office/drawing/2014/main" id="{9C82F877-26E0-A26F-C9B2-BF56FB046E01}"/>
              </a:ext>
            </a:extLst>
          </p:cNvPr>
          <p:cNvSpPr/>
          <p:nvPr/>
        </p:nvSpPr>
        <p:spPr>
          <a:xfrm>
            <a:off x="7532495" y="2093391"/>
            <a:ext cx="1264982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오산시민평생교육장려금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9" name="꺾인 연결선 145">
            <a:extLst>
              <a:ext uri="{FF2B5EF4-FFF2-40B4-BE49-F238E27FC236}">
                <a16:creationId xmlns:a16="http://schemas.microsoft.com/office/drawing/2014/main" id="{7B347DEF-1E53-3677-E09B-9FEAEA5B9E06}"/>
              </a:ext>
            </a:extLst>
          </p:cNvPr>
          <p:cNvCxnSpPr>
            <a:cxnSpLocks/>
            <a:stCxn id="17" idx="0"/>
            <a:endCxn id="75" idx="2"/>
          </p:cNvCxnSpPr>
          <p:nvPr/>
        </p:nvCxnSpPr>
        <p:spPr>
          <a:xfrm rot="16200000" flipV="1">
            <a:off x="6426031" y="354435"/>
            <a:ext cx="343487" cy="3134425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83">
            <a:extLst>
              <a:ext uri="{FF2B5EF4-FFF2-40B4-BE49-F238E27FC236}">
                <a16:creationId xmlns:a16="http://schemas.microsoft.com/office/drawing/2014/main" id="{DB36B6C2-3C13-30EF-BB1B-0270B221313E}"/>
              </a:ext>
            </a:extLst>
          </p:cNvPr>
          <p:cNvSpPr/>
          <p:nvPr/>
        </p:nvSpPr>
        <p:spPr>
          <a:xfrm>
            <a:off x="5326780" y="2344450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윤리경영</a:t>
            </a:r>
          </a:p>
        </p:txBody>
      </p:sp>
      <p:cxnSp>
        <p:nvCxnSpPr>
          <p:cNvPr id="5" name="꺾인 연결선 111">
            <a:extLst>
              <a:ext uri="{FF2B5EF4-FFF2-40B4-BE49-F238E27FC236}">
                <a16:creationId xmlns:a16="http://schemas.microsoft.com/office/drawing/2014/main" id="{301B60F5-210F-0846-CB0E-437380AF49FA}"/>
              </a:ext>
            </a:extLst>
          </p:cNvPr>
          <p:cNvCxnSpPr>
            <a:cxnSpLocks/>
            <a:stCxn id="2" idx="1"/>
            <a:endCxn id="85" idx="2"/>
          </p:cNvCxnSpPr>
          <p:nvPr/>
        </p:nvCxnSpPr>
        <p:spPr>
          <a:xfrm rot="10800000">
            <a:off x="5204462" y="2282743"/>
            <a:ext cx="122319" cy="147776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모서리가 둥근 직사각형 83">
            <a:extLst>
              <a:ext uri="{FF2B5EF4-FFF2-40B4-BE49-F238E27FC236}">
                <a16:creationId xmlns:a16="http://schemas.microsoft.com/office/drawing/2014/main" id="{31F0006B-FB23-1519-89D4-90B2C34CC945}"/>
              </a:ext>
            </a:extLst>
          </p:cNvPr>
          <p:cNvSpPr/>
          <p:nvPr/>
        </p:nvSpPr>
        <p:spPr>
          <a:xfrm>
            <a:off x="5326780" y="2570166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경영공시</a:t>
            </a:r>
          </a:p>
        </p:txBody>
      </p:sp>
      <p:cxnSp>
        <p:nvCxnSpPr>
          <p:cNvPr id="8" name="꺾인 연결선 111">
            <a:extLst>
              <a:ext uri="{FF2B5EF4-FFF2-40B4-BE49-F238E27FC236}">
                <a16:creationId xmlns:a16="http://schemas.microsoft.com/office/drawing/2014/main" id="{005B2DD3-7DE3-B96C-0A62-60ECAF23059E}"/>
              </a:ext>
            </a:extLst>
          </p:cNvPr>
          <p:cNvCxnSpPr>
            <a:cxnSpLocks/>
            <a:stCxn id="6" idx="1"/>
            <a:endCxn id="85" idx="2"/>
          </p:cNvCxnSpPr>
          <p:nvPr/>
        </p:nvCxnSpPr>
        <p:spPr>
          <a:xfrm rot="10800000">
            <a:off x="5204462" y="2282743"/>
            <a:ext cx="122319" cy="373492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모서리가 둥근 직사각형 83">
            <a:extLst>
              <a:ext uri="{FF2B5EF4-FFF2-40B4-BE49-F238E27FC236}">
                <a16:creationId xmlns:a16="http://schemas.microsoft.com/office/drawing/2014/main" id="{D4D3C9F3-01C7-FB1D-16D7-9192BBD6C131}"/>
              </a:ext>
            </a:extLst>
          </p:cNvPr>
          <p:cNvSpPr/>
          <p:nvPr/>
        </p:nvSpPr>
        <p:spPr>
          <a:xfrm>
            <a:off x="5326780" y="2795882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기타공시</a:t>
            </a:r>
          </a:p>
        </p:txBody>
      </p:sp>
      <p:cxnSp>
        <p:nvCxnSpPr>
          <p:cNvPr id="11" name="꺾인 연결선 111">
            <a:extLst>
              <a:ext uri="{FF2B5EF4-FFF2-40B4-BE49-F238E27FC236}">
                <a16:creationId xmlns:a16="http://schemas.microsoft.com/office/drawing/2014/main" id="{C34087DC-B73D-D330-A9B4-10CE948FCA2A}"/>
              </a:ext>
            </a:extLst>
          </p:cNvPr>
          <p:cNvCxnSpPr>
            <a:cxnSpLocks/>
            <a:stCxn id="9" idx="1"/>
            <a:endCxn id="85" idx="2"/>
          </p:cNvCxnSpPr>
          <p:nvPr/>
        </p:nvCxnSpPr>
        <p:spPr>
          <a:xfrm rot="10800000">
            <a:off x="5204462" y="2282743"/>
            <a:ext cx="122319" cy="599208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꺾인 연결선 111">
            <a:extLst>
              <a:ext uri="{FF2B5EF4-FFF2-40B4-BE49-F238E27FC236}">
                <a16:creationId xmlns:a16="http://schemas.microsoft.com/office/drawing/2014/main" id="{2DCFC2BF-FB18-B968-D0AE-DA1D5DC75739}"/>
              </a:ext>
            </a:extLst>
          </p:cNvPr>
          <p:cNvCxnSpPr>
            <a:cxnSpLocks/>
            <a:stCxn id="31" idx="1"/>
            <a:endCxn id="85" idx="2"/>
          </p:cNvCxnSpPr>
          <p:nvPr/>
        </p:nvCxnSpPr>
        <p:spPr>
          <a:xfrm rot="10800000">
            <a:off x="5204462" y="2282744"/>
            <a:ext cx="122319" cy="814089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모서리가 둥근 직사각형 83">
            <a:extLst>
              <a:ext uri="{FF2B5EF4-FFF2-40B4-BE49-F238E27FC236}">
                <a16:creationId xmlns:a16="http://schemas.microsoft.com/office/drawing/2014/main" id="{BF0335C7-B6D3-7AEC-6D29-576DFDE83FD8}"/>
              </a:ext>
            </a:extLst>
          </p:cNvPr>
          <p:cNvSpPr/>
          <p:nvPr/>
        </p:nvSpPr>
        <p:spPr>
          <a:xfrm>
            <a:off x="5326780" y="3010763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비공개기준</a:t>
            </a:r>
          </a:p>
        </p:txBody>
      </p:sp>
      <p:cxnSp>
        <p:nvCxnSpPr>
          <p:cNvPr id="34" name="꺾인 연결선 111">
            <a:extLst>
              <a:ext uri="{FF2B5EF4-FFF2-40B4-BE49-F238E27FC236}">
                <a16:creationId xmlns:a16="http://schemas.microsoft.com/office/drawing/2014/main" id="{61858BE3-1BA6-8E0C-9895-F478F4D41936}"/>
              </a:ext>
            </a:extLst>
          </p:cNvPr>
          <p:cNvCxnSpPr>
            <a:cxnSpLocks/>
            <a:stCxn id="35" idx="1"/>
            <a:endCxn id="85" idx="2"/>
          </p:cNvCxnSpPr>
          <p:nvPr/>
        </p:nvCxnSpPr>
        <p:spPr>
          <a:xfrm rot="10800000">
            <a:off x="5204462" y="2282744"/>
            <a:ext cx="122319" cy="1019817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모서리가 둥근 직사각형 83">
            <a:extLst>
              <a:ext uri="{FF2B5EF4-FFF2-40B4-BE49-F238E27FC236}">
                <a16:creationId xmlns:a16="http://schemas.microsoft.com/office/drawing/2014/main" id="{7F23D4A6-59E4-42A2-3935-2A9100D804D6}"/>
              </a:ext>
            </a:extLst>
          </p:cNvPr>
          <p:cNvSpPr/>
          <p:nvPr/>
        </p:nvSpPr>
        <p:spPr>
          <a:xfrm>
            <a:off x="5326780" y="3216491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통합공시</a:t>
            </a:r>
          </a:p>
        </p:txBody>
      </p:sp>
      <p:cxnSp>
        <p:nvCxnSpPr>
          <p:cNvPr id="37" name="꺾인 연결선 111">
            <a:extLst>
              <a:ext uri="{FF2B5EF4-FFF2-40B4-BE49-F238E27FC236}">
                <a16:creationId xmlns:a16="http://schemas.microsoft.com/office/drawing/2014/main" id="{E58EA3B4-6562-7CAC-CD9D-2A1FF5C2B342}"/>
              </a:ext>
            </a:extLst>
          </p:cNvPr>
          <p:cNvCxnSpPr>
            <a:cxnSpLocks/>
            <a:stCxn id="38" idx="1"/>
            <a:endCxn id="85" idx="2"/>
          </p:cNvCxnSpPr>
          <p:nvPr/>
        </p:nvCxnSpPr>
        <p:spPr>
          <a:xfrm rot="10800000">
            <a:off x="5204462" y="2282743"/>
            <a:ext cx="122319" cy="1232326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모서리가 둥근 직사각형 83">
            <a:extLst>
              <a:ext uri="{FF2B5EF4-FFF2-40B4-BE49-F238E27FC236}">
                <a16:creationId xmlns:a16="http://schemas.microsoft.com/office/drawing/2014/main" id="{38CCF10A-D132-7E32-A104-089C4891588C}"/>
              </a:ext>
            </a:extLst>
          </p:cNvPr>
          <p:cNvSpPr/>
          <p:nvPr/>
        </p:nvSpPr>
        <p:spPr>
          <a:xfrm>
            <a:off x="5326780" y="3429000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정보공개시스템</a:t>
            </a:r>
          </a:p>
        </p:txBody>
      </p:sp>
      <p:cxnSp>
        <p:nvCxnSpPr>
          <p:cNvPr id="42" name="꺾인 연결선 111">
            <a:extLst>
              <a:ext uri="{FF2B5EF4-FFF2-40B4-BE49-F238E27FC236}">
                <a16:creationId xmlns:a16="http://schemas.microsoft.com/office/drawing/2014/main" id="{81A00D58-9FEC-9E07-0E1B-81A50C04FFA3}"/>
              </a:ext>
            </a:extLst>
          </p:cNvPr>
          <p:cNvCxnSpPr>
            <a:cxnSpLocks/>
            <a:stCxn id="43" idx="1"/>
            <a:endCxn id="85" idx="2"/>
          </p:cNvCxnSpPr>
          <p:nvPr/>
        </p:nvCxnSpPr>
        <p:spPr>
          <a:xfrm rot="10800000">
            <a:off x="5204462" y="2282744"/>
            <a:ext cx="122319" cy="1441685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모서리가 둥근 직사각형 83">
            <a:extLst>
              <a:ext uri="{FF2B5EF4-FFF2-40B4-BE49-F238E27FC236}">
                <a16:creationId xmlns:a16="http://schemas.microsoft.com/office/drawing/2014/main" id="{534772C9-E01E-10BB-998E-0336EEF8B5B2}"/>
              </a:ext>
            </a:extLst>
          </p:cNvPr>
          <p:cNvSpPr/>
          <p:nvPr/>
        </p:nvSpPr>
        <p:spPr>
          <a:xfrm>
            <a:off x="5326780" y="3638359"/>
            <a:ext cx="850356" cy="172138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</a:p>
        </p:txBody>
      </p:sp>
      <p:cxnSp>
        <p:nvCxnSpPr>
          <p:cNvPr id="3" name="꺾인 연결선 111">
            <a:extLst>
              <a:ext uri="{FF2B5EF4-FFF2-40B4-BE49-F238E27FC236}">
                <a16:creationId xmlns:a16="http://schemas.microsoft.com/office/drawing/2014/main" id="{A4E08B67-5272-E10D-25EF-03826C0B3CBD}"/>
              </a:ext>
            </a:extLst>
          </p:cNvPr>
          <p:cNvCxnSpPr>
            <a:cxnSpLocks/>
            <a:stCxn id="4" idx="1"/>
            <a:endCxn id="43" idx="2"/>
          </p:cNvCxnSpPr>
          <p:nvPr/>
        </p:nvCxnSpPr>
        <p:spPr>
          <a:xfrm rot="10800000">
            <a:off x="5751958" y="3810498"/>
            <a:ext cx="114882" cy="130385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모서리가 둥근 직사각형 83">
            <a:extLst>
              <a:ext uri="{FF2B5EF4-FFF2-40B4-BE49-F238E27FC236}">
                <a16:creationId xmlns:a16="http://schemas.microsoft.com/office/drawing/2014/main" id="{980AE721-65F6-0D61-15C2-CD0B1C201461}"/>
              </a:ext>
            </a:extLst>
          </p:cNvPr>
          <p:cNvSpPr/>
          <p:nvPr/>
        </p:nvSpPr>
        <p:spPr>
          <a:xfrm>
            <a:off x="5866840" y="3854813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안내</a:t>
            </a:r>
          </a:p>
        </p:txBody>
      </p:sp>
      <p:sp>
        <p:nvSpPr>
          <p:cNvPr id="20" name="모서리가 둥근 직사각형 83">
            <a:extLst>
              <a:ext uri="{FF2B5EF4-FFF2-40B4-BE49-F238E27FC236}">
                <a16:creationId xmlns:a16="http://schemas.microsoft.com/office/drawing/2014/main" id="{38768D0F-493C-0C95-25A8-1DDB806C7B59}"/>
              </a:ext>
            </a:extLst>
          </p:cNvPr>
          <p:cNvSpPr/>
          <p:nvPr/>
        </p:nvSpPr>
        <p:spPr>
          <a:xfrm>
            <a:off x="6749000" y="3854813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신고하기</a:t>
            </a:r>
          </a:p>
        </p:txBody>
      </p:sp>
      <p:sp>
        <p:nvSpPr>
          <p:cNvPr id="21" name="모서리가 둥근 직사각형 83">
            <a:extLst>
              <a:ext uri="{FF2B5EF4-FFF2-40B4-BE49-F238E27FC236}">
                <a16:creationId xmlns:a16="http://schemas.microsoft.com/office/drawing/2014/main" id="{6F1EDB88-743B-0B85-A9C5-FE8961CF6C75}"/>
              </a:ext>
            </a:extLst>
          </p:cNvPr>
          <p:cNvSpPr/>
          <p:nvPr/>
        </p:nvSpPr>
        <p:spPr>
          <a:xfrm>
            <a:off x="7625918" y="3854813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내글확인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9595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460A0-8F3E-7EC9-0856-F5F42185E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41E27F-0CB6-355A-45A1-D1679C13FC2B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4399FD5-0C86-ADE3-3C5D-A2CF4540EBBD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경영지원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8FCA7E4C-3023-7E59-61E4-78C6CA00D7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707555"/>
              </p:ext>
            </p:extLst>
          </p:nvPr>
        </p:nvGraphicFramePr>
        <p:xfrm>
          <a:off x="6969418" y="2548005"/>
          <a:ext cx="2772114" cy="130001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경영지원 메뉴 중 클린신고센터 클릭 시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클린신고센터 신고하기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버튼 클릭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&gt;&gt;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본인인증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팝업창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보이며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인증완료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&gt;&gt;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등록 화면이 보인다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클린신고센터 내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확인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버튼 클릭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&gt;&gt;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본인인증 팝업창이 보이며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인증완료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&gt;&gt;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본인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목록이 보이며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제목 클릭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&gt;&gt;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열람 화면이 보임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국민권익위원회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청렴포털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바로가기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외부신고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https://www.clean.go.kr/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사이트가 새창으로 보인다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.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6CE6575B-BF72-0AE0-7A1C-419AB12AEA70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om_declaration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4280F3F5-A74E-E859-1ED4-BA7ACE9B4BA3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E78FBB3F-7CCE-35EB-CEB9-B65CE14661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E681C25B-B52C-4E37-3423-1F34CF14D8F2}"/>
              </a:ext>
            </a:extLst>
          </p:cNvPr>
          <p:cNvSpPr/>
          <p:nvPr/>
        </p:nvSpPr>
        <p:spPr>
          <a:xfrm>
            <a:off x="5680946" y="1586865"/>
            <a:ext cx="1165384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오산시민 평생교육장려금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565DD70-5756-B25D-47D4-A59CDF5E00F1}"/>
              </a:ext>
            </a:extLst>
          </p:cNvPr>
          <p:cNvSpPr/>
          <p:nvPr/>
        </p:nvSpPr>
        <p:spPr>
          <a:xfrm>
            <a:off x="4831365" y="1586865"/>
            <a:ext cx="652423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 신청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7E61A37-B20C-569C-7DEC-02F4B5E14259}"/>
              </a:ext>
            </a:extLst>
          </p:cNvPr>
          <p:cNvSpPr/>
          <p:nvPr/>
        </p:nvSpPr>
        <p:spPr>
          <a:xfrm>
            <a:off x="4223838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2BBA797-CF2E-B187-859E-02CB0AB2EF03}"/>
              </a:ext>
            </a:extLst>
          </p:cNvPr>
          <p:cNvSpPr/>
          <p:nvPr/>
        </p:nvSpPr>
        <p:spPr>
          <a:xfrm>
            <a:off x="3616311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CF3C81A-09A4-4348-D38A-5CB01594D3BD}"/>
              </a:ext>
            </a:extLst>
          </p:cNvPr>
          <p:cNvSpPr/>
          <p:nvPr/>
        </p:nvSpPr>
        <p:spPr>
          <a:xfrm>
            <a:off x="3008784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608B05C-F543-B4C7-61EA-EEF51EB83518}"/>
              </a:ext>
            </a:extLst>
          </p:cNvPr>
          <p:cNvSpPr/>
          <p:nvPr/>
        </p:nvSpPr>
        <p:spPr>
          <a:xfrm>
            <a:off x="165100" y="1790190"/>
            <a:ext cx="6732116" cy="419031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FB14426-3754-C444-DE2A-3E41E009902C}"/>
              </a:ext>
            </a:extLst>
          </p:cNvPr>
          <p:cNvSpPr/>
          <p:nvPr/>
        </p:nvSpPr>
        <p:spPr>
          <a:xfrm>
            <a:off x="5714622" y="1879740"/>
            <a:ext cx="1064394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10199EE-7552-7A06-C132-F15DCF6384FC}"/>
              </a:ext>
            </a:extLst>
          </p:cNvPr>
          <p:cNvSpPr/>
          <p:nvPr/>
        </p:nvSpPr>
        <p:spPr>
          <a:xfrm>
            <a:off x="236476" y="1844824"/>
            <a:ext cx="692497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694083ED-D4CF-C0E2-8966-424A405B2203}"/>
              </a:ext>
            </a:extLst>
          </p:cNvPr>
          <p:cNvSpPr/>
          <p:nvPr/>
        </p:nvSpPr>
        <p:spPr>
          <a:xfrm>
            <a:off x="280582" y="2248011"/>
            <a:ext cx="4509248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 err="1">
                <a:solidFill>
                  <a:prstClr val="black"/>
                </a:solidFill>
              </a:rPr>
              <a:t>클린신고센터는</a:t>
            </a:r>
            <a:r>
              <a:rPr lang="ko-KR" altLang="en-US" sz="800" b="1" dirty="0">
                <a:solidFill>
                  <a:prstClr val="black"/>
                </a:solidFill>
              </a:rPr>
              <a:t> 오산교육재단 부패행위 및 행동강령 위반 등에 관한 상항을 신고하는 공간 입니다</a:t>
            </a:r>
            <a:r>
              <a:rPr lang="en-US" altLang="ko-KR" sz="800" b="1" dirty="0">
                <a:solidFill>
                  <a:prstClr val="black"/>
                </a:solidFill>
              </a:rPr>
              <a:t>.</a:t>
            </a:r>
            <a:endParaRPr lang="ko-KR" altLang="en-US" sz="800" b="1" dirty="0">
              <a:solidFill>
                <a:prstClr val="black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047716C-3E38-9B3D-4681-F61FC8423752}"/>
              </a:ext>
            </a:extLst>
          </p:cNvPr>
          <p:cNvSpPr/>
          <p:nvPr/>
        </p:nvSpPr>
        <p:spPr>
          <a:xfrm>
            <a:off x="280582" y="2441144"/>
            <a:ext cx="5770811" cy="36933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dirty="0">
                <a:solidFill>
                  <a:prstClr val="black"/>
                </a:solidFill>
              </a:rPr>
              <a:t>정확하고 객관적인 사실만을 신고하여 주시기 바랍니다</a:t>
            </a:r>
            <a:r>
              <a:rPr lang="en-US" altLang="ko-KR" sz="800" dirty="0">
                <a:solidFill>
                  <a:prstClr val="black"/>
                </a:solidFill>
              </a:rPr>
              <a:t>.</a:t>
            </a:r>
          </a:p>
          <a:p>
            <a:r>
              <a:rPr lang="ko-KR" altLang="en-US" sz="800" dirty="0">
                <a:solidFill>
                  <a:prstClr val="black"/>
                </a:solidFill>
              </a:rPr>
              <a:t>부당하거나 사실이 아닌 사항에 대한 신고는 피신고인에게 정신적인 피해와 본 기관의 불필요한 행정력이 낭비를 가져옵니다</a:t>
            </a:r>
            <a:r>
              <a:rPr lang="en-US" altLang="ko-KR" sz="800" dirty="0">
                <a:solidFill>
                  <a:prstClr val="black"/>
                </a:solidFill>
              </a:rPr>
              <a:t>.</a:t>
            </a:r>
          </a:p>
          <a:p>
            <a:r>
              <a:rPr lang="ko-KR" altLang="en-US" sz="800" dirty="0">
                <a:solidFill>
                  <a:prstClr val="black"/>
                </a:solidFill>
              </a:rPr>
              <a:t>일반민원이 아닌 부당한 사항에 대해 신고를 해주시면 감사 하겠습니다</a:t>
            </a:r>
            <a:r>
              <a:rPr lang="en-US" altLang="ko-KR" sz="800" dirty="0">
                <a:solidFill>
                  <a:prstClr val="black"/>
                </a:solidFill>
              </a:rPr>
              <a:t>.</a:t>
            </a:r>
            <a:endParaRPr lang="ko-KR" altLang="en-US" sz="800" dirty="0">
              <a:solidFill>
                <a:prstClr val="black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32B42A0B-083D-B615-DC91-E331B6B0B365}"/>
              </a:ext>
            </a:extLst>
          </p:cNvPr>
          <p:cNvSpPr/>
          <p:nvPr/>
        </p:nvSpPr>
        <p:spPr>
          <a:xfrm>
            <a:off x="280582" y="2990854"/>
            <a:ext cx="755015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 err="1">
                <a:solidFill>
                  <a:prstClr val="black"/>
                </a:solidFill>
              </a:rPr>
              <a:t>등록시</a:t>
            </a:r>
            <a:r>
              <a:rPr lang="ko-KR" altLang="en-US" sz="800" b="1" dirty="0">
                <a:solidFill>
                  <a:prstClr val="black"/>
                </a:solidFill>
              </a:rPr>
              <a:t> 주의사항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4B8614AE-1C43-B6A7-8D22-2935138E2F5E}"/>
              </a:ext>
            </a:extLst>
          </p:cNvPr>
          <p:cNvSpPr/>
          <p:nvPr/>
        </p:nvSpPr>
        <p:spPr>
          <a:xfrm>
            <a:off x="280582" y="3183987"/>
            <a:ext cx="3858429" cy="36933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dirty="0">
                <a:solidFill>
                  <a:prstClr val="black"/>
                </a:solidFill>
              </a:rPr>
              <a:t>실명을 원칙으로 하며</a:t>
            </a:r>
            <a:r>
              <a:rPr lang="en-US" altLang="ko-KR" sz="800" dirty="0">
                <a:solidFill>
                  <a:prstClr val="black"/>
                </a:solidFill>
              </a:rPr>
              <a:t>, </a:t>
            </a:r>
            <a:r>
              <a:rPr lang="ko-KR" altLang="en-US" sz="800" dirty="0">
                <a:solidFill>
                  <a:prstClr val="black"/>
                </a:solidFill>
              </a:rPr>
              <a:t>허위나 가명은 접수 되지 않습니다</a:t>
            </a:r>
            <a:r>
              <a:rPr lang="en-US" altLang="ko-KR" sz="800" dirty="0">
                <a:solidFill>
                  <a:prstClr val="black"/>
                </a:solidFill>
              </a:rPr>
              <a:t>.</a:t>
            </a:r>
          </a:p>
          <a:p>
            <a:r>
              <a:rPr lang="ko-KR" altLang="en-US" sz="800" dirty="0">
                <a:solidFill>
                  <a:prstClr val="black"/>
                </a:solidFill>
              </a:rPr>
              <a:t>본 신고센터에 부합되지 않는 내용이나 비방</a:t>
            </a:r>
            <a:r>
              <a:rPr lang="en-US" altLang="ko-KR" sz="800" dirty="0">
                <a:solidFill>
                  <a:prstClr val="black"/>
                </a:solidFill>
              </a:rPr>
              <a:t>, </a:t>
            </a:r>
            <a:r>
              <a:rPr lang="ko-KR" altLang="en-US" sz="800" dirty="0">
                <a:solidFill>
                  <a:prstClr val="black"/>
                </a:solidFill>
              </a:rPr>
              <a:t>욕설</a:t>
            </a:r>
            <a:r>
              <a:rPr lang="en-US" altLang="ko-KR" sz="800" dirty="0">
                <a:solidFill>
                  <a:prstClr val="black"/>
                </a:solidFill>
              </a:rPr>
              <a:t>, </a:t>
            </a:r>
            <a:r>
              <a:rPr lang="ko-KR" altLang="en-US" sz="800" dirty="0">
                <a:solidFill>
                  <a:prstClr val="black"/>
                </a:solidFill>
              </a:rPr>
              <a:t>장난 게시글은 임의 삭제 됩니다</a:t>
            </a:r>
            <a:r>
              <a:rPr lang="en-US" altLang="ko-KR" sz="800" dirty="0">
                <a:solidFill>
                  <a:prstClr val="black"/>
                </a:solidFill>
              </a:rPr>
              <a:t>.</a:t>
            </a:r>
          </a:p>
          <a:p>
            <a:r>
              <a:rPr lang="ko-KR" altLang="en-US" sz="800" dirty="0">
                <a:solidFill>
                  <a:prstClr val="black"/>
                </a:solidFill>
              </a:rPr>
              <a:t>게시한 개인정보는 개인정보보호법에 따라 보호 됩니다</a:t>
            </a:r>
            <a:r>
              <a:rPr lang="en-US" altLang="ko-KR" sz="800" dirty="0">
                <a:solidFill>
                  <a:prstClr val="black"/>
                </a:solidFill>
              </a:rPr>
              <a:t>.</a:t>
            </a:r>
            <a:endParaRPr lang="ko-KR" altLang="en-US" sz="800" dirty="0">
              <a:solidFill>
                <a:prstClr val="black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DE9070C3-EBCB-516C-7846-E370675FFB4F}"/>
              </a:ext>
            </a:extLst>
          </p:cNvPr>
          <p:cNvSpPr/>
          <p:nvPr/>
        </p:nvSpPr>
        <p:spPr>
          <a:xfrm>
            <a:off x="266529" y="3689502"/>
            <a:ext cx="1230088" cy="198000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white"/>
                </a:solidFill>
              </a:rPr>
              <a:t>클린신고센터 신고하기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9C2C60B1-7272-3081-AB4F-5F4DE617E0E5}"/>
              </a:ext>
            </a:extLst>
          </p:cNvPr>
          <p:cNvSpPr/>
          <p:nvPr/>
        </p:nvSpPr>
        <p:spPr>
          <a:xfrm>
            <a:off x="1562672" y="3689502"/>
            <a:ext cx="1446112" cy="198000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white"/>
                </a:solidFill>
              </a:rPr>
              <a:t>클린신고센터 내 </a:t>
            </a:r>
            <a:r>
              <a:rPr lang="ko-KR" altLang="en-US" sz="700" dirty="0" err="1">
                <a:solidFill>
                  <a:prstClr val="white"/>
                </a:solidFill>
              </a:rPr>
              <a:t>신고글</a:t>
            </a:r>
            <a:r>
              <a:rPr lang="ko-KR" altLang="en-US" sz="700" dirty="0">
                <a:solidFill>
                  <a:prstClr val="white"/>
                </a:solidFill>
              </a:rPr>
              <a:t> 확인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59C5BA69-6D62-E18B-1F3E-D158354BBF87}"/>
              </a:ext>
            </a:extLst>
          </p:cNvPr>
          <p:cNvSpPr/>
          <p:nvPr/>
        </p:nvSpPr>
        <p:spPr>
          <a:xfrm>
            <a:off x="165100" y="6023481"/>
            <a:ext cx="6732116" cy="46622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B1F90AC2-6F03-3EA7-A1F6-5918ACC57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6165304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AF7E32B2-2ECA-AC0E-2A8B-E0E0B435D223}"/>
              </a:ext>
            </a:extLst>
          </p:cNvPr>
          <p:cNvSpPr txBox="1"/>
          <p:nvPr/>
        </p:nvSpPr>
        <p:spPr>
          <a:xfrm>
            <a:off x="1172580" y="6077394"/>
            <a:ext cx="31242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경기 오산시 성호대로 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141 (</a:t>
            </a:r>
            <a:r>
              <a:rPr lang="ko-KR" altLang="en-US" sz="600" b="0" i="0" dirty="0" err="1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오산동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오산시청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endParaRPr lang="en-US" altLang="ko-KR" sz="600" b="0" i="0" dirty="0">
              <a:solidFill>
                <a:srgbClr val="666666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TEL. (031)8036-8905 FAX. (031)8036-8905</a:t>
            </a: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Copyright©2025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ALL RIGHTSRESERVED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ACC5F197-FAA9-FD7B-DDD9-EE6134AAA0A6}"/>
              </a:ext>
            </a:extLst>
          </p:cNvPr>
          <p:cNvSpPr>
            <a:spLocks noChangeAspect="1"/>
          </p:cNvSpPr>
          <p:nvPr/>
        </p:nvSpPr>
        <p:spPr>
          <a:xfrm>
            <a:off x="101110" y="3716502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45D3CD6-53A2-0258-74CF-DD362A95BFB1}"/>
              </a:ext>
            </a:extLst>
          </p:cNvPr>
          <p:cNvSpPr/>
          <p:nvPr/>
        </p:nvSpPr>
        <p:spPr>
          <a:xfrm>
            <a:off x="266528" y="3941415"/>
            <a:ext cx="2742255" cy="198000"/>
          </a:xfrm>
          <a:prstGeom prst="rect">
            <a:avLst/>
          </a:prstGeom>
          <a:solidFill>
            <a:srgbClr val="66FF66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</a:rPr>
              <a:t>국민권익위원회 </a:t>
            </a:r>
            <a:r>
              <a:rPr lang="ko-KR" altLang="en-US" sz="700" dirty="0" err="1">
                <a:solidFill>
                  <a:schemeClr val="tx1"/>
                </a:solidFill>
              </a:rPr>
              <a:t>청렴포털</a:t>
            </a:r>
            <a:r>
              <a:rPr lang="ko-KR" altLang="en-US" sz="700" dirty="0">
                <a:solidFill>
                  <a:schemeClr val="tx1"/>
                </a:solidFill>
              </a:rPr>
              <a:t> 바로가기</a:t>
            </a:r>
            <a:r>
              <a:rPr lang="en-US" altLang="ko-KR" sz="700" dirty="0">
                <a:solidFill>
                  <a:schemeClr val="tx1"/>
                </a:solidFill>
              </a:rPr>
              <a:t>(</a:t>
            </a:r>
            <a:r>
              <a:rPr lang="ko-KR" altLang="en-US" sz="700" dirty="0">
                <a:solidFill>
                  <a:schemeClr val="tx1"/>
                </a:solidFill>
              </a:rPr>
              <a:t>외부신고</a:t>
            </a:r>
            <a:r>
              <a:rPr lang="en-US" altLang="ko-KR" sz="700" dirty="0">
                <a:solidFill>
                  <a:schemeClr val="tx1"/>
                </a:solidFill>
              </a:rPr>
              <a:t>)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2056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610B6-9185-4470-A08D-BF2EC80DD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DCB729-9CD1-F8C6-F458-7BA64C7BD1FC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 신고하기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6072B82-BBDD-8A96-4932-54F5504657C3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경영지원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  <a:r>
              <a:rPr lang="ko-KR" altLang="en-US" sz="7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신고하기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17F59799-7599-7C7B-697C-0626C904FD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5001884"/>
              </p:ext>
            </p:extLst>
          </p:nvPr>
        </p:nvGraphicFramePr>
        <p:xfrm>
          <a:off x="6969418" y="2548005"/>
          <a:ext cx="2772114" cy="417440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경영지원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클린신고센터 화면에서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클린신고센터 신고하기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보이는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보인인증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팝업창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본인인증 완료 시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등록 화면이 보인다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4B12168A-79EF-C514-DDCD-95D3448515D7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omdr_certification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2B9C1A60-2042-CCA7-3133-F9D58AE329ED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046211A7-C53B-506F-ED8D-99BC6AEDC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A444DC0A-A921-DCA8-E6DA-FF3FA26DDB7A}"/>
              </a:ext>
            </a:extLst>
          </p:cNvPr>
          <p:cNvSpPr/>
          <p:nvPr/>
        </p:nvSpPr>
        <p:spPr>
          <a:xfrm>
            <a:off x="5680946" y="1586865"/>
            <a:ext cx="1165384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오산시민 평생교육장려금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AED78BC-29C6-9CE7-D495-1A9C88B03683}"/>
              </a:ext>
            </a:extLst>
          </p:cNvPr>
          <p:cNvSpPr/>
          <p:nvPr/>
        </p:nvSpPr>
        <p:spPr>
          <a:xfrm>
            <a:off x="4831365" y="1586865"/>
            <a:ext cx="652423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 신청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13B1761-183C-A1DC-5CB7-D67F77D9A3FE}"/>
              </a:ext>
            </a:extLst>
          </p:cNvPr>
          <p:cNvSpPr/>
          <p:nvPr/>
        </p:nvSpPr>
        <p:spPr>
          <a:xfrm>
            <a:off x="4223838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2690987-2E47-81C6-2B9E-5BDC5984C5B4}"/>
              </a:ext>
            </a:extLst>
          </p:cNvPr>
          <p:cNvSpPr/>
          <p:nvPr/>
        </p:nvSpPr>
        <p:spPr>
          <a:xfrm>
            <a:off x="3616311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2957B3C-3E3F-5B8D-938A-43EC58CAC3A0}"/>
              </a:ext>
            </a:extLst>
          </p:cNvPr>
          <p:cNvSpPr/>
          <p:nvPr/>
        </p:nvSpPr>
        <p:spPr>
          <a:xfrm>
            <a:off x="3008784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D1696A8-65CC-DD14-7A4D-4A15D6306903}"/>
              </a:ext>
            </a:extLst>
          </p:cNvPr>
          <p:cNvSpPr/>
          <p:nvPr/>
        </p:nvSpPr>
        <p:spPr>
          <a:xfrm>
            <a:off x="165100" y="1790190"/>
            <a:ext cx="6732116" cy="419031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F0BEC66-F00E-66CB-EB8B-DBBB8E54E7CB}"/>
              </a:ext>
            </a:extLst>
          </p:cNvPr>
          <p:cNvSpPr/>
          <p:nvPr/>
        </p:nvSpPr>
        <p:spPr>
          <a:xfrm>
            <a:off x="5714622" y="1879740"/>
            <a:ext cx="1064394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FEF3528-5B1F-6625-57E4-D980087D0807}"/>
              </a:ext>
            </a:extLst>
          </p:cNvPr>
          <p:cNvSpPr/>
          <p:nvPr/>
        </p:nvSpPr>
        <p:spPr>
          <a:xfrm>
            <a:off x="236476" y="1844824"/>
            <a:ext cx="692497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ABF9D62-61CE-94D0-274B-974E30C00BBD}"/>
              </a:ext>
            </a:extLst>
          </p:cNvPr>
          <p:cNvSpPr/>
          <p:nvPr/>
        </p:nvSpPr>
        <p:spPr>
          <a:xfrm>
            <a:off x="280582" y="2248011"/>
            <a:ext cx="4509248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 err="1">
                <a:solidFill>
                  <a:prstClr val="black"/>
                </a:solidFill>
              </a:rPr>
              <a:t>클린신고센터는</a:t>
            </a:r>
            <a:r>
              <a:rPr lang="ko-KR" altLang="en-US" sz="800" b="1" dirty="0">
                <a:solidFill>
                  <a:prstClr val="black"/>
                </a:solidFill>
              </a:rPr>
              <a:t> 오산교육재단 부패행위 및 행동강령 위반 등에 관한 상항을 신고하는 공간 입니다</a:t>
            </a:r>
            <a:r>
              <a:rPr lang="en-US" altLang="ko-KR" sz="800" b="1" dirty="0">
                <a:solidFill>
                  <a:prstClr val="black"/>
                </a:solidFill>
              </a:rPr>
              <a:t>.</a:t>
            </a:r>
            <a:endParaRPr lang="ko-KR" altLang="en-US" sz="800" b="1" dirty="0">
              <a:solidFill>
                <a:prstClr val="black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FF739CF3-1F84-B3B0-1A5F-46FAF84D0F74}"/>
              </a:ext>
            </a:extLst>
          </p:cNvPr>
          <p:cNvSpPr/>
          <p:nvPr/>
        </p:nvSpPr>
        <p:spPr>
          <a:xfrm>
            <a:off x="280582" y="2441144"/>
            <a:ext cx="5770811" cy="36933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dirty="0">
                <a:solidFill>
                  <a:prstClr val="black"/>
                </a:solidFill>
              </a:rPr>
              <a:t>정확하고 객관적인 사실만을 신고하여 주시기 바랍니다</a:t>
            </a:r>
            <a:r>
              <a:rPr lang="en-US" altLang="ko-KR" sz="800" dirty="0">
                <a:solidFill>
                  <a:prstClr val="black"/>
                </a:solidFill>
              </a:rPr>
              <a:t>.</a:t>
            </a:r>
          </a:p>
          <a:p>
            <a:r>
              <a:rPr lang="ko-KR" altLang="en-US" sz="800" dirty="0">
                <a:solidFill>
                  <a:prstClr val="black"/>
                </a:solidFill>
              </a:rPr>
              <a:t>부당하거나 사실이 아닌 사항에 대한 신고는 피신고인에게 정신적인 피해와 본 기관의 불필요한 행정력이 낭비를 가져옵니다</a:t>
            </a:r>
            <a:r>
              <a:rPr lang="en-US" altLang="ko-KR" sz="800" dirty="0">
                <a:solidFill>
                  <a:prstClr val="black"/>
                </a:solidFill>
              </a:rPr>
              <a:t>.</a:t>
            </a:r>
          </a:p>
          <a:p>
            <a:r>
              <a:rPr lang="ko-KR" altLang="en-US" sz="800" dirty="0">
                <a:solidFill>
                  <a:prstClr val="black"/>
                </a:solidFill>
              </a:rPr>
              <a:t>일반민원이 아닌 부당한 사항에 대해 신고를 해주시면 감사 하겠습니다</a:t>
            </a:r>
            <a:r>
              <a:rPr lang="en-US" altLang="ko-KR" sz="800" dirty="0">
                <a:solidFill>
                  <a:prstClr val="black"/>
                </a:solidFill>
              </a:rPr>
              <a:t>.</a:t>
            </a:r>
            <a:endParaRPr lang="ko-KR" altLang="en-US" sz="800" dirty="0">
              <a:solidFill>
                <a:prstClr val="black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D6DAC460-74F0-0053-7CCE-AEEF3FD0341C}"/>
              </a:ext>
            </a:extLst>
          </p:cNvPr>
          <p:cNvSpPr/>
          <p:nvPr/>
        </p:nvSpPr>
        <p:spPr>
          <a:xfrm>
            <a:off x="280582" y="2990854"/>
            <a:ext cx="755015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 err="1">
                <a:solidFill>
                  <a:prstClr val="black"/>
                </a:solidFill>
              </a:rPr>
              <a:t>등록시</a:t>
            </a:r>
            <a:r>
              <a:rPr lang="ko-KR" altLang="en-US" sz="800" b="1" dirty="0">
                <a:solidFill>
                  <a:prstClr val="black"/>
                </a:solidFill>
              </a:rPr>
              <a:t> 주의사항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ADEAA55A-73E7-2298-A125-EFE2AAF35B28}"/>
              </a:ext>
            </a:extLst>
          </p:cNvPr>
          <p:cNvSpPr/>
          <p:nvPr/>
        </p:nvSpPr>
        <p:spPr>
          <a:xfrm>
            <a:off x="280582" y="3183987"/>
            <a:ext cx="3858429" cy="36933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dirty="0">
                <a:solidFill>
                  <a:prstClr val="black"/>
                </a:solidFill>
              </a:rPr>
              <a:t>실명을 원칙으로 하며</a:t>
            </a:r>
            <a:r>
              <a:rPr lang="en-US" altLang="ko-KR" sz="800" dirty="0">
                <a:solidFill>
                  <a:prstClr val="black"/>
                </a:solidFill>
              </a:rPr>
              <a:t>, </a:t>
            </a:r>
            <a:r>
              <a:rPr lang="ko-KR" altLang="en-US" sz="800" dirty="0">
                <a:solidFill>
                  <a:prstClr val="black"/>
                </a:solidFill>
              </a:rPr>
              <a:t>허위나 가명은 접수 되지 않습니다</a:t>
            </a:r>
            <a:r>
              <a:rPr lang="en-US" altLang="ko-KR" sz="800" dirty="0">
                <a:solidFill>
                  <a:prstClr val="black"/>
                </a:solidFill>
              </a:rPr>
              <a:t>.</a:t>
            </a:r>
          </a:p>
          <a:p>
            <a:r>
              <a:rPr lang="ko-KR" altLang="en-US" sz="800" dirty="0">
                <a:solidFill>
                  <a:prstClr val="black"/>
                </a:solidFill>
              </a:rPr>
              <a:t>본 신고센터에 부합되지 않는 내용이나 비방</a:t>
            </a:r>
            <a:r>
              <a:rPr lang="en-US" altLang="ko-KR" sz="800" dirty="0">
                <a:solidFill>
                  <a:prstClr val="black"/>
                </a:solidFill>
              </a:rPr>
              <a:t>, </a:t>
            </a:r>
            <a:r>
              <a:rPr lang="ko-KR" altLang="en-US" sz="800" dirty="0">
                <a:solidFill>
                  <a:prstClr val="black"/>
                </a:solidFill>
              </a:rPr>
              <a:t>욕설</a:t>
            </a:r>
            <a:r>
              <a:rPr lang="en-US" altLang="ko-KR" sz="800" dirty="0">
                <a:solidFill>
                  <a:prstClr val="black"/>
                </a:solidFill>
              </a:rPr>
              <a:t>, </a:t>
            </a:r>
            <a:r>
              <a:rPr lang="ko-KR" altLang="en-US" sz="800" dirty="0">
                <a:solidFill>
                  <a:prstClr val="black"/>
                </a:solidFill>
              </a:rPr>
              <a:t>장난 게시글은 임의 삭제 됩니다</a:t>
            </a:r>
            <a:r>
              <a:rPr lang="en-US" altLang="ko-KR" sz="800" dirty="0">
                <a:solidFill>
                  <a:prstClr val="black"/>
                </a:solidFill>
              </a:rPr>
              <a:t>.</a:t>
            </a:r>
          </a:p>
          <a:p>
            <a:r>
              <a:rPr lang="ko-KR" altLang="en-US" sz="800" dirty="0">
                <a:solidFill>
                  <a:prstClr val="black"/>
                </a:solidFill>
              </a:rPr>
              <a:t>게시한 개인정보는 개인정보보호법에 따라 보호 됩니다</a:t>
            </a:r>
            <a:r>
              <a:rPr lang="en-US" altLang="ko-KR" sz="800" dirty="0">
                <a:solidFill>
                  <a:prstClr val="black"/>
                </a:solidFill>
              </a:rPr>
              <a:t>.</a:t>
            </a:r>
            <a:endParaRPr lang="ko-KR" altLang="en-US" sz="800" dirty="0">
              <a:solidFill>
                <a:prstClr val="black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21E79D1-857E-D1A8-3F90-AA5037DE83EB}"/>
              </a:ext>
            </a:extLst>
          </p:cNvPr>
          <p:cNvSpPr/>
          <p:nvPr/>
        </p:nvSpPr>
        <p:spPr>
          <a:xfrm>
            <a:off x="266529" y="3689502"/>
            <a:ext cx="1230088" cy="198000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white"/>
                </a:solidFill>
              </a:rPr>
              <a:t>클린신고센터 신고하기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FB02D6A5-8406-7C51-45A0-B075FC247DA5}"/>
              </a:ext>
            </a:extLst>
          </p:cNvPr>
          <p:cNvSpPr/>
          <p:nvPr/>
        </p:nvSpPr>
        <p:spPr>
          <a:xfrm>
            <a:off x="1562672" y="3689502"/>
            <a:ext cx="1446112" cy="198000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white"/>
                </a:solidFill>
              </a:rPr>
              <a:t>클린신고센터 내 </a:t>
            </a:r>
            <a:r>
              <a:rPr lang="ko-KR" altLang="en-US" sz="700" dirty="0" err="1">
                <a:solidFill>
                  <a:prstClr val="white"/>
                </a:solidFill>
              </a:rPr>
              <a:t>신고글</a:t>
            </a:r>
            <a:r>
              <a:rPr lang="ko-KR" altLang="en-US" sz="700" dirty="0">
                <a:solidFill>
                  <a:prstClr val="white"/>
                </a:solidFill>
              </a:rPr>
              <a:t> 확인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B7CA29CA-CA4F-E4AD-224B-28B9152F269E}"/>
              </a:ext>
            </a:extLst>
          </p:cNvPr>
          <p:cNvSpPr/>
          <p:nvPr/>
        </p:nvSpPr>
        <p:spPr>
          <a:xfrm>
            <a:off x="165100" y="6023481"/>
            <a:ext cx="6732116" cy="46622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A537FB64-B41D-93D5-7934-A3EAE4A258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6165304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B9C5B280-CF78-9F32-E65F-B5F595426AB0}"/>
              </a:ext>
            </a:extLst>
          </p:cNvPr>
          <p:cNvSpPr txBox="1"/>
          <p:nvPr/>
        </p:nvSpPr>
        <p:spPr>
          <a:xfrm>
            <a:off x="1172580" y="6077394"/>
            <a:ext cx="31242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경기 오산시 성호대로 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141 (</a:t>
            </a:r>
            <a:r>
              <a:rPr lang="ko-KR" altLang="en-US" sz="600" b="0" i="0" dirty="0" err="1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오산동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오산시청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endParaRPr lang="en-US" altLang="ko-KR" sz="600" b="0" i="0" dirty="0">
              <a:solidFill>
                <a:srgbClr val="666666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TEL. (031)8036-8905 FAX. (031)8036-8905</a:t>
            </a: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Copyright©2025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ALL RIGHTSRESERVED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82E4687-7C86-72B5-97A2-7DDEA897A1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0952" y="3279547"/>
            <a:ext cx="1438781" cy="2402032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</p:pic>
      <p:cxnSp>
        <p:nvCxnSpPr>
          <p:cNvPr id="8" name="꺾인 연결선 111">
            <a:extLst>
              <a:ext uri="{FF2B5EF4-FFF2-40B4-BE49-F238E27FC236}">
                <a16:creationId xmlns:a16="http://schemas.microsoft.com/office/drawing/2014/main" id="{FB0F9564-0314-D029-81FA-8E01840D2567}"/>
              </a:ext>
            </a:extLst>
          </p:cNvPr>
          <p:cNvCxnSpPr>
            <a:cxnSpLocks/>
            <a:stCxn id="13" idx="0"/>
            <a:endCxn id="6" idx="0"/>
          </p:cNvCxnSpPr>
          <p:nvPr/>
        </p:nvCxnSpPr>
        <p:spPr>
          <a:xfrm rot="5400000" flipH="1" flipV="1">
            <a:off x="2872618" y="1288503"/>
            <a:ext cx="376681" cy="4358770"/>
          </a:xfrm>
          <a:prstGeom prst="bentConnector3">
            <a:avLst>
              <a:gd name="adj1" fmla="val 160688"/>
            </a:avLst>
          </a:prstGeom>
          <a:ln w="63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타원 12">
            <a:extLst>
              <a:ext uri="{FF2B5EF4-FFF2-40B4-BE49-F238E27FC236}">
                <a16:creationId xmlns:a16="http://schemas.microsoft.com/office/drawing/2014/main" id="{2B24F05E-78EE-10FB-3145-0D8EA69E72C7}"/>
              </a:ext>
            </a:extLst>
          </p:cNvPr>
          <p:cNvSpPr/>
          <p:nvPr/>
        </p:nvSpPr>
        <p:spPr>
          <a:xfrm>
            <a:off x="845570" y="3656228"/>
            <a:ext cx="72006" cy="72006"/>
          </a:xfrm>
          <a:prstGeom prst="ellipse">
            <a:avLst/>
          </a:prstGeom>
          <a:solidFill>
            <a:srgbClr val="FF0000"/>
          </a:solidFill>
          <a:ln w="6350">
            <a:noFill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1559142-E3CD-D1BB-D3A8-1787A2B9BC3C}"/>
              </a:ext>
            </a:extLst>
          </p:cNvPr>
          <p:cNvSpPr/>
          <p:nvPr/>
        </p:nvSpPr>
        <p:spPr>
          <a:xfrm>
            <a:off x="266528" y="3941415"/>
            <a:ext cx="2742255" cy="198000"/>
          </a:xfrm>
          <a:prstGeom prst="rect">
            <a:avLst/>
          </a:prstGeom>
          <a:solidFill>
            <a:srgbClr val="66FF66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</a:rPr>
              <a:t>국민권익위원회 </a:t>
            </a:r>
            <a:r>
              <a:rPr lang="ko-KR" altLang="en-US" sz="700" dirty="0" err="1">
                <a:solidFill>
                  <a:schemeClr val="tx1"/>
                </a:solidFill>
              </a:rPr>
              <a:t>청렴포털</a:t>
            </a:r>
            <a:r>
              <a:rPr lang="ko-KR" altLang="en-US" sz="700" dirty="0">
                <a:solidFill>
                  <a:schemeClr val="tx1"/>
                </a:solidFill>
              </a:rPr>
              <a:t> 바로가기</a:t>
            </a:r>
            <a:r>
              <a:rPr lang="en-US" altLang="ko-KR" sz="700" dirty="0">
                <a:solidFill>
                  <a:schemeClr val="tx1"/>
                </a:solidFill>
              </a:rPr>
              <a:t>(</a:t>
            </a:r>
            <a:r>
              <a:rPr lang="ko-KR" altLang="en-US" sz="700" dirty="0">
                <a:solidFill>
                  <a:schemeClr val="tx1"/>
                </a:solidFill>
              </a:rPr>
              <a:t>외부신고</a:t>
            </a:r>
            <a:r>
              <a:rPr lang="en-US" altLang="ko-KR" sz="700" dirty="0">
                <a:solidFill>
                  <a:schemeClr val="tx1"/>
                </a:solidFill>
              </a:rPr>
              <a:t>)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7785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78E99-950C-1BF1-D17D-FB4FE490F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81D0023-D28F-6ADE-95F5-E43C946421C1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 신고하기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A6309E1-2C6A-CC39-6978-025DD562A15C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경영지원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  <a:r>
              <a:rPr lang="ko-KR" altLang="en-US" sz="7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신고하기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B8A356B9-70AB-75BB-0088-0E3D2374EA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6682220"/>
              </p:ext>
            </p:extLst>
          </p:nvPr>
        </p:nvGraphicFramePr>
        <p:xfrm>
          <a:off x="6969418" y="2548005"/>
          <a:ext cx="2772114" cy="3468080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경영지원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클린신고센터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화면에서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클린신고센터 신고하기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&gt;&gt;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본인인증 팝업창에서 본인인증 완료 시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 게시글 등록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사이트관리자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클린신고센터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개인정보동의관리에서 설정된 개인정보 수집 및 활용에 대한 안내 내용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개인정보 수집 및 활용에 동의합니다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체크 시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등록이 가능 하다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신고자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신고하는 신고자 이름을 입력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신고자 연락처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신고자 연락처를 설정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신고자 이메일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신고자 이메일 주소를 설정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구분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사이트관리자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클린신고센터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신고구분관리에서 등록된 구분 목록이 보임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신고 구분을 선택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제목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 제목을 입력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내용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 내용을 작성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첨부파일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파일선택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 설정완료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삭제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첨부된 파일이 삭제 처리 된다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신고하기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]</a:t>
                      </a: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신고글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정보 설정 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신고하기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]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를 클릭 시 등록완료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홈페이지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경영지원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클린신고센터에서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조회 가능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사이트관리자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클린신고센터에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보이며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접수처리가 가능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목록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등록이 취소되며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조회 화면으로 이동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1691883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AE946F05-0D22-12A0-C779-99B0B577655E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omdr_report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4E93B786-CA23-2413-B94D-04AE014BED5D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C7067C69-BBB7-CE1C-B339-646CD790BE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44320B27-4458-E5C6-B478-9809DA4A6442}"/>
              </a:ext>
            </a:extLst>
          </p:cNvPr>
          <p:cNvSpPr/>
          <p:nvPr/>
        </p:nvSpPr>
        <p:spPr>
          <a:xfrm>
            <a:off x="5680946" y="1586865"/>
            <a:ext cx="1165384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오산시민 평생교육장려금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F453039-7A71-CBEE-824D-C3C0F61F4A32}"/>
              </a:ext>
            </a:extLst>
          </p:cNvPr>
          <p:cNvSpPr/>
          <p:nvPr/>
        </p:nvSpPr>
        <p:spPr>
          <a:xfrm>
            <a:off x="4831365" y="1586865"/>
            <a:ext cx="652423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 신청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347F3AD-2CA0-A442-70D2-B0C3A2EC28AA}"/>
              </a:ext>
            </a:extLst>
          </p:cNvPr>
          <p:cNvSpPr/>
          <p:nvPr/>
        </p:nvSpPr>
        <p:spPr>
          <a:xfrm>
            <a:off x="4223838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9E2A5CB-4A84-03D9-05D2-A2F124621309}"/>
              </a:ext>
            </a:extLst>
          </p:cNvPr>
          <p:cNvSpPr/>
          <p:nvPr/>
        </p:nvSpPr>
        <p:spPr>
          <a:xfrm>
            <a:off x="3616311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DE0853B-C8B6-903D-9F78-E53B887F5AD4}"/>
              </a:ext>
            </a:extLst>
          </p:cNvPr>
          <p:cNvSpPr/>
          <p:nvPr/>
        </p:nvSpPr>
        <p:spPr>
          <a:xfrm>
            <a:off x="3008784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FB4B43B-AF9B-69DF-3E58-1750172EA42A}"/>
              </a:ext>
            </a:extLst>
          </p:cNvPr>
          <p:cNvSpPr/>
          <p:nvPr/>
        </p:nvSpPr>
        <p:spPr>
          <a:xfrm>
            <a:off x="165100" y="1790190"/>
            <a:ext cx="6732116" cy="469951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9B8668D-BA9B-4865-EBFD-2C5733CF29DF}"/>
              </a:ext>
            </a:extLst>
          </p:cNvPr>
          <p:cNvSpPr/>
          <p:nvPr/>
        </p:nvSpPr>
        <p:spPr>
          <a:xfrm>
            <a:off x="5714622" y="1879740"/>
            <a:ext cx="1064394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1AAC906-D316-F64A-FABE-8171DA517B12}"/>
              </a:ext>
            </a:extLst>
          </p:cNvPr>
          <p:cNvSpPr/>
          <p:nvPr/>
        </p:nvSpPr>
        <p:spPr>
          <a:xfrm>
            <a:off x="236476" y="1844824"/>
            <a:ext cx="692497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CB06F934-525A-C4FE-23C0-709618E755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8805094"/>
              </p:ext>
            </p:extLst>
          </p:nvPr>
        </p:nvGraphicFramePr>
        <p:xfrm>
          <a:off x="281250" y="3664678"/>
          <a:ext cx="6497766" cy="25456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63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14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0532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kumimoji="0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신고자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532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kumimoji="0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*</a:t>
                      </a: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신고자 연락처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83993"/>
                  </a:ext>
                </a:extLst>
              </a:tr>
              <a:tr h="220532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kumimoji="0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신고자 이메일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7939227"/>
                  </a:ext>
                </a:extLst>
              </a:tr>
              <a:tr h="220532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kumimoji="0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985610"/>
                  </a:ext>
                </a:extLst>
              </a:tr>
              <a:tr h="220532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kumimoji="0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2454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kumimoji="0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내용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532">
                <a:tc>
                  <a:txBody>
                    <a:bodyPr/>
                    <a:lstStyle/>
                    <a:p>
                      <a:pPr algn="r" latinLnBrk="0"/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첨부파일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직사각형 18">
            <a:extLst>
              <a:ext uri="{FF2B5EF4-FFF2-40B4-BE49-F238E27FC236}">
                <a16:creationId xmlns:a16="http://schemas.microsoft.com/office/drawing/2014/main" id="{72FEDCBF-0E33-98D0-BB1B-5EDB08BB09B6}"/>
              </a:ext>
            </a:extLst>
          </p:cNvPr>
          <p:cNvSpPr/>
          <p:nvPr/>
        </p:nvSpPr>
        <p:spPr>
          <a:xfrm>
            <a:off x="1194571" y="4579857"/>
            <a:ext cx="5508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endParaRPr lang="ko-KR" altLang="en-US" sz="7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3" name="Picture 2">
            <a:extLst>
              <a:ext uri="{FF2B5EF4-FFF2-40B4-BE49-F238E27FC236}">
                <a16:creationId xmlns:a16="http://schemas.microsoft.com/office/drawing/2014/main" id="{893E9626-F70E-FE21-8B55-6318BB69BB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965"/>
          <a:stretch/>
        </p:blipFill>
        <p:spPr bwMode="auto">
          <a:xfrm>
            <a:off x="1209595" y="4788707"/>
            <a:ext cx="5508000" cy="1147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2C913C9D-EDF0-3C66-71CE-0FAE547986F0}"/>
              </a:ext>
            </a:extLst>
          </p:cNvPr>
          <p:cNvSpPr/>
          <p:nvPr/>
        </p:nvSpPr>
        <p:spPr>
          <a:xfrm>
            <a:off x="1187765" y="6024587"/>
            <a:ext cx="1692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962F365-AC7E-A54E-E3A7-C4B790B41CE4}"/>
              </a:ext>
            </a:extLst>
          </p:cNvPr>
          <p:cNvSpPr/>
          <p:nvPr/>
        </p:nvSpPr>
        <p:spPr>
          <a:xfrm>
            <a:off x="2908006" y="6024579"/>
            <a:ext cx="425455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파일선택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F3EF419-0845-3365-10BA-8761483B8B73}"/>
              </a:ext>
            </a:extLst>
          </p:cNvPr>
          <p:cNvSpPr/>
          <p:nvPr/>
        </p:nvSpPr>
        <p:spPr>
          <a:xfrm>
            <a:off x="3371858" y="6025488"/>
            <a:ext cx="240158" cy="144016"/>
          </a:xfrm>
          <a:prstGeom prst="rect">
            <a:avLst/>
          </a:prstGeom>
          <a:solidFill>
            <a:schemeClr val="bg1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  <a:endParaRPr lang="ko-KR" altLang="en-US" sz="7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55C61CA-51BD-1088-E129-D97578682B6B}"/>
              </a:ext>
            </a:extLst>
          </p:cNvPr>
          <p:cNvSpPr/>
          <p:nvPr/>
        </p:nvSpPr>
        <p:spPr>
          <a:xfrm>
            <a:off x="5762962" y="6247385"/>
            <a:ext cx="522720" cy="198000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white"/>
                </a:solidFill>
              </a:rPr>
              <a:t>신고하기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3880710-4579-1AF9-AEDB-B80CA725AEAD}"/>
              </a:ext>
            </a:extLst>
          </p:cNvPr>
          <p:cNvSpPr/>
          <p:nvPr/>
        </p:nvSpPr>
        <p:spPr>
          <a:xfrm>
            <a:off x="6328429" y="6242481"/>
            <a:ext cx="461309" cy="19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pic>
        <p:nvPicPr>
          <p:cNvPr id="42" name="Picture 13">
            <a:extLst>
              <a:ext uri="{FF2B5EF4-FFF2-40B4-BE49-F238E27FC236}">
                <a16:creationId xmlns:a16="http://schemas.microsoft.com/office/drawing/2014/main" id="{1189825A-158C-4AA3-4ACC-DC81FE34BA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2639" y="4363427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3" name="직사각형 42">
            <a:extLst>
              <a:ext uri="{FF2B5EF4-FFF2-40B4-BE49-F238E27FC236}">
                <a16:creationId xmlns:a16="http://schemas.microsoft.com/office/drawing/2014/main" id="{C0C60368-F751-E808-45CA-57EACEB66334}"/>
              </a:ext>
            </a:extLst>
          </p:cNvPr>
          <p:cNvSpPr/>
          <p:nvPr/>
        </p:nvSpPr>
        <p:spPr>
          <a:xfrm>
            <a:off x="1194571" y="4363691"/>
            <a:ext cx="936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>
                <a:solidFill>
                  <a:prstClr val="black">
                    <a:lumMod val="95000"/>
                    <a:lumOff val="5000"/>
                  </a:prstClr>
                </a:solidFill>
              </a:rPr>
              <a:t>선택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7FBB6EB0-ADDB-4796-BFE0-2EC10C879CED}"/>
              </a:ext>
            </a:extLst>
          </p:cNvPr>
          <p:cNvSpPr/>
          <p:nvPr/>
        </p:nvSpPr>
        <p:spPr>
          <a:xfrm>
            <a:off x="280582" y="3459997"/>
            <a:ext cx="1062791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>
                <a:solidFill>
                  <a:prstClr val="black"/>
                </a:solidFill>
              </a:rPr>
              <a:t>클린신고센터 신고하기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04189B9-3EBC-E98E-5358-9F75468BDA37}"/>
              </a:ext>
            </a:extLst>
          </p:cNvPr>
          <p:cNvSpPr/>
          <p:nvPr/>
        </p:nvSpPr>
        <p:spPr>
          <a:xfrm>
            <a:off x="280582" y="2216207"/>
            <a:ext cx="1620636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>
                <a:solidFill>
                  <a:prstClr val="black"/>
                </a:solidFill>
              </a:rPr>
              <a:t>개인정보 수집 및 활용에 대한 안내</a:t>
            </a: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AC89C627-529B-FFED-287F-232A4A21ACBA}"/>
              </a:ext>
            </a:extLst>
          </p:cNvPr>
          <p:cNvGrpSpPr/>
          <p:nvPr/>
        </p:nvGrpSpPr>
        <p:grpSpPr>
          <a:xfrm>
            <a:off x="6733077" y="2395896"/>
            <a:ext cx="77080" cy="792000"/>
            <a:chOff x="6781481" y="1888563"/>
            <a:chExt cx="77080" cy="792000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BD57002E-493B-2414-E66B-FE18876455CA}"/>
                </a:ext>
              </a:extLst>
            </p:cNvPr>
            <p:cNvSpPr/>
            <p:nvPr/>
          </p:nvSpPr>
          <p:spPr>
            <a:xfrm>
              <a:off x="6786561" y="1888563"/>
              <a:ext cx="72000" cy="792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FEE29A05-C4F8-962C-25A0-844E2378F375}"/>
                </a:ext>
              </a:extLst>
            </p:cNvPr>
            <p:cNvSpPr/>
            <p:nvPr/>
          </p:nvSpPr>
          <p:spPr>
            <a:xfrm>
              <a:off x="6781481" y="2116070"/>
              <a:ext cx="72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endParaRPr>
            </a:p>
          </p:txBody>
        </p:sp>
      </p:grp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7D1CDB4-49B7-3026-1589-031F17F28B79}"/>
              </a:ext>
            </a:extLst>
          </p:cNvPr>
          <p:cNvSpPr/>
          <p:nvPr/>
        </p:nvSpPr>
        <p:spPr>
          <a:xfrm>
            <a:off x="266529" y="2396227"/>
            <a:ext cx="6461468" cy="78963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t"/>
          <a:lstStyle/>
          <a:p>
            <a:r>
              <a:rPr lang="ko-KR" altLang="en-US" sz="700" dirty="0">
                <a:solidFill>
                  <a:prstClr val="black"/>
                </a:solidFill>
              </a:rPr>
              <a:t>오산교육재단 홈페이지 클린신고센터 신고하기를 위하여 아래와 같이 개인정보를 수집・이용하고자 합니다</a:t>
            </a:r>
            <a:r>
              <a:rPr lang="en-US" altLang="ko-KR" sz="700" dirty="0">
                <a:solidFill>
                  <a:prstClr val="black"/>
                </a:solidFill>
              </a:rPr>
              <a:t>. </a:t>
            </a:r>
            <a:r>
              <a:rPr lang="ko-KR" altLang="en-US" sz="700" dirty="0">
                <a:solidFill>
                  <a:prstClr val="black"/>
                </a:solidFill>
              </a:rPr>
              <a:t>내용을 자세히 읽으신 후 동의 여부를 결정하여 주시기 바랍니다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</a:p>
          <a:p>
            <a:endParaRPr lang="en-US" altLang="ko-KR" sz="700" dirty="0">
              <a:solidFill>
                <a:prstClr val="black"/>
              </a:solidFill>
            </a:endParaRPr>
          </a:p>
          <a:p>
            <a:r>
              <a:rPr lang="ko-KR" altLang="en-US" sz="700" dirty="0">
                <a:solidFill>
                  <a:prstClr val="black"/>
                </a:solidFill>
              </a:rPr>
              <a:t>개인정보 수집・이용 내역</a:t>
            </a:r>
            <a:endParaRPr lang="en-US" altLang="ko-KR" sz="700" dirty="0">
              <a:solidFill>
                <a:prstClr val="black"/>
              </a:solidFill>
            </a:endParaRPr>
          </a:p>
          <a:p>
            <a:r>
              <a:rPr lang="en-US" altLang="ko-KR" sz="700" dirty="0">
                <a:solidFill>
                  <a:prstClr val="black"/>
                </a:solidFill>
              </a:rPr>
              <a:t>1. </a:t>
            </a:r>
            <a:r>
              <a:rPr lang="ko-KR" altLang="en-US" sz="700" dirty="0">
                <a:solidFill>
                  <a:prstClr val="black"/>
                </a:solidFill>
              </a:rPr>
              <a:t>항목</a:t>
            </a:r>
            <a:endParaRPr lang="en-US" altLang="ko-KR" sz="700" dirty="0">
              <a:solidFill>
                <a:prstClr val="black"/>
              </a:solidFill>
            </a:endParaRPr>
          </a:p>
          <a:p>
            <a:r>
              <a:rPr lang="en-US" altLang="ko-KR" sz="700" dirty="0">
                <a:solidFill>
                  <a:prstClr val="black"/>
                </a:solidFill>
              </a:rPr>
              <a:t>‣ </a:t>
            </a:r>
            <a:r>
              <a:rPr lang="ko-KR" altLang="en-US" sz="700" dirty="0">
                <a:solidFill>
                  <a:prstClr val="black"/>
                </a:solidFill>
              </a:rPr>
              <a:t>필수항목 </a:t>
            </a:r>
            <a:r>
              <a:rPr lang="en-US" altLang="ko-KR" sz="700" dirty="0">
                <a:solidFill>
                  <a:prstClr val="black"/>
                </a:solidFill>
              </a:rPr>
              <a:t>: </a:t>
            </a:r>
            <a:r>
              <a:rPr lang="ko-KR" altLang="en-US" sz="700" dirty="0">
                <a:solidFill>
                  <a:prstClr val="black"/>
                </a:solidFill>
              </a:rPr>
              <a:t>성명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휴대폰번호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 err="1">
                <a:solidFill>
                  <a:prstClr val="black"/>
                </a:solidFill>
              </a:rPr>
              <a:t>이메일주소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관리를 위해 수집함</a:t>
            </a:r>
            <a:endParaRPr lang="en-US" altLang="ko-KR" sz="700" dirty="0">
              <a:solidFill>
                <a:prstClr val="black"/>
              </a:solidFill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5A5BA03D-D6F3-4065-364E-7B2A1C573DDF}"/>
              </a:ext>
            </a:extLst>
          </p:cNvPr>
          <p:cNvGrpSpPr/>
          <p:nvPr/>
        </p:nvGrpSpPr>
        <p:grpSpPr>
          <a:xfrm>
            <a:off x="261475" y="3217213"/>
            <a:ext cx="1651953" cy="144463"/>
            <a:chOff x="2156839" y="1593629"/>
            <a:chExt cx="1651953" cy="144463"/>
          </a:xfrm>
        </p:grpSpPr>
        <p:sp>
          <p:nvSpPr>
            <p:cNvPr id="38" name="Rectangle 191">
              <a:extLst>
                <a:ext uri="{FF2B5EF4-FFF2-40B4-BE49-F238E27FC236}">
                  <a16:creationId xmlns:a16="http://schemas.microsoft.com/office/drawing/2014/main" id="{565E9ED6-19BC-9083-05F9-2621CF874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9984" y="1614297"/>
              <a:ext cx="1498808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latinLnBrk="0">
                <a:defRPr/>
              </a:pPr>
              <a:r>
                <a:rPr lang="ko-KR" altLang="en-US" sz="700" b="1" kern="0" dirty="0">
                  <a:solidFill>
                    <a:srgbClr val="000000"/>
                  </a:solidFill>
                </a:rPr>
                <a:t>개인정보 수집 및 활용에 동의합니다</a:t>
              </a:r>
              <a:r>
                <a:rPr lang="en-US" altLang="ko-KR" sz="700" b="1" kern="0" dirty="0">
                  <a:solidFill>
                    <a:srgbClr val="000000"/>
                  </a:solidFill>
                </a:rPr>
                <a:t>.</a:t>
              </a:r>
              <a:endParaRPr lang="ko-KR" altLang="en-US" sz="700" b="1" kern="0" dirty="0">
                <a:solidFill>
                  <a:srgbClr val="000000"/>
                </a:solidFill>
              </a:endParaRPr>
            </a:p>
          </p:txBody>
        </p:sp>
        <p:graphicFrame>
          <p:nvGraphicFramePr>
            <p:cNvPr id="39" name="개체 38">
              <a:extLst>
                <a:ext uri="{FF2B5EF4-FFF2-40B4-BE49-F238E27FC236}">
                  <a16:creationId xmlns:a16="http://schemas.microsoft.com/office/drawing/2014/main" id="{1FFFCBDA-65F2-83AB-736F-8A4E7922CF3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1281026"/>
                </p:ext>
              </p:extLst>
            </p:nvPr>
          </p:nvGraphicFramePr>
          <p:xfrm>
            <a:off x="2156839" y="1593629"/>
            <a:ext cx="144462" cy="144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5" imgW="145435" imgH="145435" progId="Visio.Drawing.11">
                    <p:embed/>
                  </p:oleObj>
                </mc:Choice>
                <mc:Fallback>
                  <p:oleObj name="Visio" r:id="rId5" imgW="145435" imgH="145435" progId="Visio.Drawing.11">
                    <p:embed/>
                    <p:pic>
                      <p:nvPicPr>
                        <p:cNvPr id="81" name="개체 80">
                          <a:extLst>
                            <a:ext uri="{FF2B5EF4-FFF2-40B4-BE49-F238E27FC236}">
                              <a16:creationId xmlns:a16="http://schemas.microsoft.com/office/drawing/2014/main" id="{21402BE1-59BC-2989-8301-C0415675980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6839" y="1593629"/>
                          <a:ext cx="144462" cy="144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04A7D29-4B84-C011-ACBD-C27AD8BBD80C}"/>
              </a:ext>
            </a:extLst>
          </p:cNvPr>
          <p:cNvSpPr/>
          <p:nvPr/>
        </p:nvSpPr>
        <p:spPr>
          <a:xfrm>
            <a:off x="1194571" y="3706895"/>
            <a:ext cx="936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홍길동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D35D209-8194-05E3-12EC-9F108D24EA67}"/>
              </a:ext>
            </a:extLst>
          </p:cNvPr>
          <p:cNvSpPr/>
          <p:nvPr/>
        </p:nvSpPr>
        <p:spPr>
          <a:xfrm>
            <a:off x="1194571" y="4145749"/>
            <a:ext cx="595041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honggil12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Rectangle 191">
            <a:extLst>
              <a:ext uri="{FF2B5EF4-FFF2-40B4-BE49-F238E27FC236}">
                <a16:creationId xmlns:a16="http://schemas.microsoft.com/office/drawing/2014/main" id="{CBA2B12E-BDA5-A595-2DCD-933355563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2163" y="4163888"/>
            <a:ext cx="7854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lvl="0" latinLnBrk="0">
              <a:defRPr/>
            </a:pPr>
            <a:r>
              <a:rPr kumimoji="0" lang="en-US" altLang="ko-KR" sz="7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@</a:t>
            </a:r>
            <a:endParaRPr kumimoji="0" lang="ko-KR" altLang="en-US" sz="7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C9B389C6-1F22-DE29-AEF1-3F17ED35577A}"/>
              </a:ext>
            </a:extLst>
          </p:cNvPr>
          <p:cNvSpPr/>
          <p:nvPr/>
        </p:nvSpPr>
        <p:spPr>
          <a:xfrm>
            <a:off x="3227896" y="4145846"/>
            <a:ext cx="64913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직접입력</a:t>
            </a:r>
          </a:p>
        </p:txBody>
      </p:sp>
      <p:pic>
        <p:nvPicPr>
          <p:cNvPr id="48" name="Picture 13">
            <a:extLst>
              <a:ext uri="{FF2B5EF4-FFF2-40B4-BE49-F238E27FC236}">
                <a16:creationId xmlns:a16="http://schemas.microsoft.com/office/drawing/2014/main" id="{5E757C4F-82F0-0CCE-5169-7750B21D14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1068" y="4147102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9" name="직사각형 48">
            <a:extLst>
              <a:ext uri="{FF2B5EF4-FFF2-40B4-BE49-F238E27FC236}">
                <a16:creationId xmlns:a16="http://schemas.microsoft.com/office/drawing/2014/main" id="{292C2D84-9C58-A25B-44BA-6CCC2C068DE0}"/>
              </a:ext>
            </a:extLst>
          </p:cNvPr>
          <p:cNvSpPr/>
          <p:nvPr/>
        </p:nvSpPr>
        <p:spPr>
          <a:xfrm>
            <a:off x="1923348" y="4145749"/>
            <a:ext cx="1278601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70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naver.com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0" name="Picture 13">
            <a:extLst>
              <a:ext uri="{FF2B5EF4-FFF2-40B4-BE49-F238E27FC236}">
                <a16:creationId xmlns:a16="http://schemas.microsoft.com/office/drawing/2014/main" id="{94FE775E-9AC6-6196-04BC-95501B4068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9979" y="3923675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1" name="직사각형 50">
            <a:extLst>
              <a:ext uri="{FF2B5EF4-FFF2-40B4-BE49-F238E27FC236}">
                <a16:creationId xmlns:a16="http://schemas.microsoft.com/office/drawing/2014/main" id="{78824061-4E23-2325-850E-E5CD7C26DA36}"/>
              </a:ext>
            </a:extLst>
          </p:cNvPr>
          <p:cNvSpPr/>
          <p:nvPr/>
        </p:nvSpPr>
        <p:spPr>
          <a:xfrm>
            <a:off x="1194571" y="3923939"/>
            <a:ext cx="36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010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300A61AD-67E4-89BE-346E-9FE648932447}"/>
              </a:ext>
            </a:extLst>
          </p:cNvPr>
          <p:cNvSpPr/>
          <p:nvPr/>
        </p:nvSpPr>
        <p:spPr>
          <a:xfrm>
            <a:off x="1865695" y="3923939"/>
            <a:ext cx="52363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1234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0C0BBA98-F915-1077-F7CE-536D1CAADC41}"/>
              </a:ext>
            </a:extLst>
          </p:cNvPr>
          <p:cNvSpPr/>
          <p:nvPr/>
        </p:nvSpPr>
        <p:spPr>
          <a:xfrm>
            <a:off x="1781675" y="3942078"/>
            <a:ext cx="36869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ko-KR" sz="700" dirty="0">
                <a:solidFill>
                  <a:prstClr val="black"/>
                </a:solidFill>
              </a:rPr>
              <a:t>-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08CBE425-A626-5105-9666-DCF5A203A38A}"/>
              </a:ext>
            </a:extLst>
          </p:cNvPr>
          <p:cNvSpPr/>
          <p:nvPr/>
        </p:nvSpPr>
        <p:spPr>
          <a:xfrm>
            <a:off x="2518095" y="3923939"/>
            <a:ext cx="52363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4567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375C2F23-B1CD-E42A-26FA-B7FFEF29A8DB}"/>
              </a:ext>
            </a:extLst>
          </p:cNvPr>
          <p:cNvSpPr/>
          <p:nvPr/>
        </p:nvSpPr>
        <p:spPr>
          <a:xfrm>
            <a:off x="2434075" y="3942078"/>
            <a:ext cx="36869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ko-KR" sz="700" dirty="0">
                <a:solidFill>
                  <a:prstClr val="black"/>
                </a:solidFill>
              </a:rPr>
              <a:t>-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5404555D-8042-EEE8-D80F-19F038A64FC3}"/>
              </a:ext>
            </a:extLst>
          </p:cNvPr>
          <p:cNvSpPr>
            <a:spLocks noChangeAspect="1"/>
          </p:cNvSpPr>
          <p:nvPr/>
        </p:nvSpPr>
        <p:spPr>
          <a:xfrm>
            <a:off x="203545" y="2331367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EF453D7-1854-2E6F-CDC8-583E06005519}"/>
              </a:ext>
            </a:extLst>
          </p:cNvPr>
          <p:cNvSpPr>
            <a:spLocks noChangeAspect="1"/>
          </p:cNvSpPr>
          <p:nvPr/>
        </p:nvSpPr>
        <p:spPr>
          <a:xfrm>
            <a:off x="203545" y="3594115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D4A39BBF-781C-79A0-DA82-561BE6469468}"/>
              </a:ext>
            </a:extLst>
          </p:cNvPr>
          <p:cNvSpPr>
            <a:spLocks noChangeAspect="1"/>
          </p:cNvSpPr>
          <p:nvPr/>
        </p:nvSpPr>
        <p:spPr>
          <a:xfrm>
            <a:off x="5599386" y="6269481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209102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E5353-2BFB-0355-A342-93F48B352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8199BC-E2C4-43FE-ADAF-A5F1DCC23992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 </a:t>
            </a: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내글확인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0F2DEA6-A774-32AF-16A3-EDC4F5ACB34B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경영지원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내신고글확인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82AF8A79-96F3-4659-AF55-72828AFC9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3984202"/>
              </p:ext>
            </p:extLst>
          </p:nvPr>
        </p:nvGraphicFramePr>
        <p:xfrm>
          <a:off x="6969418" y="2548005"/>
          <a:ext cx="2772114" cy="630800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경영지원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클린신고센터에서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클린신고센터 내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확인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보이는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팝업창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본인이 등록한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조회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열람을 위해서는 본인인증이 필요하며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본인인증 완료 시 본인이 등록한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목록이 있는 화면이 보임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EEAB86E7-BF41-44EC-6B7F-72BD35BBB9A4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omdd_certification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9E5F1B1D-2C22-4799-9286-2E2582E61450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4A941391-000B-7B9F-8996-7EE056B12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98E3FF57-0AD4-1036-44C8-FD86491812FC}"/>
              </a:ext>
            </a:extLst>
          </p:cNvPr>
          <p:cNvSpPr/>
          <p:nvPr/>
        </p:nvSpPr>
        <p:spPr>
          <a:xfrm>
            <a:off x="5680946" y="1586865"/>
            <a:ext cx="1165384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오산시민 평생교육장려금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ABF2A8B-A7DD-78CB-6BFB-3613C72CF181}"/>
              </a:ext>
            </a:extLst>
          </p:cNvPr>
          <p:cNvSpPr/>
          <p:nvPr/>
        </p:nvSpPr>
        <p:spPr>
          <a:xfrm>
            <a:off x="4831365" y="1586865"/>
            <a:ext cx="652423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 신청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D6DB29D-E107-AFB2-2C70-4B14DFADBE43}"/>
              </a:ext>
            </a:extLst>
          </p:cNvPr>
          <p:cNvSpPr/>
          <p:nvPr/>
        </p:nvSpPr>
        <p:spPr>
          <a:xfrm>
            <a:off x="4223838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8990709-296C-2646-A51F-90C298D363F5}"/>
              </a:ext>
            </a:extLst>
          </p:cNvPr>
          <p:cNvSpPr/>
          <p:nvPr/>
        </p:nvSpPr>
        <p:spPr>
          <a:xfrm>
            <a:off x="3616311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8273975-668F-07C5-94B2-822411C1A62E}"/>
              </a:ext>
            </a:extLst>
          </p:cNvPr>
          <p:cNvSpPr/>
          <p:nvPr/>
        </p:nvSpPr>
        <p:spPr>
          <a:xfrm>
            <a:off x="3008784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42F56CB-F63A-06D7-8A13-03FDAF563540}"/>
              </a:ext>
            </a:extLst>
          </p:cNvPr>
          <p:cNvSpPr/>
          <p:nvPr/>
        </p:nvSpPr>
        <p:spPr>
          <a:xfrm>
            <a:off x="165100" y="1790190"/>
            <a:ext cx="6732116" cy="419031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CEC51F0-339F-3AFE-2CC4-2F6BA0CBCD87}"/>
              </a:ext>
            </a:extLst>
          </p:cNvPr>
          <p:cNvSpPr/>
          <p:nvPr/>
        </p:nvSpPr>
        <p:spPr>
          <a:xfrm>
            <a:off x="5714622" y="1879740"/>
            <a:ext cx="1064394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AEAF224-8B8B-72EE-D22A-CF6E1E6D9445}"/>
              </a:ext>
            </a:extLst>
          </p:cNvPr>
          <p:cNvSpPr/>
          <p:nvPr/>
        </p:nvSpPr>
        <p:spPr>
          <a:xfrm>
            <a:off x="236476" y="1844824"/>
            <a:ext cx="692497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70E73F87-6AA8-421B-46F7-981466214A31}"/>
              </a:ext>
            </a:extLst>
          </p:cNvPr>
          <p:cNvSpPr/>
          <p:nvPr/>
        </p:nvSpPr>
        <p:spPr>
          <a:xfrm>
            <a:off x="280582" y="2248011"/>
            <a:ext cx="4509248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 err="1">
                <a:solidFill>
                  <a:prstClr val="black"/>
                </a:solidFill>
              </a:rPr>
              <a:t>클린신고센터는</a:t>
            </a:r>
            <a:r>
              <a:rPr lang="ko-KR" altLang="en-US" sz="800" b="1" dirty="0">
                <a:solidFill>
                  <a:prstClr val="black"/>
                </a:solidFill>
              </a:rPr>
              <a:t> 오산교육재단 부패행위 및 행동강령 위반 등에 관한 상항을 신고하는 공간 입니다</a:t>
            </a:r>
            <a:r>
              <a:rPr lang="en-US" altLang="ko-KR" sz="800" b="1" dirty="0">
                <a:solidFill>
                  <a:prstClr val="black"/>
                </a:solidFill>
              </a:rPr>
              <a:t>.</a:t>
            </a:r>
            <a:endParaRPr lang="ko-KR" altLang="en-US" sz="800" b="1" dirty="0">
              <a:solidFill>
                <a:prstClr val="black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996D5B5-6EC5-871A-42F6-3840BEF2DEC1}"/>
              </a:ext>
            </a:extLst>
          </p:cNvPr>
          <p:cNvSpPr/>
          <p:nvPr/>
        </p:nvSpPr>
        <p:spPr>
          <a:xfrm>
            <a:off x="280582" y="2441144"/>
            <a:ext cx="5770811" cy="36933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dirty="0">
                <a:solidFill>
                  <a:prstClr val="black"/>
                </a:solidFill>
              </a:rPr>
              <a:t>정확하고 객관적인 사실만을 신고하여 주시기 바랍니다</a:t>
            </a:r>
            <a:r>
              <a:rPr lang="en-US" altLang="ko-KR" sz="800" dirty="0">
                <a:solidFill>
                  <a:prstClr val="black"/>
                </a:solidFill>
              </a:rPr>
              <a:t>.</a:t>
            </a:r>
          </a:p>
          <a:p>
            <a:r>
              <a:rPr lang="ko-KR" altLang="en-US" sz="800" dirty="0">
                <a:solidFill>
                  <a:prstClr val="black"/>
                </a:solidFill>
              </a:rPr>
              <a:t>부당하거나 사실이 아닌 사항에 대한 신고는 피신고인에게 정신적인 피해와 본 기관의 불필요한 행정력이 낭비를 가져옵니다</a:t>
            </a:r>
            <a:r>
              <a:rPr lang="en-US" altLang="ko-KR" sz="800" dirty="0">
                <a:solidFill>
                  <a:prstClr val="black"/>
                </a:solidFill>
              </a:rPr>
              <a:t>.</a:t>
            </a:r>
          </a:p>
          <a:p>
            <a:r>
              <a:rPr lang="ko-KR" altLang="en-US" sz="800" dirty="0">
                <a:solidFill>
                  <a:prstClr val="black"/>
                </a:solidFill>
              </a:rPr>
              <a:t>일반민원이 아닌 부당한 사항에 대해 신고를 해주시면 감사 하겠습니다</a:t>
            </a:r>
            <a:r>
              <a:rPr lang="en-US" altLang="ko-KR" sz="800" dirty="0">
                <a:solidFill>
                  <a:prstClr val="black"/>
                </a:solidFill>
              </a:rPr>
              <a:t>.</a:t>
            </a:r>
            <a:endParaRPr lang="ko-KR" altLang="en-US" sz="800" dirty="0">
              <a:solidFill>
                <a:prstClr val="black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88E724B5-B892-C87C-0BDE-3C0697B1DB5E}"/>
              </a:ext>
            </a:extLst>
          </p:cNvPr>
          <p:cNvSpPr/>
          <p:nvPr/>
        </p:nvSpPr>
        <p:spPr>
          <a:xfrm>
            <a:off x="280582" y="2990854"/>
            <a:ext cx="755015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 err="1">
                <a:solidFill>
                  <a:prstClr val="black"/>
                </a:solidFill>
              </a:rPr>
              <a:t>등록시</a:t>
            </a:r>
            <a:r>
              <a:rPr lang="ko-KR" altLang="en-US" sz="800" b="1" dirty="0">
                <a:solidFill>
                  <a:prstClr val="black"/>
                </a:solidFill>
              </a:rPr>
              <a:t> 주의사항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A9F103F3-BA76-F52D-C451-8AA734FEA1AB}"/>
              </a:ext>
            </a:extLst>
          </p:cNvPr>
          <p:cNvSpPr/>
          <p:nvPr/>
        </p:nvSpPr>
        <p:spPr>
          <a:xfrm>
            <a:off x="280582" y="3183987"/>
            <a:ext cx="3858429" cy="36933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dirty="0">
                <a:solidFill>
                  <a:prstClr val="black"/>
                </a:solidFill>
              </a:rPr>
              <a:t>실명을 원칙으로 하며</a:t>
            </a:r>
            <a:r>
              <a:rPr lang="en-US" altLang="ko-KR" sz="800" dirty="0">
                <a:solidFill>
                  <a:prstClr val="black"/>
                </a:solidFill>
              </a:rPr>
              <a:t>, </a:t>
            </a:r>
            <a:r>
              <a:rPr lang="ko-KR" altLang="en-US" sz="800" dirty="0">
                <a:solidFill>
                  <a:prstClr val="black"/>
                </a:solidFill>
              </a:rPr>
              <a:t>허위나 가명은 접수 되지 않습니다</a:t>
            </a:r>
            <a:r>
              <a:rPr lang="en-US" altLang="ko-KR" sz="800" dirty="0">
                <a:solidFill>
                  <a:prstClr val="black"/>
                </a:solidFill>
              </a:rPr>
              <a:t>.</a:t>
            </a:r>
          </a:p>
          <a:p>
            <a:r>
              <a:rPr lang="ko-KR" altLang="en-US" sz="800" dirty="0">
                <a:solidFill>
                  <a:prstClr val="black"/>
                </a:solidFill>
              </a:rPr>
              <a:t>본 신고센터에 부합되지 않는 내용이나 비방</a:t>
            </a:r>
            <a:r>
              <a:rPr lang="en-US" altLang="ko-KR" sz="800" dirty="0">
                <a:solidFill>
                  <a:prstClr val="black"/>
                </a:solidFill>
              </a:rPr>
              <a:t>, </a:t>
            </a:r>
            <a:r>
              <a:rPr lang="ko-KR" altLang="en-US" sz="800" dirty="0">
                <a:solidFill>
                  <a:prstClr val="black"/>
                </a:solidFill>
              </a:rPr>
              <a:t>욕설</a:t>
            </a:r>
            <a:r>
              <a:rPr lang="en-US" altLang="ko-KR" sz="800" dirty="0">
                <a:solidFill>
                  <a:prstClr val="black"/>
                </a:solidFill>
              </a:rPr>
              <a:t>, </a:t>
            </a:r>
            <a:r>
              <a:rPr lang="ko-KR" altLang="en-US" sz="800" dirty="0">
                <a:solidFill>
                  <a:prstClr val="black"/>
                </a:solidFill>
              </a:rPr>
              <a:t>장난 게시글은 임의 삭제 됩니다</a:t>
            </a:r>
            <a:r>
              <a:rPr lang="en-US" altLang="ko-KR" sz="800" dirty="0">
                <a:solidFill>
                  <a:prstClr val="black"/>
                </a:solidFill>
              </a:rPr>
              <a:t>.</a:t>
            </a:r>
          </a:p>
          <a:p>
            <a:r>
              <a:rPr lang="ko-KR" altLang="en-US" sz="800" dirty="0">
                <a:solidFill>
                  <a:prstClr val="black"/>
                </a:solidFill>
              </a:rPr>
              <a:t>게시한 개인정보는 개인정보보호법에 따라 보호 됩니다</a:t>
            </a:r>
            <a:r>
              <a:rPr lang="en-US" altLang="ko-KR" sz="800" dirty="0">
                <a:solidFill>
                  <a:prstClr val="black"/>
                </a:solidFill>
              </a:rPr>
              <a:t>.</a:t>
            </a:r>
            <a:endParaRPr lang="ko-KR" altLang="en-US" sz="800" dirty="0">
              <a:solidFill>
                <a:prstClr val="black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D7D74B4C-03F3-1A73-55D1-1EF3629CF1C9}"/>
              </a:ext>
            </a:extLst>
          </p:cNvPr>
          <p:cNvSpPr/>
          <p:nvPr/>
        </p:nvSpPr>
        <p:spPr>
          <a:xfrm>
            <a:off x="266529" y="3689502"/>
            <a:ext cx="1230088" cy="198000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white"/>
                </a:solidFill>
              </a:rPr>
              <a:t>클린신고센터 신고하기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4CF92E66-7A15-A780-E1E4-9A75EB385392}"/>
              </a:ext>
            </a:extLst>
          </p:cNvPr>
          <p:cNvSpPr/>
          <p:nvPr/>
        </p:nvSpPr>
        <p:spPr>
          <a:xfrm>
            <a:off x="1562672" y="3689502"/>
            <a:ext cx="1446112" cy="198000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white"/>
                </a:solidFill>
              </a:rPr>
              <a:t>클린신고센터 내 </a:t>
            </a:r>
            <a:r>
              <a:rPr lang="ko-KR" altLang="en-US" sz="700" dirty="0" err="1">
                <a:solidFill>
                  <a:prstClr val="white"/>
                </a:solidFill>
              </a:rPr>
              <a:t>신고글</a:t>
            </a:r>
            <a:r>
              <a:rPr lang="ko-KR" altLang="en-US" sz="700" dirty="0">
                <a:solidFill>
                  <a:prstClr val="white"/>
                </a:solidFill>
              </a:rPr>
              <a:t> 확인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E13B7F1-DEC1-508A-8163-E87171BF1325}"/>
              </a:ext>
            </a:extLst>
          </p:cNvPr>
          <p:cNvSpPr/>
          <p:nvPr/>
        </p:nvSpPr>
        <p:spPr>
          <a:xfrm>
            <a:off x="165100" y="6023481"/>
            <a:ext cx="6732116" cy="46622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41DDA4DB-A170-B6D7-8ECE-908DAC2D4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6165304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F0FE7E7E-ADC7-C198-685F-8FBDD91F3B89}"/>
              </a:ext>
            </a:extLst>
          </p:cNvPr>
          <p:cNvSpPr txBox="1"/>
          <p:nvPr/>
        </p:nvSpPr>
        <p:spPr>
          <a:xfrm>
            <a:off x="1172580" y="6077394"/>
            <a:ext cx="31242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경기 오산시 성호대로 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141 (</a:t>
            </a:r>
            <a:r>
              <a:rPr lang="ko-KR" altLang="en-US" sz="600" b="0" i="0" dirty="0" err="1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오산동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오산시청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endParaRPr lang="en-US" altLang="ko-KR" sz="600" b="0" i="0" dirty="0">
              <a:solidFill>
                <a:srgbClr val="666666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TEL. (031)8036-8905 FAX. (031)8036-8905</a:t>
            </a: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Copyright©2025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ALL RIGHTSRESERVED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5A3D539-6A85-B529-0AD7-1349D86B7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0952" y="3279547"/>
            <a:ext cx="1438781" cy="2402032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</p:pic>
      <p:cxnSp>
        <p:nvCxnSpPr>
          <p:cNvPr id="8" name="꺾인 연결선 111">
            <a:extLst>
              <a:ext uri="{FF2B5EF4-FFF2-40B4-BE49-F238E27FC236}">
                <a16:creationId xmlns:a16="http://schemas.microsoft.com/office/drawing/2014/main" id="{0EF343E3-1DA7-2C7C-F770-53B958630856}"/>
              </a:ext>
            </a:extLst>
          </p:cNvPr>
          <p:cNvCxnSpPr>
            <a:cxnSpLocks/>
            <a:stCxn id="13" idx="0"/>
            <a:endCxn id="6" idx="0"/>
          </p:cNvCxnSpPr>
          <p:nvPr/>
        </p:nvCxnSpPr>
        <p:spPr>
          <a:xfrm rot="5400000" flipH="1" flipV="1">
            <a:off x="3585343" y="2001228"/>
            <a:ext cx="376681" cy="2933320"/>
          </a:xfrm>
          <a:prstGeom prst="bentConnector3">
            <a:avLst>
              <a:gd name="adj1" fmla="val 160688"/>
            </a:avLst>
          </a:prstGeom>
          <a:ln w="63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타원 12">
            <a:extLst>
              <a:ext uri="{FF2B5EF4-FFF2-40B4-BE49-F238E27FC236}">
                <a16:creationId xmlns:a16="http://schemas.microsoft.com/office/drawing/2014/main" id="{FC06105D-3AB1-9A05-8490-4DB4A112066E}"/>
              </a:ext>
            </a:extLst>
          </p:cNvPr>
          <p:cNvSpPr/>
          <p:nvPr/>
        </p:nvSpPr>
        <p:spPr>
          <a:xfrm>
            <a:off x="2271020" y="3656228"/>
            <a:ext cx="72006" cy="72006"/>
          </a:xfrm>
          <a:prstGeom prst="ellipse">
            <a:avLst/>
          </a:prstGeom>
          <a:solidFill>
            <a:srgbClr val="FF0000"/>
          </a:solidFill>
          <a:ln w="6350">
            <a:noFill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816F08B-C2A5-CB32-9C11-B58B8E05AA86}"/>
              </a:ext>
            </a:extLst>
          </p:cNvPr>
          <p:cNvSpPr/>
          <p:nvPr/>
        </p:nvSpPr>
        <p:spPr>
          <a:xfrm>
            <a:off x="266528" y="3941415"/>
            <a:ext cx="2742255" cy="198000"/>
          </a:xfrm>
          <a:prstGeom prst="rect">
            <a:avLst/>
          </a:prstGeom>
          <a:solidFill>
            <a:srgbClr val="66FF66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</a:rPr>
              <a:t>국민권익위원회 </a:t>
            </a:r>
            <a:r>
              <a:rPr lang="ko-KR" altLang="en-US" sz="700" dirty="0" err="1">
                <a:solidFill>
                  <a:schemeClr val="tx1"/>
                </a:solidFill>
              </a:rPr>
              <a:t>청렴포털</a:t>
            </a:r>
            <a:r>
              <a:rPr lang="ko-KR" altLang="en-US" sz="700" dirty="0">
                <a:solidFill>
                  <a:schemeClr val="tx1"/>
                </a:solidFill>
              </a:rPr>
              <a:t> 바로가기</a:t>
            </a:r>
            <a:r>
              <a:rPr lang="en-US" altLang="ko-KR" sz="700" dirty="0">
                <a:solidFill>
                  <a:schemeClr val="tx1"/>
                </a:solidFill>
              </a:rPr>
              <a:t>(</a:t>
            </a:r>
            <a:r>
              <a:rPr lang="ko-KR" altLang="en-US" sz="700" dirty="0">
                <a:solidFill>
                  <a:schemeClr val="tx1"/>
                </a:solidFill>
              </a:rPr>
              <a:t>외부신고</a:t>
            </a:r>
            <a:r>
              <a:rPr lang="en-US" altLang="ko-KR" sz="700" dirty="0">
                <a:solidFill>
                  <a:schemeClr val="tx1"/>
                </a:solidFill>
              </a:rPr>
              <a:t>)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1454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6912F-458B-64AF-BF6C-16A63BCDC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E160CA0-CC18-550B-4914-0E24355125C5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국민권익위원회 </a:t>
            </a: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청렴포털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6E62369-B99A-2D1D-7A4E-2CD5BE6F86A8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경영지원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국민권익위원회 </a:t>
            </a: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청렴포털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6EE3EFF3-2829-E457-CCD0-2E7FC41633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061042"/>
              </p:ext>
            </p:extLst>
          </p:nvPr>
        </p:nvGraphicFramePr>
        <p:xfrm>
          <a:off x="6969418" y="2548005"/>
          <a:ext cx="2772114" cy="524120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경영지원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클린신고센터에서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국민권익위원회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청렴포털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바로가기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외부신고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보이는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새창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새창으로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국민웍익위원회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청렴포털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부패공익신고 홈페이지가 보인다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E86E71C4-EC9D-8863-44A1-128EBBA6A768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omdd_certification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D42C2F78-DFA4-03F7-7B3F-6797D497E84D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B0FE61ED-F4B0-5A1F-3063-D013F19185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47740390-B2DF-172E-ECF6-34E2310E6835}"/>
              </a:ext>
            </a:extLst>
          </p:cNvPr>
          <p:cNvSpPr/>
          <p:nvPr/>
        </p:nvSpPr>
        <p:spPr>
          <a:xfrm>
            <a:off x="5680946" y="1586865"/>
            <a:ext cx="1165384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오산시민 평생교육장려금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42A4EEA-2ED8-F5D2-3D71-C9D4166D3448}"/>
              </a:ext>
            </a:extLst>
          </p:cNvPr>
          <p:cNvSpPr/>
          <p:nvPr/>
        </p:nvSpPr>
        <p:spPr>
          <a:xfrm>
            <a:off x="4831365" y="1586865"/>
            <a:ext cx="652423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 신청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9B8A7D8-C8DA-7184-60E4-958427EC1E8A}"/>
              </a:ext>
            </a:extLst>
          </p:cNvPr>
          <p:cNvSpPr/>
          <p:nvPr/>
        </p:nvSpPr>
        <p:spPr>
          <a:xfrm>
            <a:off x="4223838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BD84DFB-20B3-57A8-9241-1B5C36D6C532}"/>
              </a:ext>
            </a:extLst>
          </p:cNvPr>
          <p:cNvSpPr/>
          <p:nvPr/>
        </p:nvSpPr>
        <p:spPr>
          <a:xfrm>
            <a:off x="3616311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AF2477D-DA70-5BFE-2DC1-C3F5921B740C}"/>
              </a:ext>
            </a:extLst>
          </p:cNvPr>
          <p:cNvSpPr/>
          <p:nvPr/>
        </p:nvSpPr>
        <p:spPr>
          <a:xfrm>
            <a:off x="3008784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5A900A8-5F2C-32DB-2A8F-C129CC4874DF}"/>
              </a:ext>
            </a:extLst>
          </p:cNvPr>
          <p:cNvSpPr/>
          <p:nvPr/>
        </p:nvSpPr>
        <p:spPr>
          <a:xfrm>
            <a:off x="165100" y="1790190"/>
            <a:ext cx="6732116" cy="419031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3726DC8-745B-0B5E-6EFF-2B76700EDCED}"/>
              </a:ext>
            </a:extLst>
          </p:cNvPr>
          <p:cNvSpPr/>
          <p:nvPr/>
        </p:nvSpPr>
        <p:spPr>
          <a:xfrm>
            <a:off x="5714622" y="1879740"/>
            <a:ext cx="1064394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502026C-5E9D-7C5F-5AAB-7B60C34D57E5}"/>
              </a:ext>
            </a:extLst>
          </p:cNvPr>
          <p:cNvSpPr/>
          <p:nvPr/>
        </p:nvSpPr>
        <p:spPr>
          <a:xfrm>
            <a:off x="236476" y="1844824"/>
            <a:ext cx="692497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B9F19DB-C8F2-9C2E-C2AE-5B1791CD4A0B}"/>
              </a:ext>
            </a:extLst>
          </p:cNvPr>
          <p:cNvSpPr/>
          <p:nvPr/>
        </p:nvSpPr>
        <p:spPr>
          <a:xfrm>
            <a:off x="280582" y="2248011"/>
            <a:ext cx="4509248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 err="1">
                <a:solidFill>
                  <a:prstClr val="black"/>
                </a:solidFill>
              </a:rPr>
              <a:t>클린신고센터는</a:t>
            </a:r>
            <a:r>
              <a:rPr lang="ko-KR" altLang="en-US" sz="800" b="1" dirty="0">
                <a:solidFill>
                  <a:prstClr val="black"/>
                </a:solidFill>
              </a:rPr>
              <a:t> 오산교육재단 부패행위 및 행동강령 위반 등에 관한 상항을 신고하는 공간 입니다</a:t>
            </a:r>
            <a:r>
              <a:rPr lang="en-US" altLang="ko-KR" sz="800" b="1" dirty="0">
                <a:solidFill>
                  <a:prstClr val="black"/>
                </a:solidFill>
              </a:rPr>
              <a:t>.</a:t>
            </a:r>
            <a:endParaRPr lang="ko-KR" altLang="en-US" sz="800" b="1" dirty="0">
              <a:solidFill>
                <a:prstClr val="black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79E77C9-EEA6-D04E-0732-239494D59D94}"/>
              </a:ext>
            </a:extLst>
          </p:cNvPr>
          <p:cNvSpPr/>
          <p:nvPr/>
        </p:nvSpPr>
        <p:spPr>
          <a:xfrm>
            <a:off x="280582" y="2441144"/>
            <a:ext cx="5770811" cy="36933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dirty="0">
                <a:solidFill>
                  <a:prstClr val="black"/>
                </a:solidFill>
              </a:rPr>
              <a:t>정확하고 객관적인 사실만을 신고하여 주시기 바랍니다</a:t>
            </a:r>
            <a:r>
              <a:rPr lang="en-US" altLang="ko-KR" sz="800" dirty="0">
                <a:solidFill>
                  <a:prstClr val="black"/>
                </a:solidFill>
              </a:rPr>
              <a:t>.</a:t>
            </a:r>
          </a:p>
          <a:p>
            <a:r>
              <a:rPr lang="ko-KR" altLang="en-US" sz="800" dirty="0">
                <a:solidFill>
                  <a:prstClr val="black"/>
                </a:solidFill>
              </a:rPr>
              <a:t>부당하거나 사실이 아닌 사항에 대한 신고는 피신고인에게 정신적인 피해와 본 기관의 불필요한 행정력이 낭비를 가져옵니다</a:t>
            </a:r>
            <a:r>
              <a:rPr lang="en-US" altLang="ko-KR" sz="800" dirty="0">
                <a:solidFill>
                  <a:prstClr val="black"/>
                </a:solidFill>
              </a:rPr>
              <a:t>.</a:t>
            </a:r>
          </a:p>
          <a:p>
            <a:r>
              <a:rPr lang="ko-KR" altLang="en-US" sz="800" dirty="0">
                <a:solidFill>
                  <a:prstClr val="black"/>
                </a:solidFill>
              </a:rPr>
              <a:t>일반민원이 아닌 부당한 사항에 대해 신고를 해주시면 감사 하겠습니다</a:t>
            </a:r>
            <a:r>
              <a:rPr lang="en-US" altLang="ko-KR" sz="800" dirty="0">
                <a:solidFill>
                  <a:prstClr val="black"/>
                </a:solidFill>
              </a:rPr>
              <a:t>.</a:t>
            </a:r>
            <a:endParaRPr lang="ko-KR" altLang="en-US" sz="800" dirty="0">
              <a:solidFill>
                <a:prstClr val="black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BB6EDDF-78F5-722E-063B-168901F14EBB}"/>
              </a:ext>
            </a:extLst>
          </p:cNvPr>
          <p:cNvSpPr/>
          <p:nvPr/>
        </p:nvSpPr>
        <p:spPr>
          <a:xfrm>
            <a:off x="280582" y="2990854"/>
            <a:ext cx="755015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 err="1">
                <a:solidFill>
                  <a:prstClr val="black"/>
                </a:solidFill>
              </a:rPr>
              <a:t>등록시</a:t>
            </a:r>
            <a:r>
              <a:rPr lang="ko-KR" altLang="en-US" sz="800" b="1" dirty="0">
                <a:solidFill>
                  <a:prstClr val="black"/>
                </a:solidFill>
              </a:rPr>
              <a:t> 주의사항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58C60E7D-E94C-88DB-3F23-E7E16504B13E}"/>
              </a:ext>
            </a:extLst>
          </p:cNvPr>
          <p:cNvSpPr/>
          <p:nvPr/>
        </p:nvSpPr>
        <p:spPr>
          <a:xfrm>
            <a:off x="280582" y="3183987"/>
            <a:ext cx="3858429" cy="36933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dirty="0">
                <a:solidFill>
                  <a:prstClr val="black"/>
                </a:solidFill>
              </a:rPr>
              <a:t>실명을 원칙으로 하며</a:t>
            </a:r>
            <a:r>
              <a:rPr lang="en-US" altLang="ko-KR" sz="800" dirty="0">
                <a:solidFill>
                  <a:prstClr val="black"/>
                </a:solidFill>
              </a:rPr>
              <a:t>, </a:t>
            </a:r>
            <a:r>
              <a:rPr lang="ko-KR" altLang="en-US" sz="800" dirty="0">
                <a:solidFill>
                  <a:prstClr val="black"/>
                </a:solidFill>
              </a:rPr>
              <a:t>허위나 가명은 접수 되지 않습니다</a:t>
            </a:r>
            <a:r>
              <a:rPr lang="en-US" altLang="ko-KR" sz="800" dirty="0">
                <a:solidFill>
                  <a:prstClr val="black"/>
                </a:solidFill>
              </a:rPr>
              <a:t>.</a:t>
            </a:r>
          </a:p>
          <a:p>
            <a:r>
              <a:rPr lang="ko-KR" altLang="en-US" sz="800" dirty="0">
                <a:solidFill>
                  <a:prstClr val="black"/>
                </a:solidFill>
              </a:rPr>
              <a:t>본 신고센터에 부합되지 않는 내용이나 비방</a:t>
            </a:r>
            <a:r>
              <a:rPr lang="en-US" altLang="ko-KR" sz="800" dirty="0">
                <a:solidFill>
                  <a:prstClr val="black"/>
                </a:solidFill>
              </a:rPr>
              <a:t>, </a:t>
            </a:r>
            <a:r>
              <a:rPr lang="ko-KR" altLang="en-US" sz="800" dirty="0">
                <a:solidFill>
                  <a:prstClr val="black"/>
                </a:solidFill>
              </a:rPr>
              <a:t>욕설</a:t>
            </a:r>
            <a:r>
              <a:rPr lang="en-US" altLang="ko-KR" sz="800" dirty="0">
                <a:solidFill>
                  <a:prstClr val="black"/>
                </a:solidFill>
              </a:rPr>
              <a:t>, </a:t>
            </a:r>
            <a:r>
              <a:rPr lang="ko-KR" altLang="en-US" sz="800" dirty="0">
                <a:solidFill>
                  <a:prstClr val="black"/>
                </a:solidFill>
              </a:rPr>
              <a:t>장난 게시글은 임의 삭제 됩니다</a:t>
            </a:r>
            <a:r>
              <a:rPr lang="en-US" altLang="ko-KR" sz="800" dirty="0">
                <a:solidFill>
                  <a:prstClr val="black"/>
                </a:solidFill>
              </a:rPr>
              <a:t>.</a:t>
            </a:r>
          </a:p>
          <a:p>
            <a:r>
              <a:rPr lang="ko-KR" altLang="en-US" sz="800" dirty="0">
                <a:solidFill>
                  <a:prstClr val="black"/>
                </a:solidFill>
              </a:rPr>
              <a:t>게시한 개인정보는 개인정보보호법에 따라 보호 됩니다</a:t>
            </a:r>
            <a:r>
              <a:rPr lang="en-US" altLang="ko-KR" sz="800" dirty="0">
                <a:solidFill>
                  <a:prstClr val="black"/>
                </a:solidFill>
              </a:rPr>
              <a:t>.</a:t>
            </a:r>
            <a:endParaRPr lang="ko-KR" altLang="en-US" sz="800" dirty="0">
              <a:solidFill>
                <a:prstClr val="black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DD3F4368-E10F-2DD5-FC19-6FE44E8583AD}"/>
              </a:ext>
            </a:extLst>
          </p:cNvPr>
          <p:cNvSpPr/>
          <p:nvPr/>
        </p:nvSpPr>
        <p:spPr>
          <a:xfrm>
            <a:off x="266529" y="3689502"/>
            <a:ext cx="1230088" cy="198000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white"/>
                </a:solidFill>
              </a:rPr>
              <a:t>클린신고센터 신고하기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92B0D403-C7F0-1535-2785-D9CF3194BFDF}"/>
              </a:ext>
            </a:extLst>
          </p:cNvPr>
          <p:cNvSpPr/>
          <p:nvPr/>
        </p:nvSpPr>
        <p:spPr>
          <a:xfrm>
            <a:off x="1562672" y="3689502"/>
            <a:ext cx="1446112" cy="198000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white"/>
                </a:solidFill>
              </a:rPr>
              <a:t>클린신고센터 내 </a:t>
            </a:r>
            <a:r>
              <a:rPr lang="ko-KR" altLang="en-US" sz="700" dirty="0" err="1">
                <a:solidFill>
                  <a:prstClr val="white"/>
                </a:solidFill>
              </a:rPr>
              <a:t>신고글</a:t>
            </a:r>
            <a:r>
              <a:rPr lang="ko-KR" altLang="en-US" sz="700" dirty="0">
                <a:solidFill>
                  <a:prstClr val="white"/>
                </a:solidFill>
              </a:rPr>
              <a:t> 확인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1C18E71-BADB-97D5-C671-3850A3049AF0}"/>
              </a:ext>
            </a:extLst>
          </p:cNvPr>
          <p:cNvSpPr/>
          <p:nvPr/>
        </p:nvSpPr>
        <p:spPr>
          <a:xfrm>
            <a:off x="165100" y="6023481"/>
            <a:ext cx="6732116" cy="46622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E1D542C1-E3AE-B399-F0CF-8F4B0A1D03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6165304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7BD14AF7-4D31-13D6-BF72-C3D36D0CBECB}"/>
              </a:ext>
            </a:extLst>
          </p:cNvPr>
          <p:cNvSpPr txBox="1"/>
          <p:nvPr/>
        </p:nvSpPr>
        <p:spPr>
          <a:xfrm>
            <a:off x="1172580" y="6077394"/>
            <a:ext cx="31242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경기 오산시 성호대로 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141 (</a:t>
            </a:r>
            <a:r>
              <a:rPr lang="ko-KR" altLang="en-US" sz="600" b="0" i="0" dirty="0" err="1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오산동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오산시청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endParaRPr lang="en-US" altLang="ko-KR" sz="600" b="0" i="0" dirty="0">
              <a:solidFill>
                <a:srgbClr val="666666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TEL. (031)8036-8905 FAX. (031)8036-8905</a:t>
            </a: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Copyright©2025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ALL RIGHTSRESERVED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E95B037-8FA0-0749-6804-D1EAF0559197}"/>
              </a:ext>
            </a:extLst>
          </p:cNvPr>
          <p:cNvSpPr/>
          <p:nvPr/>
        </p:nvSpPr>
        <p:spPr>
          <a:xfrm>
            <a:off x="266528" y="3941415"/>
            <a:ext cx="2742255" cy="198000"/>
          </a:xfrm>
          <a:prstGeom prst="rect">
            <a:avLst/>
          </a:prstGeom>
          <a:solidFill>
            <a:srgbClr val="66FF66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</a:rPr>
              <a:t>국민권익위원회 </a:t>
            </a:r>
            <a:r>
              <a:rPr lang="ko-KR" altLang="en-US" sz="700" dirty="0" err="1">
                <a:solidFill>
                  <a:schemeClr val="tx1"/>
                </a:solidFill>
              </a:rPr>
              <a:t>청렴포털</a:t>
            </a:r>
            <a:r>
              <a:rPr lang="ko-KR" altLang="en-US" sz="700" dirty="0">
                <a:solidFill>
                  <a:schemeClr val="tx1"/>
                </a:solidFill>
              </a:rPr>
              <a:t> 바로가기</a:t>
            </a:r>
            <a:r>
              <a:rPr lang="en-US" altLang="ko-KR" sz="700" dirty="0">
                <a:solidFill>
                  <a:schemeClr val="tx1"/>
                </a:solidFill>
              </a:rPr>
              <a:t>(</a:t>
            </a:r>
            <a:r>
              <a:rPr lang="ko-KR" altLang="en-US" sz="700" dirty="0">
                <a:solidFill>
                  <a:schemeClr val="tx1"/>
                </a:solidFill>
              </a:rPr>
              <a:t>외부신고</a:t>
            </a:r>
            <a:r>
              <a:rPr lang="en-US" altLang="ko-KR" sz="700" dirty="0">
                <a:solidFill>
                  <a:schemeClr val="tx1"/>
                </a:solidFill>
              </a:rPr>
              <a:t>)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cxnSp>
        <p:nvCxnSpPr>
          <p:cNvPr id="16" name="꺾인 연결선 111">
            <a:extLst>
              <a:ext uri="{FF2B5EF4-FFF2-40B4-BE49-F238E27FC236}">
                <a16:creationId xmlns:a16="http://schemas.microsoft.com/office/drawing/2014/main" id="{798D3C3E-09D4-723D-2673-BACE933EF659}"/>
              </a:ext>
            </a:extLst>
          </p:cNvPr>
          <p:cNvCxnSpPr>
            <a:cxnSpLocks/>
            <a:stCxn id="17" idx="0"/>
            <a:endCxn id="22" idx="0"/>
          </p:cNvCxnSpPr>
          <p:nvPr/>
        </p:nvCxnSpPr>
        <p:spPr>
          <a:xfrm rot="5400000" flipH="1" flipV="1">
            <a:off x="2407537" y="1275751"/>
            <a:ext cx="1757886" cy="3506369"/>
          </a:xfrm>
          <a:prstGeom prst="bentConnector3">
            <a:avLst>
              <a:gd name="adj1" fmla="val 113004"/>
            </a:avLst>
          </a:prstGeom>
          <a:ln w="63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타원 16">
            <a:extLst>
              <a:ext uri="{FF2B5EF4-FFF2-40B4-BE49-F238E27FC236}">
                <a16:creationId xmlns:a16="http://schemas.microsoft.com/office/drawing/2014/main" id="{80EB7E39-AFEA-0ECB-3C0B-036C28F20877}"/>
              </a:ext>
            </a:extLst>
          </p:cNvPr>
          <p:cNvSpPr/>
          <p:nvPr/>
        </p:nvSpPr>
        <p:spPr>
          <a:xfrm>
            <a:off x="1497293" y="3907878"/>
            <a:ext cx="72006" cy="72006"/>
          </a:xfrm>
          <a:prstGeom prst="ellipse">
            <a:avLst/>
          </a:prstGeom>
          <a:solidFill>
            <a:srgbClr val="FF0000"/>
          </a:solidFill>
          <a:ln w="6350">
            <a:noFill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587175F6-DC16-5139-05A6-A5F87062B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6786" y="2149992"/>
            <a:ext cx="2005758" cy="3871296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869347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E889D-91E9-2206-DC0E-E6D4240CD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6262CD-9586-5316-E37A-194B4978C967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 </a:t>
            </a: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내글확인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5A514C7-551B-C686-68B4-696334A78958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경영지원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내신고글확인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5F8D4148-13E8-5C31-08D0-9BC4507205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6020941"/>
              </p:ext>
            </p:extLst>
          </p:nvPr>
        </p:nvGraphicFramePr>
        <p:xfrm>
          <a:off x="6969418" y="2548005"/>
          <a:ext cx="2772114" cy="190033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경영지원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클린신고센터 화면에서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클린신고센터 내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확인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&gt;&gt;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본인인증 팝업창에서 인증완료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&gt;&gt;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본인이 등록한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목록이 보임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등록 시 설정한 구분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제목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등록 시 설정한 제목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신고자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등록 시 설정한 신고자 이름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신고일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등록 일자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상태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접수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최초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신고글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등록 상태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접수완료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사이트관리자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클린신고센터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데이터관리에서 접수처리 시 관리자가 접수완료로 처리한 상태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이전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경영지원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클린신고센터 화면으로 이동 한다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0F7A28F5-6852-6224-700F-5DBF55A136AD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omdd_read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182A2A55-1171-CD6B-5F12-C8D04A9EA94E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66CDADBE-6D31-46B0-DB1D-519B817E3F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DD45C214-3331-22F4-78B1-A651A6F3CE24}"/>
              </a:ext>
            </a:extLst>
          </p:cNvPr>
          <p:cNvSpPr/>
          <p:nvPr/>
        </p:nvSpPr>
        <p:spPr>
          <a:xfrm>
            <a:off x="5680946" y="1586865"/>
            <a:ext cx="1165384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오산시민 평생교육장려금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AD800CE-E2D7-87EA-2936-227560F3BB75}"/>
              </a:ext>
            </a:extLst>
          </p:cNvPr>
          <p:cNvSpPr/>
          <p:nvPr/>
        </p:nvSpPr>
        <p:spPr>
          <a:xfrm>
            <a:off x="4831365" y="1586865"/>
            <a:ext cx="652423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 신청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6CEB35D-3AB0-54A1-B76E-2441CB581BA3}"/>
              </a:ext>
            </a:extLst>
          </p:cNvPr>
          <p:cNvSpPr/>
          <p:nvPr/>
        </p:nvSpPr>
        <p:spPr>
          <a:xfrm>
            <a:off x="4223838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5BF2D18-7E16-8347-1167-1DCB422DACCD}"/>
              </a:ext>
            </a:extLst>
          </p:cNvPr>
          <p:cNvSpPr/>
          <p:nvPr/>
        </p:nvSpPr>
        <p:spPr>
          <a:xfrm>
            <a:off x="3616311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B527C6C-FF18-77DA-7B5A-879732263B76}"/>
              </a:ext>
            </a:extLst>
          </p:cNvPr>
          <p:cNvSpPr/>
          <p:nvPr/>
        </p:nvSpPr>
        <p:spPr>
          <a:xfrm>
            <a:off x="3008784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37C0868-5E0D-8A48-689A-4653A381747B}"/>
              </a:ext>
            </a:extLst>
          </p:cNvPr>
          <p:cNvSpPr/>
          <p:nvPr/>
        </p:nvSpPr>
        <p:spPr>
          <a:xfrm>
            <a:off x="165100" y="1790190"/>
            <a:ext cx="6732116" cy="419031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15F390B-27CB-9D88-D1BC-A8A99A0B5193}"/>
              </a:ext>
            </a:extLst>
          </p:cNvPr>
          <p:cNvSpPr/>
          <p:nvPr/>
        </p:nvSpPr>
        <p:spPr>
          <a:xfrm>
            <a:off x="5714622" y="1879740"/>
            <a:ext cx="1064394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7740D3F-C352-2606-098A-BA69CE2A5D7D}"/>
              </a:ext>
            </a:extLst>
          </p:cNvPr>
          <p:cNvSpPr/>
          <p:nvPr/>
        </p:nvSpPr>
        <p:spPr>
          <a:xfrm>
            <a:off x="236476" y="1844824"/>
            <a:ext cx="692497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69E648C-ABE9-4F18-26FE-BB67023CA8EA}"/>
              </a:ext>
            </a:extLst>
          </p:cNvPr>
          <p:cNvSpPr/>
          <p:nvPr/>
        </p:nvSpPr>
        <p:spPr>
          <a:xfrm>
            <a:off x="165100" y="6023481"/>
            <a:ext cx="6732116" cy="46622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56697F96-8637-FB9F-622A-9C1462AA92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6165304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0E86FCD5-67C8-E872-EBA9-ACAAF255459C}"/>
              </a:ext>
            </a:extLst>
          </p:cNvPr>
          <p:cNvSpPr txBox="1"/>
          <p:nvPr/>
        </p:nvSpPr>
        <p:spPr>
          <a:xfrm>
            <a:off x="1172580" y="6077394"/>
            <a:ext cx="31242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경기 오산시 성호대로 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141 (</a:t>
            </a:r>
            <a:r>
              <a:rPr lang="ko-KR" altLang="en-US" sz="600" b="0" i="0" dirty="0" err="1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오산동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오산시청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endParaRPr lang="en-US" altLang="ko-KR" sz="600" b="0" i="0" dirty="0">
              <a:solidFill>
                <a:srgbClr val="666666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TEL. (031)8036-8905 FAX. (031)8036-8905</a:t>
            </a: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Copyright©2025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ALL RIGHTSRESERVED</a:t>
            </a: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F3D7EB2F-20B5-8F0A-04D8-1C896520D8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8120983"/>
              </p:ext>
            </p:extLst>
          </p:nvPr>
        </p:nvGraphicFramePr>
        <p:xfrm>
          <a:off x="274932" y="2254349"/>
          <a:ext cx="6514807" cy="9578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6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6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30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541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946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신고자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신고일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4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고등학생 장학금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클린신고</a:t>
                      </a:r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제목 입니다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4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기타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클린신고 제목 입니다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접수완료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94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기타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클린신고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제목 입니다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2025.10.13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접수완료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6" name="직사각형 15">
            <a:extLst>
              <a:ext uri="{FF2B5EF4-FFF2-40B4-BE49-F238E27FC236}">
                <a16:creationId xmlns:a16="http://schemas.microsoft.com/office/drawing/2014/main" id="{6FF692A4-CAE1-986D-8CF1-7A95410281B2}"/>
              </a:ext>
            </a:extLst>
          </p:cNvPr>
          <p:cNvSpPr/>
          <p:nvPr/>
        </p:nvSpPr>
        <p:spPr>
          <a:xfrm>
            <a:off x="3022857" y="3266130"/>
            <a:ext cx="1016304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처음</a:t>
            </a:r>
            <a: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◀  1  2  ▶  </a:t>
            </a:r>
            <a:r>
              <a:rPr lang="ko-KR" altLang="en-US" sz="7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마지막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4E7AEA4-44BC-07DB-7D6C-6A0C1F7E2604}"/>
              </a:ext>
            </a:extLst>
          </p:cNvPr>
          <p:cNvSpPr/>
          <p:nvPr/>
        </p:nvSpPr>
        <p:spPr>
          <a:xfrm>
            <a:off x="6328429" y="3546784"/>
            <a:ext cx="461309" cy="19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이전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8F457024-EBDA-D233-786D-FBF8E547936D}"/>
              </a:ext>
            </a:extLst>
          </p:cNvPr>
          <p:cNvSpPr>
            <a:spLocks noChangeAspect="1"/>
          </p:cNvSpPr>
          <p:nvPr/>
        </p:nvSpPr>
        <p:spPr>
          <a:xfrm>
            <a:off x="203545" y="2176811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9AC11A69-2A2B-583A-0FA3-49C1607B9CB9}"/>
              </a:ext>
            </a:extLst>
          </p:cNvPr>
          <p:cNvSpPr>
            <a:spLocks noChangeAspect="1"/>
          </p:cNvSpPr>
          <p:nvPr/>
        </p:nvSpPr>
        <p:spPr>
          <a:xfrm>
            <a:off x="6142574" y="3573784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81569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E765C-0717-30B4-CA33-2D1CE5F0F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4338A4-66C9-6EDB-1DBA-47999389841E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 </a:t>
            </a: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내글확인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DFC4039-3BC4-680B-48BE-C02423405B42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경영지원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내신고글확인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6B92338F-79A5-F97E-BA80-8B032B4840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817303"/>
              </p:ext>
            </p:extLst>
          </p:nvPr>
        </p:nvGraphicFramePr>
        <p:xfrm>
          <a:off x="6969418" y="2548005"/>
          <a:ext cx="2772114" cy="2258160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경영지원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클린신고센터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내신고글확인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조회 화면 목록에서 제목 클릭 시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처리 상태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접수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작성 시 설정한 정보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신고일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등록 일자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처리 상태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조회일 기준 현재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상태를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신고자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등록 시 설정한 신고자 이름을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신고자 연락처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신고글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등록 시 설정한 연락처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신고자 이메일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신고글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등록 시 설정한 이메일 주소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구분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신고글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등록 시 설정한 구분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내용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신고글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등록 시 작성한 내용을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첨부파일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신고글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등록 시 첨부한 첨부파일명을 표시 하며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클릭 시 해당 파일을 다운 받는다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.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목록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경영지원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클린신고센터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내신고글확인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조회 화면으로 이동 한다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C784874D-AC71-95C4-9190-D6E56CFDD49A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omdd_read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0858B9FD-EEEB-F1C1-AAB0-246A5A76174E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A017DC4D-520F-B21B-F067-4485D4247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B58357CA-6ECB-66A7-C860-7375A07F2041}"/>
              </a:ext>
            </a:extLst>
          </p:cNvPr>
          <p:cNvSpPr/>
          <p:nvPr/>
        </p:nvSpPr>
        <p:spPr>
          <a:xfrm>
            <a:off x="5680946" y="1586865"/>
            <a:ext cx="1165384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오산시민 평생교육장려금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DFDB935-069A-B478-AC4C-DAEC4458B6B0}"/>
              </a:ext>
            </a:extLst>
          </p:cNvPr>
          <p:cNvSpPr/>
          <p:nvPr/>
        </p:nvSpPr>
        <p:spPr>
          <a:xfrm>
            <a:off x="4831365" y="1586865"/>
            <a:ext cx="652423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 신청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E34E7C3-03CA-4740-8C4C-3F05F7DAF7C0}"/>
              </a:ext>
            </a:extLst>
          </p:cNvPr>
          <p:cNvSpPr/>
          <p:nvPr/>
        </p:nvSpPr>
        <p:spPr>
          <a:xfrm>
            <a:off x="4223838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8905207-5F9C-8A44-67A5-B2F2CA782843}"/>
              </a:ext>
            </a:extLst>
          </p:cNvPr>
          <p:cNvSpPr/>
          <p:nvPr/>
        </p:nvSpPr>
        <p:spPr>
          <a:xfrm>
            <a:off x="3616311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A4BB569-5E8B-10B9-FF74-5795CD9BCF2B}"/>
              </a:ext>
            </a:extLst>
          </p:cNvPr>
          <p:cNvSpPr/>
          <p:nvPr/>
        </p:nvSpPr>
        <p:spPr>
          <a:xfrm>
            <a:off x="3008784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8FDE97F-01E7-894C-25C8-3AF988F00183}"/>
              </a:ext>
            </a:extLst>
          </p:cNvPr>
          <p:cNvSpPr/>
          <p:nvPr/>
        </p:nvSpPr>
        <p:spPr>
          <a:xfrm>
            <a:off x="165100" y="1790190"/>
            <a:ext cx="6732116" cy="419772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C0386A-9731-717F-715A-53315008CDB8}"/>
              </a:ext>
            </a:extLst>
          </p:cNvPr>
          <p:cNvSpPr/>
          <p:nvPr/>
        </p:nvSpPr>
        <p:spPr>
          <a:xfrm>
            <a:off x="5714622" y="1879740"/>
            <a:ext cx="1064394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AB29504-DC77-0FE8-A5A7-9E8DB1BE2CB0}"/>
              </a:ext>
            </a:extLst>
          </p:cNvPr>
          <p:cNvSpPr/>
          <p:nvPr/>
        </p:nvSpPr>
        <p:spPr>
          <a:xfrm>
            <a:off x="236476" y="1844824"/>
            <a:ext cx="692497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6D212A9-9C39-07BA-D584-5A2F162CC9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9182417"/>
              </p:ext>
            </p:extLst>
          </p:nvPr>
        </p:nvGraphicFramePr>
        <p:xfrm>
          <a:off x="281250" y="2452692"/>
          <a:ext cx="6497766" cy="2218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63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43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4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0532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신고일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2025.10.13 14:25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/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처리 상태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532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신고자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latinLnBrk="0"/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69273"/>
                  </a:ext>
                </a:extLst>
              </a:tr>
              <a:tr h="220532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신고자 연락처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latinLnBrk="0"/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8894944"/>
                  </a:ext>
                </a:extLst>
              </a:tr>
              <a:tr h="220532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신고자 이메일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honggil123@naver.com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355185"/>
                  </a:ext>
                </a:extLst>
              </a:tr>
              <a:tr h="220532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고등학생 장학금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7985610"/>
                  </a:ext>
                </a:extLst>
              </a:tr>
              <a:tr h="220532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고등학생 장학금 관련 </a:t>
                      </a:r>
                      <a:r>
                        <a:rPr lang="ko-KR" altLang="en-US" sz="7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신고글</a:t>
                      </a:r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제목 입니다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latinLnBrk="0"/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4752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내용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본인이 작성한 클린신고센터 </a:t>
                      </a:r>
                      <a:r>
                        <a:rPr lang="ko-KR" altLang="en-US" sz="7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신고글</a:t>
                      </a:r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내용 입니다</a:t>
                      </a:r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-----------------</a:t>
                      </a:r>
                    </a:p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----------------------------</a:t>
                      </a:r>
                    </a:p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-------------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532">
                <a:tc>
                  <a:txBody>
                    <a:bodyPr/>
                    <a:lstStyle/>
                    <a:p>
                      <a:pPr algn="r" latinLnBrk="0"/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첨부파일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u="sng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클린신고센터신고관련파일</a:t>
                      </a:r>
                      <a:r>
                        <a:rPr lang="en-US" altLang="ko-KR" sz="700" b="0" u="sng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r>
                        <a:rPr lang="en-US" altLang="ko-KR" sz="700" b="0" u="sng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hwp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latinLnBrk="0"/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:a16="http://schemas.microsoft.com/office/drawing/2014/main" id="{F3BF7DF6-F2CF-7824-C474-4580C27BF73A}"/>
              </a:ext>
            </a:extLst>
          </p:cNvPr>
          <p:cNvSpPr/>
          <p:nvPr/>
        </p:nvSpPr>
        <p:spPr>
          <a:xfrm>
            <a:off x="6328429" y="4779172"/>
            <a:ext cx="461309" cy="19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6810E9C1-5291-C718-0773-60C4F8CC7F2C}"/>
              </a:ext>
            </a:extLst>
          </p:cNvPr>
          <p:cNvSpPr/>
          <p:nvPr/>
        </p:nvSpPr>
        <p:spPr>
          <a:xfrm>
            <a:off x="280582" y="2248011"/>
            <a:ext cx="1062791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>
                <a:solidFill>
                  <a:prstClr val="black"/>
                </a:solidFill>
              </a:rPr>
              <a:t>클린신고센터 신고하기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4206A05-E9DF-1B6C-9213-D98F49508120}"/>
              </a:ext>
            </a:extLst>
          </p:cNvPr>
          <p:cNvSpPr/>
          <p:nvPr/>
        </p:nvSpPr>
        <p:spPr>
          <a:xfrm>
            <a:off x="165100" y="6023481"/>
            <a:ext cx="6732116" cy="46622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8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86ABC3E7-F12F-CB4C-6A73-DFD752CCE7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6165304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08A1A04-A8AF-84F5-1E10-2777B0D56FEB}"/>
              </a:ext>
            </a:extLst>
          </p:cNvPr>
          <p:cNvSpPr txBox="1"/>
          <p:nvPr/>
        </p:nvSpPr>
        <p:spPr>
          <a:xfrm>
            <a:off x="1172580" y="6077394"/>
            <a:ext cx="31242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경기 오산시 성호대로 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141 (</a:t>
            </a:r>
            <a:r>
              <a:rPr lang="ko-KR" altLang="en-US" sz="600" b="0" i="0" dirty="0" err="1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오산동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오산시청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endParaRPr lang="en-US" altLang="ko-KR" sz="600" b="0" i="0" dirty="0">
              <a:solidFill>
                <a:srgbClr val="666666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TEL. (031)8036-8905 FAX. (031)8036-8905</a:t>
            </a: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Copyright©2025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ALL RIGHTSRESERVED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0D01D816-F2E7-0E95-91A0-F0E23AEA7E41}"/>
              </a:ext>
            </a:extLst>
          </p:cNvPr>
          <p:cNvSpPr>
            <a:spLocks noChangeAspect="1"/>
          </p:cNvSpPr>
          <p:nvPr/>
        </p:nvSpPr>
        <p:spPr>
          <a:xfrm>
            <a:off x="203545" y="2376949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6B8A8D73-854A-9A94-8DC9-8551B7DAECDD}"/>
              </a:ext>
            </a:extLst>
          </p:cNvPr>
          <p:cNvSpPr>
            <a:spLocks noChangeAspect="1"/>
          </p:cNvSpPr>
          <p:nvPr/>
        </p:nvSpPr>
        <p:spPr>
          <a:xfrm>
            <a:off x="6162100" y="4806172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8269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004D7-B25B-2334-7023-AA515F9C8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F4F49A6-4632-502F-975B-689EC9153E1E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 </a:t>
            </a: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내글확인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018AD2C-DDBA-8BEB-2EE4-56BD9E34D0BF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경영지원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내신고글확인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5810836E-6BC8-5CFF-323F-BF95474EC9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2238469"/>
              </p:ext>
            </p:extLst>
          </p:nvPr>
        </p:nvGraphicFramePr>
        <p:xfrm>
          <a:off x="6969418" y="2548005"/>
          <a:ext cx="2772114" cy="266321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경영지원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클린신고센터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내신고글확인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조회 화면 목록에서 제목 클릭 시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처리 상태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접수완료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사이트관리자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클린신고센터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데이터관리에서 접수처리 시 설정한 정보가 있을 경우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신고자가 등록한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정보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사이트관리자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클린신고센터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데이터관리에서 관리자가 접수처리 시 설정한 정보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처리상태가 접수완료일 경우에 한해 신고처리 정보를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관리자로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 처리 정보를 등록한 일자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제목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신고 처리 시 설정한 제목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내용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신고 처리 시 설정한 내용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첨부파일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신고 처리 시 첨부한 첨부파일 명을 표시 하며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클릭 시 해당 파일을 다운 받는다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.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목록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클릭 시 경영지원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클린신고센터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내신고글확인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조회 화면으로 이동 한다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.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0934759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21651970-C88B-E03B-5433-6D7F1CC5FF46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omdd_read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E919C047-BFD8-AA0D-6B5C-FC18EE8F90CA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C1B9BD30-31E5-EC79-ECF7-2CED3B908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DD7AAB27-6E19-B34D-1FD0-936A85EE9FF6}"/>
              </a:ext>
            </a:extLst>
          </p:cNvPr>
          <p:cNvSpPr/>
          <p:nvPr/>
        </p:nvSpPr>
        <p:spPr>
          <a:xfrm>
            <a:off x="5680946" y="1586865"/>
            <a:ext cx="1165384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오산시민 평생교육장려금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E1162CE-A56C-61E7-5224-DDFBD2518CA7}"/>
              </a:ext>
            </a:extLst>
          </p:cNvPr>
          <p:cNvSpPr/>
          <p:nvPr/>
        </p:nvSpPr>
        <p:spPr>
          <a:xfrm>
            <a:off x="4831365" y="1586865"/>
            <a:ext cx="652423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 신청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735FD45-6CFE-AAC5-9B3C-010E5B5D8F3D}"/>
              </a:ext>
            </a:extLst>
          </p:cNvPr>
          <p:cNvSpPr/>
          <p:nvPr/>
        </p:nvSpPr>
        <p:spPr>
          <a:xfrm>
            <a:off x="4223838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0BBAAD0-165E-B491-8383-65C6DA6C5626}"/>
              </a:ext>
            </a:extLst>
          </p:cNvPr>
          <p:cNvSpPr/>
          <p:nvPr/>
        </p:nvSpPr>
        <p:spPr>
          <a:xfrm>
            <a:off x="3616311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EC04AC7-9C9B-0D6B-8E6F-EE5FEC7F8624}"/>
              </a:ext>
            </a:extLst>
          </p:cNvPr>
          <p:cNvSpPr/>
          <p:nvPr/>
        </p:nvSpPr>
        <p:spPr>
          <a:xfrm>
            <a:off x="3008784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80C1FF9-5256-72C0-36DE-49CFF80A7F9D}"/>
              </a:ext>
            </a:extLst>
          </p:cNvPr>
          <p:cNvSpPr/>
          <p:nvPr/>
        </p:nvSpPr>
        <p:spPr>
          <a:xfrm>
            <a:off x="165100" y="1790190"/>
            <a:ext cx="6732116" cy="469951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A7B959C-C8D5-7CB7-AFE3-B7E83C2B18B0}"/>
              </a:ext>
            </a:extLst>
          </p:cNvPr>
          <p:cNvSpPr/>
          <p:nvPr/>
        </p:nvSpPr>
        <p:spPr>
          <a:xfrm>
            <a:off x="5714622" y="1879740"/>
            <a:ext cx="1064394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751C041-8BA7-084E-302B-D8C05E7FC4FD}"/>
              </a:ext>
            </a:extLst>
          </p:cNvPr>
          <p:cNvSpPr/>
          <p:nvPr/>
        </p:nvSpPr>
        <p:spPr>
          <a:xfrm>
            <a:off x="236476" y="1844824"/>
            <a:ext cx="692497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5A934C8-D1F5-74CC-79C8-A0421FE3A50D}"/>
              </a:ext>
            </a:extLst>
          </p:cNvPr>
          <p:cNvSpPr/>
          <p:nvPr/>
        </p:nvSpPr>
        <p:spPr>
          <a:xfrm>
            <a:off x="6328429" y="6179577"/>
            <a:ext cx="461309" cy="19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8C6865C4-58AA-3261-250A-64F130A90631}"/>
              </a:ext>
            </a:extLst>
          </p:cNvPr>
          <p:cNvSpPr/>
          <p:nvPr/>
        </p:nvSpPr>
        <p:spPr>
          <a:xfrm>
            <a:off x="280582" y="2248011"/>
            <a:ext cx="1062791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>
                <a:solidFill>
                  <a:prstClr val="black"/>
                </a:solidFill>
              </a:rPr>
              <a:t>클린신고센터 신고하기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65C831F-8A89-7E47-7F1F-AEF73BB092A3}"/>
              </a:ext>
            </a:extLst>
          </p:cNvPr>
          <p:cNvSpPr/>
          <p:nvPr/>
        </p:nvSpPr>
        <p:spPr>
          <a:xfrm>
            <a:off x="288046" y="4644120"/>
            <a:ext cx="391133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700" b="1" dirty="0">
                <a:solidFill>
                  <a:prstClr val="black"/>
                </a:solidFill>
              </a:rPr>
              <a:t>신고 처리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8FC641ED-944A-DD6F-F839-F74D943C07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0878489"/>
              </p:ext>
            </p:extLst>
          </p:nvPr>
        </p:nvGraphicFramePr>
        <p:xfrm>
          <a:off x="280582" y="4791029"/>
          <a:ext cx="6497766" cy="1306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63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43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4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0532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관리자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/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작성일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2025.10.13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532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신고처리 제목 입니다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latinLnBrk="0"/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5179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내용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클린신고센터 신고에 대한 처리 내용 </a:t>
                      </a:r>
                      <a:r>
                        <a:rPr lang="ko-KR" altLang="en-US" sz="7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입니</a:t>
                      </a:r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;</a:t>
                      </a:r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</a:t>
                      </a:r>
                      <a:endParaRPr lang="en-US" altLang="ko-KR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---------------------</a:t>
                      </a:r>
                    </a:p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--------------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532">
                <a:tc>
                  <a:txBody>
                    <a:bodyPr/>
                    <a:lstStyle/>
                    <a:p>
                      <a:pPr algn="r" latinLnBrk="0"/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첨부파일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u="sng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처리관련 파일</a:t>
                      </a:r>
                      <a:r>
                        <a:rPr lang="en-US" altLang="ko-KR" sz="700" b="0" u="sng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.pdf</a:t>
                      </a:r>
                      <a:endParaRPr lang="ko-KR" altLang="en-US" sz="700" b="0" u="sng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latinLnBrk="0"/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25F302C-3965-B16B-F8A4-FB4241B4D5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2475885"/>
              </p:ext>
            </p:extLst>
          </p:nvPr>
        </p:nvGraphicFramePr>
        <p:xfrm>
          <a:off x="281250" y="2452692"/>
          <a:ext cx="6497766" cy="2061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63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43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4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0532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신고일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2025.10.13 14:25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/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처리 상태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접수완료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532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신고자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latinLnBrk="0"/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69273"/>
                  </a:ext>
                </a:extLst>
              </a:tr>
              <a:tr h="220532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신고자 연락처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010-1234-5678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latinLnBrk="0"/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8894944"/>
                  </a:ext>
                </a:extLst>
              </a:tr>
              <a:tr h="220532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신고자 이메일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honggil123@naver.com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355185"/>
                  </a:ext>
                </a:extLst>
              </a:tr>
              <a:tr h="220532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고등학생 장학금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7985610"/>
                  </a:ext>
                </a:extLst>
              </a:tr>
              <a:tr h="220532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고등학생 장학금 관련 </a:t>
                      </a:r>
                      <a:r>
                        <a:rPr lang="ko-KR" altLang="en-US" sz="7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신고글</a:t>
                      </a:r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제목 입니다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latinLnBrk="0"/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212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내용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본인이 작성한 클린신고센터 </a:t>
                      </a:r>
                      <a:r>
                        <a:rPr lang="ko-KR" altLang="en-US" sz="7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신고글</a:t>
                      </a:r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내용 입니다</a:t>
                      </a:r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-----------------</a:t>
                      </a:r>
                    </a:p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----------------------------</a:t>
                      </a:r>
                    </a:p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-------------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532">
                <a:tc>
                  <a:txBody>
                    <a:bodyPr/>
                    <a:lstStyle/>
                    <a:p>
                      <a:pPr algn="r" latinLnBrk="0"/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첨부파일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u="sng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클린신고센터신고관련파일</a:t>
                      </a:r>
                      <a:r>
                        <a:rPr lang="en-US" altLang="ko-KR" sz="700" b="0" u="sng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r>
                        <a:rPr lang="en-US" altLang="ko-KR" sz="700" b="0" u="sng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hwp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latinLnBrk="0"/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타원 7">
            <a:extLst>
              <a:ext uri="{FF2B5EF4-FFF2-40B4-BE49-F238E27FC236}">
                <a16:creationId xmlns:a16="http://schemas.microsoft.com/office/drawing/2014/main" id="{E6B8981A-37A4-30D6-EADD-AC0E9C217F22}"/>
              </a:ext>
            </a:extLst>
          </p:cNvPr>
          <p:cNvSpPr>
            <a:spLocks noChangeAspect="1"/>
          </p:cNvSpPr>
          <p:nvPr/>
        </p:nvSpPr>
        <p:spPr>
          <a:xfrm>
            <a:off x="203545" y="2376949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91621B42-EE8D-B50B-15E8-AFBEEFBDBA3A}"/>
              </a:ext>
            </a:extLst>
          </p:cNvPr>
          <p:cNvSpPr>
            <a:spLocks noChangeAspect="1"/>
          </p:cNvSpPr>
          <p:nvPr/>
        </p:nvSpPr>
        <p:spPr>
          <a:xfrm>
            <a:off x="203545" y="4720729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236DBE89-CBEA-4D8C-ED6B-1D0FD31F03E5}"/>
              </a:ext>
            </a:extLst>
          </p:cNvPr>
          <p:cNvSpPr>
            <a:spLocks noChangeAspect="1"/>
          </p:cNvSpPr>
          <p:nvPr/>
        </p:nvSpPr>
        <p:spPr>
          <a:xfrm>
            <a:off x="6164853" y="6206577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3912359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B0F0"/>
        </a:solidFill>
        <a:ln w="3175">
          <a:solidFill>
            <a:srgbClr val="005C2A"/>
          </a:solidFill>
        </a:ln>
        <a:effectLst>
          <a:outerShdw blurRad="25400" dist="12700" dir="5400000" algn="t" rotWithShape="0">
            <a:schemeClr val="tx1">
              <a:lumMod val="50000"/>
              <a:lumOff val="50000"/>
              <a:alpha val="40000"/>
            </a:schemeClr>
          </a:outerShdw>
        </a:effectLst>
      </a:spPr>
      <a:bodyPr lIns="252000" rtlCol="0" anchor="ctr"/>
      <a:lstStyle>
        <a:defPPr>
          <a:defRPr sz="700" b="1" smtClean="0">
            <a:solidFill>
              <a:schemeClr val="bg1"/>
            </a:solidFill>
            <a:latin typeface="나눔고딕" pitchFamily="50" charset="-127"/>
            <a:ea typeface="나눔고딕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50000"/>
            </a:schemeClr>
          </a:solidFill>
          <a:prstDash val="sysDash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9_Office 테마">
  <a:themeElements>
    <a:clrScheme name="사용자 지정 9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7E8C6"/>
      </a:hlink>
      <a:folHlink>
        <a:srgbClr val="FFFFFF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bg1">
              <a:lumMod val="50000"/>
            </a:schemeClr>
          </a:solidFill>
        </a:ln>
        <a:effectLst>
          <a:outerShdw blurRad="50800" dist="38100" dir="2700000" algn="tl" rotWithShape="0">
            <a:schemeClr val="tx1">
              <a:lumMod val="50000"/>
              <a:lumOff val="50000"/>
              <a:alpha val="40000"/>
            </a:schemeClr>
          </a:outerShdw>
        </a:effectLst>
      </a:spPr>
      <a:bodyPr wrap="none" rtlCol="0" anchor="ctr"/>
      <a:lstStyle>
        <a:defPPr algn="ctr">
          <a:defRPr sz="700" smtClean="0">
            <a:solidFill>
              <a:schemeClr val="tx1">
                <a:lumMod val="95000"/>
                <a:lumOff val="5000"/>
              </a:schemeClr>
            </a:solidFill>
            <a:latin typeface="맑은 고딕" pitchFamily="50" charset="-127"/>
            <a:ea typeface="맑은 고딕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rgbClr val="FF0000"/>
          </a:solidFill>
          <a:prstDash val="sysDash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dirty="0" smtClean="0"/>
        </a:defPPr>
      </a:lstStyle>
    </a:txDef>
  </a:objectDefaults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109296</TotalTime>
  <Words>2087</Words>
  <Application>Microsoft Office PowerPoint</Application>
  <PresentationFormat>A4 용지(210x297mm)</PresentationFormat>
  <Paragraphs>604</Paragraphs>
  <Slides>17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3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7" baseType="lpstr">
      <vt:lpstr>굴림</vt:lpstr>
      <vt:lpstr>굴림체</vt:lpstr>
      <vt:lpstr>Arial</vt:lpstr>
      <vt:lpstr>Noto Sans</vt:lpstr>
      <vt:lpstr>나눔고딕</vt:lpstr>
      <vt:lpstr>맑은 고딕</vt:lpstr>
      <vt:lpstr>1_Office 테마</vt:lpstr>
      <vt:lpstr>9_Office 테마</vt:lpstr>
      <vt:lpstr>2_Office 테마</vt:lpstr>
      <vt:lpstr>Visio</vt:lpstr>
      <vt:lpstr>오산교육재단 홈페이지 개편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Kimkyu</dc:creator>
  <cp:lastModifiedBy>성열 최</cp:lastModifiedBy>
  <cp:revision>3730</cp:revision>
  <cp:lastPrinted>2022-07-06T11:39:49Z</cp:lastPrinted>
  <dcterms:created xsi:type="dcterms:W3CDTF">2011-08-08T03:42:49Z</dcterms:created>
  <dcterms:modified xsi:type="dcterms:W3CDTF">2025-11-04T06:48:33Z</dcterms:modified>
</cp:coreProperties>
</file>