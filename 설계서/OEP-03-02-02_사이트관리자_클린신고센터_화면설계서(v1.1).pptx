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4" r:id="rId2"/>
    <p:sldMasterId id="2147483660" r:id="rId3"/>
  </p:sldMasterIdLst>
  <p:notesMasterIdLst>
    <p:notesMasterId r:id="rId17"/>
  </p:notesMasterIdLst>
  <p:handoutMasterIdLst>
    <p:handoutMasterId r:id="rId18"/>
  </p:handoutMasterIdLst>
  <p:sldIdLst>
    <p:sldId id="1572" r:id="rId4"/>
    <p:sldId id="330" r:id="rId5"/>
    <p:sldId id="1732" r:id="rId6"/>
    <p:sldId id="2283" r:id="rId7"/>
    <p:sldId id="2284" r:id="rId8"/>
    <p:sldId id="2285" r:id="rId9"/>
    <p:sldId id="2291" r:id="rId10"/>
    <p:sldId id="2287" r:id="rId11"/>
    <p:sldId id="2292" r:id="rId12"/>
    <p:sldId id="2286" r:id="rId13"/>
    <p:sldId id="2288" r:id="rId14"/>
    <p:sldId id="2289" r:id="rId15"/>
    <p:sldId id="2290" r:id="rId16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7" pos="104">
          <p15:clr>
            <a:srgbClr val="A4A3A4"/>
          </p15:clr>
        </p15:guide>
        <p15:guide id="15" pos="4345" userDrawn="1">
          <p15:clr>
            <a:srgbClr val="A4A3A4"/>
          </p15:clr>
        </p15:guide>
        <p15:guide id="16" orient="horz" pos="1412" userDrawn="1">
          <p15:clr>
            <a:srgbClr val="A4A3A4"/>
          </p15:clr>
        </p15:guide>
        <p15:guide id="17" orient="horz" pos="1525" userDrawn="1">
          <p15:clr>
            <a:srgbClr val="A4A3A4"/>
          </p15:clr>
        </p15:guide>
        <p15:guide id="18" orient="horz" pos="4088" userDrawn="1">
          <p15:clr>
            <a:srgbClr val="A4A3A4"/>
          </p15:clr>
        </p15:guide>
        <p15:guide id="19" pos="18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66"/>
    <a:srgbClr val="00FF00"/>
    <a:srgbClr val="0033CC"/>
    <a:srgbClr val="99CCFF"/>
    <a:srgbClr val="6699FF"/>
    <a:srgbClr val="CCECFF"/>
    <a:srgbClr val="77D717"/>
    <a:srgbClr val="FF4F4F"/>
    <a:srgbClr val="0000CC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76" autoAdjust="0"/>
    <p:restoredTop sz="83420" autoAdjust="0"/>
  </p:normalViewPr>
  <p:slideViewPr>
    <p:cSldViewPr>
      <p:cViewPr varScale="1">
        <p:scale>
          <a:sx n="120" d="100"/>
          <a:sy n="120" d="100"/>
        </p:scale>
        <p:origin x="1380" y="108"/>
      </p:cViewPr>
      <p:guideLst>
        <p:guide orient="horz" pos="867"/>
        <p:guide pos="104"/>
        <p:guide pos="4345"/>
        <p:guide orient="horz" pos="1412"/>
        <p:guide orient="horz" pos="1525"/>
        <p:guide orient="horz" pos="4088"/>
        <p:guide pos="182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87" d="100"/>
          <a:sy n="87" d="100"/>
        </p:scale>
        <p:origin x="-3756" y="-78"/>
      </p:cViewPr>
      <p:guideLst>
        <p:guide orient="horz" pos="3126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070" y="0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/>
          <a:lstStyle>
            <a:lvl1pPr algn="r">
              <a:defRPr sz="1200"/>
            </a:lvl1pPr>
          </a:lstStyle>
          <a:p>
            <a:fld id="{C8666A89-3649-4A26-B076-8BB61794613B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8452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070" y="9428452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 anchor="b"/>
          <a:lstStyle>
            <a:lvl1pPr algn="r">
              <a:defRPr sz="1200"/>
            </a:lvl1pPr>
          </a:lstStyle>
          <a:p>
            <a:fld id="{598925E5-C1E6-4986-9C33-22AD8CBAF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0394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B9C9D-B269-4765-BAF2-65AF33F6B00F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6C2E9-C377-4C23-9E6D-618FB56A7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8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32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/>
              <a:pPr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8939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/>
              <a:pPr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6069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" y="284"/>
            <a:ext cx="9905181" cy="6857433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429397"/>
            <a:ext cx="2311400" cy="292079"/>
          </a:xfrm>
          <a:prstGeom prst="rect">
            <a:avLst/>
          </a:prstGeom>
        </p:spPr>
        <p:txBody>
          <a:bodyPr/>
          <a:lstStyle/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429397"/>
            <a:ext cx="3136900" cy="292079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429397"/>
            <a:ext cx="2311400" cy="292079"/>
          </a:xfrm>
          <a:prstGeom prst="rect">
            <a:avLst/>
          </a:prstGeom>
        </p:spPr>
        <p:txBody>
          <a:bodyPr/>
          <a:lstStyle/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685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" y="287"/>
            <a:ext cx="9905181" cy="6857433"/>
          </a:xfrm>
          <a:prstGeom prst="rect">
            <a:avLst/>
          </a:prstGeom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543756" y="1916839"/>
            <a:ext cx="4290477" cy="450573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1800" kern="1200" baseline="0" dirty="0">
                <a:solidFill>
                  <a:srgbClr val="D4D1CE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ctrTitle" hasCustomPrompt="1"/>
          </p:nvPr>
        </p:nvSpPr>
        <p:spPr>
          <a:xfrm>
            <a:off x="543756" y="550335"/>
            <a:ext cx="4290477" cy="1412579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4300" kern="1200" baseline="0" dirty="0">
                <a:solidFill>
                  <a:srgbClr val="D4D1CE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입력하시오</a:t>
            </a:r>
          </a:p>
        </p:txBody>
      </p:sp>
    </p:spTree>
    <p:extLst>
      <p:ext uri="{BB962C8B-B14F-4D97-AF65-F5344CB8AC3E}">
        <p14:creationId xmlns:p14="http://schemas.microsoft.com/office/powerpoint/2010/main" val="273288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" y="287"/>
            <a:ext cx="9905181" cy="6857433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 userDrawn="1"/>
        </p:nvSpPr>
        <p:spPr>
          <a:xfrm>
            <a:off x="134144" y="577180"/>
            <a:ext cx="9655394" cy="5940000"/>
          </a:xfrm>
          <a:prstGeom prst="roundRect">
            <a:avLst>
              <a:gd name="adj" fmla="val 902"/>
            </a:avLst>
          </a:prstGeom>
          <a:gradFill>
            <a:gsLst>
              <a:gs pos="0">
                <a:srgbClr val="FFFFFF">
                  <a:alpha val="85000"/>
                </a:srgbClr>
              </a:gs>
              <a:gs pos="29000">
                <a:schemeClr val="bg1"/>
              </a:gs>
            </a:gsLst>
            <a:lin ang="5400000" scaled="0"/>
          </a:gradFill>
          <a:ln w="12700">
            <a:gradFill>
              <a:gsLst>
                <a:gs pos="100000">
                  <a:srgbClr val="005EA4">
                    <a:alpha val="70000"/>
                  </a:srgbClr>
                </a:gs>
                <a:gs pos="2000">
                  <a:schemeClr val="tx2">
                    <a:lumMod val="20000"/>
                    <a:lumOff val="80000"/>
                  </a:schemeClr>
                </a:gs>
                <a:gs pos="62000">
                  <a:srgbClr val="E1E8F5">
                    <a:alpha val="0"/>
                  </a:srgb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689" y="6577092"/>
            <a:ext cx="901852" cy="20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134144" y="6597932"/>
            <a:ext cx="28632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Copyright ⓒ 2022 WIZWIG CO., LTD.,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394769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>
                <a:solidFill>
                  <a:prstClr val="black"/>
                </a:solidFill>
              </a:rPr>
              <a:pPr/>
              <a:t>2025-11-04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075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>
                <a:solidFill>
                  <a:prstClr val="black"/>
                </a:solidFill>
              </a:rPr>
              <a:pPr/>
              <a:t>2025-11-04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416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직선 연결선 32"/>
          <p:cNvCxnSpPr/>
          <p:nvPr/>
        </p:nvCxnSpPr>
        <p:spPr>
          <a:xfrm>
            <a:off x="165100" y="6563894"/>
            <a:ext cx="95758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119"/>
          <p:cNvSpPr txBox="1">
            <a:spLocks noChangeArrowheads="1"/>
          </p:cNvSpPr>
          <p:nvPr/>
        </p:nvSpPr>
        <p:spPr bwMode="auto">
          <a:xfrm>
            <a:off x="4776509" y="6581661"/>
            <a:ext cx="35298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96004F94-3BE7-4D60-B404-1745300C98A2}" type="slidenum">
              <a:rPr lang="ko-KR" altLang="en-US" sz="1000" b="1">
                <a:latin typeface="맑은 고딕" pitchFamily="50" charset="-127"/>
                <a:ea typeface="맑은 고딕" pitchFamily="50" charset="-127"/>
              </a:rPr>
              <a:pPr/>
              <a:t>‹#›</a:t>
            </a:fld>
            <a:endParaRPr lang="en-US" altLang="ko-KR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2" name="Picture 2" descr="D:\WIZWIG\01 로고\2018년 New 디자인\wizwig_lo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282" y="6617695"/>
            <a:ext cx="624252" cy="16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49826" y="6581012"/>
            <a:ext cx="26035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맑은 고딕" pitchFamily="50" charset="-127"/>
                <a:ea typeface="맑은 고딕" pitchFamily="50" charset="-127"/>
              </a:rPr>
              <a:t>Copyright ⓒ 2025 WIZWIG CO., LTD. All rights reserved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68315" y="497938"/>
            <a:ext cx="9751252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68315" y="539950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81156791"/>
              </p:ext>
            </p:extLst>
          </p:nvPr>
        </p:nvGraphicFramePr>
        <p:xfrm>
          <a:off x="164472" y="590019"/>
          <a:ext cx="9577063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3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28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화면설계서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단위시스템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사이트관리자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800" dirty="0" err="1">
                          <a:latin typeface="맑은 고딕" pitchFamily="50" charset="-127"/>
                          <a:ea typeface="맑은 고딕" pitchFamily="50" charset="-127"/>
                        </a:rPr>
                        <a:t>클린신고센터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문서번호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+mn-ea"/>
                        </a:rPr>
                        <a:t>OEP-03-02-02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latin typeface="맑은 고딕" pitchFamily="50" charset="-127"/>
                          <a:ea typeface="맑은 고딕" pitchFamily="50" charset="-127"/>
                        </a:rPr>
                        <a:t>최성열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2025.10.13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문서버젼</a:t>
                      </a:r>
                      <a:endParaRPr lang="ko-KR" altLang="en-US" sz="800" b="1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 userDrawn="1"/>
        </p:nvSpPr>
        <p:spPr>
          <a:xfrm>
            <a:off x="8095943" y="188650"/>
            <a:ext cx="16979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1" dirty="0">
                <a:latin typeface="나눔고딕" pitchFamily="50" charset="-127"/>
                <a:ea typeface="나눔고딕" pitchFamily="50" charset="-127"/>
              </a:rPr>
              <a:t>오산교육재단 홈페이지 개편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FEA842D7-2E7B-E0E0-E4B6-842AA36B60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8" y="166184"/>
            <a:ext cx="1184930" cy="302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16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75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19026"/>
            <a:ext cx="8915400" cy="796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062021"/>
            <a:ext cx="8915400" cy="5286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429403"/>
            <a:ext cx="23114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429403"/>
            <a:ext cx="31369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429403"/>
            <a:ext cx="23114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774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1" hangingPunct="1">
        <a:spcBef>
          <a:spcPct val="0"/>
        </a:spcBef>
        <a:buNone/>
        <a:defRPr lang="ko-KR" altLang="en-US" sz="3500" kern="1200">
          <a:solidFill>
            <a:sysClr val="windowText" lastClr="000000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25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lang="ko-KR" altLang="en-US"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직선 연결선 32"/>
          <p:cNvCxnSpPr/>
          <p:nvPr/>
        </p:nvCxnSpPr>
        <p:spPr>
          <a:xfrm>
            <a:off x="68315" y="6563894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9826" y="6581012"/>
            <a:ext cx="26035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prstClr val="black"/>
                </a:solidFill>
              </a:rPr>
              <a:t>Copyright ⓒ 2025 WIZWIG CO., LTD. All rights reserved</a:t>
            </a:r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558110"/>
              </p:ext>
            </p:extLst>
          </p:nvPr>
        </p:nvGraphicFramePr>
        <p:xfrm>
          <a:off x="164472" y="1080490"/>
          <a:ext cx="9577063" cy="54284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00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0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Layout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Comment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146">
                <a:tc rowSpan="8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오산교육재단 홈페이지 개편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화면 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15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맑은 고딕" pitchFamily="50" charset="-127"/>
                          <a:ea typeface="맑은 고딕" pitchFamily="50" charset="-127"/>
                        </a:rPr>
                        <a:t>경로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처리기능설명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805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6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8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 </a:t>
                      </a:r>
                      <a:r>
                        <a:rPr lang="en-US" altLang="ko-KR" sz="700" b="1"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8" name="Text Box 119"/>
          <p:cNvSpPr txBox="1">
            <a:spLocks noChangeArrowheads="1"/>
          </p:cNvSpPr>
          <p:nvPr/>
        </p:nvSpPr>
        <p:spPr bwMode="auto">
          <a:xfrm>
            <a:off x="4767190" y="6581661"/>
            <a:ext cx="35298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96004F94-3BE7-4D60-B404-1745300C98A2}" type="slidenum">
              <a:rPr lang="ko-KR" altLang="en-US" sz="1000" b="1">
                <a:solidFill>
                  <a:prstClr val="black"/>
                </a:solidFill>
              </a:rPr>
              <a:pPr/>
              <a:t>‹#›</a:t>
            </a:fld>
            <a:endParaRPr lang="en-US" altLang="ko-KR" sz="1000" b="1" dirty="0">
              <a:solidFill>
                <a:prstClr val="black"/>
              </a:solidFill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3F3747C-1D5C-D3F0-0B2F-805A430735EB}"/>
              </a:ext>
            </a:extLst>
          </p:cNvPr>
          <p:cNvCxnSpPr/>
          <p:nvPr userDrawn="1"/>
        </p:nvCxnSpPr>
        <p:spPr>
          <a:xfrm>
            <a:off x="68315" y="497938"/>
            <a:ext cx="9751252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477597E-7B4C-D731-D077-C82B3792EEAA}"/>
              </a:ext>
            </a:extLst>
          </p:cNvPr>
          <p:cNvCxnSpPr/>
          <p:nvPr userDrawn="1"/>
        </p:nvCxnSpPr>
        <p:spPr>
          <a:xfrm>
            <a:off x="68315" y="539950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4B24972-71FF-2E0D-5298-57C6582DA65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88142565"/>
              </p:ext>
            </p:extLst>
          </p:nvPr>
        </p:nvGraphicFramePr>
        <p:xfrm>
          <a:off x="164472" y="590019"/>
          <a:ext cx="9577063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3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28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화면설계서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단위시스템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사이트관리자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800" dirty="0" err="1">
                          <a:latin typeface="맑은 고딕" pitchFamily="50" charset="-127"/>
                          <a:ea typeface="맑은 고딕" pitchFamily="50" charset="-127"/>
                        </a:rPr>
                        <a:t>클린신고센터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문서번호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+mn-ea"/>
                        </a:rPr>
                        <a:t>OEP-03-02-02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latin typeface="맑은 고딕" pitchFamily="50" charset="-127"/>
                          <a:ea typeface="맑은 고딕" pitchFamily="50" charset="-127"/>
                        </a:rPr>
                        <a:t>최성열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2025.10.13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문서버젼</a:t>
                      </a:r>
                      <a:endParaRPr lang="ko-KR" altLang="en-US" sz="800" b="1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284B2C0-51EA-23F3-798B-171E7EFA6C16}"/>
              </a:ext>
            </a:extLst>
          </p:cNvPr>
          <p:cNvSpPr txBox="1"/>
          <p:nvPr userDrawn="1"/>
        </p:nvSpPr>
        <p:spPr>
          <a:xfrm>
            <a:off x="8095943" y="188650"/>
            <a:ext cx="16979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1" dirty="0">
                <a:latin typeface="나눔고딕" pitchFamily="50" charset="-127"/>
                <a:ea typeface="나눔고딕" pitchFamily="50" charset="-127"/>
              </a:rPr>
              <a:t>오산교육재단 홈페이지 개편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B586F1D5-995F-7547-A3F5-DF07BAE42B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8" y="166184"/>
            <a:ext cx="1184930" cy="302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4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16465" y="833221"/>
            <a:ext cx="5412601" cy="540060"/>
          </a:xfrm>
        </p:spPr>
        <p:txBody>
          <a:bodyPr/>
          <a:lstStyle/>
          <a:p>
            <a:r>
              <a:rPr lang="ko-KR" altLang="en-US" sz="3200" b="1" dirty="0">
                <a:latin typeface="나눔고딕" pitchFamily="50" charset="-127"/>
                <a:ea typeface="나눔고딕" pitchFamily="50" charset="-127"/>
              </a:rPr>
              <a:t>오산교육재단</a:t>
            </a:r>
            <a:br>
              <a:rPr lang="en-US" altLang="ko-KR" sz="3200" b="1" dirty="0"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3200" b="1" dirty="0">
                <a:latin typeface="나눔고딕" pitchFamily="50" charset="-127"/>
                <a:ea typeface="나눔고딕" pitchFamily="50" charset="-127"/>
              </a:rPr>
              <a:t>홈페이지 개편</a:t>
            </a:r>
            <a:endParaRPr lang="ko-KR" altLang="en-US" sz="30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28464" y="2024844"/>
            <a:ext cx="2364750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400" b="1">
                <a:solidFill>
                  <a:schemeClr val="bg1"/>
                </a:solidFill>
              </a:rPr>
              <a:t>화면설계서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381" y="6077898"/>
            <a:ext cx="1290559" cy="294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770236" y="6453336"/>
            <a:ext cx="29851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 ⓒ 2025 WIZWIG CO., LTD., All rights reserved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28464" y="2744924"/>
            <a:ext cx="190629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</a:rPr>
              <a:t>사이트관리자</a:t>
            </a:r>
            <a:r>
              <a:rPr lang="en-US" altLang="ko-KR" sz="2000" b="1" dirty="0">
                <a:solidFill>
                  <a:schemeClr val="bg1"/>
                </a:solidFill>
              </a:rPr>
              <a:t>]</a:t>
            </a:r>
          </a:p>
          <a:p>
            <a:r>
              <a:rPr lang="ko-KR" altLang="en-US" sz="2000" b="1" dirty="0" err="1">
                <a:solidFill>
                  <a:schemeClr val="bg1"/>
                </a:solidFill>
              </a:rPr>
              <a:t>클린신고센터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5D2B0827-74F0-A0F7-9599-1B004FECC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517" y="342531"/>
            <a:ext cx="1303423" cy="33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887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5304427"/>
              </p:ext>
            </p:extLst>
          </p:nvPr>
        </p:nvGraphicFramePr>
        <p:xfrm>
          <a:off x="165106" y="1183340"/>
          <a:ext cx="9575801" cy="3380414"/>
        </p:xfrm>
        <a:graphic>
          <a:graphicData uri="http://schemas.openxmlformats.org/drawingml/2006/table">
            <a:tbl>
              <a:tblPr/>
              <a:tblGrid>
                <a:gridCol w="1305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0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6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221">
                <a:tc gridSpan="4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문서이력표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862">
                <a:tc gridSpan="4"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오산교육재단 사이트관리자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&gt;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클린신고센터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화면설계서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862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문서버젼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개정내용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1.0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2025.10.13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최초 작성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최성열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1.1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2025.10.27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화면 코멘트 작업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최성열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748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8931620"/>
              </p:ext>
            </p:extLst>
          </p:nvPr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사이트관리자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/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 사이트관리자</a:t>
            </a:r>
          </a:p>
        </p:txBody>
      </p:sp>
      <p:sp>
        <p:nvSpPr>
          <p:cNvPr id="76" name="모서리가 둥근 직사각형 75"/>
          <p:cNvSpPr/>
          <p:nvPr/>
        </p:nvSpPr>
        <p:spPr>
          <a:xfrm>
            <a:off x="164468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783842" y="2093391"/>
            <a:ext cx="56496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사이트관리</a:t>
            </a:r>
          </a:p>
        </p:txBody>
      </p:sp>
      <p:sp>
        <p:nvSpPr>
          <p:cNvPr id="82" name="모서리가 둥근 직사각형 81"/>
          <p:cNvSpPr/>
          <p:nvPr/>
        </p:nvSpPr>
        <p:spPr>
          <a:xfrm>
            <a:off x="1454576" y="2093391"/>
            <a:ext cx="56496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디자인관리</a:t>
            </a:r>
          </a:p>
        </p:txBody>
      </p:sp>
      <p:sp>
        <p:nvSpPr>
          <p:cNvPr id="83" name="모서리가 둥근 직사각형 82"/>
          <p:cNvSpPr/>
          <p:nvPr/>
        </p:nvSpPr>
        <p:spPr>
          <a:xfrm>
            <a:off x="2125310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메뉴구성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2744684" y="2093391"/>
            <a:ext cx="621457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서브페이지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3471914" y="2093391"/>
            <a:ext cx="1000863" cy="189352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프로그램신청관리</a:t>
            </a:r>
          </a:p>
        </p:txBody>
      </p:sp>
      <p:sp>
        <p:nvSpPr>
          <p:cNvPr id="90" name="모서리가 둥근 직사각형 89"/>
          <p:cNvSpPr/>
          <p:nvPr/>
        </p:nvSpPr>
        <p:spPr>
          <a:xfrm>
            <a:off x="5685186" y="2093391"/>
            <a:ext cx="1000863" cy="189352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자동문자발송관리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6791822" y="2093391"/>
            <a:ext cx="56496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온라인설문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모서리가 둥근 직사각형 92"/>
          <p:cNvSpPr/>
          <p:nvPr/>
        </p:nvSpPr>
        <p:spPr>
          <a:xfrm>
            <a:off x="7462556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회원관리</a:t>
            </a:r>
          </a:p>
        </p:txBody>
      </p:sp>
      <p:sp>
        <p:nvSpPr>
          <p:cNvPr id="94" name="모서리가 둥근 직사각형 93"/>
          <p:cNvSpPr/>
          <p:nvPr/>
        </p:nvSpPr>
        <p:spPr>
          <a:xfrm>
            <a:off x="8081930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운영관리</a:t>
            </a:r>
          </a:p>
        </p:txBody>
      </p:sp>
      <p:sp>
        <p:nvSpPr>
          <p:cNvPr id="95" name="모서리가 둥근 직사각형 94"/>
          <p:cNvSpPr/>
          <p:nvPr/>
        </p:nvSpPr>
        <p:spPr>
          <a:xfrm>
            <a:off x="9273990" y="2093391"/>
            <a:ext cx="46691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운영지원</a:t>
            </a:r>
          </a:p>
        </p:txBody>
      </p:sp>
      <p:cxnSp>
        <p:nvCxnSpPr>
          <p:cNvPr id="104" name="꺾인 연결선 103"/>
          <p:cNvCxnSpPr>
            <a:stCxn id="76" idx="0"/>
            <a:endCxn id="75" idx="2"/>
          </p:cNvCxnSpPr>
          <p:nvPr/>
        </p:nvCxnSpPr>
        <p:spPr>
          <a:xfrm rot="5400000" flipH="1" flipV="1">
            <a:off x="2554172" y="-382998"/>
            <a:ext cx="343487" cy="460929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/>
          <p:cNvCxnSpPr>
            <a:stCxn id="81" idx="0"/>
            <a:endCxn id="75" idx="2"/>
          </p:cNvCxnSpPr>
          <p:nvPr/>
        </p:nvCxnSpPr>
        <p:spPr>
          <a:xfrm rot="5400000" flipH="1" flipV="1">
            <a:off x="2876699" y="-60471"/>
            <a:ext cx="343487" cy="396423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/>
          <p:cNvCxnSpPr>
            <a:stCxn id="82" idx="0"/>
            <a:endCxn id="75" idx="2"/>
          </p:cNvCxnSpPr>
          <p:nvPr/>
        </p:nvCxnSpPr>
        <p:spPr>
          <a:xfrm rot="5400000" flipH="1" flipV="1">
            <a:off x="3212066" y="274896"/>
            <a:ext cx="343487" cy="3293504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/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3534593" y="597423"/>
            <a:ext cx="343487" cy="264845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84" idx="0"/>
            <a:endCxn id="75" idx="2"/>
          </p:cNvCxnSpPr>
          <p:nvPr/>
        </p:nvCxnSpPr>
        <p:spPr>
          <a:xfrm rot="5400000" flipH="1" flipV="1">
            <a:off x="3871244" y="934074"/>
            <a:ext cx="343487" cy="197514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85" idx="0"/>
            <a:endCxn id="75" idx="2"/>
          </p:cNvCxnSpPr>
          <p:nvPr/>
        </p:nvCxnSpPr>
        <p:spPr>
          <a:xfrm rot="5400000" flipH="1" flipV="1">
            <a:off x="4329710" y="1392541"/>
            <a:ext cx="343487" cy="105821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4883029" y="1897437"/>
            <a:ext cx="343487" cy="4842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연결선 138"/>
          <p:cNvCxnSpPr>
            <a:stCxn id="90" idx="0"/>
            <a:endCxn id="75" idx="2"/>
          </p:cNvCxnSpPr>
          <p:nvPr/>
        </p:nvCxnSpPr>
        <p:spPr>
          <a:xfrm rot="16200000" flipV="1">
            <a:off x="5436347" y="1344119"/>
            <a:ext cx="343487" cy="115505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꺾인 연결선 142"/>
          <p:cNvCxnSpPr>
            <a:stCxn id="92" idx="0"/>
            <a:endCxn id="75" idx="2"/>
          </p:cNvCxnSpPr>
          <p:nvPr/>
        </p:nvCxnSpPr>
        <p:spPr>
          <a:xfrm rot="16200000" flipV="1">
            <a:off x="5880689" y="899777"/>
            <a:ext cx="343487" cy="20437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 143"/>
          <p:cNvCxnSpPr>
            <a:stCxn id="93" idx="0"/>
            <a:endCxn id="75" idx="2"/>
          </p:cNvCxnSpPr>
          <p:nvPr/>
        </p:nvCxnSpPr>
        <p:spPr>
          <a:xfrm rot="16200000" flipV="1">
            <a:off x="6203216" y="577250"/>
            <a:ext cx="343487" cy="268879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94" idx="0"/>
            <a:endCxn id="75" idx="2"/>
          </p:cNvCxnSpPr>
          <p:nvPr/>
        </p:nvCxnSpPr>
        <p:spPr>
          <a:xfrm rot="16200000" flipV="1">
            <a:off x="6512903" y="267563"/>
            <a:ext cx="343487" cy="330817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cxnSpLocks/>
            <a:stCxn id="16" idx="0"/>
            <a:endCxn id="75" idx="2"/>
          </p:cNvCxnSpPr>
          <p:nvPr/>
        </p:nvCxnSpPr>
        <p:spPr>
          <a:xfrm rot="16200000" flipV="1">
            <a:off x="6810917" y="-30451"/>
            <a:ext cx="343487" cy="390419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" name="Picture 864" descr="j025511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930" y="1952836"/>
            <a:ext cx="188449" cy="177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" name="Picture 864" descr="j025511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320" y="1952836"/>
            <a:ext cx="188449" cy="177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모서리가 둥근 직사각형 94">
            <a:extLst>
              <a:ext uri="{FF2B5EF4-FFF2-40B4-BE49-F238E27FC236}">
                <a16:creationId xmlns:a16="http://schemas.microsoft.com/office/drawing/2014/main" id="{3D16A776-B9B2-7B76-91E1-0E677E2A4D27}"/>
              </a:ext>
            </a:extLst>
          </p:cNvPr>
          <p:cNvSpPr/>
          <p:nvPr/>
        </p:nvSpPr>
        <p:spPr>
          <a:xfrm>
            <a:off x="8701304" y="2093391"/>
            <a:ext cx="46691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통계관리</a:t>
            </a:r>
          </a:p>
        </p:txBody>
      </p: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644307EB-4AEF-9DF9-A665-63EC3A4CFC16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7097260" y="-316794"/>
            <a:ext cx="343487" cy="4476884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FF428B43-48C0-330F-58DF-A58897517C69}"/>
              </a:ext>
            </a:extLst>
          </p:cNvPr>
          <p:cNvSpPr/>
          <p:nvPr/>
        </p:nvSpPr>
        <p:spPr>
          <a:xfrm>
            <a:off x="4578550" y="2093391"/>
            <a:ext cx="1000863" cy="189352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클린신고센터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Picture 864" descr="j0255117">
            <a:extLst>
              <a:ext uri="{FF2B5EF4-FFF2-40B4-BE49-F238E27FC236}">
                <a16:creationId xmlns:a16="http://schemas.microsoft.com/office/drawing/2014/main" id="{9F0D5482-974C-8E59-85DB-3BAD660D3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257" y="1952836"/>
            <a:ext cx="188449" cy="177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714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1EA61-5ABB-DEDA-BDF5-6A6B0A6BF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E50B51FF-F9F9-F0A4-5A5B-7628291BA60F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C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D7D7D7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O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NTENT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S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D40940D8-B69D-92F8-36D1-54DA5BCDF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홈페이지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클린신고센터를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 통해 등록된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신고글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 관리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● 조회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, </a:t>
            </a: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열람</a:t>
            </a:r>
            <a:r>
              <a:rPr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, </a:t>
            </a: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답변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F88FA2B0-B949-7CED-0942-A8526C54F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37030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6A820B7F-CF8C-E887-C69E-295D71704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01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5194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10623-D5BA-182C-F2DC-CAEE7D8CD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>
            <a:extLst>
              <a:ext uri="{FF2B5EF4-FFF2-40B4-BE49-F238E27FC236}">
                <a16:creationId xmlns:a16="http://schemas.microsoft.com/office/drawing/2014/main" id="{30C896F9-25E1-5542-A014-D818A7974B0E}"/>
              </a:ext>
            </a:extLst>
          </p:cNvPr>
          <p:cNvGraphicFramePr>
            <a:graphicFrameLocks/>
          </p:cNvGraphicFramePr>
          <p:nvPr/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사이트관리자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357C1297-474A-2060-512C-541BF057ABB9}"/>
              </a:ext>
            </a:extLst>
          </p:cNvPr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 사이트관리자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855CA612-FCF2-C2FB-786C-C2F671A54F7F}"/>
              </a:ext>
            </a:extLst>
          </p:cNvPr>
          <p:cNvSpPr/>
          <p:nvPr/>
        </p:nvSpPr>
        <p:spPr>
          <a:xfrm>
            <a:off x="164468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대시보드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DA56C35F-B231-DB67-DF21-7D3A4BFEFD0C}"/>
              </a:ext>
            </a:extLst>
          </p:cNvPr>
          <p:cNvSpPr/>
          <p:nvPr/>
        </p:nvSpPr>
        <p:spPr>
          <a:xfrm>
            <a:off x="783842" y="2093391"/>
            <a:ext cx="56496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04A7FB65-22A8-1F73-FDF1-0BCE7665137B}"/>
              </a:ext>
            </a:extLst>
          </p:cNvPr>
          <p:cNvSpPr/>
          <p:nvPr/>
        </p:nvSpPr>
        <p:spPr>
          <a:xfrm>
            <a:off x="1454576" y="2093391"/>
            <a:ext cx="56496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디자인관리</a:t>
            </a: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DF3AC0E6-39B7-D938-360F-1EFA9DB83659}"/>
              </a:ext>
            </a:extLst>
          </p:cNvPr>
          <p:cNvSpPr/>
          <p:nvPr/>
        </p:nvSpPr>
        <p:spPr>
          <a:xfrm>
            <a:off x="2125310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메뉴구성</a:t>
            </a: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B9028A8A-4E07-2AC3-C2A1-7D57618B166E}"/>
              </a:ext>
            </a:extLst>
          </p:cNvPr>
          <p:cNvSpPr/>
          <p:nvPr/>
        </p:nvSpPr>
        <p:spPr>
          <a:xfrm>
            <a:off x="2744684" y="2093391"/>
            <a:ext cx="621457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서브페이지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794AA983-ABB3-83FD-42A2-B76610A4148A}"/>
              </a:ext>
            </a:extLst>
          </p:cNvPr>
          <p:cNvSpPr/>
          <p:nvPr/>
        </p:nvSpPr>
        <p:spPr>
          <a:xfrm>
            <a:off x="3471914" y="2093391"/>
            <a:ext cx="1000863" cy="189352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</a:p>
        </p:txBody>
      </p:sp>
      <p:sp>
        <p:nvSpPr>
          <p:cNvPr id="90" name="모서리가 둥근 직사각형 89">
            <a:extLst>
              <a:ext uri="{FF2B5EF4-FFF2-40B4-BE49-F238E27FC236}">
                <a16:creationId xmlns:a16="http://schemas.microsoft.com/office/drawing/2014/main" id="{2F904C3B-3B50-C320-5ABE-8114677674FC}"/>
              </a:ext>
            </a:extLst>
          </p:cNvPr>
          <p:cNvSpPr/>
          <p:nvPr/>
        </p:nvSpPr>
        <p:spPr>
          <a:xfrm>
            <a:off x="5685186" y="2093391"/>
            <a:ext cx="1000863" cy="189352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자동문자발송관리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2" name="모서리가 둥근 직사각형 91">
            <a:extLst>
              <a:ext uri="{FF2B5EF4-FFF2-40B4-BE49-F238E27FC236}">
                <a16:creationId xmlns:a16="http://schemas.microsoft.com/office/drawing/2014/main" id="{190E257B-BCBC-2089-C242-1A54C7601B29}"/>
              </a:ext>
            </a:extLst>
          </p:cNvPr>
          <p:cNvSpPr/>
          <p:nvPr/>
        </p:nvSpPr>
        <p:spPr>
          <a:xfrm>
            <a:off x="6791822" y="2093391"/>
            <a:ext cx="56496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온라인설문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3" name="모서리가 둥근 직사각형 92">
            <a:extLst>
              <a:ext uri="{FF2B5EF4-FFF2-40B4-BE49-F238E27FC236}">
                <a16:creationId xmlns:a16="http://schemas.microsoft.com/office/drawing/2014/main" id="{B8D19BDD-9638-72E2-5B3F-D3FC0B007F72}"/>
              </a:ext>
            </a:extLst>
          </p:cNvPr>
          <p:cNvSpPr/>
          <p:nvPr/>
        </p:nvSpPr>
        <p:spPr>
          <a:xfrm>
            <a:off x="7462556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</a:p>
        </p:txBody>
      </p:sp>
      <p:sp>
        <p:nvSpPr>
          <p:cNvPr id="94" name="모서리가 둥근 직사각형 93">
            <a:extLst>
              <a:ext uri="{FF2B5EF4-FFF2-40B4-BE49-F238E27FC236}">
                <a16:creationId xmlns:a16="http://schemas.microsoft.com/office/drawing/2014/main" id="{8C6DBE40-BF9D-ABE1-0A8D-44D5C7CC5A3C}"/>
              </a:ext>
            </a:extLst>
          </p:cNvPr>
          <p:cNvSpPr/>
          <p:nvPr/>
        </p:nvSpPr>
        <p:spPr>
          <a:xfrm>
            <a:off x="8081930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운영관리</a:t>
            </a:r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6D576186-3FA8-FFE8-C0D5-8D76464D1FC4}"/>
              </a:ext>
            </a:extLst>
          </p:cNvPr>
          <p:cNvSpPr/>
          <p:nvPr/>
        </p:nvSpPr>
        <p:spPr>
          <a:xfrm>
            <a:off x="9273990" y="2093391"/>
            <a:ext cx="46691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운영지원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5603D0A2-8C4C-AB76-9404-9BD5A3108F3E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rot="5400000" flipH="1" flipV="1">
            <a:off x="2554172" y="-382998"/>
            <a:ext cx="343487" cy="460929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>
            <a:extLst>
              <a:ext uri="{FF2B5EF4-FFF2-40B4-BE49-F238E27FC236}">
                <a16:creationId xmlns:a16="http://schemas.microsoft.com/office/drawing/2014/main" id="{C2FA91F9-AFE3-AF43-3BBE-507B0D07BC8B}"/>
              </a:ext>
            </a:extLst>
          </p:cNvPr>
          <p:cNvCxnSpPr>
            <a:stCxn id="81" idx="0"/>
            <a:endCxn id="75" idx="2"/>
          </p:cNvCxnSpPr>
          <p:nvPr/>
        </p:nvCxnSpPr>
        <p:spPr>
          <a:xfrm rot="5400000" flipH="1" flipV="1">
            <a:off x="2876699" y="-60471"/>
            <a:ext cx="343487" cy="396423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>
            <a:extLst>
              <a:ext uri="{FF2B5EF4-FFF2-40B4-BE49-F238E27FC236}">
                <a16:creationId xmlns:a16="http://schemas.microsoft.com/office/drawing/2014/main" id="{06D49371-8864-0AA9-C5CD-AF42525EA708}"/>
              </a:ext>
            </a:extLst>
          </p:cNvPr>
          <p:cNvCxnSpPr>
            <a:stCxn id="82" idx="0"/>
            <a:endCxn id="75" idx="2"/>
          </p:cNvCxnSpPr>
          <p:nvPr/>
        </p:nvCxnSpPr>
        <p:spPr>
          <a:xfrm rot="5400000" flipH="1" flipV="1">
            <a:off x="3212066" y="274896"/>
            <a:ext cx="343487" cy="3293504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>
            <a:extLst>
              <a:ext uri="{FF2B5EF4-FFF2-40B4-BE49-F238E27FC236}">
                <a16:creationId xmlns:a16="http://schemas.microsoft.com/office/drawing/2014/main" id="{F9B6FF87-0ACE-29B7-BE7D-BF6DB761935C}"/>
              </a:ext>
            </a:extLst>
          </p:cNvPr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3534593" y="597423"/>
            <a:ext cx="343487" cy="264845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>
            <a:extLst>
              <a:ext uri="{FF2B5EF4-FFF2-40B4-BE49-F238E27FC236}">
                <a16:creationId xmlns:a16="http://schemas.microsoft.com/office/drawing/2014/main" id="{B79A402D-789D-D20B-932E-7BADACB1E426}"/>
              </a:ext>
            </a:extLst>
          </p:cNvPr>
          <p:cNvCxnSpPr>
            <a:stCxn id="84" idx="0"/>
            <a:endCxn id="75" idx="2"/>
          </p:cNvCxnSpPr>
          <p:nvPr/>
        </p:nvCxnSpPr>
        <p:spPr>
          <a:xfrm rot="5400000" flipH="1" flipV="1">
            <a:off x="3871244" y="934074"/>
            <a:ext cx="343487" cy="197514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>
            <a:extLst>
              <a:ext uri="{FF2B5EF4-FFF2-40B4-BE49-F238E27FC236}">
                <a16:creationId xmlns:a16="http://schemas.microsoft.com/office/drawing/2014/main" id="{0020D21B-C4C0-E5BD-5802-39B1F8152176}"/>
              </a:ext>
            </a:extLst>
          </p:cNvPr>
          <p:cNvCxnSpPr>
            <a:stCxn id="85" idx="0"/>
            <a:endCxn id="75" idx="2"/>
          </p:cNvCxnSpPr>
          <p:nvPr/>
        </p:nvCxnSpPr>
        <p:spPr>
          <a:xfrm rot="5400000" flipH="1" flipV="1">
            <a:off x="4329710" y="1392541"/>
            <a:ext cx="343487" cy="105821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>
            <a:extLst>
              <a:ext uri="{FF2B5EF4-FFF2-40B4-BE49-F238E27FC236}">
                <a16:creationId xmlns:a16="http://schemas.microsoft.com/office/drawing/2014/main" id="{FF3CE542-5153-C4F8-6E99-738B1A1F73C9}"/>
              </a:ext>
            </a:extLst>
          </p:cNvPr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4883029" y="1897437"/>
            <a:ext cx="343487" cy="4842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연결선 138">
            <a:extLst>
              <a:ext uri="{FF2B5EF4-FFF2-40B4-BE49-F238E27FC236}">
                <a16:creationId xmlns:a16="http://schemas.microsoft.com/office/drawing/2014/main" id="{94B5F21B-A9FA-352C-54DE-6B12FC2D2C54}"/>
              </a:ext>
            </a:extLst>
          </p:cNvPr>
          <p:cNvCxnSpPr>
            <a:stCxn id="90" idx="0"/>
            <a:endCxn id="75" idx="2"/>
          </p:cNvCxnSpPr>
          <p:nvPr/>
        </p:nvCxnSpPr>
        <p:spPr>
          <a:xfrm rot="16200000" flipV="1">
            <a:off x="5436347" y="1344119"/>
            <a:ext cx="343487" cy="115505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꺾인 연결선 142">
            <a:extLst>
              <a:ext uri="{FF2B5EF4-FFF2-40B4-BE49-F238E27FC236}">
                <a16:creationId xmlns:a16="http://schemas.microsoft.com/office/drawing/2014/main" id="{1D258C2C-5E54-7961-BFCE-34779E714677}"/>
              </a:ext>
            </a:extLst>
          </p:cNvPr>
          <p:cNvCxnSpPr>
            <a:stCxn id="92" idx="0"/>
            <a:endCxn id="75" idx="2"/>
          </p:cNvCxnSpPr>
          <p:nvPr/>
        </p:nvCxnSpPr>
        <p:spPr>
          <a:xfrm rot="16200000" flipV="1">
            <a:off x="5880689" y="899777"/>
            <a:ext cx="343487" cy="20437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 143">
            <a:extLst>
              <a:ext uri="{FF2B5EF4-FFF2-40B4-BE49-F238E27FC236}">
                <a16:creationId xmlns:a16="http://schemas.microsoft.com/office/drawing/2014/main" id="{D08788AD-F3BB-0DCF-33DA-F68258DEA0BA}"/>
              </a:ext>
            </a:extLst>
          </p:cNvPr>
          <p:cNvCxnSpPr>
            <a:stCxn id="93" idx="0"/>
            <a:endCxn id="75" idx="2"/>
          </p:cNvCxnSpPr>
          <p:nvPr/>
        </p:nvCxnSpPr>
        <p:spPr>
          <a:xfrm rot="16200000" flipV="1">
            <a:off x="6203216" y="577250"/>
            <a:ext cx="343487" cy="268879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>
            <a:extLst>
              <a:ext uri="{FF2B5EF4-FFF2-40B4-BE49-F238E27FC236}">
                <a16:creationId xmlns:a16="http://schemas.microsoft.com/office/drawing/2014/main" id="{F9603054-DA2D-3032-82D5-B1139B8C2A62}"/>
              </a:ext>
            </a:extLst>
          </p:cNvPr>
          <p:cNvCxnSpPr>
            <a:stCxn id="94" idx="0"/>
            <a:endCxn id="75" idx="2"/>
          </p:cNvCxnSpPr>
          <p:nvPr/>
        </p:nvCxnSpPr>
        <p:spPr>
          <a:xfrm rot="16200000" flipV="1">
            <a:off x="6512903" y="267563"/>
            <a:ext cx="343487" cy="330817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>
            <a:extLst>
              <a:ext uri="{FF2B5EF4-FFF2-40B4-BE49-F238E27FC236}">
                <a16:creationId xmlns:a16="http://schemas.microsoft.com/office/drawing/2014/main" id="{C0A374B7-F941-308A-216F-54B848AB7DD7}"/>
              </a:ext>
            </a:extLst>
          </p:cNvPr>
          <p:cNvCxnSpPr>
            <a:cxnSpLocks/>
            <a:stCxn id="16" idx="0"/>
            <a:endCxn id="75" idx="2"/>
          </p:cNvCxnSpPr>
          <p:nvPr/>
        </p:nvCxnSpPr>
        <p:spPr>
          <a:xfrm rot="16200000" flipV="1">
            <a:off x="6810917" y="-30451"/>
            <a:ext cx="343487" cy="390419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" name="Picture 864" descr="j0255117">
            <a:extLst>
              <a:ext uri="{FF2B5EF4-FFF2-40B4-BE49-F238E27FC236}">
                <a16:creationId xmlns:a16="http://schemas.microsoft.com/office/drawing/2014/main" id="{84E26FF2-8B27-DB60-3659-30800F325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930" y="1952836"/>
            <a:ext cx="188449" cy="177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" name="Picture 864" descr="j0255117">
            <a:extLst>
              <a:ext uri="{FF2B5EF4-FFF2-40B4-BE49-F238E27FC236}">
                <a16:creationId xmlns:a16="http://schemas.microsoft.com/office/drawing/2014/main" id="{2BC6371A-387E-3BFF-678F-F51584437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320" y="1952836"/>
            <a:ext cx="188449" cy="177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모서리가 둥근 직사각형 94">
            <a:extLst>
              <a:ext uri="{FF2B5EF4-FFF2-40B4-BE49-F238E27FC236}">
                <a16:creationId xmlns:a16="http://schemas.microsoft.com/office/drawing/2014/main" id="{8648D3D0-D7B2-A648-94A4-AE34988F8A70}"/>
              </a:ext>
            </a:extLst>
          </p:cNvPr>
          <p:cNvSpPr/>
          <p:nvPr/>
        </p:nvSpPr>
        <p:spPr>
          <a:xfrm>
            <a:off x="8701304" y="2093391"/>
            <a:ext cx="46691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통계관리</a:t>
            </a:r>
          </a:p>
        </p:txBody>
      </p: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3E1BDE57-70D5-6AF6-C24F-56B2EB623E8B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7097260" y="-316794"/>
            <a:ext cx="343487" cy="4476884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A7721CFE-E7E0-EF2B-44A5-DDEF4039ACC1}"/>
              </a:ext>
            </a:extLst>
          </p:cNvPr>
          <p:cNvSpPr/>
          <p:nvPr/>
        </p:nvSpPr>
        <p:spPr>
          <a:xfrm>
            <a:off x="4578550" y="2093391"/>
            <a:ext cx="1000863" cy="189352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Picture 864" descr="j0255117">
            <a:extLst>
              <a:ext uri="{FF2B5EF4-FFF2-40B4-BE49-F238E27FC236}">
                <a16:creationId xmlns:a16="http://schemas.microsoft.com/office/drawing/2014/main" id="{2D8C6CC0-7FF7-2844-8F66-4B0AFB112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257" y="1952836"/>
            <a:ext cx="188449" cy="177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모서리가 둥근 직사각형 83">
            <a:extLst>
              <a:ext uri="{FF2B5EF4-FFF2-40B4-BE49-F238E27FC236}">
                <a16:creationId xmlns:a16="http://schemas.microsoft.com/office/drawing/2014/main" id="{B48D867A-08E9-6996-A908-F12DAA7B0EAF}"/>
              </a:ext>
            </a:extLst>
          </p:cNvPr>
          <p:cNvSpPr/>
          <p:nvPr/>
        </p:nvSpPr>
        <p:spPr>
          <a:xfrm>
            <a:off x="5201395" y="2344450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 관리</a:t>
            </a:r>
          </a:p>
        </p:txBody>
      </p:sp>
      <p:cxnSp>
        <p:nvCxnSpPr>
          <p:cNvPr id="3" name="꺾인 연결선 111">
            <a:extLst>
              <a:ext uri="{FF2B5EF4-FFF2-40B4-BE49-F238E27FC236}">
                <a16:creationId xmlns:a16="http://schemas.microsoft.com/office/drawing/2014/main" id="{62C49CC4-9388-56B8-E22C-741CF624EF85}"/>
              </a:ext>
            </a:extLst>
          </p:cNvPr>
          <p:cNvCxnSpPr>
            <a:cxnSpLocks/>
            <a:stCxn id="2" idx="1"/>
            <a:endCxn id="14" idx="2"/>
          </p:cNvCxnSpPr>
          <p:nvPr/>
        </p:nvCxnSpPr>
        <p:spPr>
          <a:xfrm rot="10800000">
            <a:off x="5078983" y="2282743"/>
            <a:ext cx="122413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83">
            <a:extLst>
              <a:ext uri="{FF2B5EF4-FFF2-40B4-BE49-F238E27FC236}">
                <a16:creationId xmlns:a16="http://schemas.microsoft.com/office/drawing/2014/main" id="{3DD5405D-1C2B-D9D7-1207-10A78D727874}"/>
              </a:ext>
            </a:extLst>
          </p:cNvPr>
          <p:cNvSpPr/>
          <p:nvPr/>
        </p:nvSpPr>
        <p:spPr>
          <a:xfrm>
            <a:off x="5826667" y="2563786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cxnSp>
        <p:nvCxnSpPr>
          <p:cNvPr id="27" name="꺾인 연결선 111">
            <a:extLst>
              <a:ext uri="{FF2B5EF4-FFF2-40B4-BE49-F238E27FC236}">
                <a16:creationId xmlns:a16="http://schemas.microsoft.com/office/drawing/2014/main" id="{E502EE9D-554A-4D21-021D-8F9C48D48B8B}"/>
              </a:ext>
            </a:extLst>
          </p:cNvPr>
          <p:cNvCxnSpPr>
            <a:cxnSpLocks/>
            <a:stCxn id="26" idx="1"/>
            <a:endCxn id="2" idx="2"/>
          </p:cNvCxnSpPr>
          <p:nvPr/>
        </p:nvCxnSpPr>
        <p:spPr>
          <a:xfrm rot="10800000">
            <a:off x="5669091" y="2516589"/>
            <a:ext cx="157576" cy="13326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모서리가 둥근 직사각형 83">
            <a:extLst>
              <a:ext uri="{FF2B5EF4-FFF2-40B4-BE49-F238E27FC236}">
                <a16:creationId xmlns:a16="http://schemas.microsoft.com/office/drawing/2014/main" id="{80F44D7C-1B59-097E-EC86-AA1D8519F771}"/>
              </a:ext>
            </a:extLst>
          </p:cNvPr>
          <p:cNvSpPr/>
          <p:nvPr/>
        </p:nvSpPr>
        <p:spPr>
          <a:xfrm>
            <a:off x="6793420" y="2563786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신고처리</a:t>
            </a:r>
          </a:p>
        </p:txBody>
      </p:sp>
      <p:sp>
        <p:nvSpPr>
          <p:cNvPr id="21" name="모서리가 둥근 직사각형 83">
            <a:extLst>
              <a:ext uri="{FF2B5EF4-FFF2-40B4-BE49-F238E27FC236}">
                <a16:creationId xmlns:a16="http://schemas.microsoft.com/office/drawing/2014/main" id="{08A8C2D5-926E-F1B8-5CED-F2D8097513DD}"/>
              </a:ext>
            </a:extLst>
          </p:cNvPr>
          <p:cNvSpPr/>
          <p:nvPr/>
        </p:nvSpPr>
        <p:spPr>
          <a:xfrm>
            <a:off x="5201395" y="2783122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구분 관리</a:t>
            </a:r>
          </a:p>
        </p:txBody>
      </p:sp>
      <p:cxnSp>
        <p:nvCxnSpPr>
          <p:cNvPr id="22" name="꺾인 연결선 111">
            <a:extLst>
              <a:ext uri="{FF2B5EF4-FFF2-40B4-BE49-F238E27FC236}">
                <a16:creationId xmlns:a16="http://schemas.microsoft.com/office/drawing/2014/main" id="{C7583A80-4C15-B9EC-8DFF-89AC306B0A21}"/>
              </a:ext>
            </a:extLst>
          </p:cNvPr>
          <p:cNvCxnSpPr>
            <a:cxnSpLocks/>
            <a:stCxn id="21" idx="1"/>
            <a:endCxn id="14" idx="2"/>
          </p:cNvCxnSpPr>
          <p:nvPr/>
        </p:nvCxnSpPr>
        <p:spPr>
          <a:xfrm rot="10800000">
            <a:off x="5078983" y="2282743"/>
            <a:ext cx="122413" cy="58644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모서리가 둥근 직사각형 83">
            <a:extLst>
              <a:ext uri="{FF2B5EF4-FFF2-40B4-BE49-F238E27FC236}">
                <a16:creationId xmlns:a16="http://schemas.microsoft.com/office/drawing/2014/main" id="{CA49E48D-01F1-2B8E-E050-41739E4E4E8F}"/>
              </a:ext>
            </a:extLst>
          </p:cNvPr>
          <p:cNvSpPr/>
          <p:nvPr/>
        </p:nvSpPr>
        <p:spPr>
          <a:xfrm>
            <a:off x="5201395" y="3011946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개인정보동의관리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" name="꺾인 연결선 111">
            <a:extLst>
              <a:ext uri="{FF2B5EF4-FFF2-40B4-BE49-F238E27FC236}">
                <a16:creationId xmlns:a16="http://schemas.microsoft.com/office/drawing/2014/main" id="{C514F572-EB25-8F7C-B3C4-2A515E0F8F62}"/>
              </a:ext>
            </a:extLst>
          </p:cNvPr>
          <p:cNvCxnSpPr>
            <a:cxnSpLocks/>
            <a:stCxn id="4" idx="1"/>
            <a:endCxn id="14" idx="2"/>
          </p:cNvCxnSpPr>
          <p:nvPr/>
        </p:nvCxnSpPr>
        <p:spPr>
          <a:xfrm rot="10800000">
            <a:off x="5078983" y="2282743"/>
            <a:ext cx="122413" cy="81527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59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D761A-E9F3-D9D9-E202-4434C4EE2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7788D486-FF21-B3D8-6F0B-D0EE2BD80644}"/>
              </a:ext>
            </a:extLst>
          </p:cNvPr>
          <p:cNvSpPr/>
          <p:nvPr/>
        </p:nvSpPr>
        <p:spPr>
          <a:xfrm>
            <a:off x="1205886" y="1781925"/>
            <a:ext cx="5691801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1BF897C-59A6-F61E-449C-0CA144C325E3}"/>
              </a:ext>
            </a:extLst>
          </p:cNvPr>
          <p:cNvSpPr/>
          <p:nvPr/>
        </p:nvSpPr>
        <p:spPr>
          <a:xfrm>
            <a:off x="164468" y="1781925"/>
            <a:ext cx="1008050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6E5E4-E7CE-AF4C-86E4-F24E15B864C0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데이터관리 조회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0EC3B9-1499-6BBE-242E-7EB88ECCBAD2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5E4B5DC0-0CA5-7F0E-E9DD-E95A8D920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693191"/>
              </p:ext>
            </p:extLst>
          </p:nvPr>
        </p:nvGraphicFramePr>
        <p:xfrm>
          <a:off x="6969418" y="2548005"/>
          <a:ext cx="2772114" cy="337068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사이트관리자 메뉴 중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홈페이지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열린경영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클린신고센터에서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등록된 신고 게시글 관리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데이터관리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조회 및 관리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신고구분관리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 게시글 구분 카테고리 관리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개인정보동의관리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 게시글 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 동의하는 개인정보 수집 및 활용에 대한 동의 내용 설정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년도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2025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2026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2027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2028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2029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2030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년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년도 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해당 년도에 등록된 신고이 목록에 표시 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신청일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일자란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캘린더에서 해당 일자 선택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일자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~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일자 설정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설정한 일자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~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일자 내 등록된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신고글이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목록에 표시 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신고구분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신고구분관리에서 설정된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구분값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선택한 구분으로 등록된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신고글이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목록에 표시 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상태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업수완료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최초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신고글이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등록된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접수완료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신고글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등록 후 관리자가 접수완료 처리한 상태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BFB4E2DE-C81D-8816-67B8-8C25B6652E69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dmd_hit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D556334-BD65-8A3E-6CAF-075A3D8F2CA5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D67472A-8732-2EA8-4B65-4A3CC74A35AE}"/>
              </a:ext>
            </a:extLst>
          </p:cNvPr>
          <p:cNvSpPr/>
          <p:nvPr/>
        </p:nvSpPr>
        <p:spPr>
          <a:xfrm>
            <a:off x="5797379" y="1512762"/>
            <a:ext cx="53861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8DA5D1E7-356D-D70D-C68C-249D20CE2835}"/>
              </a:ext>
            </a:extLst>
          </p:cNvPr>
          <p:cNvSpPr/>
          <p:nvPr/>
        </p:nvSpPr>
        <p:spPr>
          <a:xfrm>
            <a:off x="6399091" y="1463605"/>
            <a:ext cx="426117" cy="196385"/>
          </a:xfrm>
          <a:prstGeom prst="roundRect">
            <a:avLst>
              <a:gd name="adj" fmla="val 9419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로그아웃</a:t>
            </a:r>
          </a:p>
        </p:txBody>
      </p:sp>
      <p:pic>
        <p:nvPicPr>
          <p:cNvPr id="1029" name="Picture 5" descr="D:\05 문서\02 문서 디자인\아이콘\icon2\65097-200.png">
            <a:extLst>
              <a:ext uri="{FF2B5EF4-FFF2-40B4-BE49-F238E27FC236}">
                <a16:creationId xmlns:a16="http://schemas.microsoft.com/office/drawing/2014/main" id="{EAB4D206-2A82-E499-3C53-33C948B7D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455" y="1482540"/>
            <a:ext cx="145564" cy="1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E4046A0-019C-0595-8D2F-ECC96ABAFA42}"/>
              </a:ext>
            </a:extLst>
          </p:cNvPr>
          <p:cNvSpPr/>
          <p:nvPr/>
        </p:nvSpPr>
        <p:spPr>
          <a:xfrm>
            <a:off x="5683870" y="1899146"/>
            <a:ext cx="114133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데이터관리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75471BC-A6AD-D66E-D4BD-9B17B776D39E}"/>
              </a:ext>
            </a:extLst>
          </p:cNvPr>
          <p:cNvSpPr/>
          <p:nvPr/>
        </p:nvSpPr>
        <p:spPr>
          <a:xfrm>
            <a:off x="1285777" y="1838274"/>
            <a:ext cx="692497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E9257F97-8156-64C7-6200-6A84DE6A3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6B0C004B-490E-B594-1974-ED6F9F533B10}"/>
              </a:ext>
            </a:extLst>
          </p:cNvPr>
          <p:cNvSpPr/>
          <p:nvPr/>
        </p:nvSpPr>
        <p:spPr>
          <a:xfrm>
            <a:off x="220357" y="1867077"/>
            <a:ext cx="750205" cy="22108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대시보드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메뉴구성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서브페이지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 설문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FD94A8-3B5D-EF42-53EB-8D36B704E219}"/>
              </a:ext>
            </a:extLst>
          </p:cNvPr>
          <p:cNvSpPr/>
          <p:nvPr/>
        </p:nvSpPr>
        <p:spPr>
          <a:xfrm>
            <a:off x="1313332" y="2168860"/>
            <a:ext cx="44884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데이터관리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22AC4C-AB7B-3FBB-2897-532ED7420BD9}"/>
              </a:ext>
            </a:extLst>
          </p:cNvPr>
          <p:cNvSpPr/>
          <p:nvPr/>
        </p:nvSpPr>
        <p:spPr>
          <a:xfrm>
            <a:off x="1965635" y="2168860"/>
            <a:ext cx="53860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신고구분관리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D438E49-A256-9592-81EE-2150DD9001F7}"/>
              </a:ext>
            </a:extLst>
          </p:cNvPr>
          <p:cNvCxnSpPr>
            <a:cxnSpLocks/>
          </p:cNvCxnSpPr>
          <p:nvPr/>
        </p:nvCxnSpPr>
        <p:spPr>
          <a:xfrm>
            <a:off x="1300577" y="2331563"/>
            <a:ext cx="542468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B2B27AC8-CCC6-2AC6-BE96-77A02154F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515" y="2444822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654EDF24-51D3-E2DF-B036-4B1F300184C1}"/>
              </a:ext>
            </a:extLst>
          </p:cNvPr>
          <p:cNvSpPr/>
          <p:nvPr/>
        </p:nvSpPr>
        <p:spPr>
          <a:xfrm>
            <a:off x="1313332" y="2445086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년도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74BBEAF-CA96-C196-7BE3-02BDF80D96E8}"/>
              </a:ext>
            </a:extLst>
          </p:cNvPr>
          <p:cNvSpPr/>
          <p:nvPr/>
        </p:nvSpPr>
        <p:spPr>
          <a:xfrm>
            <a:off x="2382715" y="2445278"/>
            <a:ext cx="621818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2025-10-13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pic>
        <p:nvPicPr>
          <p:cNvPr id="20" name="Picture 34" descr="D:\06 문서 디자인\아이콘\icon2\appbar.calendar.png">
            <a:extLst>
              <a:ext uri="{FF2B5EF4-FFF2-40B4-BE49-F238E27FC236}">
                <a16:creationId xmlns:a16="http://schemas.microsoft.com/office/drawing/2014/main" id="{CC6DE90E-80E7-FF74-2400-4EAE57FE2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379" y="2420766"/>
            <a:ext cx="208265" cy="20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191">
            <a:extLst>
              <a:ext uri="{FF2B5EF4-FFF2-40B4-BE49-F238E27FC236}">
                <a16:creationId xmlns:a16="http://schemas.microsoft.com/office/drawing/2014/main" id="{333B9A48-8147-6CB3-2AB8-E32686241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566" y="2463417"/>
            <a:ext cx="36870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latinLnBrk="0">
              <a:defRPr/>
            </a:pPr>
            <a:r>
              <a:rPr lang="en-US" altLang="ko-KR" sz="700" kern="0" dirty="0">
                <a:solidFill>
                  <a:srgbClr val="000000"/>
                </a:solidFill>
              </a:rPr>
              <a:t>-</a:t>
            </a:r>
            <a:endParaRPr lang="ko-KR" altLang="en-US" sz="700" kern="0" dirty="0">
              <a:solidFill>
                <a:srgbClr val="000000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21666EA-EE37-3C6C-D465-B84AC76C98A0}"/>
              </a:ext>
            </a:extLst>
          </p:cNvPr>
          <p:cNvSpPr/>
          <p:nvPr/>
        </p:nvSpPr>
        <p:spPr>
          <a:xfrm>
            <a:off x="3268059" y="2445278"/>
            <a:ext cx="621818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2025-10-13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pic>
        <p:nvPicPr>
          <p:cNvPr id="25" name="Picture 34" descr="D:\06 문서 디자인\아이콘\icon2\appbar.calendar.png">
            <a:extLst>
              <a:ext uri="{FF2B5EF4-FFF2-40B4-BE49-F238E27FC236}">
                <a16:creationId xmlns:a16="http://schemas.microsoft.com/office/drawing/2014/main" id="{E50DFE5F-FD87-3702-1459-0B94F532C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723" y="2420766"/>
            <a:ext cx="208265" cy="20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191">
            <a:extLst>
              <a:ext uri="{FF2B5EF4-FFF2-40B4-BE49-F238E27FC236}">
                <a16:creationId xmlns:a16="http://schemas.microsoft.com/office/drawing/2014/main" id="{70A75FEE-1970-B442-790E-568EB69B5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0714" y="2468138"/>
            <a:ext cx="320601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latinLnBrk="0">
              <a:defRPr/>
            </a:pPr>
            <a:r>
              <a:rPr lang="ko-KR" altLang="en-US" sz="700" kern="0" dirty="0">
                <a:solidFill>
                  <a:srgbClr val="000000"/>
                </a:solidFill>
              </a:rPr>
              <a:t>신청일 </a:t>
            </a:r>
            <a:r>
              <a:rPr lang="en-US" altLang="ko-KR" sz="700" kern="0" dirty="0">
                <a:solidFill>
                  <a:srgbClr val="000000"/>
                </a:solidFill>
              </a:rPr>
              <a:t>:</a:t>
            </a:r>
            <a:endParaRPr lang="ko-KR" altLang="en-US" sz="700" kern="0" dirty="0">
              <a:solidFill>
                <a:srgbClr val="000000"/>
              </a:solidFill>
            </a:endParaRPr>
          </a:p>
        </p:txBody>
      </p:sp>
      <p:pic>
        <p:nvPicPr>
          <p:cNvPr id="27" name="Picture 13">
            <a:extLst>
              <a:ext uri="{FF2B5EF4-FFF2-40B4-BE49-F238E27FC236}">
                <a16:creationId xmlns:a16="http://schemas.microsoft.com/office/drawing/2014/main" id="{84B6033B-A90D-8BA5-08CF-A1E251391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515" y="269773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4F5DDC8F-032B-D6E5-85C6-0611512A6EBE}"/>
              </a:ext>
            </a:extLst>
          </p:cNvPr>
          <p:cNvSpPr/>
          <p:nvPr/>
        </p:nvSpPr>
        <p:spPr>
          <a:xfrm>
            <a:off x="1313332" y="2697994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신고구분</a:t>
            </a:r>
          </a:p>
        </p:txBody>
      </p:sp>
      <p:pic>
        <p:nvPicPr>
          <p:cNvPr id="29" name="Picture 13">
            <a:extLst>
              <a:ext uri="{FF2B5EF4-FFF2-40B4-BE49-F238E27FC236}">
                <a16:creationId xmlns:a16="http://schemas.microsoft.com/office/drawing/2014/main" id="{128F52A7-644F-070D-5DD0-01AEF8F5B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388" y="269773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2863ACA9-4E73-1BEE-2BCC-6CE8D61F2AA7}"/>
              </a:ext>
            </a:extLst>
          </p:cNvPr>
          <p:cNvSpPr/>
          <p:nvPr/>
        </p:nvSpPr>
        <p:spPr>
          <a:xfrm>
            <a:off x="1987205" y="2697994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상태</a:t>
            </a:r>
          </a:p>
        </p:txBody>
      </p:sp>
      <p:pic>
        <p:nvPicPr>
          <p:cNvPr id="31" name="Picture 13">
            <a:extLst>
              <a:ext uri="{FF2B5EF4-FFF2-40B4-BE49-F238E27FC236}">
                <a16:creationId xmlns:a16="http://schemas.microsoft.com/office/drawing/2014/main" id="{13B43A7C-67B9-D66D-5553-8BF87EBD7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761" y="269773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D1C31261-08EB-8238-68AA-9CE87F64FAF3}"/>
              </a:ext>
            </a:extLst>
          </p:cNvPr>
          <p:cNvSpPr/>
          <p:nvPr/>
        </p:nvSpPr>
        <p:spPr>
          <a:xfrm>
            <a:off x="2642175" y="2697994"/>
            <a:ext cx="6336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전체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7868F59-FCE7-BD61-D2B5-C9A87770F3AE}"/>
              </a:ext>
            </a:extLst>
          </p:cNvPr>
          <p:cNvSpPr/>
          <p:nvPr/>
        </p:nvSpPr>
        <p:spPr>
          <a:xfrm>
            <a:off x="5622613" y="2701031"/>
            <a:ext cx="335885" cy="144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>
                <a:solidFill>
                  <a:prstClr val="white"/>
                </a:solidFill>
              </a:rPr>
              <a:t>검색</a:t>
            </a:r>
            <a:endParaRPr lang="ko-KR" altLang="en-US" sz="700" b="1" dirty="0">
              <a:solidFill>
                <a:prstClr val="white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45EC7F-1CE0-433A-E7F1-84FE564E11A9}"/>
              </a:ext>
            </a:extLst>
          </p:cNvPr>
          <p:cNvSpPr/>
          <p:nvPr/>
        </p:nvSpPr>
        <p:spPr>
          <a:xfrm>
            <a:off x="3476192" y="2701031"/>
            <a:ext cx="2114609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>
                <a:solidFill>
                  <a:schemeClr val="bg1">
                    <a:lumMod val="50000"/>
                  </a:schemeClr>
                </a:solidFill>
              </a:rPr>
              <a:t>검색어를 입력하세요</a:t>
            </a:r>
            <a:r>
              <a:rPr lang="en-US" altLang="ko-KR" sz="70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B42E117C-4E42-2E64-63D6-12B3FE251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00695"/>
              </p:ext>
            </p:extLst>
          </p:nvPr>
        </p:nvGraphicFramePr>
        <p:xfrm>
          <a:off x="1330656" y="3209368"/>
          <a:ext cx="5467704" cy="26341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2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84598530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706196115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12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94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상담제목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고등학생 장학금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클린신고</a:t>
                      </a:r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제목 입니다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대학생 장학금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접수완료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특기생</a:t>
                      </a:r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장학금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행복기숙사</a:t>
                      </a:r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입사비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평생교육장려금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접수완료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접수완료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기타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접수완료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기타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접수완료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기타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접수완료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기타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접수완료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4" name="직사각형 43">
            <a:extLst>
              <a:ext uri="{FF2B5EF4-FFF2-40B4-BE49-F238E27FC236}">
                <a16:creationId xmlns:a16="http://schemas.microsoft.com/office/drawing/2014/main" id="{798D4B2E-C205-B460-1948-DE4A5593B952}"/>
              </a:ext>
            </a:extLst>
          </p:cNvPr>
          <p:cNvSpPr/>
          <p:nvPr/>
        </p:nvSpPr>
        <p:spPr>
          <a:xfrm>
            <a:off x="3516405" y="5956567"/>
            <a:ext cx="1016304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처음</a:t>
            </a:r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◀  1  2  ▶  </a:t>
            </a:r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마지막</a:t>
            </a:r>
          </a:p>
        </p:txBody>
      </p:sp>
      <p:pic>
        <p:nvPicPr>
          <p:cNvPr id="48" name="Picture 13">
            <a:extLst>
              <a:ext uri="{FF2B5EF4-FFF2-40B4-BE49-F238E27FC236}">
                <a16:creationId xmlns:a16="http://schemas.microsoft.com/office/drawing/2014/main" id="{198AC04C-D5FF-034B-654F-570043C83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693" y="3006754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A088720B-8C05-3B1D-8667-0CA59BDDAC0D}"/>
              </a:ext>
            </a:extLst>
          </p:cNvPr>
          <p:cNvSpPr/>
          <p:nvPr/>
        </p:nvSpPr>
        <p:spPr>
          <a:xfrm>
            <a:off x="6311364" y="3008404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10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531887F-7B17-9FDA-2F0F-0670A6C03DC1}"/>
              </a:ext>
            </a:extLst>
          </p:cNvPr>
          <p:cNvSpPr/>
          <p:nvPr/>
        </p:nvSpPr>
        <p:spPr>
          <a:xfrm>
            <a:off x="2693624" y="2168860"/>
            <a:ext cx="71814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개인정보동의관리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CA69A71-E019-3B0F-78DE-FB22BB3FFC9B}"/>
              </a:ext>
            </a:extLst>
          </p:cNvPr>
          <p:cNvSpPr>
            <a:spLocks noChangeAspect="1"/>
          </p:cNvSpPr>
          <p:nvPr/>
        </p:nvSpPr>
        <p:spPr>
          <a:xfrm>
            <a:off x="1141668" y="215072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05A7D49-7E18-F957-ACB2-3CEB75AC433A}"/>
              </a:ext>
            </a:extLst>
          </p:cNvPr>
          <p:cNvSpPr>
            <a:spLocks noChangeAspect="1"/>
          </p:cNvSpPr>
          <p:nvPr/>
        </p:nvSpPr>
        <p:spPr>
          <a:xfrm>
            <a:off x="1141668" y="255703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49F110E-25AC-0CF4-3A8D-8D65F18E07DD}"/>
              </a:ext>
            </a:extLst>
          </p:cNvPr>
          <p:cNvSpPr>
            <a:spLocks noChangeAspect="1"/>
          </p:cNvSpPr>
          <p:nvPr/>
        </p:nvSpPr>
        <p:spPr>
          <a:xfrm>
            <a:off x="1254092" y="313433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977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7DA8C-107D-CBB0-E760-F245DB8DD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7598CCA4-0295-362D-8B4C-A62CB8CCE993}"/>
              </a:ext>
            </a:extLst>
          </p:cNvPr>
          <p:cNvSpPr/>
          <p:nvPr/>
        </p:nvSpPr>
        <p:spPr>
          <a:xfrm>
            <a:off x="1205886" y="1781925"/>
            <a:ext cx="5691801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62A3723-CA38-5184-ED75-A2EB7F3A3347}"/>
              </a:ext>
            </a:extLst>
          </p:cNvPr>
          <p:cNvSpPr/>
          <p:nvPr/>
        </p:nvSpPr>
        <p:spPr>
          <a:xfrm>
            <a:off x="164468" y="1781925"/>
            <a:ext cx="1008050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B6094-B271-B91A-9B8C-DA30F02A5A3F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데이터관리 조회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E9CCD2-D9B7-CB70-7580-5868600C4228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8D9D7DE2-E301-E00E-7F5D-069E5D849C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039349"/>
              </p:ext>
            </p:extLst>
          </p:nvPr>
        </p:nvGraphicFramePr>
        <p:xfrm>
          <a:off x="6969418" y="2548005"/>
          <a:ext cx="2772114" cy="250112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검색조건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전체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신고자명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검색조건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조건에 맞는 검색어 입력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조건에 맞는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신고글이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목록에 표시 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구분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해당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신고글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등록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수정 시 설정된 구분을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제목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수정 시 설정한 제목을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해당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신고글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설정 화면으로 이동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신고자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해당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 시 설정된 신고자 이름을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연락처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해당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 시 설정된 연락처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이메일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해당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 시 설정된 이메일 주소를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해당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 일자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상태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업수완료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최초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신고글이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등록된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접수완료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신고글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등록 후 관리자가 접수완료 처리한 상태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122885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6DB50C1B-E736-F2E8-EBA4-3E261FDBF93B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dmd_hit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B95C4CD-697A-7699-A6EE-9A1536280B77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FE8A7A5-2A2C-272C-26D6-B16277CEAC18}"/>
              </a:ext>
            </a:extLst>
          </p:cNvPr>
          <p:cNvSpPr/>
          <p:nvPr/>
        </p:nvSpPr>
        <p:spPr>
          <a:xfrm>
            <a:off x="5797379" y="1512762"/>
            <a:ext cx="53861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C8D859BB-4372-2503-F188-5DC05353AFF6}"/>
              </a:ext>
            </a:extLst>
          </p:cNvPr>
          <p:cNvSpPr/>
          <p:nvPr/>
        </p:nvSpPr>
        <p:spPr>
          <a:xfrm>
            <a:off x="6399091" y="1463605"/>
            <a:ext cx="426117" cy="196385"/>
          </a:xfrm>
          <a:prstGeom prst="roundRect">
            <a:avLst>
              <a:gd name="adj" fmla="val 9419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로그아웃</a:t>
            </a:r>
          </a:p>
        </p:txBody>
      </p:sp>
      <p:pic>
        <p:nvPicPr>
          <p:cNvPr id="1029" name="Picture 5" descr="D:\05 문서\02 문서 디자인\아이콘\icon2\65097-200.png">
            <a:extLst>
              <a:ext uri="{FF2B5EF4-FFF2-40B4-BE49-F238E27FC236}">
                <a16:creationId xmlns:a16="http://schemas.microsoft.com/office/drawing/2014/main" id="{8FBBAD2F-7DE8-DFB3-427A-A1DFA88D1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455" y="1482540"/>
            <a:ext cx="145564" cy="1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04F44D0C-0A51-256A-3ABA-584CABB214AA}"/>
              </a:ext>
            </a:extLst>
          </p:cNvPr>
          <p:cNvSpPr/>
          <p:nvPr/>
        </p:nvSpPr>
        <p:spPr>
          <a:xfrm>
            <a:off x="5683870" y="1899146"/>
            <a:ext cx="114133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데이터관리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6AF8B99F-E398-7A3F-185E-4D3A083DB7CF}"/>
              </a:ext>
            </a:extLst>
          </p:cNvPr>
          <p:cNvSpPr/>
          <p:nvPr/>
        </p:nvSpPr>
        <p:spPr>
          <a:xfrm>
            <a:off x="1285777" y="1838274"/>
            <a:ext cx="692497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19B5DBB3-3B2D-3A62-83E9-F45343D9E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BCA0FBF5-BC1E-6500-D30B-581F58F78EE4}"/>
              </a:ext>
            </a:extLst>
          </p:cNvPr>
          <p:cNvSpPr/>
          <p:nvPr/>
        </p:nvSpPr>
        <p:spPr>
          <a:xfrm>
            <a:off x="220357" y="1867077"/>
            <a:ext cx="750205" cy="22108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대시보드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메뉴구성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서브페이지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 설문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6902F7B-401B-47A7-CA36-82553F12C0F2}"/>
              </a:ext>
            </a:extLst>
          </p:cNvPr>
          <p:cNvSpPr/>
          <p:nvPr/>
        </p:nvSpPr>
        <p:spPr>
          <a:xfrm>
            <a:off x="1313332" y="2168860"/>
            <a:ext cx="44884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데이터관리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4427E6-81A6-3863-44ED-B2DB0504D18F}"/>
              </a:ext>
            </a:extLst>
          </p:cNvPr>
          <p:cNvSpPr/>
          <p:nvPr/>
        </p:nvSpPr>
        <p:spPr>
          <a:xfrm>
            <a:off x="1965635" y="2168860"/>
            <a:ext cx="53860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신고구분관리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23A499-D5A5-5931-ED1A-BF97E07F5A53}"/>
              </a:ext>
            </a:extLst>
          </p:cNvPr>
          <p:cNvCxnSpPr>
            <a:cxnSpLocks/>
          </p:cNvCxnSpPr>
          <p:nvPr/>
        </p:nvCxnSpPr>
        <p:spPr>
          <a:xfrm>
            <a:off x="1300577" y="2331563"/>
            <a:ext cx="542468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07BDE19-7F58-34E6-F1C1-59486FC87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515" y="2444822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C0F40D62-AD34-59D8-3DB2-9B9E67BD5B90}"/>
              </a:ext>
            </a:extLst>
          </p:cNvPr>
          <p:cNvSpPr/>
          <p:nvPr/>
        </p:nvSpPr>
        <p:spPr>
          <a:xfrm>
            <a:off x="1313332" y="2445086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년도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D02BC21-F87A-4787-2FE5-7F49159B51B7}"/>
              </a:ext>
            </a:extLst>
          </p:cNvPr>
          <p:cNvSpPr/>
          <p:nvPr/>
        </p:nvSpPr>
        <p:spPr>
          <a:xfrm>
            <a:off x="2382715" y="2445278"/>
            <a:ext cx="621818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2025-10-13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pic>
        <p:nvPicPr>
          <p:cNvPr id="20" name="Picture 34" descr="D:\06 문서 디자인\아이콘\icon2\appbar.calendar.png">
            <a:extLst>
              <a:ext uri="{FF2B5EF4-FFF2-40B4-BE49-F238E27FC236}">
                <a16:creationId xmlns:a16="http://schemas.microsoft.com/office/drawing/2014/main" id="{B3267D8F-CE6B-E510-0955-7D11D4507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379" y="2420766"/>
            <a:ext cx="208265" cy="20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191">
            <a:extLst>
              <a:ext uri="{FF2B5EF4-FFF2-40B4-BE49-F238E27FC236}">
                <a16:creationId xmlns:a16="http://schemas.microsoft.com/office/drawing/2014/main" id="{71199BA5-9689-DDA6-4373-437EBF569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566" y="2463417"/>
            <a:ext cx="36870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latinLnBrk="0">
              <a:defRPr/>
            </a:pPr>
            <a:r>
              <a:rPr lang="en-US" altLang="ko-KR" sz="700" kern="0" dirty="0">
                <a:solidFill>
                  <a:srgbClr val="000000"/>
                </a:solidFill>
              </a:rPr>
              <a:t>-</a:t>
            </a:r>
            <a:endParaRPr lang="ko-KR" altLang="en-US" sz="700" kern="0" dirty="0">
              <a:solidFill>
                <a:srgbClr val="000000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0EA40EB-D222-3FA5-7430-CEE897CF75A1}"/>
              </a:ext>
            </a:extLst>
          </p:cNvPr>
          <p:cNvSpPr/>
          <p:nvPr/>
        </p:nvSpPr>
        <p:spPr>
          <a:xfrm>
            <a:off x="3268059" y="2445278"/>
            <a:ext cx="621818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2025-10-13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pic>
        <p:nvPicPr>
          <p:cNvPr id="25" name="Picture 34" descr="D:\06 문서 디자인\아이콘\icon2\appbar.calendar.png">
            <a:extLst>
              <a:ext uri="{FF2B5EF4-FFF2-40B4-BE49-F238E27FC236}">
                <a16:creationId xmlns:a16="http://schemas.microsoft.com/office/drawing/2014/main" id="{69D21CED-94A9-7208-9118-CE54C6D7A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723" y="2420766"/>
            <a:ext cx="208265" cy="20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191">
            <a:extLst>
              <a:ext uri="{FF2B5EF4-FFF2-40B4-BE49-F238E27FC236}">
                <a16:creationId xmlns:a16="http://schemas.microsoft.com/office/drawing/2014/main" id="{0F572063-008D-F97E-FF4E-1132E05B4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0714" y="2468138"/>
            <a:ext cx="320601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latinLnBrk="0">
              <a:defRPr/>
            </a:pPr>
            <a:r>
              <a:rPr lang="ko-KR" altLang="en-US" sz="700" kern="0" dirty="0">
                <a:solidFill>
                  <a:srgbClr val="000000"/>
                </a:solidFill>
              </a:rPr>
              <a:t>신청일 </a:t>
            </a:r>
            <a:r>
              <a:rPr lang="en-US" altLang="ko-KR" sz="700" kern="0" dirty="0">
                <a:solidFill>
                  <a:srgbClr val="000000"/>
                </a:solidFill>
              </a:rPr>
              <a:t>:</a:t>
            </a:r>
            <a:endParaRPr lang="ko-KR" altLang="en-US" sz="700" kern="0" dirty="0">
              <a:solidFill>
                <a:srgbClr val="000000"/>
              </a:solidFill>
            </a:endParaRPr>
          </a:p>
        </p:txBody>
      </p:sp>
      <p:pic>
        <p:nvPicPr>
          <p:cNvPr id="27" name="Picture 13">
            <a:extLst>
              <a:ext uri="{FF2B5EF4-FFF2-40B4-BE49-F238E27FC236}">
                <a16:creationId xmlns:a16="http://schemas.microsoft.com/office/drawing/2014/main" id="{3969D983-899F-54CF-8A35-70BD51580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515" y="269773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06017F26-FA22-FA14-9BE1-196EFA3E0F07}"/>
              </a:ext>
            </a:extLst>
          </p:cNvPr>
          <p:cNvSpPr/>
          <p:nvPr/>
        </p:nvSpPr>
        <p:spPr>
          <a:xfrm>
            <a:off x="1313332" y="2697994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신고구분</a:t>
            </a:r>
          </a:p>
        </p:txBody>
      </p:sp>
      <p:pic>
        <p:nvPicPr>
          <p:cNvPr id="29" name="Picture 13">
            <a:extLst>
              <a:ext uri="{FF2B5EF4-FFF2-40B4-BE49-F238E27FC236}">
                <a16:creationId xmlns:a16="http://schemas.microsoft.com/office/drawing/2014/main" id="{10D80A70-E93A-AC12-2A04-EF10F8C36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388" y="269773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EE34E78D-CADE-B045-0425-EC1221726A59}"/>
              </a:ext>
            </a:extLst>
          </p:cNvPr>
          <p:cNvSpPr/>
          <p:nvPr/>
        </p:nvSpPr>
        <p:spPr>
          <a:xfrm>
            <a:off x="1987205" y="2697994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상태</a:t>
            </a:r>
          </a:p>
        </p:txBody>
      </p:sp>
      <p:pic>
        <p:nvPicPr>
          <p:cNvPr id="31" name="Picture 13">
            <a:extLst>
              <a:ext uri="{FF2B5EF4-FFF2-40B4-BE49-F238E27FC236}">
                <a16:creationId xmlns:a16="http://schemas.microsoft.com/office/drawing/2014/main" id="{14381250-7A84-E23D-627B-802664B80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761" y="269773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BE1831D4-867D-4DD1-50F4-862B3E9D007E}"/>
              </a:ext>
            </a:extLst>
          </p:cNvPr>
          <p:cNvSpPr/>
          <p:nvPr/>
        </p:nvSpPr>
        <p:spPr>
          <a:xfrm>
            <a:off x="2642175" y="2697994"/>
            <a:ext cx="6336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전체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85D9E09-601F-1799-2A93-48F6BA404F90}"/>
              </a:ext>
            </a:extLst>
          </p:cNvPr>
          <p:cNvSpPr/>
          <p:nvPr/>
        </p:nvSpPr>
        <p:spPr>
          <a:xfrm>
            <a:off x="5622613" y="2701031"/>
            <a:ext cx="335885" cy="144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>
                <a:solidFill>
                  <a:prstClr val="white"/>
                </a:solidFill>
              </a:rPr>
              <a:t>검색</a:t>
            </a:r>
            <a:endParaRPr lang="ko-KR" altLang="en-US" sz="700" b="1" dirty="0">
              <a:solidFill>
                <a:prstClr val="white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944E6AC-ADAE-94B8-6C39-A7FD322B0A8F}"/>
              </a:ext>
            </a:extLst>
          </p:cNvPr>
          <p:cNvSpPr/>
          <p:nvPr/>
        </p:nvSpPr>
        <p:spPr>
          <a:xfrm>
            <a:off x="3476192" y="2701031"/>
            <a:ext cx="2114609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>
                <a:solidFill>
                  <a:schemeClr val="bg1">
                    <a:lumMod val="50000"/>
                  </a:schemeClr>
                </a:solidFill>
              </a:rPr>
              <a:t>검색어를 입력하세요</a:t>
            </a:r>
            <a:r>
              <a:rPr lang="en-US" altLang="ko-KR" sz="70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8F9EA679-2033-F024-A3A9-7BA905E23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260707"/>
              </p:ext>
            </p:extLst>
          </p:nvPr>
        </p:nvGraphicFramePr>
        <p:xfrm>
          <a:off x="1330656" y="3209368"/>
          <a:ext cx="5467704" cy="26341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2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84598530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706196115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12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94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고등학생 장학금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클린신고</a:t>
                      </a:r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제목 입니다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대학생 장학금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접수완료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특기생</a:t>
                      </a:r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장학금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행복기숙사</a:t>
                      </a:r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입사비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평생교육장려금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접수완료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접수완료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기타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접수완료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기타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접수완료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기타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접수완료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기타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접수완료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4" name="직사각형 43">
            <a:extLst>
              <a:ext uri="{FF2B5EF4-FFF2-40B4-BE49-F238E27FC236}">
                <a16:creationId xmlns:a16="http://schemas.microsoft.com/office/drawing/2014/main" id="{E753D958-0FFC-2F2C-4AA5-657E50CA5728}"/>
              </a:ext>
            </a:extLst>
          </p:cNvPr>
          <p:cNvSpPr/>
          <p:nvPr/>
        </p:nvSpPr>
        <p:spPr>
          <a:xfrm>
            <a:off x="3516405" y="5956567"/>
            <a:ext cx="1016304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처음</a:t>
            </a:r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◀  1  2  ▶  </a:t>
            </a:r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마지막</a:t>
            </a:r>
          </a:p>
        </p:txBody>
      </p:sp>
      <p:pic>
        <p:nvPicPr>
          <p:cNvPr id="48" name="Picture 13">
            <a:extLst>
              <a:ext uri="{FF2B5EF4-FFF2-40B4-BE49-F238E27FC236}">
                <a16:creationId xmlns:a16="http://schemas.microsoft.com/office/drawing/2014/main" id="{A9439193-F9AC-A07A-5C21-D0466C7EF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693" y="3006754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77DF7D1C-F877-32EA-925A-964A05650176}"/>
              </a:ext>
            </a:extLst>
          </p:cNvPr>
          <p:cNvSpPr/>
          <p:nvPr/>
        </p:nvSpPr>
        <p:spPr>
          <a:xfrm>
            <a:off x="6311364" y="3008404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10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A16FE2-5602-5E4E-DC30-C919BCD48AFE}"/>
              </a:ext>
            </a:extLst>
          </p:cNvPr>
          <p:cNvSpPr/>
          <p:nvPr/>
        </p:nvSpPr>
        <p:spPr>
          <a:xfrm>
            <a:off x="2693624" y="2168860"/>
            <a:ext cx="71814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개인정보동의관리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2331CC3-41F7-8CBB-56B8-092086F7065A}"/>
              </a:ext>
            </a:extLst>
          </p:cNvPr>
          <p:cNvSpPr>
            <a:spLocks noChangeAspect="1"/>
          </p:cNvSpPr>
          <p:nvPr/>
        </p:nvSpPr>
        <p:spPr>
          <a:xfrm>
            <a:off x="1141668" y="215072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6BE4DE7-5958-306E-C18B-2BD73FA1891B}"/>
              </a:ext>
            </a:extLst>
          </p:cNvPr>
          <p:cNvSpPr>
            <a:spLocks noChangeAspect="1"/>
          </p:cNvSpPr>
          <p:nvPr/>
        </p:nvSpPr>
        <p:spPr>
          <a:xfrm>
            <a:off x="1141668" y="255703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FE88B97-3ECC-95FA-DBE3-7EBBF28F78FC}"/>
              </a:ext>
            </a:extLst>
          </p:cNvPr>
          <p:cNvSpPr>
            <a:spLocks noChangeAspect="1"/>
          </p:cNvSpPr>
          <p:nvPr/>
        </p:nvSpPr>
        <p:spPr>
          <a:xfrm>
            <a:off x="1254092" y="313433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9496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0B69C-15BF-81AF-AE38-EB29FC554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B5569BFE-69DE-5C6F-19B7-CBE3FB77BB96}"/>
              </a:ext>
            </a:extLst>
          </p:cNvPr>
          <p:cNvSpPr/>
          <p:nvPr/>
        </p:nvSpPr>
        <p:spPr>
          <a:xfrm>
            <a:off x="1205886" y="1781925"/>
            <a:ext cx="5691801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8745AFE-CC9E-143C-1736-F06039EC6049}"/>
              </a:ext>
            </a:extLst>
          </p:cNvPr>
          <p:cNvSpPr/>
          <p:nvPr/>
        </p:nvSpPr>
        <p:spPr>
          <a:xfrm>
            <a:off x="164468" y="1781925"/>
            <a:ext cx="1008050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C7665-8514-D1F8-CDE8-B13CFC542E9F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데이터관리 설정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4E1B7CE-6A3D-C35F-FFDB-017C02D8C7EF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설정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C9AC8F28-120C-9DEF-8DAA-4FEC3B785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253439"/>
              </p:ext>
            </p:extLst>
          </p:nvPr>
        </p:nvGraphicFramePr>
        <p:xfrm>
          <a:off x="6969418" y="2548005"/>
          <a:ext cx="2772114" cy="342148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제목 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신고글의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정보 열람 및 신고처리를 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홈페이지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열린경영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클린신고센터에서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정보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해당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 일자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상태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접수완료 중 선택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구분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클린신고센터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신고구분관리에서 설정된 구분 카테고리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신고글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등록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수정 시 설정된 구분이 기본 표시 되며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신고자 연락처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 시 설정된 연락처를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신고자 이메일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 시 설정된 이메일 주소를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제목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 시 설정된 제목을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 내용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 시 작성된 내용을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신고글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등록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수정 시 첨부된 첨부 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파일명 클릭 시 해당 파일 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관리자가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대상 신고 처리를 설정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관리자로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조회일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제목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 처리 제목을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내용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 처리 내용을 작성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59A70E1D-A3FE-9510-D5D0-6F548A9BAFCA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dmd_setup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54D1AAE5-BFE1-4A94-1E7A-CF3A8F71C5A0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BCE05FA-3F67-D5FF-F6FB-298D276F30AC}"/>
              </a:ext>
            </a:extLst>
          </p:cNvPr>
          <p:cNvSpPr/>
          <p:nvPr/>
        </p:nvSpPr>
        <p:spPr>
          <a:xfrm>
            <a:off x="5797379" y="1512762"/>
            <a:ext cx="53861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32CBC494-7095-BF70-BE02-5DD3E8CE3245}"/>
              </a:ext>
            </a:extLst>
          </p:cNvPr>
          <p:cNvSpPr/>
          <p:nvPr/>
        </p:nvSpPr>
        <p:spPr>
          <a:xfrm>
            <a:off x="6399091" y="1463605"/>
            <a:ext cx="426117" cy="196385"/>
          </a:xfrm>
          <a:prstGeom prst="roundRect">
            <a:avLst>
              <a:gd name="adj" fmla="val 9419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로그아웃</a:t>
            </a:r>
          </a:p>
        </p:txBody>
      </p:sp>
      <p:pic>
        <p:nvPicPr>
          <p:cNvPr id="1029" name="Picture 5" descr="D:\05 문서\02 문서 디자인\아이콘\icon2\65097-200.png">
            <a:extLst>
              <a:ext uri="{FF2B5EF4-FFF2-40B4-BE49-F238E27FC236}">
                <a16:creationId xmlns:a16="http://schemas.microsoft.com/office/drawing/2014/main" id="{3AA15B16-9DEE-EA07-2B7A-8C7CD518A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455" y="1482540"/>
            <a:ext cx="145564" cy="1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86D78BC0-F4D5-E042-3C4D-3AAA179FCD5F}"/>
              </a:ext>
            </a:extLst>
          </p:cNvPr>
          <p:cNvSpPr/>
          <p:nvPr/>
        </p:nvSpPr>
        <p:spPr>
          <a:xfrm>
            <a:off x="5683870" y="1899146"/>
            <a:ext cx="114133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데이터관리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B269172-6CEE-6AB6-F8BE-B22DAFD4CA1C}"/>
              </a:ext>
            </a:extLst>
          </p:cNvPr>
          <p:cNvSpPr/>
          <p:nvPr/>
        </p:nvSpPr>
        <p:spPr>
          <a:xfrm>
            <a:off x="1285777" y="1838274"/>
            <a:ext cx="692497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39734A5C-A6E6-C9DE-32D6-9F138E2BF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337E3745-A54D-C461-475C-71CA8F7DBBAA}"/>
              </a:ext>
            </a:extLst>
          </p:cNvPr>
          <p:cNvSpPr/>
          <p:nvPr/>
        </p:nvSpPr>
        <p:spPr>
          <a:xfrm>
            <a:off x="220357" y="1867077"/>
            <a:ext cx="750205" cy="22108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대시보드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메뉴구성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서브페이지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 설문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FE61C6-3FB9-D280-6B47-00B8E5F604CD}"/>
              </a:ext>
            </a:extLst>
          </p:cNvPr>
          <p:cNvSpPr/>
          <p:nvPr/>
        </p:nvSpPr>
        <p:spPr>
          <a:xfrm>
            <a:off x="1313332" y="2168860"/>
            <a:ext cx="44884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데이터관리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D90B538-A72B-C734-5398-F59591A716F0}"/>
              </a:ext>
            </a:extLst>
          </p:cNvPr>
          <p:cNvSpPr/>
          <p:nvPr/>
        </p:nvSpPr>
        <p:spPr>
          <a:xfrm>
            <a:off x="1965635" y="2168860"/>
            <a:ext cx="53860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신고구분관리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24CAF94-5E54-42FC-32F9-1613CCC39B40}"/>
              </a:ext>
            </a:extLst>
          </p:cNvPr>
          <p:cNvCxnSpPr>
            <a:cxnSpLocks/>
          </p:cNvCxnSpPr>
          <p:nvPr/>
        </p:nvCxnSpPr>
        <p:spPr>
          <a:xfrm>
            <a:off x="1300577" y="2331563"/>
            <a:ext cx="542468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732843C8-C48D-2D77-2E6A-6ABEEA78CFF0}"/>
              </a:ext>
            </a:extLst>
          </p:cNvPr>
          <p:cNvSpPr/>
          <p:nvPr/>
        </p:nvSpPr>
        <p:spPr>
          <a:xfrm>
            <a:off x="1320796" y="2402167"/>
            <a:ext cx="60272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 dirty="0" err="1">
                <a:solidFill>
                  <a:prstClr val="black"/>
                </a:solidFill>
              </a:rPr>
              <a:t>클린</a:t>
            </a:r>
            <a:r>
              <a:rPr lang="ko-KR" altLang="en-US" sz="700" b="1" dirty="0">
                <a:solidFill>
                  <a:prstClr val="black"/>
                </a:solidFill>
              </a:rPr>
              <a:t> 신고 정보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BD85FFA-68D5-86D8-7EB5-D253A40E0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816902"/>
              </p:ext>
            </p:extLst>
          </p:nvPr>
        </p:nvGraphicFramePr>
        <p:xfrm>
          <a:off x="1313332" y="2549076"/>
          <a:ext cx="549746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6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5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2025.10.13 13:20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신고자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신고자 연락처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신고자 이메일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honggil123@naver.com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226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고등학생 장학금 관련 </a:t>
                      </a:r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클린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신고 입니다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 내용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클린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신고 내용 입니다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........................</a:t>
                      </a:r>
                    </a:p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............................................................................</a:t>
                      </a:r>
                    </a:p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u="sng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클린신고센터신고관련파일</a:t>
                      </a:r>
                      <a:r>
                        <a:rPr lang="en-US" altLang="ko-KR" sz="700" b="0" u="sng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en-US" altLang="ko-KR" sz="700" b="0" u="sng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hwp</a:t>
                      </a:r>
                      <a:endParaRPr lang="ko-KR" altLang="en-US" sz="700" b="0" u="sng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/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F3BBE27C-B59F-7EEC-BF24-F89DC136E036}"/>
              </a:ext>
            </a:extLst>
          </p:cNvPr>
          <p:cNvSpPr/>
          <p:nvPr/>
        </p:nvSpPr>
        <p:spPr>
          <a:xfrm>
            <a:off x="1320796" y="4117570"/>
            <a:ext cx="391133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 dirty="0">
                <a:solidFill>
                  <a:prstClr val="black"/>
                </a:solidFill>
              </a:rPr>
              <a:t>신고 처리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FECE1E8-2F2F-1966-38EE-89CF858B8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51565"/>
              </p:ext>
            </p:extLst>
          </p:nvPr>
        </p:nvGraphicFramePr>
        <p:xfrm>
          <a:off x="1313332" y="4264479"/>
          <a:ext cx="5497464" cy="1873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6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5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2025.10.13 16:00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22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FDF138BA-F212-BFB4-8DC9-8E0212CE8E30}"/>
              </a:ext>
            </a:extLst>
          </p:cNvPr>
          <p:cNvSpPr/>
          <p:nvPr/>
        </p:nvSpPr>
        <p:spPr>
          <a:xfrm>
            <a:off x="2086880" y="4517870"/>
            <a:ext cx="338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80BDEFEA-64F5-B7DE-D378-B05182DF5C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81"/>
          <a:stretch/>
        </p:blipFill>
        <p:spPr bwMode="auto">
          <a:xfrm>
            <a:off x="2090759" y="4710820"/>
            <a:ext cx="4679509" cy="1170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2490FD4-7555-2A6D-2B79-A4673F3F07AA}"/>
              </a:ext>
            </a:extLst>
          </p:cNvPr>
          <p:cNvSpPr/>
          <p:nvPr/>
        </p:nvSpPr>
        <p:spPr>
          <a:xfrm>
            <a:off x="2084831" y="5953782"/>
            <a:ext cx="169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8E16CB2-292C-C7ED-1141-1A4F4FCA8C1A}"/>
              </a:ext>
            </a:extLst>
          </p:cNvPr>
          <p:cNvSpPr/>
          <p:nvPr/>
        </p:nvSpPr>
        <p:spPr>
          <a:xfrm>
            <a:off x="3805072" y="5953774"/>
            <a:ext cx="42545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파일선택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CC2FAFD-837E-275B-7AA2-901D0A3D6BC0}"/>
              </a:ext>
            </a:extLst>
          </p:cNvPr>
          <p:cNvSpPr/>
          <p:nvPr/>
        </p:nvSpPr>
        <p:spPr>
          <a:xfrm>
            <a:off x="4268924" y="5954683"/>
            <a:ext cx="240158" cy="144016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endParaRPr lang="ko-KR" altLang="en-US" sz="7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0B405B9-2933-84BB-3247-66DA14DA429C}"/>
              </a:ext>
            </a:extLst>
          </p:cNvPr>
          <p:cNvSpPr/>
          <p:nvPr/>
        </p:nvSpPr>
        <p:spPr>
          <a:xfrm>
            <a:off x="5798432" y="6219332"/>
            <a:ext cx="522720" cy="19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저장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408ACF3-542B-0310-903D-CD64BFD81CC9}"/>
              </a:ext>
            </a:extLst>
          </p:cNvPr>
          <p:cNvSpPr/>
          <p:nvPr/>
        </p:nvSpPr>
        <p:spPr>
          <a:xfrm>
            <a:off x="6363899" y="6214428"/>
            <a:ext cx="461309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pic>
        <p:nvPicPr>
          <p:cNvPr id="52" name="Picture 13">
            <a:extLst>
              <a:ext uri="{FF2B5EF4-FFF2-40B4-BE49-F238E27FC236}">
                <a16:creationId xmlns:a16="http://schemas.microsoft.com/office/drawing/2014/main" id="{5194C15E-191B-B9A6-0E63-F836E34A8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4771" y="2774383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" name="직사각형 52">
            <a:extLst>
              <a:ext uri="{FF2B5EF4-FFF2-40B4-BE49-F238E27FC236}">
                <a16:creationId xmlns:a16="http://schemas.microsoft.com/office/drawing/2014/main" id="{14BECE91-DE89-5CE4-25E9-673BA37762F1}"/>
              </a:ext>
            </a:extLst>
          </p:cNvPr>
          <p:cNvSpPr/>
          <p:nvPr/>
        </p:nvSpPr>
        <p:spPr>
          <a:xfrm>
            <a:off x="4925354" y="2774647"/>
            <a:ext cx="86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고등학생 장학금</a:t>
            </a:r>
          </a:p>
        </p:txBody>
      </p:sp>
      <p:pic>
        <p:nvPicPr>
          <p:cNvPr id="54" name="Picture 13">
            <a:extLst>
              <a:ext uri="{FF2B5EF4-FFF2-40B4-BE49-F238E27FC236}">
                <a16:creationId xmlns:a16="http://schemas.microsoft.com/office/drawing/2014/main" id="{4FA4FE4F-B197-EAD2-537F-4E8B06FD7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978" y="257674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" name="직사각형 54">
            <a:extLst>
              <a:ext uri="{FF2B5EF4-FFF2-40B4-BE49-F238E27FC236}">
                <a16:creationId xmlns:a16="http://schemas.microsoft.com/office/drawing/2014/main" id="{399BEBBB-5E64-6D04-2E20-2BDFDC5A7D2A}"/>
              </a:ext>
            </a:extLst>
          </p:cNvPr>
          <p:cNvSpPr/>
          <p:nvPr/>
        </p:nvSpPr>
        <p:spPr>
          <a:xfrm>
            <a:off x="4925354" y="2577004"/>
            <a:ext cx="50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prstClr val="black">
                    <a:lumMod val="95000"/>
                    <a:lumOff val="5000"/>
                  </a:prstClr>
                </a:solidFill>
              </a:rPr>
              <a:t>접수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3B94CF3-4DD1-DBF4-5192-AF924BB98082}"/>
              </a:ext>
            </a:extLst>
          </p:cNvPr>
          <p:cNvSpPr/>
          <p:nvPr/>
        </p:nvSpPr>
        <p:spPr>
          <a:xfrm>
            <a:off x="4925354" y="2229188"/>
            <a:ext cx="504000" cy="3415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접수</a:t>
            </a:r>
            <a:endParaRPr lang="en-US" altLang="ko-KR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접수완료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A425EFC-5714-9DF1-7259-E189626100C2}"/>
              </a:ext>
            </a:extLst>
          </p:cNvPr>
          <p:cNvSpPr>
            <a:spLocks noChangeAspect="1"/>
          </p:cNvSpPr>
          <p:nvPr/>
        </p:nvSpPr>
        <p:spPr>
          <a:xfrm>
            <a:off x="1246141" y="2472794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16A389D-3C4E-C05D-EE20-AA296024F00B}"/>
              </a:ext>
            </a:extLst>
          </p:cNvPr>
          <p:cNvSpPr>
            <a:spLocks noChangeAspect="1"/>
          </p:cNvSpPr>
          <p:nvPr/>
        </p:nvSpPr>
        <p:spPr>
          <a:xfrm>
            <a:off x="1246141" y="419252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1EE41D2-4B7B-C60C-412A-A86FD56C344D}"/>
              </a:ext>
            </a:extLst>
          </p:cNvPr>
          <p:cNvSpPr>
            <a:spLocks noChangeAspect="1"/>
          </p:cNvSpPr>
          <p:nvPr/>
        </p:nvSpPr>
        <p:spPr>
          <a:xfrm>
            <a:off x="5636274" y="624815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981EDE7-D44C-2052-9DC6-1BCF90B67C2C}"/>
              </a:ext>
            </a:extLst>
          </p:cNvPr>
          <p:cNvSpPr/>
          <p:nvPr/>
        </p:nvSpPr>
        <p:spPr>
          <a:xfrm>
            <a:off x="2693624" y="2168860"/>
            <a:ext cx="71814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개인정보동의관리</a:t>
            </a:r>
          </a:p>
        </p:txBody>
      </p:sp>
    </p:spTree>
    <p:extLst>
      <p:ext uri="{BB962C8B-B14F-4D97-AF65-F5344CB8AC3E}">
        <p14:creationId xmlns:p14="http://schemas.microsoft.com/office/powerpoint/2010/main" val="1445057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9E766-ED80-AC10-6853-9A6682CFB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DC5575C9-9C36-49FB-18C4-8B453EC696DD}"/>
              </a:ext>
            </a:extLst>
          </p:cNvPr>
          <p:cNvSpPr/>
          <p:nvPr/>
        </p:nvSpPr>
        <p:spPr>
          <a:xfrm>
            <a:off x="1205886" y="1781925"/>
            <a:ext cx="5691801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6CD03A9-CB9A-9916-CCEB-8DB46B0C1D85}"/>
              </a:ext>
            </a:extLst>
          </p:cNvPr>
          <p:cNvSpPr/>
          <p:nvPr/>
        </p:nvSpPr>
        <p:spPr>
          <a:xfrm>
            <a:off x="164468" y="1781925"/>
            <a:ext cx="1008050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4DE42-5039-9614-EC3F-93189023BF8E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데이터관리 설정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B3649E-5972-DB10-4B9A-CD059A04E2C7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설정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DAA7C97A-E36D-EC64-DE26-081DA3F5F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144303"/>
              </p:ext>
            </p:extLst>
          </p:nvPr>
        </p:nvGraphicFramePr>
        <p:xfrm>
          <a:off x="6969418" y="2548005"/>
          <a:ext cx="2772114" cy="155116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파일선택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첨부파일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삭제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 첨부된 파일이 삭제 처리 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신고 처리 정보 수정은 상태에 상관 없이 수정이 가능 하다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상태가 접수완료일 경우 홈페이지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경영지원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내신고글확인에서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열람 시 보이게 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저장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정보 설정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저장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을 클릭 하면 정보 수정 및 신고 처리가 완료 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정보 수정 및 신고처리가 취소 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화면으로 이동 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412877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C8113085-168E-2865-7E66-1F1B1BAC0093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dmd_setup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8125F4F-563D-5F93-14D5-1427887BC5FB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11BE5098-0C1B-F5F4-788D-F19431D42140}"/>
              </a:ext>
            </a:extLst>
          </p:cNvPr>
          <p:cNvSpPr/>
          <p:nvPr/>
        </p:nvSpPr>
        <p:spPr>
          <a:xfrm>
            <a:off x="5797379" y="1512762"/>
            <a:ext cx="53861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77B8BB92-BA54-E575-3C01-2F0C4AD67E4E}"/>
              </a:ext>
            </a:extLst>
          </p:cNvPr>
          <p:cNvSpPr/>
          <p:nvPr/>
        </p:nvSpPr>
        <p:spPr>
          <a:xfrm>
            <a:off x="6399091" y="1463605"/>
            <a:ext cx="426117" cy="196385"/>
          </a:xfrm>
          <a:prstGeom prst="roundRect">
            <a:avLst>
              <a:gd name="adj" fmla="val 9419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로그아웃</a:t>
            </a:r>
          </a:p>
        </p:txBody>
      </p:sp>
      <p:pic>
        <p:nvPicPr>
          <p:cNvPr id="1029" name="Picture 5" descr="D:\05 문서\02 문서 디자인\아이콘\icon2\65097-200.png">
            <a:extLst>
              <a:ext uri="{FF2B5EF4-FFF2-40B4-BE49-F238E27FC236}">
                <a16:creationId xmlns:a16="http://schemas.microsoft.com/office/drawing/2014/main" id="{600E04ED-0BF3-8E91-1EC7-34A1C62A1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455" y="1482540"/>
            <a:ext cx="145564" cy="1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83E50A7-73A6-814C-18E1-5D045424895E}"/>
              </a:ext>
            </a:extLst>
          </p:cNvPr>
          <p:cNvSpPr/>
          <p:nvPr/>
        </p:nvSpPr>
        <p:spPr>
          <a:xfrm>
            <a:off x="5683870" y="1899146"/>
            <a:ext cx="114133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데이터관리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62E1E4A-1784-616F-C1B6-CB7D76042035}"/>
              </a:ext>
            </a:extLst>
          </p:cNvPr>
          <p:cNvSpPr/>
          <p:nvPr/>
        </p:nvSpPr>
        <p:spPr>
          <a:xfrm>
            <a:off x="1285777" y="1838274"/>
            <a:ext cx="692497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99A71848-72C9-1D44-1497-877EBB401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A5A0461B-9A53-48D5-F63A-05D324572E00}"/>
              </a:ext>
            </a:extLst>
          </p:cNvPr>
          <p:cNvSpPr/>
          <p:nvPr/>
        </p:nvSpPr>
        <p:spPr>
          <a:xfrm>
            <a:off x="220357" y="1867077"/>
            <a:ext cx="750205" cy="22108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대시보드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메뉴구성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서브페이지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 설문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EBA46C-41EA-7F30-3AD7-8FE2DD670851}"/>
              </a:ext>
            </a:extLst>
          </p:cNvPr>
          <p:cNvSpPr/>
          <p:nvPr/>
        </p:nvSpPr>
        <p:spPr>
          <a:xfrm>
            <a:off x="1313332" y="2168860"/>
            <a:ext cx="44884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데이터관리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6F81CD-F59D-715D-ADF4-8ED4DEBC2070}"/>
              </a:ext>
            </a:extLst>
          </p:cNvPr>
          <p:cNvSpPr/>
          <p:nvPr/>
        </p:nvSpPr>
        <p:spPr>
          <a:xfrm>
            <a:off x="1965635" y="2168860"/>
            <a:ext cx="53860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신고구분관리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42E59FD-0827-1935-920F-95787DF7FAE8}"/>
              </a:ext>
            </a:extLst>
          </p:cNvPr>
          <p:cNvCxnSpPr>
            <a:cxnSpLocks/>
          </p:cNvCxnSpPr>
          <p:nvPr/>
        </p:nvCxnSpPr>
        <p:spPr>
          <a:xfrm>
            <a:off x="1300577" y="2331563"/>
            <a:ext cx="542468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FAE51A51-8946-208E-9B54-F0DE76BCF7A0}"/>
              </a:ext>
            </a:extLst>
          </p:cNvPr>
          <p:cNvSpPr/>
          <p:nvPr/>
        </p:nvSpPr>
        <p:spPr>
          <a:xfrm>
            <a:off x="1320796" y="2402167"/>
            <a:ext cx="60272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 dirty="0" err="1">
                <a:solidFill>
                  <a:prstClr val="black"/>
                </a:solidFill>
              </a:rPr>
              <a:t>클린</a:t>
            </a:r>
            <a:r>
              <a:rPr lang="ko-KR" altLang="en-US" sz="700" b="1" dirty="0">
                <a:solidFill>
                  <a:prstClr val="black"/>
                </a:solidFill>
              </a:rPr>
              <a:t> 신고 정보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A89169F-761E-F0B8-55C6-FCBCFC9D2FA7}"/>
              </a:ext>
            </a:extLst>
          </p:cNvPr>
          <p:cNvGraphicFramePr>
            <a:graphicFrameLocks noGrp="1"/>
          </p:cNvGraphicFramePr>
          <p:nvPr/>
        </p:nvGraphicFramePr>
        <p:xfrm>
          <a:off x="1313332" y="2549076"/>
          <a:ext cx="549746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6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5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2025.10.13 13:20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신고자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진로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신고자 연락처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신고자 이메일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honggil123@naver.com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226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고등학생 장학금 관련 </a:t>
                      </a:r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클린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신고 입니다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 내용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클린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신고 내용 입니다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........................</a:t>
                      </a:r>
                    </a:p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............................................................................</a:t>
                      </a:r>
                    </a:p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u="sng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클린신고센터신고관련파일</a:t>
                      </a:r>
                      <a:r>
                        <a:rPr lang="en-US" altLang="ko-KR" sz="700" b="0" u="sng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en-US" altLang="ko-KR" sz="700" b="0" u="sng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hwp</a:t>
                      </a:r>
                      <a:endParaRPr lang="ko-KR" altLang="en-US" sz="700" b="0" u="sng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/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7805FDF-FDD0-23DA-786B-611174708F2C}"/>
              </a:ext>
            </a:extLst>
          </p:cNvPr>
          <p:cNvSpPr/>
          <p:nvPr/>
        </p:nvSpPr>
        <p:spPr>
          <a:xfrm>
            <a:off x="1320796" y="4117570"/>
            <a:ext cx="391133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 dirty="0">
                <a:solidFill>
                  <a:prstClr val="black"/>
                </a:solidFill>
              </a:rPr>
              <a:t>신고 처리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68ACE87-EFB6-79C1-563D-511F53F3575A}"/>
              </a:ext>
            </a:extLst>
          </p:cNvPr>
          <p:cNvGraphicFramePr>
            <a:graphicFrameLocks noGrp="1"/>
          </p:cNvGraphicFramePr>
          <p:nvPr/>
        </p:nvGraphicFramePr>
        <p:xfrm>
          <a:off x="1313332" y="4264479"/>
          <a:ext cx="5497464" cy="1873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6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5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2025.10.13 16:00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22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AB862770-BAE8-A5C2-2C3E-C29683EB2C9A}"/>
              </a:ext>
            </a:extLst>
          </p:cNvPr>
          <p:cNvSpPr/>
          <p:nvPr/>
        </p:nvSpPr>
        <p:spPr>
          <a:xfrm>
            <a:off x="2086880" y="4517870"/>
            <a:ext cx="338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23654BE-F5B2-AAD7-C98C-479B1EE9B5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81"/>
          <a:stretch/>
        </p:blipFill>
        <p:spPr bwMode="auto">
          <a:xfrm>
            <a:off x="2090759" y="4710820"/>
            <a:ext cx="4679509" cy="1170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E182FEB-F2BA-4483-83D4-B52B0F1A3F0A}"/>
              </a:ext>
            </a:extLst>
          </p:cNvPr>
          <p:cNvSpPr/>
          <p:nvPr/>
        </p:nvSpPr>
        <p:spPr>
          <a:xfrm>
            <a:off x="2084831" y="5953782"/>
            <a:ext cx="169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3B815D4-E2F4-E010-0D62-73D0AA898069}"/>
              </a:ext>
            </a:extLst>
          </p:cNvPr>
          <p:cNvSpPr/>
          <p:nvPr/>
        </p:nvSpPr>
        <p:spPr>
          <a:xfrm>
            <a:off x="3805072" y="5953774"/>
            <a:ext cx="42545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파일선택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771B768-EF5E-C17B-861D-3DB1E6B330C9}"/>
              </a:ext>
            </a:extLst>
          </p:cNvPr>
          <p:cNvSpPr/>
          <p:nvPr/>
        </p:nvSpPr>
        <p:spPr>
          <a:xfrm>
            <a:off x="4268924" y="5954683"/>
            <a:ext cx="240158" cy="144016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endParaRPr lang="ko-KR" altLang="en-US" sz="7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A6D269F-F466-9504-F1DA-B342A9C537E3}"/>
              </a:ext>
            </a:extLst>
          </p:cNvPr>
          <p:cNvSpPr/>
          <p:nvPr/>
        </p:nvSpPr>
        <p:spPr>
          <a:xfrm>
            <a:off x="5798432" y="6219332"/>
            <a:ext cx="522720" cy="19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저장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8B4D1E5-C79B-7A0D-296C-9E8E0B73EBAA}"/>
              </a:ext>
            </a:extLst>
          </p:cNvPr>
          <p:cNvSpPr/>
          <p:nvPr/>
        </p:nvSpPr>
        <p:spPr>
          <a:xfrm>
            <a:off x="6363899" y="6214428"/>
            <a:ext cx="461309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pic>
        <p:nvPicPr>
          <p:cNvPr id="52" name="Picture 13">
            <a:extLst>
              <a:ext uri="{FF2B5EF4-FFF2-40B4-BE49-F238E27FC236}">
                <a16:creationId xmlns:a16="http://schemas.microsoft.com/office/drawing/2014/main" id="{5223D18A-C243-199D-A535-CC6346400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4771" y="2774383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" name="직사각형 52">
            <a:extLst>
              <a:ext uri="{FF2B5EF4-FFF2-40B4-BE49-F238E27FC236}">
                <a16:creationId xmlns:a16="http://schemas.microsoft.com/office/drawing/2014/main" id="{AC15C262-758B-DB43-A91C-8CD3A89AE137}"/>
              </a:ext>
            </a:extLst>
          </p:cNvPr>
          <p:cNvSpPr/>
          <p:nvPr/>
        </p:nvSpPr>
        <p:spPr>
          <a:xfrm>
            <a:off x="4925354" y="2774647"/>
            <a:ext cx="86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고등학생 장학금</a:t>
            </a:r>
          </a:p>
        </p:txBody>
      </p:sp>
      <p:pic>
        <p:nvPicPr>
          <p:cNvPr id="54" name="Picture 13">
            <a:extLst>
              <a:ext uri="{FF2B5EF4-FFF2-40B4-BE49-F238E27FC236}">
                <a16:creationId xmlns:a16="http://schemas.microsoft.com/office/drawing/2014/main" id="{5FD8C794-5C98-279D-D37E-372C2E732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978" y="257674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" name="직사각형 54">
            <a:extLst>
              <a:ext uri="{FF2B5EF4-FFF2-40B4-BE49-F238E27FC236}">
                <a16:creationId xmlns:a16="http://schemas.microsoft.com/office/drawing/2014/main" id="{F2E02E89-7788-E2CC-E9B1-FDF0EFB01C4B}"/>
              </a:ext>
            </a:extLst>
          </p:cNvPr>
          <p:cNvSpPr/>
          <p:nvPr/>
        </p:nvSpPr>
        <p:spPr>
          <a:xfrm>
            <a:off x="4925354" y="2577004"/>
            <a:ext cx="50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prstClr val="black">
                    <a:lumMod val="95000"/>
                    <a:lumOff val="5000"/>
                  </a:prstClr>
                </a:solidFill>
              </a:rPr>
              <a:t>접수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D8313E2-2327-1992-3CF1-FAD941D589AC}"/>
              </a:ext>
            </a:extLst>
          </p:cNvPr>
          <p:cNvSpPr/>
          <p:nvPr/>
        </p:nvSpPr>
        <p:spPr>
          <a:xfrm>
            <a:off x="4925354" y="2229188"/>
            <a:ext cx="504000" cy="3415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접수</a:t>
            </a:r>
            <a:endParaRPr lang="en-US" altLang="ko-KR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접수완료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1E167FE-0ECF-5682-0368-86EE853484DF}"/>
              </a:ext>
            </a:extLst>
          </p:cNvPr>
          <p:cNvSpPr>
            <a:spLocks noChangeAspect="1"/>
          </p:cNvSpPr>
          <p:nvPr/>
        </p:nvSpPr>
        <p:spPr>
          <a:xfrm>
            <a:off x="1246141" y="2472794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8F3A4C0-ACB5-BC37-9007-583A0C2CF617}"/>
              </a:ext>
            </a:extLst>
          </p:cNvPr>
          <p:cNvSpPr>
            <a:spLocks noChangeAspect="1"/>
          </p:cNvSpPr>
          <p:nvPr/>
        </p:nvSpPr>
        <p:spPr>
          <a:xfrm>
            <a:off x="1246141" y="419252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BAD5450-7358-CF89-9B1F-0CDA52AF24A3}"/>
              </a:ext>
            </a:extLst>
          </p:cNvPr>
          <p:cNvSpPr>
            <a:spLocks noChangeAspect="1"/>
          </p:cNvSpPr>
          <p:nvPr/>
        </p:nvSpPr>
        <p:spPr>
          <a:xfrm>
            <a:off x="5636274" y="624815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E281C23-BA37-8938-118F-18591EEA2979}"/>
              </a:ext>
            </a:extLst>
          </p:cNvPr>
          <p:cNvSpPr/>
          <p:nvPr/>
        </p:nvSpPr>
        <p:spPr>
          <a:xfrm>
            <a:off x="2693624" y="2168860"/>
            <a:ext cx="71814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개인정보동의관리</a:t>
            </a:r>
          </a:p>
        </p:txBody>
      </p:sp>
    </p:spTree>
    <p:extLst>
      <p:ext uri="{BB962C8B-B14F-4D97-AF65-F5344CB8AC3E}">
        <p14:creationId xmlns:p14="http://schemas.microsoft.com/office/powerpoint/2010/main" val="3119557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37625-9A68-BA5A-54A1-7166D715E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B4D63F38-1BC2-0757-4F62-E535C85FFFE9}"/>
              </a:ext>
            </a:extLst>
          </p:cNvPr>
          <p:cNvSpPr/>
          <p:nvPr/>
        </p:nvSpPr>
        <p:spPr>
          <a:xfrm>
            <a:off x="1205886" y="1781925"/>
            <a:ext cx="5691801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BE48452-81B3-9F7D-EBE0-A93A35BDCC5A}"/>
              </a:ext>
            </a:extLst>
          </p:cNvPr>
          <p:cNvSpPr/>
          <p:nvPr/>
        </p:nvSpPr>
        <p:spPr>
          <a:xfrm>
            <a:off x="164468" y="1781925"/>
            <a:ext cx="1008050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823036-3133-2022-677B-A12A6B334C9C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신고구분관리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902319-36A8-2E5B-6F1E-6E5FADC15ABF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신고구분관리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목록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418BB602-BF44-607C-1122-6C507A032D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123367"/>
              </p:ext>
            </p:extLst>
          </p:nvPr>
        </p:nvGraphicFramePr>
        <p:xfrm>
          <a:off x="6969418" y="2548005"/>
          <a:ext cx="2772114" cy="227117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클린신곳네터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탭 메뉴 중 신고구분관리 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 시 설정하는 구분을 등록하고 관리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구분명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구분값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명을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사용여부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사용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홈페이지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열린경영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클린신고센터에서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신고글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등록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수정 시 구분에 보이게 되며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설정이 가능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미사용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홈페이지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열린경영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클린신고센터에서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신고글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등록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수정 시 구분에 보이지 않으며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설정이 불가능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[▲] [▼]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[▲]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칸 위로 정렬 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[▼]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칸 아래로 정렬 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해당 구분을 수정하는 수정 팝업창이 보인다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구분 등록 팝업창이 보인다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00B7F623-720C-DCEE-2206-5931313A369E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dmc_list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F5F7D93-C442-7A94-2E92-37A1EDFD6EA1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1D5FF242-A02E-DF02-43FF-D0803B46633C}"/>
              </a:ext>
            </a:extLst>
          </p:cNvPr>
          <p:cNvSpPr/>
          <p:nvPr/>
        </p:nvSpPr>
        <p:spPr>
          <a:xfrm>
            <a:off x="5797379" y="1512762"/>
            <a:ext cx="53861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FF9D9F6B-FED7-B0D1-AF6F-368BFAC421BF}"/>
              </a:ext>
            </a:extLst>
          </p:cNvPr>
          <p:cNvSpPr/>
          <p:nvPr/>
        </p:nvSpPr>
        <p:spPr>
          <a:xfrm>
            <a:off x="6399091" y="1463605"/>
            <a:ext cx="426117" cy="196385"/>
          </a:xfrm>
          <a:prstGeom prst="roundRect">
            <a:avLst>
              <a:gd name="adj" fmla="val 9419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로그아웃</a:t>
            </a:r>
          </a:p>
        </p:txBody>
      </p:sp>
      <p:pic>
        <p:nvPicPr>
          <p:cNvPr id="1029" name="Picture 5" descr="D:\05 문서\02 문서 디자인\아이콘\icon2\65097-200.png">
            <a:extLst>
              <a:ext uri="{FF2B5EF4-FFF2-40B4-BE49-F238E27FC236}">
                <a16:creationId xmlns:a16="http://schemas.microsoft.com/office/drawing/2014/main" id="{6699047F-BF52-F05F-3778-CD4AA7869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455" y="1482540"/>
            <a:ext cx="145564" cy="1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5721A5CC-D10B-2AF1-C433-CE1D5EF1A9AB}"/>
              </a:ext>
            </a:extLst>
          </p:cNvPr>
          <p:cNvSpPr/>
          <p:nvPr/>
        </p:nvSpPr>
        <p:spPr>
          <a:xfrm>
            <a:off x="5606926" y="1899146"/>
            <a:ext cx="1218282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신고구분관리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0F589ED9-8062-5C72-8667-B1F738A63774}"/>
              </a:ext>
            </a:extLst>
          </p:cNvPr>
          <p:cNvSpPr/>
          <p:nvPr/>
        </p:nvSpPr>
        <p:spPr>
          <a:xfrm>
            <a:off x="1285777" y="1838274"/>
            <a:ext cx="692497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883F6742-A93C-B0D3-61A1-B48AB849C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0A37024E-91AC-AE8C-BDE6-F4B7058B5580}"/>
              </a:ext>
            </a:extLst>
          </p:cNvPr>
          <p:cNvSpPr/>
          <p:nvPr/>
        </p:nvSpPr>
        <p:spPr>
          <a:xfrm>
            <a:off x="220357" y="1867077"/>
            <a:ext cx="750205" cy="22108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대시보드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메뉴구성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서브페이지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 설문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8103AB-DACE-DAC3-DFFB-8761D06D6D04}"/>
              </a:ext>
            </a:extLst>
          </p:cNvPr>
          <p:cNvSpPr/>
          <p:nvPr/>
        </p:nvSpPr>
        <p:spPr>
          <a:xfrm>
            <a:off x="1313332" y="2168860"/>
            <a:ext cx="44884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데이터관리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E37B0E-E96B-F489-5990-1BA015F052DB}"/>
              </a:ext>
            </a:extLst>
          </p:cNvPr>
          <p:cNvSpPr/>
          <p:nvPr/>
        </p:nvSpPr>
        <p:spPr>
          <a:xfrm>
            <a:off x="1965635" y="2168860"/>
            <a:ext cx="53860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신고구분관리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0751D99-158A-F909-4DB6-80BB0BD33EC0}"/>
              </a:ext>
            </a:extLst>
          </p:cNvPr>
          <p:cNvCxnSpPr>
            <a:cxnSpLocks/>
          </p:cNvCxnSpPr>
          <p:nvPr/>
        </p:nvCxnSpPr>
        <p:spPr>
          <a:xfrm>
            <a:off x="1300577" y="2331563"/>
            <a:ext cx="542468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C8670174-0E2C-2889-C56A-371597902FA2}"/>
              </a:ext>
            </a:extLst>
          </p:cNvPr>
          <p:cNvSpPr/>
          <p:nvPr/>
        </p:nvSpPr>
        <p:spPr>
          <a:xfrm>
            <a:off x="2870141" y="2399766"/>
            <a:ext cx="392728" cy="1636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1F17A9E-0A43-8DE8-E75E-33FE34909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879287"/>
              </p:ext>
            </p:extLst>
          </p:nvPr>
        </p:nvGraphicFramePr>
        <p:xfrm>
          <a:off x="1318653" y="2607747"/>
          <a:ext cx="1944216" cy="1760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구분명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44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자진신고</a:t>
                      </a: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44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청탁금지법</a:t>
                      </a:r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행동강령 위반신고</a:t>
                      </a: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갑질 피해 신고</a:t>
                      </a: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+mn-ea"/>
                        </a:rPr>
                        <a:t>성희롱 </a:t>
                      </a:r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· </a:t>
                      </a:r>
                      <a:r>
                        <a:rPr lang="ko-KR" altLang="en-US" sz="700" dirty="0">
                          <a:latin typeface="맑은 고딕" panose="020B0503020000020004" pitchFamily="50" charset="-127"/>
                          <a:ea typeface="+mn-ea"/>
                        </a:rPr>
                        <a:t>성폭력 </a:t>
                      </a:r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· </a:t>
                      </a:r>
                      <a:r>
                        <a:rPr lang="ko-KR" altLang="en-US" sz="700" dirty="0">
                          <a:latin typeface="맑은 고딕" panose="020B0503020000020004" pitchFamily="50" charset="-127"/>
                          <a:ea typeface="+mn-ea"/>
                        </a:rPr>
                        <a:t>스토킹 피해 신고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57659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그외</a:t>
                      </a:r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기타</a:t>
                      </a: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63212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DC20520-2346-0771-731D-C22256130289}"/>
              </a:ext>
            </a:extLst>
          </p:cNvPr>
          <p:cNvSpPr/>
          <p:nvPr/>
        </p:nvSpPr>
        <p:spPr>
          <a:xfrm>
            <a:off x="3013257" y="2890169"/>
            <a:ext cx="221685" cy="135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prstClr val="black"/>
                </a:solidFill>
              </a:rPr>
              <a:t>수정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DD327E-37FF-488F-0C7F-41C6FE455A36}"/>
              </a:ext>
            </a:extLst>
          </p:cNvPr>
          <p:cNvSpPr/>
          <p:nvPr/>
        </p:nvSpPr>
        <p:spPr>
          <a:xfrm>
            <a:off x="2869155" y="2890169"/>
            <a:ext cx="113759" cy="135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prstClr val="black"/>
                </a:solidFill>
                <a:latin typeface="나눔고딕"/>
                <a:ea typeface="나눔고딕"/>
              </a:rPr>
              <a:t>▼</a:t>
            </a:r>
            <a:endParaRPr lang="ko-KR" altLang="en-US" sz="600" dirty="0">
              <a:solidFill>
                <a:prstClr val="black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427192-35D0-DACD-C03A-DF535C772A84}"/>
              </a:ext>
            </a:extLst>
          </p:cNvPr>
          <p:cNvSpPr/>
          <p:nvPr/>
        </p:nvSpPr>
        <p:spPr>
          <a:xfrm>
            <a:off x="2738091" y="2890169"/>
            <a:ext cx="113759" cy="135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prstClr val="black"/>
                </a:solidFill>
                <a:latin typeface="나눔고딕"/>
                <a:ea typeface="나눔고딕"/>
              </a:rPr>
              <a:t>▲</a:t>
            </a:r>
            <a:endParaRPr lang="ko-KR" altLang="en-US" sz="600" dirty="0">
              <a:solidFill>
                <a:prstClr val="black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883034-BA49-F8BF-4B0E-7C78931D74B0}"/>
              </a:ext>
            </a:extLst>
          </p:cNvPr>
          <p:cNvSpPr/>
          <p:nvPr/>
        </p:nvSpPr>
        <p:spPr>
          <a:xfrm>
            <a:off x="3013256" y="3173077"/>
            <a:ext cx="221685" cy="135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prstClr val="black"/>
                </a:solidFill>
              </a:rPr>
              <a:t>수정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ED9FC4A-9C3D-85C2-1956-6A3DB0FBE54B}"/>
              </a:ext>
            </a:extLst>
          </p:cNvPr>
          <p:cNvSpPr/>
          <p:nvPr/>
        </p:nvSpPr>
        <p:spPr>
          <a:xfrm>
            <a:off x="2869154" y="3173077"/>
            <a:ext cx="113759" cy="135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prstClr val="black"/>
                </a:solidFill>
                <a:latin typeface="나눔고딕"/>
                <a:ea typeface="나눔고딕"/>
              </a:rPr>
              <a:t>▼</a:t>
            </a:r>
            <a:endParaRPr lang="ko-KR" altLang="en-US" sz="600" dirty="0">
              <a:solidFill>
                <a:prstClr val="black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C039B2-4CA1-408B-53B1-14A4FD2324E8}"/>
              </a:ext>
            </a:extLst>
          </p:cNvPr>
          <p:cNvSpPr/>
          <p:nvPr/>
        </p:nvSpPr>
        <p:spPr>
          <a:xfrm>
            <a:off x="2738090" y="3173077"/>
            <a:ext cx="113759" cy="135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prstClr val="black"/>
                </a:solidFill>
                <a:latin typeface="나눔고딕"/>
                <a:ea typeface="나눔고딕"/>
              </a:rPr>
              <a:t>▲</a:t>
            </a:r>
            <a:endParaRPr lang="ko-KR" altLang="en-US" sz="600" dirty="0">
              <a:solidFill>
                <a:prstClr val="black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E3798B-7932-784C-7A4C-7AB07E8480DB}"/>
              </a:ext>
            </a:extLst>
          </p:cNvPr>
          <p:cNvSpPr/>
          <p:nvPr/>
        </p:nvSpPr>
        <p:spPr>
          <a:xfrm>
            <a:off x="3013256" y="3412153"/>
            <a:ext cx="221685" cy="135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prstClr val="black"/>
                </a:solidFill>
              </a:rPr>
              <a:t>수정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FBF60E4-A2ED-C3CB-C17B-B0B0E3FA9B2E}"/>
              </a:ext>
            </a:extLst>
          </p:cNvPr>
          <p:cNvSpPr/>
          <p:nvPr/>
        </p:nvSpPr>
        <p:spPr>
          <a:xfrm>
            <a:off x="2869154" y="3412153"/>
            <a:ext cx="113759" cy="135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prstClr val="black"/>
                </a:solidFill>
                <a:latin typeface="나눔고딕"/>
                <a:ea typeface="나눔고딕"/>
              </a:rPr>
              <a:t>▼</a:t>
            </a:r>
            <a:endParaRPr lang="ko-KR" altLang="en-US" sz="600" dirty="0">
              <a:solidFill>
                <a:prstClr val="black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FD0E11D-3744-9931-968F-C349C5DF568E}"/>
              </a:ext>
            </a:extLst>
          </p:cNvPr>
          <p:cNvSpPr/>
          <p:nvPr/>
        </p:nvSpPr>
        <p:spPr>
          <a:xfrm>
            <a:off x="2738090" y="3412153"/>
            <a:ext cx="113759" cy="135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prstClr val="black"/>
                </a:solidFill>
                <a:latin typeface="나눔고딕"/>
                <a:ea typeface="나눔고딕"/>
              </a:rPr>
              <a:t>▲</a:t>
            </a:r>
            <a:endParaRPr lang="ko-KR" altLang="en-US" sz="600" dirty="0">
              <a:solidFill>
                <a:prstClr val="black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D89655B-0018-AC67-686B-617E708965AC}"/>
              </a:ext>
            </a:extLst>
          </p:cNvPr>
          <p:cNvSpPr/>
          <p:nvPr/>
        </p:nvSpPr>
        <p:spPr>
          <a:xfrm>
            <a:off x="3013256" y="3680884"/>
            <a:ext cx="221685" cy="135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prstClr val="black"/>
                </a:solidFill>
              </a:rPr>
              <a:t>수정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7992CD8-5B3C-F7B9-750F-D65E8E4AB851}"/>
              </a:ext>
            </a:extLst>
          </p:cNvPr>
          <p:cNvSpPr/>
          <p:nvPr/>
        </p:nvSpPr>
        <p:spPr>
          <a:xfrm>
            <a:off x="2869154" y="3680884"/>
            <a:ext cx="113759" cy="135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prstClr val="black"/>
                </a:solidFill>
                <a:latin typeface="나눔고딕"/>
                <a:ea typeface="나눔고딕"/>
              </a:rPr>
              <a:t>▼</a:t>
            </a:r>
            <a:endParaRPr lang="ko-KR" altLang="en-US" sz="600" dirty="0">
              <a:solidFill>
                <a:prstClr val="black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6EFC652-370B-A28B-9F21-BE1973A0ED2E}"/>
              </a:ext>
            </a:extLst>
          </p:cNvPr>
          <p:cNvSpPr/>
          <p:nvPr/>
        </p:nvSpPr>
        <p:spPr>
          <a:xfrm>
            <a:off x="2738090" y="3680884"/>
            <a:ext cx="113759" cy="135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prstClr val="black"/>
                </a:solidFill>
                <a:latin typeface="나눔고딕"/>
                <a:ea typeface="나눔고딕"/>
              </a:rPr>
              <a:t>▲</a:t>
            </a:r>
            <a:endParaRPr lang="ko-KR" altLang="en-US" sz="600" dirty="0">
              <a:solidFill>
                <a:prstClr val="black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49714A0-2D7E-8E30-1FF8-67C80A1C002B}"/>
              </a:ext>
            </a:extLst>
          </p:cNvPr>
          <p:cNvSpPr/>
          <p:nvPr/>
        </p:nvSpPr>
        <p:spPr>
          <a:xfrm>
            <a:off x="1318653" y="2399766"/>
            <a:ext cx="447238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신고 구분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53E94D-9329-CB0D-EE1D-67DFEFEE8AB9}"/>
              </a:ext>
            </a:extLst>
          </p:cNvPr>
          <p:cNvSpPr/>
          <p:nvPr/>
        </p:nvSpPr>
        <p:spPr>
          <a:xfrm>
            <a:off x="3013256" y="3928478"/>
            <a:ext cx="221685" cy="135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prstClr val="black"/>
                </a:solidFill>
              </a:rPr>
              <a:t>수정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405300A-0990-57DE-7F9B-FB39B0B3302B}"/>
              </a:ext>
            </a:extLst>
          </p:cNvPr>
          <p:cNvSpPr/>
          <p:nvPr/>
        </p:nvSpPr>
        <p:spPr>
          <a:xfrm>
            <a:off x="2869154" y="3928478"/>
            <a:ext cx="113759" cy="135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prstClr val="black"/>
                </a:solidFill>
                <a:latin typeface="나눔고딕"/>
                <a:ea typeface="나눔고딕"/>
              </a:rPr>
              <a:t>▼</a:t>
            </a:r>
            <a:endParaRPr lang="ko-KR" altLang="en-US" sz="600" dirty="0">
              <a:solidFill>
                <a:prstClr val="black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704EFF8-0BFC-1140-969A-D1F472D7A4F9}"/>
              </a:ext>
            </a:extLst>
          </p:cNvPr>
          <p:cNvSpPr/>
          <p:nvPr/>
        </p:nvSpPr>
        <p:spPr>
          <a:xfrm>
            <a:off x="2738090" y="3928478"/>
            <a:ext cx="113759" cy="135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prstClr val="black"/>
                </a:solidFill>
                <a:latin typeface="나눔고딕"/>
                <a:ea typeface="나눔고딕"/>
              </a:rPr>
              <a:t>▲</a:t>
            </a:r>
            <a:endParaRPr lang="ko-KR" altLang="en-US" sz="600" dirty="0">
              <a:solidFill>
                <a:prstClr val="black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C8BDB8-D723-1D53-600D-75EE646CBA2F}"/>
              </a:ext>
            </a:extLst>
          </p:cNvPr>
          <p:cNvSpPr/>
          <p:nvPr/>
        </p:nvSpPr>
        <p:spPr>
          <a:xfrm>
            <a:off x="3013256" y="4164486"/>
            <a:ext cx="221685" cy="135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prstClr val="black"/>
                </a:solidFill>
              </a:rPr>
              <a:t>수정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BAE2265-4F68-D7D7-92D6-AEC2F4262784}"/>
              </a:ext>
            </a:extLst>
          </p:cNvPr>
          <p:cNvSpPr/>
          <p:nvPr/>
        </p:nvSpPr>
        <p:spPr>
          <a:xfrm>
            <a:off x="2869154" y="4164486"/>
            <a:ext cx="113759" cy="135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prstClr val="black"/>
                </a:solidFill>
                <a:latin typeface="나눔고딕"/>
                <a:ea typeface="나눔고딕"/>
              </a:rPr>
              <a:t>▼</a:t>
            </a:r>
            <a:endParaRPr lang="ko-KR" altLang="en-US" sz="600" dirty="0">
              <a:solidFill>
                <a:prstClr val="black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27589FF-A33D-3534-905C-0684A91760D3}"/>
              </a:ext>
            </a:extLst>
          </p:cNvPr>
          <p:cNvSpPr/>
          <p:nvPr/>
        </p:nvSpPr>
        <p:spPr>
          <a:xfrm>
            <a:off x="2738090" y="4164486"/>
            <a:ext cx="113759" cy="135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prstClr val="black"/>
                </a:solidFill>
                <a:latin typeface="나눔고딕"/>
                <a:ea typeface="나눔고딕"/>
              </a:rPr>
              <a:t>▲</a:t>
            </a:r>
            <a:endParaRPr lang="ko-KR" altLang="en-US" sz="600" dirty="0">
              <a:solidFill>
                <a:prstClr val="black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AEA656C-A0EA-8199-5166-0C149DC2F400}"/>
              </a:ext>
            </a:extLst>
          </p:cNvPr>
          <p:cNvSpPr/>
          <p:nvPr/>
        </p:nvSpPr>
        <p:spPr>
          <a:xfrm>
            <a:off x="2693624" y="2168860"/>
            <a:ext cx="71814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개인정보동의관리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75E2A104-732C-3D7E-C94D-239475AC7464}"/>
              </a:ext>
            </a:extLst>
          </p:cNvPr>
          <p:cNvSpPr>
            <a:spLocks noChangeAspect="1"/>
          </p:cNvSpPr>
          <p:nvPr/>
        </p:nvSpPr>
        <p:spPr>
          <a:xfrm>
            <a:off x="1246141" y="2520500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3536832D-9ADB-192E-1C79-DD6C601970EC}"/>
              </a:ext>
            </a:extLst>
          </p:cNvPr>
          <p:cNvSpPr>
            <a:spLocks noChangeAspect="1"/>
          </p:cNvSpPr>
          <p:nvPr/>
        </p:nvSpPr>
        <p:spPr>
          <a:xfrm>
            <a:off x="2708992" y="240216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8757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31A46-702C-C5BE-2131-258ABE10C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그림 41">
            <a:extLst>
              <a:ext uri="{FF2B5EF4-FFF2-40B4-BE49-F238E27FC236}">
                <a16:creationId xmlns:a16="http://schemas.microsoft.com/office/drawing/2014/main" id="{C6030E7C-4EF2-1FD5-FDDE-8D42E750F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4" y="1340768"/>
            <a:ext cx="6864691" cy="52430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9D833F-E500-7C64-DBD9-443BC8DDEA75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신고구분관리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EA5B8F-8D69-021B-7205-AC54F284A5C4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신고구분관리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5957F651-F599-B68B-8942-B919D98FF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239904"/>
              </p:ext>
            </p:extLst>
          </p:nvPr>
        </p:nvGraphicFramePr>
        <p:xfrm>
          <a:off x="6969418" y="2548005"/>
          <a:ext cx="2772114" cy="183652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신고구분관리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팝업창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구분 카테고리를 등록 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 명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등록하고자 하는 구분 명을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사용여부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사용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홈페이지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열린경영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클린신고센터에서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신고글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등록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수정 시 구분에 보이게 되며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설정이 가능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미사용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홈페이지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열린경영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클린신고센터에서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신고글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등록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수정 시 구분에 보이지 않으며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설정이 불가능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 정보 설정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구분이 등록 되어 목록에 표시 돈다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닫기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구분 등록이 취소 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팝업창이 닫힌다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41CE9C98-5C7C-B1D0-1A7D-091A012129F5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dmc_register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DC0A0EE-753D-F90A-429C-0DA53A7D6743}"/>
              </a:ext>
            </a:extLst>
          </p:cNvPr>
          <p:cNvSpPr/>
          <p:nvPr/>
        </p:nvSpPr>
        <p:spPr>
          <a:xfrm>
            <a:off x="3364796" y="3688222"/>
            <a:ext cx="2772308" cy="121694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04B83AF-52F6-6AC5-3975-D9E440DEE09C}"/>
              </a:ext>
            </a:extLst>
          </p:cNvPr>
          <p:cNvSpPr/>
          <p:nvPr/>
        </p:nvSpPr>
        <p:spPr>
          <a:xfrm>
            <a:off x="3368824" y="3680794"/>
            <a:ext cx="2763058" cy="201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신고 구분 등록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73FB558-3625-9E65-D793-945DFAB5EB96}"/>
              </a:ext>
            </a:extLst>
          </p:cNvPr>
          <p:cNvSpPr/>
          <p:nvPr/>
        </p:nvSpPr>
        <p:spPr>
          <a:xfrm>
            <a:off x="5637076" y="4599152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</a:p>
        </p:txBody>
      </p:sp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17244273-2181-2918-55CB-49FBF0DFD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464447"/>
              </p:ext>
            </p:extLst>
          </p:nvPr>
        </p:nvGraphicFramePr>
        <p:xfrm>
          <a:off x="3467387" y="3982534"/>
          <a:ext cx="2561705" cy="492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 명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3" name="직사각형 72">
            <a:extLst>
              <a:ext uri="{FF2B5EF4-FFF2-40B4-BE49-F238E27FC236}">
                <a16:creationId xmlns:a16="http://schemas.microsoft.com/office/drawing/2014/main" id="{467DCB6E-B102-0B98-A231-A0ED18F237DF}"/>
              </a:ext>
            </a:extLst>
          </p:cNvPr>
          <p:cNvSpPr/>
          <p:nvPr/>
        </p:nvSpPr>
        <p:spPr>
          <a:xfrm>
            <a:off x="4192888" y="4028917"/>
            <a:ext cx="176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D0DCF04A-625E-C009-C130-AD07606A16F8}"/>
              </a:ext>
            </a:extLst>
          </p:cNvPr>
          <p:cNvSpPr/>
          <p:nvPr/>
        </p:nvSpPr>
        <p:spPr>
          <a:xfrm>
            <a:off x="5169024" y="4599152"/>
            <a:ext cx="392728" cy="19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</a:p>
        </p:txBody>
      </p:sp>
      <p:cxnSp>
        <p:nvCxnSpPr>
          <p:cNvPr id="77" name="꺾인 연결선 223">
            <a:extLst>
              <a:ext uri="{FF2B5EF4-FFF2-40B4-BE49-F238E27FC236}">
                <a16:creationId xmlns:a16="http://schemas.microsoft.com/office/drawing/2014/main" id="{432D2DE2-E491-AC5C-03D5-7103D7C24717}"/>
              </a:ext>
            </a:extLst>
          </p:cNvPr>
          <p:cNvCxnSpPr>
            <a:stCxn id="79" idx="0"/>
            <a:endCxn id="69" idx="0"/>
          </p:cNvCxnSpPr>
          <p:nvPr/>
        </p:nvCxnSpPr>
        <p:spPr>
          <a:xfrm rot="16200000" flipH="1">
            <a:off x="3245639" y="2176080"/>
            <a:ext cx="1319763" cy="1689664"/>
          </a:xfrm>
          <a:prstGeom prst="bentConnector3">
            <a:avLst>
              <a:gd name="adj1" fmla="val -17321"/>
            </a:avLst>
          </a:prstGeom>
          <a:ln w="63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타원 78">
            <a:extLst>
              <a:ext uri="{FF2B5EF4-FFF2-40B4-BE49-F238E27FC236}">
                <a16:creationId xmlns:a16="http://schemas.microsoft.com/office/drawing/2014/main" id="{7B277876-FCE3-005F-A9EA-5474013EFFF8}"/>
              </a:ext>
            </a:extLst>
          </p:cNvPr>
          <p:cNvSpPr/>
          <p:nvPr/>
        </p:nvSpPr>
        <p:spPr>
          <a:xfrm>
            <a:off x="3024686" y="2361031"/>
            <a:ext cx="72006" cy="72006"/>
          </a:xfrm>
          <a:prstGeom prst="ellipse">
            <a:avLst/>
          </a:prstGeom>
          <a:solidFill>
            <a:srgbClr val="FF0000"/>
          </a:solidFill>
          <a:ln w="6350"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0" name="Rectangle 191">
            <a:extLst>
              <a:ext uri="{FF2B5EF4-FFF2-40B4-BE49-F238E27FC236}">
                <a16:creationId xmlns:a16="http://schemas.microsoft.com/office/drawing/2014/main" id="{A923D6B8-A99E-86BA-80EC-BD4E821C3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5437" y="4299425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</a:p>
        </p:txBody>
      </p:sp>
      <p:graphicFrame>
        <p:nvGraphicFramePr>
          <p:cNvPr id="81" name="개체 80">
            <a:extLst>
              <a:ext uri="{FF2B5EF4-FFF2-40B4-BE49-F238E27FC236}">
                <a16:creationId xmlns:a16="http://schemas.microsoft.com/office/drawing/2014/main" id="{D0A9C665-0972-C0F7-9E8F-FCE8E3E667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883182"/>
              </p:ext>
            </p:extLst>
          </p:nvPr>
        </p:nvGraphicFramePr>
        <p:xfrm>
          <a:off x="4198760" y="4281055"/>
          <a:ext cx="144462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45435" imgH="145435" progId="Visio.Drawing.11">
                  <p:embed/>
                </p:oleObj>
              </mc:Choice>
              <mc:Fallback>
                <p:oleObj name="Visio" r:id="rId3" imgW="145435" imgH="145435" progId="Visio.Drawing.11">
                  <p:embed/>
                  <p:pic>
                    <p:nvPicPr>
                      <p:cNvPr id="98" name="개체 97">
                        <a:extLst>
                          <a:ext uri="{FF2B5EF4-FFF2-40B4-BE49-F238E27FC236}">
                            <a16:creationId xmlns:a16="http://schemas.microsoft.com/office/drawing/2014/main" id="{A69643C3-F67C-BC6F-3375-4130E25C64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8760" y="4281055"/>
                        <a:ext cx="144462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Rectangle 191">
            <a:extLst>
              <a:ext uri="{FF2B5EF4-FFF2-40B4-BE49-F238E27FC236}">
                <a16:creationId xmlns:a16="http://schemas.microsoft.com/office/drawing/2014/main" id="{112FABE5-81A2-7A41-FADA-CD04D290C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15" y="4299425"/>
            <a:ext cx="269304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미사용</a:t>
            </a:r>
          </a:p>
        </p:txBody>
      </p:sp>
      <p:graphicFrame>
        <p:nvGraphicFramePr>
          <p:cNvPr id="83" name="개체 82">
            <a:extLst>
              <a:ext uri="{FF2B5EF4-FFF2-40B4-BE49-F238E27FC236}">
                <a16:creationId xmlns:a16="http://schemas.microsoft.com/office/drawing/2014/main" id="{93C8496D-3BB1-A0AF-DBEF-B7280DAE87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7015336"/>
              </p:ext>
            </p:extLst>
          </p:nvPr>
        </p:nvGraphicFramePr>
        <p:xfrm>
          <a:off x="4647538" y="4281055"/>
          <a:ext cx="144462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45435" imgH="145435" progId="Visio.Drawing.11">
                  <p:embed/>
                </p:oleObj>
              </mc:Choice>
              <mc:Fallback>
                <p:oleObj name="Visio" r:id="rId3" imgW="145435" imgH="145435" progId="Visio.Drawing.11">
                  <p:embed/>
                  <p:pic>
                    <p:nvPicPr>
                      <p:cNvPr id="100" name="개체 99">
                        <a:extLst>
                          <a:ext uri="{FF2B5EF4-FFF2-40B4-BE49-F238E27FC236}">
                            <a16:creationId xmlns:a16="http://schemas.microsoft.com/office/drawing/2014/main" id="{F8A25DC5-7915-D163-64B6-B0D93EC12F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7538" y="4281055"/>
                        <a:ext cx="144462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타원 39">
            <a:extLst>
              <a:ext uri="{FF2B5EF4-FFF2-40B4-BE49-F238E27FC236}">
                <a16:creationId xmlns:a16="http://schemas.microsoft.com/office/drawing/2014/main" id="{66C9A8EF-E083-5DF0-ACA6-F7452916EDCF}"/>
              </a:ext>
            </a:extLst>
          </p:cNvPr>
          <p:cNvSpPr>
            <a:spLocks noChangeAspect="1"/>
          </p:cNvSpPr>
          <p:nvPr/>
        </p:nvSpPr>
        <p:spPr>
          <a:xfrm>
            <a:off x="3399570" y="390659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4A664A91-8F23-65FD-2CA9-C45EFE81A30D}"/>
              </a:ext>
            </a:extLst>
          </p:cNvPr>
          <p:cNvSpPr>
            <a:spLocks noChangeAspect="1"/>
          </p:cNvSpPr>
          <p:nvPr/>
        </p:nvSpPr>
        <p:spPr>
          <a:xfrm>
            <a:off x="5002888" y="462045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1431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EFCCC-93DF-4F48-02F6-1689B483C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F8287902-BC8A-5C25-4848-204EA5BB5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4" y="1340768"/>
            <a:ext cx="6864691" cy="52430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FC6EFC-C627-13F6-69F3-EF297F35CC7D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신고구분관리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8BF13E-C464-AABD-E256-A66460A97408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신고구분관리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93A81218-5A26-84A4-A4C8-F6335EC2C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553283"/>
              </p:ext>
            </p:extLst>
          </p:nvPr>
        </p:nvGraphicFramePr>
        <p:xfrm>
          <a:off x="6969418" y="2548005"/>
          <a:ext cx="2772114" cy="183652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신고구분관리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팝업창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구분 카테고리 정보를 수정 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구분 명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등록하고자 하는 구분 명을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사용여부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사용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홈페이지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열린경영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클린신고센터에서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신고글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등록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수정 시 구분에 보이게 되며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설정이 가능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미사용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홈페이지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열린경영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클린신고센터에서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신고글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등록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수정 시 구분에 보이지 않으며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설정이 불가능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저장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구분 정보 설정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저장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구분 정보가 수정 되어 목록에 표시 돈다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닫기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구분 수정이 취소 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팝업창이 닫힌다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07AA6EFC-2CCA-AD7F-39C3-046F521CF812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dmc_modify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0058ED-05E0-A846-DB03-5E491DA61169}"/>
              </a:ext>
            </a:extLst>
          </p:cNvPr>
          <p:cNvSpPr/>
          <p:nvPr/>
        </p:nvSpPr>
        <p:spPr>
          <a:xfrm>
            <a:off x="3364796" y="3688222"/>
            <a:ext cx="2772308" cy="121694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4DED65-023A-4130-78F6-21E98875907A}"/>
              </a:ext>
            </a:extLst>
          </p:cNvPr>
          <p:cNvSpPr/>
          <p:nvPr/>
        </p:nvSpPr>
        <p:spPr>
          <a:xfrm>
            <a:off x="3368824" y="3680794"/>
            <a:ext cx="2763058" cy="201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신고 구분 수정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1EDEED-19A9-8108-CAB1-8DFD468839CC}"/>
              </a:ext>
            </a:extLst>
          </p:cNvPr>
          <p:cNvSpPr/>
          <p:nvPr/>
        </p:nvSpPr>
        <p:spPr>
          <a:xfrm>
            <a:off x="5637076" y="4599152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5532CDF-9048-7AFF-1EFB-4CB7565F3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998160"/>
              </p:ext>
            </p:extLst>
          </p:nvPr>
        </p:nvGraphicFramePr>
        <p:xfrm>
          <a:off x="3467387" y="3982534"/>
          <a:ext cx="2561705" cy="492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 명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A87C722-9656-8A33-105A-CCA8DDDBA255}"/>
              </a:ext>
            </a:extLst>
          </p:cNvPr>
          <p:cNvSpPr/>
          <p:nvPr/>
        </p:nvSpPr>
        <p:spPr>
          <a:xfrm>
            <a:off x="4192888" y="4028917"/>
            <a:ext cx="176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대학생 장학금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E80313-862B-104C-247E-A167BA2B3F24}"/>
              </a:ext>
            </a:extLst>
          </p:cNvPr>
          <p:cNvSpPr/>
          <p:nvPr/>
        </p:nvSpPr>
        <p:spPr>
          <a:xfrm>
            <a:off x="5169024" y="4599152"/>
            <a:ext cx="392728" cy="19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cxnSp>
        <p:nvCxnSpPr>
          <p:cNvPr id="9" name="꺾인 연결선 223">
            <a:extLst>
              <a:ext uri="{FF2B5EF4-FFF2-40B4-BE49-F238E27FC236}">
                <a16:creationId xmlns:a16="http://schemas.microsoft.com/office/drawing/2014/main" id="{7A071E51-8108-66E2-E7B3-DCDCF69A71C8}"/>
              </a:ext>
            </a:extLst>
          </p:cNvPr>
          <p:cNvCxnSpPr>
            <a:stCxn id="10" idx="0"/>
            <a:endCxn id="3" idx="0"/>
          </p:cNvCxnSpPr>
          <p:nvPr/>
        </p:nvCxnSpPr>
        <p:spPr>
          <a:xfrm rot="16200000" flipH="1">
            <a:off x="3645659" y="2576101"/>
            <a:ext cx="583779" cy="1625607"/>
          </a:xfrm>
          <a:prstGeom prst="bentConnector3">
            <a:avLst>
              <a:gd name="adj1" fmla="val -39159"/>
            </a:avLst>
          </a:prstGeom>
          <a:ln w="63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D9E5DA2A-1542-63AB-4F3A-919F3FDE1537}"/>
              </a:ext>
            </a:extLst>
          </p:cNvPr>
          <p:cNvSpPr/>
          <p:nvPr/>
        </p:nvSpPr>
        <p:spPr>
          <a:xfrm>
            <a:off x="3088743" y="3097015"/>
            <a:ext cx="72006" cy="72006"/>
          </a:xfrm>
          <a:prstGeom prst="ellipse">
            <a:avLst/>
          </a:prstGeom>
          <a:solidFill>
            <a:srgbClr val="FF0000"/>
          </a:solidFill>
          <a:ln w="6350"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91">
            <a:extLst>
              <a:ext uri="{FF2B5EF4-FFF2-40B4-BE49-F238E27FC236}">
                <a16:creationId xmlns:a16="http://schemas.microsoft.com/office/drawing/2014/main" id="{4E8528EE-BEC2-25D6-3DFB-F2D6BC808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5437" y="4299425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</a:p>
        </p:txBody>
      </p:sp>
      <p:sp>
        <p:nvSpPr>
          <p:cNvPr id="12" name="Rectangle 191">
            <a:extLst>
              <a:ext uri="{FF2B5EF4-FFF2-40B4-BE49-F238E27FC236}">
                <a16:creationId xmlns:a16="http://schemas.microsoft.com/office/drawing/2014/main" id="{51B841A3-AFDF-CF97-E87E-57E6D584A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15" y="4299425"/>
            <a:ext cx="269304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미사용</a:t>
            </a:r>
          </a:p>
        </p:txBody>
      </p:sp>
      <p:graphicFrame>
        <p:nvGraphicFramePr>
          <p:cNvPr id="13" name="개체 12">
            <a:extLst>
              <a:ext uri="{FF2B5EF4-FFF2-40B4-BE49-F238E27FC236}">
                <a16:creationId xmlns:a16="http://schemas.microsoft.com/office/drawing/2014/main" id="{8FD2CEA1-A466-1B52-E465-933854F8F6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7538" y="4281055"/>
          <a:ext cx="144462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45435" imgH="145435" progId="Visio.Drawing.11">
                  <p:embed/>
                </p:oleObj>
              </mc:Choice>
              <mc:Fallback>
                <p:oleObj name="Visio" r:id="rId3" imgW="145435" imgH="145435" progId="Visio.Drawing.11">
                  <p:embed/>
                  <p:pic>
                    <p:nvPicPr>
                      <p:cNvPr id="100" name="개체 99">
                        <a:extLst>
                          <a:ext uri="{FF2B5EF4-FFF2-40B4-BE49-F238E27FC236}">
                            <a16:creationId xmlns:a16="http://schemas.microsoft.com/office/drawing/2014/main" id="{5EE55421-15EE-D318-B8A4-E765567AB0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7538" y="4281055"/>
                        <a:ext cx="144462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>
            <a:extLst>
              <a:ext uri="{FF2B5EF4-FFF2-40B4-BE49-F238E27FC236}">
                <a16:creationId xmlns:a16="http://schemas.microsoft.com/office/drawing/2014/main" id="{466BB549-B03C-19C2-E97D-ACB73BAD56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838353"/>
              </p:ext>
            </p:extLst>
          </p:nvPr>
        </p:nvGraphicFramePr>
        <p:xfrm>
          <a:off x="4196022" y="4280531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4" name="개체 3">
                        <a:extLst>
                          <a:ext uri="{FF2B5EF4-FFF2-40B4-BE49-F238E27FC236}">
                            <a16:creationId xmlns:a16="http://schemas.microsoft.com/office/drawing/2014/main" id="{CBA164EE-2006-9681-9990-DEFA9273DD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6022" y="4280531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타원 14">
            <a:extLst>
              <a:ext uri="{FF2B5EF4-FFF2-40B4-BE49-F238E27FC236}">
                <a16:creationId xmlns:a16="http://schemas.microsoft.com/office/drawing/2014/main" id="{25398191-C007-7055-46FA-BF8A78D943B1}"/>
              </a:ext>
            </a:extLst>
          </p:cNvPr>
          <p:cNvSpPr>
            <a:spLocks noChangeAspect="1"/>
          </p:cNvSpPr>
          <p:nvPr/>
        </p:nvSpPr>
        <p:spPr>
          <a:xfrm>
            <a:off x="3399570" y="390659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7BF15BD0-DDDA-990F-1793-16111C70F70A}"/>
              </a:ext>
            </a:extLst>
          </p:cNvPr>
          <p:cNvSpPr>
            <a:spLocks noChangeAspect="1"/>
          </p:cNvSpPr>
          <p:nvPr/>
        </p:nvSpPr>
        <p:spPr>
          <a:xfrm>
            <a:off x="5002888" y="462045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9214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B05CD-10A3-1B64-03D1-8F8C29FC0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8340F55D-103D-9610-A667-1DBE6113D004}"/>
              </a:ext>
            </a:extLst>
          </p:cNvPr>
          <p:cNvSpPr/>
          <p:nvPr/>
        </p:nvSpPr>
        <p:spPr>
          <a:xfrm>
            <a:off x="1205886" y="1781925"/>
            <a:ext cx="5691801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FFDE699-1FC0-6415-9954-A1851F040752}"/>
              </a:ext>
            </a:extLst>
          </p:cNvPr>
          <p:cNvSpPr/>
          <p:nvPr/>
        </p:nvSpPr>
        <p:spPr>
          <a:xfrm>
            <a:off x="164468" y="1781925"/>
            <a:ext cx="1008050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9A37E-06C8-121A-849B-6BE0C9F2F116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개인정보동의 관리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078D48-242F-3F87-DD5F-B2EAB112AD74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개인정보동의관리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1F49C31C-7BBB-8FFD-3CDC-02A60A5DF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726142"/>
              </p:ext>
            </p:extLst>
          </p:nvPr>
        </p:nvGraphicFramePr>
        <p:xfrm>
          <a:off x="6969418" y="2548005"/>
          <a:ext cx="2772114" cy="263361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클린신곳네터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탭 메뉴 중 개인정보동의관리 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홈페이지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열린경영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클린신고센터에서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 동의하는 개인정보 수집 및 활용에 대한 동의 내용을 설정하고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동의 후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등록에 따른 이력을 조회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홈페이지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열린경영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클린신고센터에서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 동의하는 개인정보 수집 및 활용에 대한 동의 내용을 설정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개인정보 수집 및 활용 동의 내용 설정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저장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을 클릭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하면 홈페이지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열린경영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클린신고센터에서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등록 화면에 반영 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동의합니다 체크 후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신고글을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등록한 회원의 이름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연락처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동의합니다 체크 후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등록 시 설정된 연락처를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이메일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동의합니다 체크 후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등록 시 설정된 이메일 주소를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동의 일자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동의합니다 체크 후 신청 등록한 일자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4422533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엑셀 다운로드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결과 목록 전체를 엑셀 파일로 다운 받는다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44923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D0488A71-0EBF-6495-DC71-E5C32F1A16C7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dm_agree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1361A01A-4AF5-0908-A99D-A25B7BE58034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E456911-E1CC-174E-C4D6-14BF5AEA3086}"/>
              </a:ext>
            </a:extLst>
          </p:cNvPr>
          <p:cNvSpPr/>
          <p:nvPr/>
        </p:nvSpPr>
        <p:spPr>
          <a:xfrm>
            <a:off x="5797379" y="1512762"/>
            <a:ext cx="53861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3A23E814-3980-2B07-6E98-9EB46A4FDEF7}"/>
              </a:ext>
            </a:extLst>
          </p:cNvPr>
          <p:cNvSpPr/>
          <p:nvPr/>
        </p:nvSpPr>
        <p:spPr>
          <a:xfrm>
            <a:off x="6399091" y="1463605"/>
            <a:ext cx="426117" cy="196385"/>
          </a:xfrm>
          <a:prstGeom prst="roundRect">
            <a:avLst>
              <a:gd name="adj" fmla="val 9419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로그아웃</a:t>
            </a:r>
          </a:p>
        </p:txBody>
      </p:sp>
      <p:pic>
        <p:nvPicPr>
          <p:cNvPr id="1029" name="Picture 5" descr="D:\05 문서\02 문서 디자인\아이콘\icon2\65097-200.png">
            <a:extLst>
              <a:ext uri="{FF2B5EF4-FFF2-40B4-BE49-F238E27FC236}">
                <a16:creationId xmlns:a16="http://schemas.microsoft.com/office/drawing/2014/main" id="{EF0E8A70-E109-44C2-2A5B-01240549C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455" y="1482540"/>
            <a:ext cx="145564" cy="1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2A347F6F-4556-8637-FECF-5C00C2500B0C}"/>
              </a:ext>
            </a:extLst>
          </p:cNvPr>
          <p:cNvSpPr/>
          <p:nvPr/>
        </p:nvSpPr>
        <p:spPr>
          <a:xfrm>
            <a:off x="5606926" y="1899146"/>
            <a:ext cx="1218282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신고구분관리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BF9B748-092F-D9C4-CFCA-65453693155A}"/>
              </a:ext>
            </a:extLst>
          </p:cNvPr>
          <p:cNvSpPr/>
          <p:nvPr/>
        </p:nvSpPr>
        <p:spPr>
          <a:xfrm>
            <a:off x="1285777" y="1838274"/>
            <a:ext cx="692497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A961657B-01D5-B8FB-B721-36E801E92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6A84957D-F619-4820-3302-661C349D1991}"/>
              </a:ext>
            </a:extLst>
          </p:cNvPr>
          <p:cNvSpPr/>
          <p:nvPr/>
        </p:nvSpPr>
        <p:spPr>
          <a:xfrm>
            <a:off x="220357" y="1867077"/>
            <a:ext cx="750205" cy="22108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대시보드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메뉴구성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서브페이지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 설문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7AD98E-5477-0735-80E9-49A5E1F35BC5}"/>
              </a:ext>
            </a:extLst>
          </p:cNvPr>
          <p:cNvSpPr/>
          <p:nvPr/>
        </p:nvSpPr>
        <p:spPr>
          <a:xfrm>
            <a:off x="1313332" y="2168860"/>
            <a:ext cx="44884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데이터관리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397ECAB-6BCC-15D5-C775-6D8334BC40D9}"/>
              </a:ext>
            </a:extLst>
          </p:cNvPr>
          <p:cNvSpPr/>
          <p:nvPr/>
        </p:nvSpPr>
        <p:spPr>
          <a:xfrm>
            <a:off x="1965635" y="2168860"/>
            <a:ext cx="53860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신고구분관리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D7F62B8-001C-BF40-49D5-EB912DAFA067}"/>
              </a:ext>
            </a:extLst>
          </p:cNvPr>
          <p:cNvCxnSpPr>
            <a:cxnSpLocks/>
          </p:cNvCxnSpPr>
          <p:nvPr/>
        </p:nvCxnSpPr>
        <p:spPr>
          <a:xfrm>
            <a:off x="1300577" y="2331563"/>
            <a:ext cx="542468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47009DB-56EA-18A5-E4D9-89D36B06B291}"/>
              </a:ext>
            </a:extLst>
          </p:cNvPr>
          <p:cNvSpPr/>
          <p:nvPr/>
        </p:nvSpPr>
        <p:spPr>
          <a:xfrm>
            <a:off x="2693624" y="2168860"/>
            <a:ext cx="71814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개인정보동의관리</a:t>
            </a:r>
          </a:p>
        </p:txBody>
      </p:sp>
      <p:sp>
        <p:nvSpPr>
          <p:cNvPr id="30" name="Rectangle 191">
            <a:extLst>
              <a:ext uri="{FF2B5EF4-FFF2-40B4-BE49-F238E27FC236}">
                <a16:creationId xmlns:a16="http://schemas.microsoft.com/office/drawing/2014/main" id="{E36946FA-F08D-5CA3-A8C8-971CFAD08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492" y="3953598"/>
            <a:ext cx="4004301" cy="120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kumimoji="0" lang="ko-KR" altLang="en-US" sz="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홈페이지에서 </a:t>
            </a:r>
            <a:r>
              <a:rPr lang="ko-KR" altLang="en-US" sz="600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클린신고센터</a:t>
            </a:r>
            <a:r>
              <a:rPr lang="ko-KR" altLang="en-US" sz="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신고하기</a:t>
            </a:r>
            <a:r>
              <a:rPr kumimoji="0" lang="ko-KR" altLang="en-US" sz="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시 안내 및 동의 처리를 하는 개인정보 수집 및 활용 동의 내용을 설정 한다</a:t>
            </a:r>
            <a:r>
              <a:rPr kumimoji="0" lang="en-US" altLang="ko-KR" sz="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9A3692C-E853-E5C3-F4A6-EA7F779E0DE2}"/>
              </a:ext>
            </a:extLst>
          </p:cNvPr>
          <p:cNvSpPr/>
          <p:nvPr/>
        </p:nvSpPr>
        <p:spPr>
          <a:xfrm>
            <a:off x="1292193" y="2404566"/>
            <a:ext cx="111569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수집 및 활용 동의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3CA4480-9DC9-AA4C-4680-77D657DB22A6}"/>
              </a:ext>
            </a:extLst>
          </p:cNvPr>
          <p:cNvSpPr/>
          <p:nvPr/>
        </p:nvSpPr>
        <p:spPr>
          <a:xfrm>
            <a:off x="6293348" y="4005504"/>
            <a:ext cx="500056" cy="191664"/>
          </a:xfrm>
          <a:prstGeom prst="rect">
            <a:avLst/>
          </a:prstGeom>
          <a:solidFill>
            <a:schemeClr val="tx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D83B3FB6-347B-FC5B-57AF-A2D1AE7475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161"/>
          <a:stretch/>
        </p:blipFill>
        <p:spPr bwMode="auto">
          <a:xfrm>
            <a:off x="1278820" y="2563075"/>
            <a:ext cx="5530486" cy="1382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F4C6BEE7-52C7-8F91-A874-64A39BE31D05}"/>
              </a:ext>
            </a:extLst>
          </p:cNvPr>
          <p:cNvSpPr/>
          <p:nvPr/>
        </p:nvSpPr>
        <p:spPr>
          <a:xfrm>
            <a:off x="1372932" y="2865068"/>
            <a:ext cx="4596344" cy="104754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t"/>
          <a:lstStyle/>
          <a:p>
            <a:r>
              <a:rPr lang="ko-KR" altLang="en-US" sz="800" dirty="0">
                <a:solidFill>
                  <a:prstClr val="black"/>
                </a:solidFill>
              </a:rPr>
              <a:t>오산교육재단 홈페이지 </a:t>
            </a:r>
            <a:r>
              <a:rPr lang="ko-KR" altLang="en-US" sz="800" dirty="0" err="1">
                <a:solidFill>
                  <a:prstClr val="black"/>
                </a:solidFill>
              </a:rPr>
              <a:t>클린신고센터</a:t>
            </a:r>
            <a:r>
              <a:rPr lang="ko-KR" altLang="en-US" sz="800" dirty="0">
                <a:solidFill>
                  <a:prstClr val="black"/>
                </a:solidFill>
              </a:rPr>
              <a:t> 신고하기를 위하여 아래와 같이 개인정보를 </a:t>
            </a:r>
            <a:r>
              <a:rPr lang="ko-KR" altLang="en-US" sz="800" dirty="0" err="1">
                <a:solidFill>
                  <a:prstClr val="black"/>
                </a:solidFill>
              </a:rPr>
              <a:t>수집・이용하고자</a:t>
            </a:r>
            <a:r>
              <a:rPr lang="ko-KR" altLang="en-US" sz="800" dirty="0">
                <a:solidFill>
                  <a:prstClr val="black"/>
                </a:solidFill>
              </a:rPr>
              <a:t> 합니다</a:t>
            </a:r>
            <a:r>
              <a:rPr lang="en-US" altLang="ko-KR" sz="800" dirty="0">
                <a:solidFill>
                  <a:prstClr val="black"/>
                </a:solidFill>
              </a:rPr>
              <a:t>. </a:t>
            </a:r>
            <a:r>
              <a:rPr lang="ko-KR" altLang="en-US" sz="800" dirty="0">
                <a:solidFill>
                  <a:prstClr val="black"/>
                </a:solidFill>
              </a:rPr>
              <a:t>내용을 자세히 읽으신 후 동의 여부를 결정하여 주시기 바랍니다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</a:p>
          <a:p>
            <a:endParaRPr lang="en-US" altLang="ko-KR" sz="800" dirty="0">
              <a:solidFill>
                <a:prstClr val="black"/>
              </a:solidFill>
            </a:endParaRPr>
          </a:p>
          <a:p>
            <a:r>
              <a:rPr lang="ko-KR" altLang="en-US" sz="800" dirty="0">
                <a:solidFill>
                  <a:prstClr val="black"/>
                </a:solidFill>
              </a:rPr>
              <a:t>개인정보 </a:t>
            </a:r>
            <a:r>
              <a:rPr lang="ko-KR" altLang="en-US" sz="800" dirty="0" err="1">
                <a:solidFill>
                  <a:prstClr val="black"/>
                </a:solidFill>
              </a:rPr>
              <a:t>수집・이용</a:t>
            </a:r>
            <a:r>
              <a:rPr lang="ko-KR" altLang="en-US" sz="800" dirty="0">
                <a:solidFill>
                  <a:prstClr val="black"/>
                </a:solidFill>
              </a:rPr>
              <a:t> 내역</a:t>
            </a:r>
            <a:endParaRPr lang="en-US" altLang="ko-KR" sz="800" dirty="0">
              <a:solidFill>
                <a:prstClr val="black"/>
              </a:solidFill>
            </a:endParaRPr>
          </a:p>
          <a:p>
            <a:r>
              <a:rPr lang="en-US" altLang="ko-KR" sz="800" dirty="0">
                <a:solidFill>
                  <a:prstClr val="black"/>
                </a:solidFill>
              </a:rPr>
              <a:t>1. </a:t>
            </a:r>
            <a:r>
              <a:rPr lang="ko-KR" altLang="en-US" sz="800" dirty="0">
                <a:solidFill>
                  <a:prstClr val="black"/>
                </a:solidFill>
              </a:rPr>
              <a:t>항목</a:t>
            </a:r>
            <a:endParaRPr lang="en-US" altLang="ko-KR" sz="800" dirty="0">
              <a:solidFill>
                <a:prstClr val="black"/>
              </a:solidFill>
            </a:endParaRPr>
          </a:p>
          <a:p>
            <a:r>
              <a:rPr lang="en-US" altLang="ko-KR" sz="800" dirty="0">
                <a:solidFill>
                  <a:prstClr val="black"/>
                </a:solidFill>
              </a:rPr>
              <a:t>‣ </a:t>
            </a:r>
            <a:r>
              <a:rPr lang="ko-KR" altLang="en-US" sz="800" dirty="0">
                <a:solidFill>
                  <a:prstClr val="black"/>
                </a:solidFill>
              </a:rPr>
              <a:t>필수항목 </a:t>
            </a:r>
            <a:r>
              <a:rPr lang="en-US" altLang="ko-KR" sz="800" dirty="0">
                <a:solidFill>
                  <a:prstClr val="black"/>
                </a:solidFill>
              </a:rPr>
              <a:t>: </a:t>
            </a:r>
            <a:r>
              <a:rPr lang="ko-KR" altLang="en-US" sz="800" dirty="0">
                <a:solidFill>
                  <a:prstClr val="black"/>
                </a:solidFill>
              </a:rPr>
              <a:t>성명</a:t>
            </a:r>
            <a:r>
              <a:rPr lang="en-US" altLang="ko-KR" sz="800" dirty="0">
                <a:solidFill>
                  <a:prstClr val="black"/>
                </a:solidFill>
              </a:rPr>
              <a:t>, </a:t>
            </a:r>
            <a:r>
              <a:rPr lang="ko-KR" altLang="en-US" sz="800" dirty="0">
                <a:solidFill>
                  <a:prstClr val="black"/>
                </a:solidFill>
              </a:rPr>
              <a:t>휴대폰번호</a:t>
            </a:r>
            <a:r>
              <a:rPr lang="en-US" altLang="ko-KR" sz="800" dirty="0">
                <a:solidFill>
                  <a:prstClr val="black"/>
                </a:solidFill>
              </a:rPr>
              <a:t>, </a:t>
            </a:r>
            <a:r>
              <a:rPr lang="ko-KR" altLang="en-US" sz="800" dirty="0" err="1">
                <a:solidFill>
                  <a:prstClr val="black"/>
                </a:solidFill>
              </a:rPr>
              <a:t>이메일주소</a:t>
            </a:r>
            <a:r>
              <a:rPr lang="en-US" altLang="ko-KR" sz="800" dirty="0">
                <a:solidFill>
                  <a:prstClr val="black"/>
                </a:solidFill>
              </a:rPr>
              <a:t>, </a:t>
            </a:r>
            <a:r>
              <a:rPr lang="ko-KR" altLang="en-US" sz="800" dirty="0">
                <a:solidFill>
                  <a:prstClr val="black"/>
                </a:solidFill>
              </a:rPr>
              <a:t>관리를 위해 수집함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171137B-07A8-D137-DB20-816665419ABE}"/>
              </a:ext>
            </a:extLst>
          </p:cNvPr>
          <p:cNvSpPr/>
          <p:nvPr/>
        </p:nvSpPr>
        <p:spPr>
          <a:xfrm>
            <a:off x="6041200" y="6111320"/>
            <a:ext cx="752204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엑셀 다운로드</a:t>
            </a:r>
          </a:p>
        </p:txBody>
      </p:sp>
      <p:pic>
        <p:nvPicPr>
          <p:cNvPr id="36" name="Picture 13">
            <a:extLst>
              <a:ext uri="{FF2B5EF4-FFF2-40B4-BE49-F238E27FC236}">
                <a16:creationId xmlns:a16="http://schemas.microsoft.com/office/drawing/2014/main" id="{906F72C4-5396-649E-2B1E-9D725BDBC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693" y="4419132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A87D4BBF-12E7-7FA3-0E8B-831E45B58E71}"/>
              </a:ext>
            </a:extLst>
          </p:cNvPr>
          <p:cNvSpPr/>
          <p:nvPr/>
        </p:nvSpPr>
        <p:spPr>
          <a:xfrm>
            <a:off x="6311364" y="4420782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50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개</a:t>
            </a: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C9543BC6-5BD1-131C-D728-A457E0356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20727"/>
              </p:ext>
            </p:extLst>
          </p:nvPr>
        </p:nvGraphicFramePr>
        <p:xfrm>
          <a:off x="1308416" y="4617849"/>
          <a:ext cx="5484989" cy="1324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8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77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2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98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연락처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동의 일자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honggil123@naver.com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2025.09.07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2025.09.07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95755"/>
                  </a:ext>
                </a:extLst>
              </a:tr>
              <a:tr h="231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2025.09.07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01335"/>
                  </a:ext>
                </a:extLst>
              </a:tr>
              <a:tr h="1958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2025.09.07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8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honggil123@naver.com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2025.09.07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001907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772CCAC2-4D22-D902-15BC-CFBA7B1624AB}"/>
              </a:ext>
            </a:extLst>
          </p:cNvPr>
          <p:cNvSpPr/>
          <p:nvPr/>
        </p:nvSpPr>
        <p:spPr>
          <a:xfrm>
            <a:off x="3555390" y="5989694"/>
            <a:ext cx="90249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</a:rPr>
              <a:t>처음</a:t>
            </a:r>
            <a:r>
              <a:rPr lang="en-US" altLang="ko-KR" sz="700" dirty="0">
                <a:solidFill>
                  <a:prstClr val="black"/>
                </a:solidFill>
              </a:rPr>
              <a:t> ◀  1  ▶  </a:t>
            </a:r>
            <a:r>
              <a:rPr lang="ko-KR" altLang="en-US" sz="700" dirty="0">
                <a:solidFill>
                  <a:prstClr val="black"/>
                </a:solidFill>
              </a:rPr>
              <a:t>마지막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B1F0A34-4574-7D1F-900E-B602BE7A4989}"/>
              </a:ext>
            </a:extLst>
          </p:cNvPr>
          <p:cNvSpPr/>
          <p:nvPr/>
        </p:nvSpPr>
        <p:spPr>
          <a:xfrm>
            <a:off x="1292193" y="4427528"/>
            <a:ext cx="1327286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수집 및 활용 동의 이력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8DC6AA0-DAA9-D308-33C2-DD9950FEDD53}"/>
              </a:ext>
            </a:extLst>
          </p:cNvPr>
          <p:cNvSpPr>
            <a:spLocks noChangeAspect="1"/>
          </p:cNvSpPr>
          <p:nvPr/>
        </p:nvSpPr>
        <p:spPr>
          <a:xfrm>
            <a:off x="1246141" y="248869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7681DD4-6E9A-1108-DEA6-4C531943C746}"/>
              </a:ext>
            </a:extLst>
          </p:cNvPr>
          <p:cNvSpPr>
            <a:spLocks noChangeAspect="1"/>
          </p:cNvSpPr>
          <p:nvPr/>
        </p:nvSpPr>
        <p:spPr>
          <a:xfrm>
            <a:off x="1246141" y="454368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784A3C4-A71B-5085-C752-CD85B5742E31}"/>
              </a:ext>
            </a:extLst>
          </p:cNvPr>
          <p:cNvSpPr>
            <a:spLocks noChangeAspect="1"/>
          </p:cNvSpPr>
          <p:nvPr/>
        </p:nvSpPr>
        <p:spPr>
          <a:xfrm>
            <a:off x="6132664" y="402812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6F7A885-B161-7DC7-8612-5C463408B726}"/>
              </a:ext>
            </a:extLst>
          </p:cNvPr>
          <p:cNvSpPr>
            <a:spLocks noChangeAspect="1"/>
          </p:cNvSpPr>
          <p:nvPr/>
        </p:nvSpPr>
        <p:spPr>
          <a:xfrm>
            <a:off x="5880516" y="6138320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35408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0F0"/>
        </a:solidFill>
        <a:ln w="3175">
          <a:solidFill>
            <a:srgbClr val="005C2A"/>
          </a:solidFill>
        </a:ln>
        <a:effectLst>
          <a:outerShdw blurRad="25400" dist="12700" dir="5400000" algn="t" rotWithShape="0">
            <a:schemeClr val="tx1">
              <a:lumMod val="50000"/>
              <a:lumOff val="50000"/>
              <a:alpha val="40000"/>
            </a:schemeClr>
          </a:outerShdw>
        </a:effectLst>
      </a:spPr>
      <a:bodyPr lIns="252000" rtlCol="0" anchor="ctr"/>
      <a:lstStyle>
        <a:defPPr>
          <a:defRPr sz="700" b="1" smtClean="0">
            <a:solidFill>
              <a:schemeClr val="bg1"/>
            </a:solidFill>
            <a:latin typeface="나눔고딕" pitchFamily="50" charset="-127"/>
            <a:ea typeface="나눔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50000"/>
            </a:schemeClr>
          </a:solidFill>
          <a:prstDash val="sysDash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9_Office 테마">
  <a:themeElements>
    <a:clrScheme name="사용자 지정 9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7E8C6"/>
      </a:hlink>
      <a:folHlink>
        <a:srgbClr val="FFFFFF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bg1">
              <a:lumMod val="50000"/>
            </a:schemeClr>
          </a:solidFill>
        </a:ln>
        <a:effectLst>
          <a:outerShdw blurRad="50800" dist="38100" dir="2700000" algn="tl" rotWithShape="0">
            <a:schemeClr val="tx1">
              <a:lumMod val="50000"/>
              <a:lumOff val="50000"/>
              <a:alpha val="40000"/>
            </a:schemeClr>
          </a:outerShdw>
        </a:effectLst>
      </a:spPr>
      <a:bodyPr wrap="none" rtlCol="0" anchor="ctr"/>
      <a:lstStyle>
        <a:defPPr algn="ctr">
          <a:defRPr sz="700" smtClean="0">
            <a:solidFill>
              <a:schemeClr val="tx1">
                <a:lumMod val="95000"/>
                <a:lumOff val="5000"/>
              </a:schemeClr>
            </a:solidFill>
            <a:latin typeface="맑은 고딕" pitchFamily="50" charset="-127"/>
            <a:ea typeface="맑은 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FF0000"/>
          </a:solidFill>
          <a:prstDash val="sys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dirty="0" smtClean="0"/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109305</TotalTime>
  <Words>1991</Words>
  <Application>Microsoft Office PowerPoint</Application>
  <PresentationFormat>A4 용지(210x297mm)</PresentationFormat>
  <Paragraphs>700</Paragraphs>
  <Slides>13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3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굴림체</vt:lpstr>
      <vt:lpstr>Arial</vt:lpstr>
      <vt:lpstr>Noto Sans</vt:lpstr>
      <vt:lpstr>나눔고딕</vt:lpstr>
      <vt:lpstr>맑은 고딕</vt:lpstr>
      <vt:lpstr>1_Office 테마</vt:lpstr>
      <vt:lpstr>9_Office 테마</vt:lpstr>
      <vt:lpstr>2_Office 테마</vt:lpstr>
      <vt:lpstr>Visio</vt:lpstr>
      <vt:lpstr>오산교육재단 홈페이지 개편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Kimkyu</dc:creator>
  <cp:lastModifiedBy>성열 최</cp:lastModifiedBy>
  <cp:revision>3727</cp:revision>
  <cp:lastPrinted>2022-07-06T11:39:49Z</cp:lastPrinted>
  <dcterms:created xsi:type="dcterms:W3CDTF">2011-08-08T03:42:49Z</dcterms:created>
  <dcterms:modified xsi:type="dcterms:W3CDTF">2025-11-04T06:53:40Z</dcterms:modified>
</cp:coreProperties>
</file>