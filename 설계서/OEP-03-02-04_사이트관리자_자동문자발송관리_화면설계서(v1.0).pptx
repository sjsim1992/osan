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4" r:id="rId2"/>
    <p:sldMasterId id="2147483660" r:id="rId3"/>
  </p:sldMasterIdLst>
  <p:notesMasterIdLst>
    <p:notesMasterId r:id="rId10"/>
  </p:notesMasterIdLst>
  <p:handoutMasterIdLst>
    <p:handoutMasterId r:id="rId11"/>
  </p:handoutMasterIdLst>
  <p:sldIdLst>
    <p:sldId id="1572" r:id="rId4"/>
    <p:sldId id="330" r:id="rId5"/>
    <p:sldId id="1732" r:id="rId6"/>
    <p:sldId id="2290" r:id="rId7"/>
    <p:sldId id="2291" r:id="rId8"/>
    <p:sldId id="2292" r:id="rId9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7" pos="104">
          <p15:clr>
            <a:srgbClr val="A4A3A4"/>
          </p15:clr>
        </p15:guide>
        <p15:guide id="15" pos="4345" userDrawn="1">
          <p15:clr>
            <a:srgbClr val="A4A3A4"/>
          </p15:clr>
        </p15:guide>
        <p15:guide id="16" orient="horz" pos="1412" userDrawn="1">
          <p15:clr>
            <a:srgbClr val="A4A3A4"/>
          </p15:clr>
        </p15:guide>
        <p15:guide id="17" orient="horz" pos="1525" userDrawn="1">
          <p15:clr>
            <a:srgbClr val="A4A3A4"/>
          </p15:clr>
        </p15:guide>
        <p15:guide id="18" orient="horz" pos="2092" userDrawn="1">
          <p15:clr>
            <a:srgbClr val="A4A3A4"/>
          </p15:clr>
        </p15:guide>
        <p15:guide id="19" pos="61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00FF00"/>
    <a:srgbClr val="0033CC"/>
    <a:srgbClr val="99CCFF"/>
    <a:srgbClr val="6699FF"/>
    <a:srgbClr val="CCECFF"/>
    <a:srgbClr val="77D717"/>
    <a:srgbClr val="FF4F4F"/>
    <a:srgbClr val="0000CC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6" autoAdjust="0"/>
    <p:restoredTop sz="83420" autoAdjust="0"/>
  </p:normalViewPr>
  <p:slideViewPr>
    <p:cSldViewPr>
      <p:cViewPr varScale="1">
        <p:scale>
          <a:sx n="111" d="100"/>
          <a:sy n="111" d="100"/>
        </p:scale>
        <p:origin x="102" y="228"/>
      </p:cViewPr>
      <p:guideLst>
        <p:guide orient="horz" pos="867"/>
        <p:guide pos="104"/>
        <p:guide pos="4345"/>
        <p:guide orient="horz" pos="1412"/>
        <p:guide orient="horz" pos="1525"/>
        <p:guide orient="horz" pos="2092"/>
        <p:guide pos="61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93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0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68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273288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2022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9476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75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165100" y="6563894"/>
            <a:ext cx="95758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76509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2" descr="D:\WIZWIG\01 로고\2018년 New 디자인\wizwig_lo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282" y="6617695"/>
            <a:ext cx="624252" cy="16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맑은 고딕" pitchFamily="50" charset="-127"/>
                <a:ea typeface="맑은 고딕" pitchFamily="50" charset="-127"/>
              </a:rPr>
              <a:t>Copyright ⓒ 2025 WIZWIG CO., LTD. All rights reserved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23371552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자동문자발송관리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OEP-03-02-04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2025.10.14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EA842D7-2E7B-E0E0-E4B6-842AA36B60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6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19026"/>
            <a:ext cx="89154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062021"/>
            <a:ext cx="89154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7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2025 WIZWIG CO., LTD. All rights reserved</a:t>
            </a: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558110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오산교육재단 홈페이지 개편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FA0792D-5A5F-2201-59F4-C0BA4EBCD00D}"/>
              </a:ext>
            </a:extLst>
          </p:cNvPr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068B010-F240-4A4F-8126-C9A9CA97B285}"/>
              </a:ext>
            </a:extLst>
          </p:cNvPr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1BDE428-5818-237D-843F-0677451E796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01510515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자동문자발송관리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OEP-03-02-04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2025.10.14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BE012F-D17E-E376-1089-B396637B5076}"/>
              </a:ext>
            </a:extLst>
          </p:cNvPr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D7E541D7-6595-8DA4-1F02-8D89FAA7E1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16465" y="833221"/>
            <a:ext cx="5412601" cy="540060"/>
          </a:xfrm>
        </p:spPr>
        <p:txBody>
          <a:bodyPr/>
          <a:lstStyle/>
          <a:p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오산교육재단</a:t>
            </a:r>
            <a:br>
              <a:rPr lang="en-US" altLang="ko-KR" sz="3200" b="1" dirty="0"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홈페이지 개편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8464" y="2024844"/>
            <a:ext cx="236475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400" b="1">
                <a:solidFill>
                  <a:schemeClr val="bg1"/>
                </a:solidFill>
              </a:rPr>
              <a:t>화면설계서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ⓒ 2025 WIZWIG CO., LTD., All rights reserved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464" y="2744924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</a:rPr>
              <a:t>사이트관리자</a:t>
            </a:r>
            <a:r>
              <a:rPr lang="en-US" altLang="ko-KR" sz="2000" b="1" dirty="0">
                <a:solidFill>
                  <a:schemeClr val="bg1"/>
                </a:solidFill>
              </a:rPr>
              <a:t>]</a:t>
            </a:r>
          </a:p>
          <a:p>
            <a:r>
              <a:rPr lang="ko-KR" altLang="en-US" sz="2000" b="1" dirty="0" err="1">
                <a:solidFill>
                  <a:schemeClr val="bg1"/>
                </a:solidFill>
              </a:rPr>
              <a:t>자동문자발송관리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D2B0827-74F0-A0F7-9599-1B004FEC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17" y="342531"/>
            <a:ext cx="1303423" cy="3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88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781227"/>
              </p:ext>
            </p:extLst>
          </p:nvPr>
        </p:nvGraphicFramePr>
        <p:xfrm>
          <a:off x="165106" y="1183340"/>
          <a:ext cx="9575801" cy="3380414"/>
        </p:xfrm>
        <a:graphic>
          <a:graphicData uri="http://schemas.openxmlformats.org/drawingml/2006/table">
            <a:tbl>
              <a:tblPr/>
              <a:tblGrid>
                <a:gridCol w="130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오산교육재단 사이트관리자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자동문자발송관리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화면설계서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1.0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2025.10.14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최초 작성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931620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사이트관리자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/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사이트관리자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4468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78384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사이트관리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454576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디자인관리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212531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메뉴구성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2744684" y="2093391"/>
            <a:ext cx="621457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서브페이지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3471914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프로그램신청관리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685186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자동문자발송관리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79182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온라인설문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7462556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94" name="모서리가 둥근 직사각형 93"/>
          <p:cNvSpPr/>
          <p:nvPr/>
        </p:nvSpPr>
        <p:spPr>
          <a:xfrm>
            <a:off x="808193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</a:t>
            </a:r>
          </a:p>
        </p:txBody>
      </p:sp>
      <p:sp>
        <p:nvSpPr>
          <p:cNvPr id="95" name="모서리가 둥근 직사각형 94"/>
          <p:cNvSpPr/>
          <p:nvPr/>
        </p:nvSpPr>
        <p:spPr>
          <a:xfrm>
            <a:off x="9273990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운영지원</a:t>
            </a:r>
          </a:p>
        </p:txBody>
      </p:sp>
      <p:cxnSp>
        <p:nvCxnSpPr>
          <p:cNvPr id="104" name="꺾인 연결선 103"/>
          <p:cNvCxnSpPr>
            <a:stCxn id="76" idx="0"/>
            <a:endCxn id="75" idx="2"/>
          </p:cNvCxnSpPr>
          <p:nvPr/>
        </p:nvCxnSpPr>
        <p:spPr>
          <a:xfrm rot="5400000" flipH="1" flipV="1">
            <a:off x="2554172" y="-382998"/>
            <a:ext cx="343487" cy="460929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81" idx="0"/>
            <a:endCxn id="75" idx="2"/>
          </p:cNvCxnSpPr>
          <p:nvPr/>
        </p:nvCxnSpPr>
        <p:spPr>
          <a:xfrm rot="5400000" flipH="1" flipV="1">
            <a:off x="2876699" y="-60471"/>
            <a:ext cx="343487" cy="396423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82" idx="0"/>
            <a:endCxn id="75" idx="2"/>
          </p:cNvCxnSpPr>
          <p:nvPr/>
        </p:nvCxnSpPr>
        <p:spPr>
          <a:xfrm rot="5400000" flipH="1" flipV="1">
            <a:off x="3212066" y="274896"/>
            <a:ext cx="343487" cy="329350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3534593" y="597423"/>
            <a:ext cx="343487" cy="264845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84" idx="0"/>
            <a:endCxn id="75" idx="2"/>
          </p:cNvCxnSpPr>
          <p:nvPr/>
        </p:nvCxnSpPr>
        <p:spPr>
          <a:xfrm rot="5400000" flipH="1" flipV="1">
            <a:off x="3871244" y="934074"/>
            <a:ext cx="343487" cy="197514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85" idx="0"/>
            <a:endCxn id="75" idx="2"/>
          </p:cNvCxnSpPr>
          <p:nvPr/>
        </p:nvCxnSpPr>
        <p:spPr>
          <a:xfrm rot="5400000" flipH="1" flipV="1">
            <a:off x="4329710" y="1392541"/>
            <a:ext cx="343487" cy="105821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4883029" y="1897437"/>
            <a:ext cx="343487" cy="484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90" idx="0"/>
            <a:endCxn id="75" idx="2"/>
          </p:cNvCxnSpPr>
          <p:nvPr/>
        </p:nvCxnSpPr>
        <p:spPr>
          <a:xfrm rot="16200000" flipV="1">
            <a:off x="5436347" y="1344119"/>
            <a:ext cx="343487" cy="11550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/>
          <p:cNvCxnSpPr>
            <a:stCxn id="92" idx="0"/>
            <a:endCxn id="75" idx="2"/>
          </p:cNvCxnSpPr>
          <p:nvPr/>
        </p:nvCxnSpPr>
        <p:spPr>
          <a:xfrm rot="16200000" flipV="1">
            <a:off x="5880689" y="899777"/>
            <a:ext cx="343487" cy="20437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stCxn id="93" idx="0"/>
            <a:endCxn id="75" idx="2"/>
          </p:cNvCxnSpPr>
          <p:nvPr/>
        </p:nvCxnSpPr>
        <p:spPr>
          <a:xfrm rot="16200000" flipV="1">
            <a:off x="6203216" y="577250"/>
            <a:ext cx="343487" cy="268879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94" idx="0"/>
            <a:endCxn id="75" idx="2"/>
          </p:cNvCxnSpPr>
          <p:nvPr/>
        </p:nvCxnSpPr>
        <p:spPr>
          <a:xfrm rot="16200000" flipV="1">
            <a:off x="6512903" y="267563"/>
            <a:ext cx="343487" cy="330817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cxnSpLocks/>
            <a:stCxn id="16" idx="0"/>
            <a:endCxn id="75" idx="2"/>
          </p:cNvCxnSpPr>
          <p:nvPr/>
        </p:nvCxnSpPr>
        <p:spPr>
          <a:xfrm rot="16200000" flipV="1">
            <a:off x="6810917" y="-30451"/>
            <a:ext cx="343487" cy="390419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Picture 864" descr="j02551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3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864" descr="j02551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32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모서리가 둥근 직사각형 94">
            <a:extLst>
              <a:ext uri="{FF2B5EF4-FFF2-40B4-BE49-F238E27FC236}">
                <a16:creationId xmlns:a16="http://schemas.microsoft.com/office/drawing/2014/main" id="{3D16A776-B9B2-7B76-91E1-0E677E2A4D27}"/>
              </a:ext>
            </a:extLst>
          </p:cNvPr>
          <p:cNvSpPr/>
          <p:nvPr/>
        </p:nvSpPr>
        <p:spPr>
          <a:xfrm>
            <a:off x="8701304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통계관리</a:t>
            </a:r>
          </a:p>
        </p:txBody>
      </p: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644307EB-4AEF-9DF9-A665-63EC3A4CFC1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7097260" y="-316794"/>
            <a:ext cx="343487" cy="447688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FF428B43-48C0-330F-58DF-A58897517C69}"/>
              </a:ext>
            </a:extLst>
          </p:cNvPr>
          <p:cNvSpPr/>
          <p:nvPr/>
        </p:nvSpPr>
        <p:spPr>
          <a:xfrm>
            <a:off x="4578550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클린신고센터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Picture 864" descr="j0255117">
            <a:extLst>
              <a:ext uri="{FF2B5EF4-FFF2-40B4-BE49-F238E27FC236}">
                <a16:creationId xmlns:a16="http://schemas.microsoft.com/office/drawing/2014/main" id="{9F0D5482-974C-8E59-85DB-3BAD660D3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257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14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45A0-8FA8-4E65-50B2-F6F1B395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60CE339-B14E-B8E0-4367-570D73224A49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D0F18D97-72BC-840A-45E9-677165F25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오산교육재단 홈페이지 회원 관리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회원 조회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회원정보 설정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74B4A4B8-A3E6-DB99-6D05-79625C278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11A44E54-9D60-59E0-0664-4BBADB6C9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01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77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3369-0A54-F282-0546-B8246628F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6D321081-DB45-9994-ED03-38440AEF00CF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사이트관리자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AAAEF0C3-44EB-BEDF-8758-3B698A1B9A4E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사이트관리자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F5506230-C1B5-D3A5-8749-09CEA2EFC4C4}"/>
              </a:ext>
            </a:extLst>
          </p:cNvPr>
          <p:cNvSpPr/>
          <p:nvPr/>
        </p:nvSpPr>
        <p:spPr>
          <a:xfrm>
            <a:off x="164468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ACA8F28E-A290-BC59-041D-AA0ECF058C55}"/>
              </a:ext>
            </a:extLst>
          </p:cNvPr>
          <p:cNvSpPr/>
          <p:nvPr/>
        </p:nvSpPr>
        <p:spPr>
          <a:xfrm>
            <a:off x="78384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093ADA9-F9F5-AD4E-B0E9-97812DCE6FFE}"/>
              </a:ext>
            </a:extLst>
          </p:cNvPr>
          <p:cNvSpPr/>
          <p:nvPr/>
        </p:nvSpPr>
        <p:spPr>
          <a:xfrm>
            <a:off x="1454576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디자인관리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43800A8D-E5B6-8756-ED30-B35EF4796DFD}"/>
              </a:ext>
            </a:extLst>
          </p:cNvPr>
          <p:cNvSpPr/>
          <p:nvPr/>
        </p:nvSpPr>
        <p:spPr>
          <a:xfrm>
            <a:off x="212531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A4FFB1B5-06E0-91CF-FC27-D0ADAF25C09B}"/>
              </a:ext>
            </a:extLst>
          </p:cNvPr>
          <p:cNvSpPr/>
          <p:nvPr/>
        </p:nvSpPr>
        <p:spPr>
          <a:xfrm>
            <a:off x="2744684" y="2093391"/>
            <a:ext cx="621457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0CF3BFF9-4384-6356-2071-CC4CF33BFDE0}"/>
              </a:ext>
            </a:extLst>
          </p:cNvPr>
          <p:cNvSpPr/>
          <p:nvPr/>
        </p:nvSpPr>
        <p:spPr>
          <a:xfrm>
            <a:off x="3471914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D773D546-CA4E-29F1-4DB5-D5FB04186EEC}"/>
              </a:ext>
            </a:extLst>
          </p:cNvPr>
          <p:cNvSpPr/>
          <p:nvPr/>
        </p:nvSpPr>
        <p:spPr>
          <a:xfrm>
            <a:off x="5685186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자동문자발송관리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F6BFBCB7-85A8-7A91-B913-0FE54EDBC66A}"/>
              </a:ext>
            </a:extLst>
          </p:cNvPr>
          <p:cNvSpPr/>
          <p:nvPr/>
        </p:nvSpPr>
        <p:spPr>
          <a:xfrm>
            <a:off x="679182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온라인설문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28B8277A-0352-CBBA-9712-85F379606B24}"/>
              </a:ext>
            </a:extLst>
          </p:cNvPr>
          <p:cNvSpPr/>
          <p:nvPr/>
        </p:nvSpPr>
        <p:spPr>
          <a:xfrm>
            <a:off x="7462556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sp>
        <p:nvSpPr>
          <p:cNvPr id="94" name="모서리가 둥근 직사각형 93">
            <a:extLst>
              <a:ext uri="{FF2B5EF4-FFF2-40B4-BE49-F238E27FC236}">
                <a16:creationId xmlns:a16="http://schemas.microsoft.com/office/drawing/2014/main" id="{4FE572D1-146F-DF83-E7D8-1113BF980A57}"/>
              </a:ext>
            </a:extLst>
          </p:cNvPr>
          <p:cNvSpPr/>
          <p:nvPr/>
        </p:nvSpPr>
        <p:spPr>
          <a:xfrm>
            <a:off x="808193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4229F30F-F547-5090-0165-5C2A72D8E702}"/>
              </a:ext>
            </a:extLst>
          </p:cNvPr>
          <p:cNvSpPr/>
          <p:nvPr/>
        </p:nvSpPr>
        <p:spPr>
          <a:xfrm>
            <a:off x="9273990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ED32AF82-08D4-F7E3-EB35-5700A8D432AF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554172" y="-382998"/>
            <a:ext cx="343487" cy="460929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FC5AC645-F6B4-EDEB-9414-19E79349C370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2876699" y="-60471"/>
            <a:ext cx="343487" cy="396423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81954E25-5658-1511-BE0E-73E7C85F8761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212066" y="274896"/>
            <a:ext cx="343487" cy="329350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E55505D4-4211-9197-6E10-2687755555A0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3534593" y="597423"/>
            <a:ext cx="343487" cy="264845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45AEF406-A2C0-CEF8-F266-AA178F5429E3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3871244" y="934074"/>
            <a:ext cx="343487" cy="197514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5A874BD7-8A1F-DFAB-7977-434D711B979E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5400000" flipH="1" flipV="1">
            <a:off x="4329710" y="1392541"/>
            <a:ext cx="343487" cy="105821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6CD37510-8445-BB84-26DC-8215C02BC66B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4883029" y="1897437"/>
            <a:ext cx="343487" cy="484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>
            <a:extLst>
              <a:ext uri="{FF2B5EF4-FFF2-40B4-BE49-F238E27FC236}">
                <a16:creationId xmlns:a16="http://schemas.microsoft.com/office/drawing/2014/main" id="{3D2363D3-0215-308F-0D9C-AE2A2F03F27E}"/>
              </a:ext>
            </a:extLst>
          </p:cNvPr>
          <p:cNvCxnSpPr>
            <a:stCxn id="90" idx="0"/>
            <a:endCxn id="75" idx="2"/>
          </p:cNvCxnSpPr>
          <p:nvPr/>
        </p:nvCxnSpPr>
        <p:spPr>
          <a:xfrm rot="16200000" flipV="1">
            <a:off x="5436347" y="1344119"/>
            <a:ext cx="343487" cy="11550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>
            <a:extLst>
              <a:ext uri="{FF2B5EF4-FFF2-40B4-BE49-F238E27FC236}">
                <a16:creationId xmlns:a16="http://schemas.microsoft.com/office/drawing/2014/main" id="{5985C4F4-089E-A720-3ED0-9BBD1458D339}"/>
              </a:ext>
            </a:extLst>
          </p:cNvPr>
          <p:cNvCxnSpPr>
            <a:stCxn id="92" idx="0"/>
            <a:endCxn id="75" idx="2"/>
          </p:cNvCxnSpPr>
          <p:nvPr/>
        </p:nvCxnSpPr>
        <p:spPr>
          <a:xfrm rot="16200000" flipV="1">
            <a:off x="5880689" y="899777"/>
            <a:ext cx="343487" cy="20437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>
            <a:extLst>
              <a:ext uri="{FF2B5EF4-FFF2-40B4-BE49-F238E27FC236}">
                <a16:creationId xmlns:a16="http://schemas.microsoft.com/office/drawing/2014/main" id="{755BE66A-0FE4-305C-A698-3687391A5239}"/>
              </a:ext>
            </a:extLst>
          </p:cNvPr>
          <p:cNvCxnSpPr>
            <a:stCxn id="93" idx="0"/>
            <a:endCxn id="75" idx="2"/>
          </p:cNvCxnSpPr>
          <p:nvPr/>
        </p:nvCxnSpPr>
        <p:spPr>
          <a:xfrm rot="16200000" flipV="1">
            <a:off x="6203216" y="577250"/>
            <a:ext cx="343487" cy="268879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>
            <a:extLst>
              <a:ext uri="{FF2B5EF4-FFF2-40B4-BE49-F238E27FC236}">
                <a16:creationId xmlns:a16="http://schemas.microsoft.com/office/drawing/2014/main" id="{80DFB49E-D17C-403B-706B-7F71FBCB09C8}"/>
              </a:ext>
            </a:extLst>
          </p:cNvPr>
          <p:cNvCxnSpPr>
            <a:stCxn id="94" idx="0"/>
            <a:endCxn id="75" idx="2"/>
          </p:cNvCxnSpPr>
          <p:nvPr/>
        </p:nvCxnSpPr>
        <p:spPr>
          <a:xfrm rot="16200000" flipV="1">
            <a:off x="6512903" y="267563"/>
            <a:ext cx="343487" cy="330817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>
            <a:extLst>
              <a:ext uri="{FF2B5EF4-FFF2-40B4-BE49-F238E27FC236}">
                <a16:creationId xmlns:a16="http://schemas.microsoft.com/office/drawing/2014/main" id="{80912ADA-9173-CB3B-596F-43CF05B18DDC}"/>
              </a:ext>
            </a:extLst>
          </p:cNvPr>
          <p:cNvCxnSpPr>
            <a:cxnSpLocks/>
            <a:stCxn id="16" idx="0"/>
            <a:endCxn id="75" idx="2"/>
          </p:cNvCxnSpPr>
          <p:nvPr/>
        </p:nvCxnSpPr>
        <p:spPr>
          <a:xfrm rot="16200000" flipV="1">
            <a:off x="6810917" y="-30451"/>
            <a:ext cx="343487" cy="390419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Picture 864" descr="j0255117">
            <a:extLst>
              <a:ext uri="{FF2B5EF4-FFF2-40B4-BE49-F238E27FC236}">
                <a16:creationId xmlns:a16="http://schemas.microsoft.com/office/drawing/2014/main" id="{937B66D1-646F-9134-F947-57289077A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3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864" descr="j0255117">
            <a:extLst>
              <a:ext uri="{FF2B5EF4-FFF2-40B4-BE49-F238E27FC236}">
                <a16:creationId xmlns:a16="http://schemas.microsoft.com/office/drawing/2014/main" id="{03560504-5474-6B64-0463-6538F5F72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32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모서리가 둥근 직사각형 94">
            <a:extLst>
              <a:ext uri="{FF2B5EF4-FFF2-40B4-BE49-F238E27FC236}">
                <a16:creationId xmlns:a16="http://schemas.microsoft.com/office/drawing/2014/main" id="{9C68D65F-6690-7410-607B-1BC3A4D4A02F}"/>
              </a:ext>
            </a:extLst>
          </p:cNvPr>
          <p:cNvSpPr/>
          <p:nvPr/>
        </p:nvSpPr>
        <p:spPr>
          <a:xfrm>
            <a:off x="8701304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</a:p>
        </p:txBody>
      </p: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727F76F3-F58A-C73A-5FFC-AA8507B0BDFB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7097260" y="-316794"/>
            <a:ext cx="343487" cy="447688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9A920ADD-81D6-7F20-9149-904D67B8D648}"/>
              </a:ext>
            </a:extLst>
          </p:cNvPr>
          <p:cNvSpPr/>
          <p:nvPr/>
        </p:nvSpPr>
        <p:spPr>
          <a:xfrm>
            <a:off x="4578550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Picture 864" descr="j0255117">
            <a:extLst>
              <a:ext uri="{FF2B5EF4-FFF2-40B4-BE49-F238E27FC236}">
                <a16:creationId xmlns:a16="http://schemas.microsoft.com/office/drawing/2014/main" id="{58718178-5411-C01B-6CFC-A40A2673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257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5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8DB5-4C32-7B30-30E8-C51E4372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9137AA17-E4FD-76ED-550A-CC1DD76DE02F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BC9BA8-000C-2FEE-FCD9-FB6A7704B89A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61992-87C4-22E9-7D04-F1B77CD7767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자동문자발송관리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AFF6B1-EF15-3996-D337-009CAAFDDEA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자동문자발송관리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6A83C214-BAF3-ABB9-3110-0589F2600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114805"/>
              </p:ext>
            </p:extLst>
          </p:nvPr>
        </p:nvGraphicFramePr>
        <p:xfrm>
          <a:off x="6969418" y="2548005"/>
          <a:ext cx="2772114" cy="227999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메뉴 중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자동문자발송관리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기관명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가능하며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발송 시 활용 되는 기관명을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문자 내용에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%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기관명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%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치환어가 있을 경우 일괄 변환 처리 되어 문자 내용에 표시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발신번호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문자 발송 시 설정되는 발신번호로 사전에 고객으로부터 제공 받은 번호를 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발송구간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문자영역 상단에 발송 되는 시점인 발송구간이 표시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사전에 고객으로부터 제공 받은 구간 정보를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최종 수정일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 등록일에서 최종 수정일이 표시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문자내용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자동발송 되는 문자 내용으로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치환어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문자내용 텍스트로 구성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가능 하다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자동발송 문자 내용 수정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클릭 하면 수정된 문자 내용으로 자동 발송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217557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E913EC8-EDDE-1C23-D923-FA59F52CE95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sms_message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B85CD89-05BF-03B3-1254-DE1E05FFFB82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57187C1-6BD3-205A-5668-4A07DE00D18D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9E91E3FC-B677-7ADD-B553-C54E9247A894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3C454D54-D797-CC18-9D49-488315D4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D60F2D54-AD19-CC62-758A-A11A59B5758E}"/>
              </a:ext>
            </a:extLst>
          </p:cNvPr>
          <p:cNvSpPr/>
          <p:nvPr/>
        </p:nvSpPr>
        <p:spPr>
          <a:xfrm>
            <a:off x="6023707" y="1899146"/>
            <a:ext cx="801501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자동문자발송관리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EBD19AA-4DE4-3D7E-2074-3EEB37E4342F}"/>
              </a:ext>
            </a:extLst>
          </p:cNvPr>
          <p:cNvSpPr/>
          <p:nvPr/>
        </p:nvSpPr>
        <p:spPr>
          <a:xfrm>
            <a:off x="1285777" y="1838274"/>
            <a:ext cx="96340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자동문자발송 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193868D8-4661-5CA0-1AE1-B280B0D0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2486E0F8-8569-2B54-695A-42206DAB4E74}"/>
              </a:ext>
            </a:extLst>
          </p:cNvPr>
          <p:cNvSpPr/>
          <p:nvPr/>
        </p:nvSpPr>
        <p:spPr>
          <a:xfrm>
            <a:off x="220357" y="1867077"/>
            <a:ext cx="750205" cy="242117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자동문자발송관리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B1E426-2B29-5665-634F-AE4BAAFD8B5F}"/>
              </a:ext>
            </a:extLst>
          </p:cNvPr>
          <p:cNvSpPr/>
          <p:nvPr/>
        </p:nvSpPr>
        <p:spPr>
          <a:xfrm>
            <a:off x="1335225" y="2902996"/>
            <a:ext cx="1296144" cy="8716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기관명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</a:p>
          <a:p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제목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가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이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) 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신청일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 에 신청 되었습니다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E3F8E5-F7EF-0319-D33D-15F4F31A5E7B}"/>
              </a:ext>
            </a:extLst>
          </p:cNvPr>
          <p:cNvSpPr/>
          <p:nvPr/>
        </p:nvSpPr>
        <p:spPr>
          <a:xfrm>
            <a:off x="1335225" y="2715491"/>
            <a:ext cx="1296144" cy="1780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장학금 신청 등록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289ECE-2977-351C-5FD5-0E7E9EAEACEB}"/>
              </a:ext>
            </a:extLst>
          </p:cNvPr>
          <p:cNvSpPr/>
          <p:nvPr/>
        </p:nvSpPr>
        <p:spPr>
          <a:xfrm>
            <a:off x="2720752" y="2902996"/>
            <a:ext cx="1296144" cy="8716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기관명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</a:p>
          <a:p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제목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가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이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) 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취소일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에 취소 되었습니다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2C607A-FE8A-3400-C93C-FC7A88D16A65}"/>
              </a:ext>
            </a:extLst>
          </p:cNvPr>
          <p:cNvSpPr/>
          <p:nvPr/>
        </p:nvSpPr>
        <p:spPr>
          <a:xfrm>
            <a:off x="2720752" y="2715491"/>
            <a:ext cx="1296144" cy="1780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장학금 신청 취소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9CB202-2546-D188-4BE6-6F5A49E4DC87}"/>
              </a:ext>
            </a:extLst>
          </p:cNvPr>
          <p:cNvSpPr/>
          <p:nvPr/>
        </p:nvSpPr>
        <p:spPr>
          <a:xfrm>
            <a:off x="4109006" y="2902996"/>
            <a:ext cx="1296144" cy="8716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기관명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</a:p>
          <a:p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제목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 대상 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선발처리일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 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상태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 되었습니다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44DAD6-019E-6387-92B3-50B2F898C7CF}"/>
              </a:ext>
            </a:extLst>
          </p:cNvPr>
          <p:cNvSpPr/>
          <p:nvPr/>
        </p:nvSpPr>
        <p:spPr>
          <a:xfrm>
            <a:off x="4109006" y="2715491"/>
            <a:ext cx="1296144" cy="1780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선발처리완료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6408FE-C673-FD83-6F7F-ACB1BCB872A2}"/>
              </a:ext>
            </a:extLst>
          </p:cNvPr>
          <p:cNvSpPr/>
          <p:nvPr/>
        </p:nvSpPr>
        <p:spPr>
          <a:xfrm>
            <a:off x="5511297" y="2902996"/>
            <a:ext cx="1296144" cy="8716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&amp;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기관명</a:t>
            </a:r>
            <a:endParaRPr lang="en-US" altLang="ko-KR" sz="700" dirty="0">
              <a:solidFill>
                <a:prstClr val="black">
                  <a:lumMod val="95000"/>
                  <a:lumOff val="5000"/>
                </a:prstClr>
              </a:solidFill>
              <a:latin typeface="나눔고딕" pitchFamily="50" charset="-127"/>
              <a:ea typeface="나눔고딕" pitchFamily="50" charset="-127"/>
            </a:endParaRPr>
          </a:p>
          <a:p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강의명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가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이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) &amp;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대기신청일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%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 대기자로 접수 되었습니다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91B020-B9C3-3889-B402-7D0A75806575}"/>
              </a:ext>
            </a:extLst>
          </p:cNvPr>
          <p:cNvSpPr/>
          <p:nvPr/>
        </p:nvSpPr>
        <p:spPr>
          <a:xfrm>
            <a:off x="5511297" y="2715491"/>
            <a:ext cx="1296144" cy="1780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  <a:latin typeface="나눔고딕" pitchFamily="50" charset="-127"/>
                <a:ea typeface="나눔고딕" pitchFamily="50" charset="-127"/>
              </a:rPr>
              <a:t>대기자 등록</a:t>
            </a:r>
          </a:p>
        </p:txBody>
      </p:sp>
      <p:sp>
        <p:nvSpPr>
          <p:cNvPr id="23" name="Rectangle 191">
            <a:extLst>
              <a:ext uri="{FF2B5EF4-FFF2-40B4-BE49-F238E27FC236}">
                <a16:creationId xmlns:a16="http://schemas.microsoft.com/office/drawing/2014/main" id="{3E18CF5C-9889-78A1-6000-E5888A69A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498" y="2257530"/>
            <a:ext cx="320601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기관명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2B5F86-BFBA-0181-4E81-320A90557E6F}"/>
              </a:ext>
            </a:extLst>
          </p:cNvPr>
          <p:cNvSpPr/>
          <p:nvPr/>
        </p:nvSpPr>
        <p:spPr>
          <a:xfrm>
            <a:off x="1712640" y="2240868"/>
            <a:ext cx="1296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</a:p>
        </p:txBody>
      </p:sp>
      <p:sp>
        <p:nvSpPr>
          <p:cNvPr id="25" name="Rectangle 191">
            <a:extLst>
              <a:ext uri="{FF2B5EF4-FFF2-40B4-BE49-F238E27FC236}">
                <a16:creationId xmlns:a16="http://schemas.microsoft.com/office/drawing/2014/main" id="{25344688-21C1-3408-6A90-68EA052C6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828" y="2257530"/>
            <a:ext cx="41036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발신번호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A5D879-44EC-3178-6B21-F5DDB5268822}"/>
              </a:ext>
            </a:extLst>
          </p:cNvPr>
          <p:cNvSpPr/>
          <p:nvPr/>
        </p:nvSpPr>
        <p:spPr>
          <a:xfrm>
            <a:off x="3576260" y="2240868"/>
            <a:ext cx="756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031-1234-5678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A805FAA-2DCF-FDF6-E188-F840825AB2FB}"/>
              </a:ext>
            </a:extLst>
          </p:cNvPr>
          <p:cNvSpPr/>
          <p:nvPr/>
        </p:nvSpPr>
        <p:spPr>
          <a:xfrm>
            <a:off x="2204745" y="2767711"/>
            <a:ext cx="39754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2025-09-28</a:t>
            </a:r>
            <a:endParaRPr lang="ko-KR" altLang="en-US" sz="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06E3865-8DD9-1A33-508E-ED10E1B078D4}"/>
              </a:ext>
            </a:extLst>
          </p:cNvPr>
          <p:cNvSpPr/>
          <p:nvPr/>
        </p:nvSpPr>
        <p:spPr>
          <a:xfrm>
            <a:off x="3564666" y="2767711"/>
            <a:ext cx="39754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2025-09-28</a:t>
            </a:r>
            <a:endParaRPr lang="ko-KR" altLang="en-US" sz="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614700A-6FA1-7A1A-C13F-372CB5269FF0}"/>
              </a:ext>
            </a:extLst>
          </p:cNvPr>
          <p:cNvSpPr/>
          <p:nvPr/>
        </p:nvSpPr>
        <p:spPr>
          <a:xfrm>
            <a:off x="4960951" y="2767711"/>
            <a:ext cx="39754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2025-09-28</a:t>
            </a:r>
            <a:endParaRPr lang="ko-KR" altLang="en-US" sz="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5807476-C316-9C15-0DDF-A8C240FD42D1}"/>
              </a:ext>
            </a:extLst>
          </p:cNvPr>
          <p:cNvSpPr/>
          <p:nvPr/>
        </p:nvSpPr>
        <p:spPr>
          <a:xfrm>
            <a:off x="6362394" y="2767711"/>
            <a:ext cx="39754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2025-09-28</a:t>
            </a:r>
            <a:endParaRPr lang="ko-KR" altLang="en-US" sz="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D595660-5A21-2331-C5EA-4F881C56BC77}"/>
              </a:ext>
            </a:extLst>
          </p:cNvPr>
          <p:cNvSpPr/>
          <p:nvPr/>
        </p:nvSpPr>
        <p:spPr>
          <a:xfrm>
            <a:off x="6213140" y="2465826"/>
            <a:ext cx="594301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10E074A-8B79-123E-C32C-AAC3929A924E}"/>
              </a:ext>
            </a:extLst>
          </p:cNvPr>
          <p:cNvSpPr>
            <a:spLocks noChangeAspect="1"/>
          </p:cNvSpPr>
          <p:nvPr/>
        </p:nvSpPr>
        <p:spPr>
          <a:xfrm>
            <a:off x="1166833" y="22402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B7C46FB-0500-DD87-34BF-018B6EDEA202}"/>
              </a:ext>
            </a:extLst>
          </p:cNvPr>
          <p:cNvSpPr>
            <a:spLocks noChangeAspect="1"/>
          </p:cNvSpPr>
          <p:nvPr/>
        </p:nvSpPr>
        <p:spPr>
          <a:xfrm>
            <a:off x="1268967" y="263826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8996D26-F799-728F-2E13-9D16A1B7299D}"/>
              </a:ext>
            </a:extLst>
          </p:cNvPr>
          <p:cNvSpPr>
            <a:spLocks noChangeAspect="1"/>
          </p:cNvSpPr>
          <p:nvPr/>
        </p:nvSpPr>
        <p:spPr>
          <a:xfrm>
            <a:off x="6050894" y="249091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70130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3175">
          <a:solidFill>
            <a:srgbClr val="005C2A"/>
          </a:solidFill>
        </a:ln>
        <a:effectLst>
          <a:outerShdw blurRad="25400" dist="12700" dir="5400000" algn="t" rotWithShape="0">
            <a:schemeClr val="tx1">
              <a:lumMod val="50000"/>
              <a:lumOff val="50000"/>
              <a:alpha val="40000"/>
            </a:schemeClr>
          </a:outerShdw>
        </a:effectLst>
      </a:spPr>
      <a:bodyPr lIns="252000" rtlCol="0" anchor="ctr"/>
      <a:lstStyle>
        <a:defPPr>
          <a:defRPr sz="700" b="1" smtClean="0">
            <a:solidFill>
              <a:schemeClr val="bg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50000"/>
            </a:schemeClr>
          </a:solidFill>
          <a:prstDash val="sysDash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9_Office 테마">
  <a:themeElements>
    <a:clrScheme name="사용자 지정 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E8C6"/>
      </a:hlink>
      <a:folHlink>
        <a:srgbClr val="FFFFF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109235</TotalTime>
  <Words>320</Words>
  <Application>Microsoft Office PowerPoint</Application>
  <PresentationFormat>A4 용지(210x297mm)</PresentationFormat>
  <Paragraphs>107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굴림체</vt:lpstr>
      <vt:lpstr>Arial</vt:lpstr>
      <vt:lpstr>Noto Sans</vt:lpstr>
      <vt:lpstr>나눔고딕</vt:lpstr>
      <vt:lpstr>맑은 고딕</vt:lpstr>
      <vt:lpstr>1_Office 테마</vt:lpstr>
      <vt:lpstr>9_Office 테마</vt:lpstr>
      <vt:lpstr>2_Office 테마</vt:lpstr>
      <vt:lpstr>오산교육재단 홈페이지 개편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성열 최</cp:lastModifiedBy>
  <cp:revision>3722</cp:revision>
  <cp:lastPrinted>2022-07-06T11:39:49Z</cp:lastPrinted>
  <dcterms:created xsi:type="dcterms:W3CDTF">2011-08-08T03:42:49Z</dcterms:created>
  <dcterms:modified xsi:type="dcterms:W3CDTF">2025-11-04T06:45:51Z</dcterms:modified>
</cp:coreProperties>
</file>