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  <p:sldMasterId id="2147483654" r:id="rId2"/>
    <p:sldMasterId id="2147483660" r:id="rId3"/>
  </p:sldMasterIdLst>
  <p:notesMasterIdLst>
    <p:notesMasterId r:id="rId66"/>
  </p:notesMasterIdLst>
  <p:handoutMasterIdLst>
    <p:handoutMasterId r:id="rId67"/>
  </p:handoutMasterIdLst>
  <p:sldIdLst>
    <p:sldId id="1572" r:id="rId4"/>
    <p:sldId id="330" r:id="rId5"/>
    <p:sldId id="2353" r:id="rId6"/>
    <p:sldId id="1732" r:id="rId7"/>
    <p:sldId id="2299" r:id="rId8"/>
    <p:sldId id="2301" r:id="rId9"/>
    <p:sldId id="2304" r:id="rId10"/>
    <p:sldId id="2303" r:id="rId11"/>
    <p:sldId id="1855" r:id="rId12"/>
    <p:sldId id="2300" r:id="rId13"/>
    <p:sldId id="2305" r:id="rId14"/>
    <p:sldId id="2343" r:id="rId15"/>
    <p:sldId id="2306" r:id="rId16"/>
    <p:sldId id="2307" r:id="rId17"/>
    <p:sldId id="2344" r:id="rId18"/>
    <p:sldId id="2308" r:id="rId19"/>
    <p:sldId id="2309" r:id="rId20"/>
    <p:sldId id="2355" r:id="rId21"/>
    <p:sldId id="2310" r:id="rId22"/>
    <p:sldId id="2356" r:id="rId23"/>
    <p:sldId id="2311" r:id="rId24"/>
    <p:sldId id="2312" r:id="rId25"/>
    <p:sldId id="2313" r:id="rId26"/>
    <p:sldId id="2314" r:id="rId27"/>
    <p:sldId id="2345" r:id="rId28"/>
    <p:sldId id="2315" r:id="rId29"/>
    <p:sldId id="2316" r:id="rId30"/>
    <p:sldId id="2346" r:id="rId31"/>
    <p:sldId id="2317" r:id="rId32"/>
    <p:sldId id="2357" r:id="rId33"/>
    <p:sldId id="2318" r:id="rId34"/>
    <p:sldId id="2358" r:id="rId35"/>
    <p:sldId id="2319" r:id="rId36"/>
    <p:sldId id="2359" r:id="rId37"/>
    <p:sldId id="2320" r:id="rId38"/>
    <p:sldId id="2321" r:id="rId39"/>
    <p:sldId id="2322" r:id="rId40"/>
    <p:sldId id="2323" r:id="rId41"/>
    <p:sldId id="2324" r:id="rId42"/>
    <p:sldId id="2325" r:id="rId43"/>
    <p:sldId id="2348" r:id="rId44"/>
    <p:sldId id="2326" r:id="rId45"/>
    <p:sldId id="2327" r:id="rId46"/>
    <p:sldId id="2349" r:id="rId47"/>
    <p:sldId id="2328" r:id="rId48"/>
    <p:sldId id="2329" r:id="rId49"/>
    <p:sldId id="2330" r:id="rId50"/>
    <p:sldId id="2331" r:id="rId51"/>
    <p:sldId id="2332" r:id="rId52"/>
    <p:sldId id="2333" r:id="rId53"/>
    <p:sldId id="2334" r:id="rId54"/>
    <p:sldId id="2350" r:id="rId55"/>
    <p:sldId id="2335" r:id="rId56"/>
    <p:sldId id="2351" r:id="rId57"/>
    <p:sldId id="2336" r:id="rId58"/>
    <p:sldId id="2366" r:id="rId59"/>
    <p:sldId id="2337" r:id="rId60"/>
    <p:sldId id="2338" r:id="rId61"/>
    <p:sldId id="2339" r:id="rId62"/>
    <p:sldId id="2352" r:id="rId63"/>
    <p:sldId id="2340" r:id="rId64"/>
    <p:sldId id="2342" r:id="rId65"/>
  </p:sldIdLst>
  <p:sldSz cx="9906000" cy="6858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45A12AA0-821A-4178-9B57-3FA314B34848}">
          <p14:sldIdLst>
            <p14:sldId id="1572"/>
            <p14:sldId id="330"/>
            <p14:sldId id="2353"/>
            <p14:sldId id="1732"/>
            <p14:sldId id="2299"/>
            <p14:sldId id="2301"/>
            <p14:sldId id="2304"/>
            <p14:sldId id="2303"/>
          </p14:sldIdLst>
        </p14:section>
        <p14:section name="고등학생장학금" id="{DF411646-0538-412D-94C2-307AD2065335}">
          <p14:sldIdLst>
            <p14:sldId id="1855"/>
            <p14:sldId id="2300"/>
            <p14:sldId id="2305"/>
            <p14:sldId id="2343"/>
            <p14:sldId id="2306"/>
            <p14:sldId id="2307"/>
            <p14:sldId id="2344"/>
            <p14:sldId id="2308"/>
            <p14:sldId id="2309"/>
            <p14:sldId id="2355"/>
            <p14:sldId id="2310"/>
            <p14:sldId id="2356"/>
            <p14:sldId id="2311"/>
          </p14:sldIdLst>
        </p14:section>
        <p14:section name="대학생장학금" id="{3435BC18-0725-4CC3-9BD4-99D2E7420D3A}">
          <p14:sldIdLst>
            <p14:sldId id="2312"/>
            <p14:sldId id="2313"/>
            <p14:sldId id="2314"/>
            <p14:sldId id="2345"/>
            <p14:sldId id="2315"/>
            <p14:sldId id="2316"/>
            <p14:sldId id="2346"/>
            <p14:sldId id="2317"/>
            <p14:sldId id="2357"/>
            <p14:sldId id="2318"/>
            <p14:sldId id="2358"/>
            <p14:sldId id="2319"/>
            <p14:sldId id="2359"/>
            <p14:sldId id="2320"/>
            <p14:sldId id="2321"/>
            <p14:sldId id="2322"/>
          </p14:sldIdLst>
        </p14:section>
        <p14:section name="특기생장학금" id="{CB267CC9-714C-4559-BE58-B08A39DE9A0B}">
          <p14:sldIdLst>
            <p14:sldId id="2323"/>
            <p14:sldId id="2324"/>
            <p14:sldId id="2325"/>
            <p14:sldId id="2348"/>
            <p14:sldId id="2326"/>
            <p14:sldId id="2327"/>
            <p14:sldId id="2349"/>
            <p14:sldId id="2328"/>
            <p14:sldId id="2329"/>
            <p14:sldId id="2330"/>
            <p14:sldId id="2331"/>
          </p14:sldIdLst>
        </p14:section>
        <p14:section name="행복기숙사입사비" id="{615C33A2-17CE-4C8C-9FFB-B3212DD6E1F4}">
          <p14:sldIdLst>
            <p14:sldId id="2332"/>
            <p14:sldId id="2333"/>
            <p14:sldId id="2334"/>
            <p14:sldId id="2350"/>
            <p14:sldId id="2335"/>
            <p14:sldId id="2351"/>
            <p14:sldId id="2336"/>
            <p14:sldId id="2366"/>
          </p14:sldIdLst>
        </p14:section>
        <p14:section name="평생교육장려금" id="{3AAFD03D-999F-40AE-BBFC-7376D1C014D4}">
          <p14:sldIdLst>
            <p14:sldId id="2337"/>
            <p14:sldId id="2338"/>
            <p14:sldId id="2339"/>
            <p14:sldId id="2352"/>
            <p14:sldId id="2340"/>
            <p14:sldId id="234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867" userDrawn="1">
          <p15:clr>
            <a:srgbClr val="A4A3A4"/>
          </p15:clr>
        </p15:guide>
        <p15:guide id="7" pos="104">
          <p15:clr>
            <a:srgbClr val="A4A3A4"/>
          </p15:clr>
        </p15:guide>
        <p15:guide id="15" pos="4345" userDrawn="1">
          <p15:clr>
            <a:srgbClr val="A4A3A4"/>
          </p15:clr>
        </p15:guide>
        <p15:guide id="16" orient="horz" pos="1412" userDrawn="1">
          <p15:clr>
            <a:srgbClr val="A4A3A4"/>
          </p15:clr>
        </p15:guide>
        <p15:guide id="18" orient="horz" pos="4088" userDrawn="1">
          <p15:clr>
            <a:srgbClr val="A4A3A4"/>
          </p15:clr>
        </p15:guide>
        <p15:guide id="21" orient="horz" pos="102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99FF"/>
    <a:srgbClr val="66FF66"/>
    <a:srgbClr val="00FF00"/>
    <a:srgbClr val="0033CC"/>
    <a:srgbClr val="99CCFF"/>
    <a:srgbClr val="CCECFF"/>
    <a:srgbClr val="77D717"/>
    <a:srgbClr val="FF4F4F"/>
    <a:srgbClr val="0000CC"/>
    <a:srgbClr val="FFEF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76" autoAdjust="0"/>
    <p:restoredTop sz="83420" autoAdjust="0"/>
  </p:normalViewPr>
  <p:slideViewPr>
    <p:cSldViewPr>
      <p:cViewPr varScale="1">
        <p:scale>
          <a:sx n="120" d="100"/>
          <a:sy n="120" d="100"/>
        </p:scale>
        <p:origin x="1380" y="108"/>
      </p:cViewPr>
      <p:guideLst>
        <p:guide orient="horz" pos="867"/>
        <p:guide pos="104"/>
        <p:guide pos="4345"/>
        <p:guide orient="horz" pos="1412"/>
        <p:guide orient="horz" pos="4088"/>
        <p:guide orient="horz" pos="102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87" d="100"/>
          <a:sy n="87" d="100"/>
        </p:scale>
        <p:origin x="-3756" y="-78"/>
      </p:cViewPr>
      <p:guideLst>
        <p:guide orient="horz" pos="3126"/>
        <p:guide pos="2141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presProps" Target="presProps.xml"/><Relationship Id="rId7" Type="http://schemas.openxmlformats.org/officeDocument/2006/relationships/slide" Target="slides/slide4.xml"/><Relationship Id="rId71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viewProps" Target="view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handoutMaster" Target="handoutMasters/handoutMaster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984" cy="496574"/>
          </a:xfrm>
          <a:prstGeom prst="rect">
            <a:avLst/>
          </a:prstGeom>
        </p:spPr>
        <p:txBody>
          <a:bodyPr vert="horz" lIns="93103" tIns="46552" rIns="93103" bIns="4655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070" y="0"/>
            <a:ext cx="2945984" cy="496574"/>
          </a:xfrm>
          <a:prstGeom prst="rect">
            <a:avLst/>
          </a:prstGeom>
        </p:spPr>
        <p:txBody>
          <a:bodyPr vert="horz" lIns="93103" tIns="46552" rIns="93103" bIns="46552" rtlCol="0"/>
          <a:lstStyle>
            <a:lvl1pPr algn="r">
              <a:defRPr sz="1200"/>
            </a:lvl1pPr>
          </a:lstStyle>
          <a:p>
            <a:fld id="{C8666A89-3649-4A26-B076-8BB61794613B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428452"/>
            <a:ext cx="2945984" cy="496574"/>
          </a:xfrm>
          <a:prstGeom prst="rect">
            <a:avLst/>
          </a:prstGeom>
        </p:spPr>
        <p:txBody>
          <a:bodyPr vert="horz" lIns="93103" tIns="46552" rIns="93103" bIns="4655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070" y="9428452"/>
            <a:ext cx="2945984" cy="496574"/>
          </a:xfrm>
          <a:prstGeom prst="rect">
            <a:avLst/>
          </a:prstGeom>
        </p:spPr>
        <p:txBody>
          <a:bodyPr vert="horz" lIns="93103" tIns="46552" rIns="93103" bIns="46552" rtlCol="0" anchor="b"/>
          <a:lstStyle>
            <a:lvl1pPr algn="r">
              <a:defRPr sz="1200"/>
            </a:lvl1pPr>
          </a:lstStyle>
          <a:p>
            <a:fld id="{598925E5-C1E6-4986-9C33-22AD8CBAFA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80394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5B9C9D-B269-4765-BAF2-65AF33F6B00F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7527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46C2E9-C377-4C23-9E6D-618FB56A7D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086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1200" y="744538"/>
            <a:ext cx="537527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04B90-27FD-422C-8CC6-2AADAD122D08}" type="slidenum">
              <a:rPr lang="ko-KR" altLang="en-US" smtClean="0">
                <a:solidFill>
                  <a:prstClr val="black"/>
                </a:solidFill>
              </a:rPr>
              <a:pPr/>
              <a:t>1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9325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36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61"/>
            <a:ext cx="2311400" cy="365125"/>
          </a:xfrm>
          <a:prstGeom prst="rect">
            <a:avLst/>
          </a:prstGeom>
        </p:spPr>
        <p:txBody>
          <a:bodyPr/>
          <a:lstStyle/>
          <a:p>
            <a:fld id="{DC0A5A12-DAA7-4BD5-9F8E-1FC5DDE13A02}" type="datetimeFigureOut">
              <a:rPr lang="ko-KR" altLang="en-US" smtClean="0"/>
              <a:pPr/>
              <a:t>2025-11-05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6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9300" y="6356361"/>
            <a:ext cx="2311400" cy="365125"/>
          </a:xfrm>
          <a:prstGeom prst="rect">
            <a:avLst/>
          </a:prstGeom>
        </p:spPr>
        <p:txBody>
          <a:bodyPr/>
          <a:lstStyle/>
          <a:p>
            <a:fld id="{33C5AA6D-4F05-4FE9-A936-59D8F48292D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389390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6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61"/>
            <a:ext cx="2311400" cy="365125"/>
          </a:xfrm>
          <a:prstGeom prst="rect">
            <a:avLst/>
          </a:prstGeom>
        </p:spPr>
        <p:txBody>
          <a:bodyPr/>
          <a:lstStyle/>
          <a:p>
            <a:fld id="{DC0A5A12-DAA7-4BD5-9F8E-1FC5DDE13A02}" type="datetimeFigureOut">
              <a:rPr lang="ko-KR" altLang="en-US" smtClean="0"/>
              <a:pPr/>
              <a:t>2025-11-05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6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9300" y="6356361"/>
            <a:ext cx="2311400" cy="365125"/>
          </a:xfrm>
          <a:prstGeom prst="rect">
            <a:avLst/>
          </a:prstGeom>
        </p:spPr>
        <p:txBody>
          <a:bodyPr/>
          <a:lstStyle/>
          <a:p>
            <a:fld id="{33C5AA6D-4F05-4FE9-A936-59D8F48292D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96069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" y="284"/>
            <a:ext cx="9905181" cy="6857433"/>
          </a:xfrm>
          <a:prstGeom prst="rect">
            <a:avLst/>
          </a:prstGeom>
        </p:spPr>
      </p:pic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495300" y="6429397"/>
            <a:ext cx="2311400" cy="292079"/>
          </a:xfrm>
          <a:prstGeom prst="rect">
            <a:avLst/>
          </a:prstGeom>
        </p:spPr>
        <p:txBody>
          <a:bodyPr/>
          <a:lstStyle/>
          <a:p>
            <a:fld id="{ED3D6733-6F27-4404-AB51-585418F146E5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2025-11-05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384550" y="6429397"/>
            <a:ext cx="3136900" cy="292079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7099300" y="6429397"/>
            <a:ext cx="2311400" cy="292079"/>
          </a:xfrm>
          <a:prstGeom prst="rect">
            <a:avLst/>
          </a:prstGeom>
        </p:spPr>
        <p:txBody>
          <a:bodyPr/>
          <a:lstStyle/>
          <a:p>
            <a:fld id="{EE6BC638-39B7-4287-91A7-2A3DDA573295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9685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" y="287"/>
            <a:ext cx="9905181" cy="6857433"/>
          </a:xfrm>
          <a:prstGeom prst="rect">
            <a:avLst/>
          </a:prstGeom>
        </p:spPr>
      </p:pic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543756" y="1916839"/>
            <a:ext cx="4290477" cy="450573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Font typeface="굴림체" pitchFamily="49" charset="-127"/>
              <a:buNone/>
              <a:defRPr lang="ko-KR" altLang="en-US" sz="1800" kern="1200" baseline="0" dirty="0">
                <a:solidFill>
                  <a:srgbClr val="D4D1CE"/>
                </a:solidFill>
                <a:effectLst/>
                <a:latin typeface="Noto Sans" panose="020B0502040504020204" pitchFamily="34" charset="0"/>
                <a:ea typeface="맑은 고딕" panose="020B0503020000020004" pitchFamily="50" charset="-127"/>
                <a:cs typeface="+mj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D6733-6F27-4404-AB51-585418F146E5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2025-11-05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BC638-39B7-4287-91A7-2A3DDA573295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제목 1"/>
          <p:cNvSpPr>
            <a:spLocks noGrp="1"/>
          </p:cNvSpPr>
          <p:nvPr>
            <p:ph type="ctrTitle" hasCustomPrompt="1"/>
          </p:nvPr>
        </p:nvSpPr>
        <p:spPr>
          <a:xfrm>
            <a:off x="543756" y="550335"/>
            <a:ext cx="4290477" cy="1412579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Font typeface="굴림체" pitchFamily="49" charset="-127"/>
              <a:buNone/>
              <a:defRPr lang="ko-KR" altLang="en-US" sz="4300" kern="1200" baseline="0" dirty="0">
                <a:solidFill>
                  <a:srgbClr val="D4D1CE"/>
                </a:solidFill>
                <a:effectLst/>
                <a:latin typeface="Noto Sans" panose="020B0502040504020204" pitchFamily="34" charset="0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ko-KR" altLang="en-US" dirty="0"/>
              <a:t>제목을</a:t>
            </a:r>
            <a:r>
              <a:rPr lang="en-US" altLang="ko-KR" dirty="0"/>
              <a:t> </a:t>
            </a:r>
            <a:r>
              <a:rPr lang="ko-KR" altLang="en-US" dirty="0"/>
              <a:t>입력하시오</a:t>
            </a:r>
          </a:p>
        </p:txBody>
      </p:sp>
    </p:spTree>
    <p:extLst>
      <p:ext uri="{BB962C8B-B14F-4D97-AF65-F5344CB8AC3E}">
        <p14:creationId xmlns:p14="http://schemas.microsoft.com/office/powerpoint/2010/main" val="2732881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" y="287"/>
            <a:ext cx="9905181" cy="6857433"/>
          </a:xfrm>
          <a:prstGeom prst="rect">
            <a:avLst/>
          </a:prstGeom>
        </p:spPr>
      </p:pic>
      <p:sp>
        <p:nvSpPr>
          <p:cNvPr id="8" name="모서리가 둥근 직사각형 7"/>
          <p:cNvSpPr/>
          <p:nvPr userDrawn="1"/>
        </p:nvSpPr>
        <p:spPr>
          <a:xfrm>
            <a:off x="134144" y="577180"/>
            <a:ext cx="9655394" cy="5940000"/>
          </a:xfrm>
          <a:prstGeom prst="roundRect">
            <a:avLst>
              <a:gd name="adj" fmla="val 902"/>
            </a:avLst>
          </a:prstGeom>
          <a:gradFill>
            <a:gsLst>
              <a:gs pos="0">
                <a:srgbClr val="FFFFFF">
                  <a:alpha val="85000"/>
                </a:srgbClr>
              </a:gs>
              <a:gs pos="29000">
                <a:schemeClr val="bg1"/>
              </a:gs>
            </a:gsLst>
            <a:lin ang="5400000" scaled="0"/>
          </a:gradFill>
          <a:ln w="12700">
            <a:gradFill>
              <a:gsLst>
                <a:gs pos="100000">
                  <a:srgbClr val="005EA4">
                    <a:alpha val="70000"/>
                  </a:srgbClr>
                </a:gs>
                <a:gs pos="2000">
                  <a:schemeClr val="tx2">
                    <a:lumMod val="20000"/>
                    <a:lumOff val="80000"/>
                  </a:schemeClr>
                </a:gs>
                <a:gs pos="62000">
                  <a:srgbClr val="E1E8F5">
                    <a:alpha val="0"/>
                  </a:srgbClr>
                </a:gs>
              </a:gsLst>
              <a:lin ang="54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pic>
        <p:nvPicPr>
          <p:cNvPr id="10" name="Picture 3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7689" y="6577092"/>
            <a:ext cx="901852" cy="209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/>
          <p:cNvSpPr txBox="1"/>
          <p:nvPr userDrawn="1"/>
        </p:nvSpPr>
        <p:spPr>
          <a:xfrm>
            <a:off x="134144" y="6597932"/>
            <a:ext cx="28632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prstClr val="black"/>
                </a:solidFill>
                <a:latin typeface="나눔고딕" pitchFamily="50" charset="-127"/>
                <a:ea typeface="나눔고딕" pitchFamily="50" charset="-127"/>
              </a:rPr>
              <a:t>Copyright ⓒ 2022 WIZWIG CO., LTD.,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394769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36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61"/>
            <a:ext cx="2311400" cy="365125"/>
          </a:xfrm>
          <a:prstGeom prst="rect">
            <a:avLst/>
          </a:prstGeom>
        </p:spPr>
        <p:txBody>
          <a:bodyPr/>
          <a:lstStyle/>
          <a:p>
            <a:fld id="{DC0A5A12-DAA7-4BD5-9F8E-1FC5DDE13A02}" type="datetimeFigureOut">
              <a:rPr lang="ko-KR" altLang="en-US" smtClean="0">
                <a:solidFill>
                  <a:prstClr val="black"/>
                </a:solidFill>
              </a:rPr>
              <a:pPr/>
              <a:t>2025-11-05</a:t>
            </a:fld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6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9300" y="6356361"/>
            <a:ext cx="2311400" cy="365125"/>
          </a:xfrm>
          <a:prstGeom prst="rect">
            <a:avLst/>
          </a:prstGeom>
        </p:spPr>
        <p:txBody>
          <a:bodyPr/>
          <a:lstStyle/>
          <a:p>
            <a:fld id="{33C5AA6D-4F05-4FE9-A936-59D8F48292D4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20756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6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61"/>
            <a:ext cx="2311400" cy="365125"/>
          </a:xfrm>
          <a:prstGeom prst="rect">
            <a:avLst/>
          </a:prstGeom>
        </p:spPr>
        <p:txBody>
          <a:bodyPr/>
          <a:lstStyle/>
          <a:p>
            <a:fld id="{DC0A5A12-DAA7-4BD5-9F8E-1FC5DDE13A02}" type="datetimeFigureOut">
              <a:rPr lang="ko-KR" altLang="en-US" smtClean="0">
                <a:solidFill>
                  <a:prstClr val="black"/>
                </a:solidFill>
              </a:rPr>
              <a:pPr/>
              <a:t>2025-11-05</a:t>
            </a:fld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6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9300" y="6356361"/>
            <a:ext cx="2311400" cy="365125"/>
          </a:xfrm>
          <a:prstGeom prst="rect">
            <a:avLst/>
          </a:prstGeom>
        </p:spPr>
        <p:txBody>
          <a:bodyPr/>
          <a:lstStyle/>
          <a:p>
            <a:fld id="{33C5AA6D-4F05-4FE9-A936-59D8F48292D4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14165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직선 연결선 32"/>
          <p:cNvCxnSpPr/>
          <p:nvPr/>
        </p:nvCxnSpPr>
        <p:spPr>
          <a:xfrm>
            <a:off x="165100" y="6563894"/>
            <a:ext cx="95758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 Box 119"/>
          <p:cNvSpPr txBox="1">
            <a:spLocks noChangeArrowheads="1"/>
          </p:cNvSpPr>
          <p:nvPr/>
        </p:nvSpPr>
        <p:spPr bwMode="auto">
          <a:xfrm>
            <a:off x="4776509" y="6581661"/>
            <a:ext cx="35298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96004F94-3BE7-4D60-B404-1745300C98A2}" type="slidenum">
              <a:rPr lang="ko-KR" altLang="en-US" sz="1000" b="1">
                <a:latin typeface="맑은 고딕" pitchFamily="50" charset="-127"/>
                <a:ea typeface="맑은 고딕" pitchFamily="50" charset="-127"/>
              </a:rPr>
              <a:pPr/>
              <a:t>‹#›</a:t>
            </a:fld>
            <a:endParaRPr lang="en-US" altLang="ko-KR" sz="1000" b="1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2" name="Picture 2" descr="D:\WIZWIG\01 로고\2018년 New 디자인\wizwig_log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7282" y="6617695"/>
            <a:ext cx="624252" cy="160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49826" y="6581012"/>
            <a:ext cx="260359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latin typeface="맑은 고딕" pitchFamily="50" charset="-127"/>
                <a:ea typeface="맑은 고딕" pitchFamily="50" charset="-127"/>
              </a:rPr>
              <a:t>Copyright ⓒ 2025 WIZWIG CO., LTD. All rights reserved</a:t>
            </a:r>
          </a:p>
        </p:txBody>
      </p:sp>
      <p:cxnSp>
        <p:nvCxnSpPr>
          <p:cNvPr id="10" name="직선 연결선 9"/>
          <p:cNvCxnSpPr/>
          <p:nvPr userDrawn="1"/>
        </p:nvCxnSpPr>
        <p:spPr>
          <a:xfrm>
            <a:off x="68315" y="497938"/>
            <a:ext cx="9751252" cy="1588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 userDrawn="1"/>
        </p:nvCxnSpPr>
        <p:spPr>
          <a:xfrm>
            <a:off x="68315" y="539950"/>
            <a:ext cx="9751252" cy="1588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표 15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025139307"/>
              </p:ext>
            </p:extLst>
          </p:nvPr>
        </p:nvGraphicFramePr>
        <p:xfrm>
          <a:off x="164472" y="590019"/>
          <a:ext cx="9577063" cy="42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833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8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23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5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04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704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059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42876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맑은 고딕" pitchFamily="50" charset="-127"/>
                          <a:ea typeface="맑은 고딕" pitchFamily="50" charset="-127"/>
                        </a:rPr>
                        <a:t>화면설계서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단위시스템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맑은 고딕" pitchFamily="50" charset="-127"/>
                          <a:ea typeface="맑은 고딕" pitchFamily="50" charset="-127"/>
                        </a:rPr>
                        <a:t>홈페이지</a:t>
                      </a:r>
                      <a:r>
                        <a:rPr lang="en-US" altLang="ko-KR" sz="800" dirty="0">
                          <a:latin typeface="맑은 고딕" pitchFamily="50" charset="-127"/>
                          <a:ea typeface="맑은 고딕" pitchFamily="50" charset="-127"/>
                        </a:rPr>
                        <a:t>_</a:t>
                      </a:r>
                      <a:r>
                        <a:rPr lang="ko-KR" altLang="en-US" sz="800" dirty="0">
                          <a:latin typeface="맑은 고딕" pitchFamily="50" charset="-127"/>
                          <a:ea typeface="맑은 고딕" pitchFamily="50" charset="-127"/>
                        </a:rPr>
                        <a:t>프로그램신청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단계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맑은 고딕" pitchFamily="50" charset="-127"/>
                          <a:ea typeface="맑은 고딕" pitchFamily="50" charset="-127"/>
                        </a:rPr>
                        <a:t>설계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문서번호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맑은 고딕" pitchFamily="50" charset="-127"/>
                          <a:ea typeface="+mn-ea"/>
                        </a:rPr>
                        <a:t>OEP-03-03-01</a:t>
                      </a:r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83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latin typeface="맑은 고딕" pitchFamily="50" charset="-127"/>
                          <a:ea typeface="맑은 고딕" pitchFamily="50" charset="-127"/>
                        </a:rPr>
                        <a:t>최성열</a:t>
                      </a:r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작성일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맑은 고딕" pitchFamily="50" charset="-127"/>
                          <a:ea typeface="맑은 고딕" pitchFamily="50" charset="-127"/>
                        </a:rPr>
                        <a:t>2025.10.13</a:t>
                      </a:r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문서버젼</a:t>
                      </a:r>
                      <a:endParaRPr lang="ko-KR" altLang="en-US" sz="800" b="1" dirty="0"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맑은 고딕" pitchFamily="50" charset="-127"/>
                          <a:ea typeface="맑은 고딕" pitchFamily="50" charset="-127"/>
                        </a:rPr>
                        <a:t>1.0</a:t>
                      </a:r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 userDrawn="1"/>
        </p:nvSpPr>
        <p:spPr>
          <a:xfrm>
            <a:off x="8095943" y="188650"/>
            <a:ext cx="169790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000" b="1" dirty="0">
                <a:latin typeface="나눔고딕" pitchFamily="50" charset="-127"/>
                <a:ea typeface="나눔고딕" pitchFamily="50" charset="-127"/>
              </a:rPr>
              <a:t>오산교육재단 홈페이지 개편</a:t>
            </a:r>
            <a:endParaRPr lang="ko-KR" altLang="en-US" sz="1000" b="1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FEA842D7-2E7B-E0E0-E4B6-842AA36B601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468" y="166184"/>
            <a:ext cx="1184930" cy="302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8167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75" r:id="rId3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19026"/>
            <a:ext cx="8915400" cy="7969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062021"/>
            <a:ext cx="8915400" cy="5286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429403"/>
            <a:ext cx="2311400" cy="2920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3D6733-6F27-4404-AB51-585418F146E5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2025-11-05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429403"/>
            <a:ext cx="3136900" cy="2920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429403"/>
            <a:ext cx="2311400" cy="2920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6BC638-39B7-4287-91A7-2A3DDA573295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6774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1" hangingPunct="1">
        <a:spcBef>
          <a:spcPct val="0"/>
        </a:spcBef>
        <a:buNone/>
        <a:defRPr lang="ko-KR" altLang="en-US" sz="3500" kern="1200">
          <a:solidFill>
            <a:sysClr val="windowText" lastClr="000000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lang="ko-KR" altLang="en-US" sz="2500" kern="120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lang="ko-KR" altLang="en-US" sz="1800" kern="120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lang="ko-KR" altLang="en-US" sz="1800" kern="120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lang="ko-KR" altLang="en-US" sz="1800" kern="120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lang="ko-KR" altLang="en-US"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직선 연결선 32"/>
          <p:cNvCxnSpPr/>
          <p:nvPr/>
        </p:nvCxnSpPr>
        <p:spPr>
          <a:xfrm>
            <a:off x="68315" y="6563894"/>
            <a:ext cx="9751252" cy="1588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9826" y="6581012"/>
            <a:ext cx="260359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prstClr val="black"/>
                </a:solidFill>
              </a:rPr>
              <a:t>Copyright ⓒ 2025 WIZWIG CO., LTD. All rights reserved</a:t>
            </a:r>
          </a:p>
        </p:txBody>
      </p:sp>
      <p:graphicFrame>
        <p:nvGraphicFramePr>
          <p:cNvPr id="36" name="표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4267840"/>
              </p:ext>
            </p:extLst>
          </p:nvPr>
        </p:nvGraphicFramePr>
        <p:xfrm>
          <a:off x="164472" y="1080490"/>
          <a:ext cx="9577063" cy="54284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007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8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7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53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8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60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lang="en-US" altLang="ko-KR" sz="9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Layout</a:t>
                      </a:r>
                      <a:endParaRPr lang="ko-KR" altLang="en-US" sz="9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Comment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146">
                <a:tc rowSpan="8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맑은 고딕" pitchFamily="50" charset="-127"/>
                          <a:ea typeface="맑은 고딕" pitchFamily="50" charset="-127"/>
                        </a:rPr>
                        <a:t>오산교육재단 홈페이지 개편</a:t>
                      </a: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14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맑은 고딕" pitchFamily="50" charset="-127"/>
                          <a:ea typeface="맑은 고딕" pitchFamily="50" charset="-127"/>
                        </a:rPr>
                        <a:t>Code</a:t>
                      </a:r>
                      <a:endParaRPr lang="ko-KR" altLang="en-US" sz="8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화면 명</a:t>
                      </a: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15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014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latin typeface="맑은 고딕" pitchFamily="50" charset="-127"/>
                          <a:ea typeface="맑은 고딕" pitchFamily="50" charset="-127"/>
                        </a:rPr>
                        <a:t>경로</a:t>
                      </a:r>
                      <a:endParaRPr lang="ko-KR" altLang="en-US" sz="8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80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b="1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1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처리기능설명</a:t>
                      </a: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805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066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>
                          <a:latin typeface="맑은 고딕" pitchFamily="50" charset="-127"/>
                          <a:ea typeface="맑은 고딕" pitchFamily="50" charset="-127"/>
                        </a:rPr>
                        <a:t>요구사항</a:t>
                      </a:r>
                      <a:endParaRPr lang="ko-KR" altLang="en-US" sz="7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785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>
                          <a:latin typeface="맑은 고딕" pitchFamily="50" charset="-127"/>
                          <a:ea typeface="맑은 고딕" pitchFamily="50" charset="-127"/>
                        </a:rPr>
                        <a:t>요구사항 </a:t>
                      </a:r>
                      <a:r>
                        <a:rPr lang="en-US" altLang="ko-KR" sz="700" b="1"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  <a:endParaRPr lang="ko-KR" altLang="en-US" sz="7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8" name="Text Box 119"/>
          <p:cNvSpPr txBox="1">
            <a:spLocks noChangeArrowheads="1"/>
          </p:cNvSpPr>
          <p:nvPr/>
        </p:nvSpPr>
        <p:spPr bwMode="auto">
          <a:xfrm>
            <a:off x="4767190" y="6581661"/>
            <a:ext cx="35298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96004F94-3BE7-4D60-B404-1745300C98A2}" type="slidenum">
              <a:rPr lang="ko-KR" altLang="en-US" sz="1000" b="1">
                <a:solidFill>
                  <a:prstClr val="black"/>
                </a:solidFill>
              </a:rPr>
              <a:pPr/>
              <a:t>‹#›</a:t>
            </a:fld>
            <a:endParaRPr lang="en-US" altLang="ko-KR" sz="1000" b="1" dirty="0">
              <a:solidFill>
                <a:prstClr val="black"/>
              </a:solidFill>
            </a:endParaRP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179C32E3-E1C5-8B11-94B6-C408DE1C9B05}"/>
              </a:ext>
            </a:extLst>
          </p:cNvPr>
          <p:cNvCxnSpPr/>
          <p:nvPr userDrawn="1"/>
        </p:nvCxnSpPr>
        <p:spPr>
          <a:xfrm>
            <a:off x="68315" y="497938"/>
            <a:ext cx="9751252" cy="1588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1532D436-F96E-61D9-5435-5FE4E8BC3D99}"/>
              </a:ext>
            </a:extLst>
          </p:cNvPr>
          <p:cNvCxnSpPr/>
          <p:nvPr userDrawn="1"/>
        </p:nvCxnSpPr>
        <p:spPr>
          <a:xfrm>
            <a:off x="68315" y="539950"/>
            <a:ext cx="9751252" cy="1588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8E7E9F5-C1CE-3FE9-DA07-DBE33181EFDF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568904684"/>
              </p:ext>
            </p:extLst>
          </p:nvPr>
        </p:nvGraphicFramePr>
        <p:xfrm>
          <a:off x="164472" y="590019"/>
          <a:ext cx="9577063" cy="42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833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8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23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5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04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704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059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42876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맑은 고딕" pitchFamily="50" charset="-127"/>
                          <a:ea typeface="맑은 고딕" pitchFamily="50" charset="-127"/>
                        </a:rPr>
                        <a:t>화면설계서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단위시스템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맑은 고딕" pitchFamily="50" charset="-127"/>
                          <a:ea typeface="맑은 고딕" pitchFamily="50" charset="-127"/>
                        </a:rPr>
                        <a:t>홈페이지</a:t>
                      </a:r>
                      <a:r>
                        <a:rPr lang="en-US" altLang="ko-KR" sz="800" dirty="0">
                          <a:latin typeface="맑은 고딕" pitchFamily="50" charset="-127"/>
                          <a:ea typeface="맑은 고딕" pitchFamily="50" charset="-127"/>
                        </a:rPr>
                        <a:t>_</a:t>
                      </a:r>
                      <a:r>
                        <a:rPr lang="ko-KR" altLang="en-US" sz="800" dirty="0">
                          <a:latin typeface="맑은 고딕" pitchFamily="50" charset="-127"/>
                          <a:ea typeface="맑은 고딕" pitchFamily="50" charset="-127"/>
                        </a:rPr>
                        <a:t>프로그램신청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단계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맑은 고딕" pitchFamily="50" charset="-127"/>
                          <a:ea typeface="맑은 고딕" pitchFamily="50" charset="-127"/>
                        </a:rPr>
                        <a:t>설계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문서번호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맑은 고딕" pitchFamily="50" charset="-127"/>
                          <a:ea typeface="+mn-ea"/>
                        </a:rPr>
                        <a:t>OEP-03-03-01</a:t>
                      </a:r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83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1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latin typeface="맑은 고딕" pitchFamily="50" charset="-127"/>
                          <a:ea typeface="맑은 고딕" pitchFamily="50" charset="-127"/>
                        </a:rPr>
                        <a:t>최성열</a:t>
                      </a:r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맑은 고딕" pitchFamily="50" charset="-127"/>
                          <a:ea typeface="맑은 고딕" pitchFamily="50" charset="-127"/>
                        </a:rPr>
                        <a:t>작성일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맑은 고딕" pitchFamily="50" charset="-127"/>
                          <a:ea typeface="맑은 고딕" pitchFamily="50" charset="-127"/>
                        </a:rPr>
                        <a:t>2025.10.13</a:t>
                      </a:r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문서버젼</a:t>
                      </a:r>
                      <a:endParaRPr lang="ko-KR" altLang="en-US" sz="800" b="1" dirty="0"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맑은 고딕" pitchFamily="50" charset="-127"/>
                          <a:ea typeface="맑은 고딕" pitchFamily="50" charset="-127"/>
                        </a:rPr>
                        <a:t>1.0</a:t>
                      </a:r>
                      <a:endParaRPr lang="ko-KR" altLang="en-US" sz="8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0605DAA-806F-2D6C-B4BF-B52B57453AA8}"/>
              </a:ext>
            </a:extLst>
          </p:cNvPr>
          <p:cNvSpPr txBox="1"/>
          <p:nvPr userDrawn="1"/>
        </p:nvSpPr>
        <p:spPr>
          <a:xfrm>
            <a:off x="8095943" y="188650"/>
            <a:ext cx="169790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000" b="1" dirty="0">
                <a:latin typeface="나눔고딕" pitchFamily="50" charset="-127"/>
                <a:ea typeface="나눔고딕" pitchFamily="50" charset="-127"/>
              </a:rPr>
              <a:t>오산교육재단 홈페이지 개편</a:t>
            </a:r>
            <a:endParaRPr lang="ko-KR" altLang="en-US" sz="1000" b="1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6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D39BB4E0-F917-5DC9-9AFC-9FBFEE0D2D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468" y="166184"/>
            <a:ext cx="1184930" cy="302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640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1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0.emf"/><Relationship Id="rId4" Type="http://schemas.openxmlformats.org/officeDocument/2006/relationships/oleObject" Target="../embeddings/oleObject1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1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0.emf"/><Relationship Id="rId4" Type="http://schemas.openxmlformats.org/officeDocument/2006/relationships/oleObject" Target="../embeddings/oleObject1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image" Target="../media/image9.png"/><Relationship Id="rId7" Type="http://schemas.openxmlformats.org/officeDocument/2006/relationships/image" Target="../media/image11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0.e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12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7" Type="http://schemas.openxmlformats.org/officeDocument/2006/relationships/image" Target="../media/image7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1.emf"/><Relationship Id="rId4" Type="http://schemas.openxmlformats.org/officeDocument/2006/relationships/oleObject" Target="../embeddings/oleObject2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7" Type="http://schemas.openxmlformats.org/officeDocument/2006/relationships/image" Target="../media/image7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1.emf"/><Relationship Id="rId4" Type="http://schemas.openxmlformats.org/officeDocument/2006/relationships/oleObject" Target="../embeddings/oleObject2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11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3.png"/><Relationship Id="rId4" Type="http://schemas.openxmlformats.org/officeDocument/2006/relationships/image" Target="../media/image10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11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3.png"/><Relationship Id="rId4" Type="http://schemas.openxmlformats.org/officeDocument/2006/relationships/image" Target="../media/image10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11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3.png"/><Relationship Id="rId4" Type="http://schemas.openxmlformats.org/officeDocument/2006/relationships/image" Target="../media/image10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11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3.png"/><Relationship Id="rId4" Type="http://schemas.openxmlformats.org/officeDocument/2006/relationships/image" Target="../media/image10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11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3.png"/><Relationship Id="rId4" Type="http://schemas.openxmlformats.org/officeDocument/2006/relationships/image" Target="../media/image10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1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0.emf"/><Relationship Id="rId4" Type="http://schemas.openxmlformats.org/officeDocument/2006/relationships/oleObject" Target="../embeddings/oleObject1.bin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1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0.emf"/><Relationship Id="rId4" Type="http://schemas.openxmlformats.org/officeDocument/2006/relationships/oleObject" Target="../embeddings/oleObject1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1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0.emf"/><Relationship Id="rId4" Type="http://schemas.openxmlformats.org/officeDocument/2006/relationships/oleObject" Target="../embeddings/oleObject1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image" Target="../media/image9.png"/><Relationship Id="rId7" Type="http://schemas.openxmlformats.org/officeDocument/2006/relationships/image" Target="../media/image11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0.e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12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0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0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0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0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3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1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0.emf"/><Relationship Id="rId4" Type="http://schemas.openxmlformats.org/officeDocument/2006/relationships/oleObject" Target="../embeddings/oleObject1.bin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1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0.emf"/><Relationship Id="rId4" Type="http://schemas.openxmlformats.org/officeDocument/2006/relationships/oleObject" Target="../embeddings/oleObject1.bin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image" Target="../media/image9.png"/><Relationship Id="rId7" Type="http://schemas.openxmlformats.org/officeDocument/2006/relationships/image" Target="../media/image11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0.e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12.e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3.png"/><Relationship Id="rId7" Type="http://schemas.openxmlformats.org/officeDocument/2006/relationships/image" Target="../media/image11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0.emf"/><Relationship Id="rId4" Type="http://schemas.openxmlformats.org/officeDocument/2006/relationships/oleObject" Target="../embeddings/oleObject1.bin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3.png"/><Relationship Id="rId7" Type="http://schemas.openxmlformats.org/officeDocument/2006/relationships/image" Target="../media/image11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0.emf"/><Relationship Id="rId4" Type="http://schemas.openxmlformats.org/officeDocument/2006/relationships/oleObject" Target="../embeddings/oleObject1.bin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3.png"/><Relationship Id="rId7" Type="http://schemas.openxmlformats.org/officeDocument/2006/relationships/image" Target="../media/image11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0.emf"/><Relationship Id="rId4" Type="http://schemas.openxmlformats.org/officeDocument/2006/relationships/oleObject" Target="../embeddings/oleObject1.bin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3.png"/><Relationship Id="rId7" Type="http://schemas.openxmlformats.org/officeDocument/2006/relationships/image" Target="../media/image11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0.emf"/><Relationship Id="rId4" Type="http://schemas.openxmlformats.org/officeDocument/2006/relationships/oleObject" Target="../embeddings/oleObject1.bin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1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0.emf"/><Relationship Id="rId4" Type="http://schemas.openxmlformats.org/officeDocument/2006/relationships/oleObject" Target="../embeddings/oleObject1.bin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1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0.emf"/><Relationship Id="rId4" Type="http://schemas.openxmlformats.org/officeDocument/2006/relationships/oleObject" Target="../embeddings/oleObject1.bin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1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0.emf"/><Relationship Id="rId4" Type="http://schemas.openxmlformats.org/officeDocument/2006/relationships/oleObject" Target="../embeddings/oleObject1.bin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1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0.emf"/><Relationship Id="rId4" Type="http://schemas.openxmlformats.org/officeDocument/2006/relationships/oleObject" Target="../embeddings/oleObject1.bin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image" Target="../media/image9.png"/><Relationship Id="rId7" Type="http://schemas.openxmlformats.org/officeDocument/2006/relationships/image" Target="../media/image10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12.emf"/><Relationship Id="rId4" Type="http://schemas.openxmlformats.org/officeDocument/2006/relationships/oleObject" Target="../embeddings/oleObject3.bin"/><Relationship Id="rId9" Type="http://schemas.openxmlformats.org/officeDocument/2006/relationships/image" Target="../media/image11.emf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image" Target="../media/image9.png"/><Relationship Id="rId7" Type="http://schemas.openxmlformats.org/officeDocument/2006/relationships/image" Target="../media/image10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12.emf"/><Relationship Id="rId4" Type="http://schemas.openxmlformats.org/officeDocument/2006/relationships/oleObject" Target="../embeddings/oleObject3.bin"/><Relationship Id="rId9" Type="http://schemas.openxmlformats.org/officeDocument/2006/relationships/image" Target="../media/image11.emf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1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0.emf"/><Relationship Id="rId4" Type="http://schemas.openxmlformats.org/officeDocument/2006/relationships/oleObject" Target="../embeddings/oleObject1.bin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1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0.emf"/><Relationship Id="rId4" Type="http://schemas.openxmlformats.org/officeDocument/2006/relationships/oleObject" Target="../embeddings/oleObject1.bin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12.emf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>
          <a:xfrm>
            <a:off x="116465" y="833221"/>
            <a:ext cx="5412601" cy="540060"/>
          </a:xfrm>
        </p:spPr>
        <p:txBody>
          <a:bodyPr/>
          <a:lstStyle/>
          <a:p>
            <a:r>
              <a:rPr lang="ko-KR" altLang="en-US" sz="3200" b="1" dirty="0">
                <a:latin typeface="나눔고딕" pitchFamily="50" charset="-127"/>
                <a:ea typeface="나눔고딕" pitchFamily="50" charset="-127"/>
              </a:rPr>
              <a:t>오산교육재단</a:t>
            </a:r>
            <a:br>
              <a:rPr lang="en-US" altLang="ko-KR" sz="3200" b="1" dirty="0">
                <a:latin typeface="나눔고딕" pitchFamily="50" charset="-127"/>
                <a:ea typeface="나눔고딕" pitchFamily="50" charset="-127"/>
              </a:rPr>
            </a:br>
            <a:r>
              <a:rPr lang="ko-KR" altLang="en-US" sz="3200" b="1" dirty="0">
                <a:latin typeface="나눔고딕" pitchFamily="50" charset="-127"/>
                <a:ea typeface="나눔고딕" pitchFamily="50" charset="-127"/>
              </a:rPr>
              <a:t>홈페이지 개편</a:t>
            </a:r>
            <a:endParaRPr lang="ko-KR" altLang="en-US" sz="3000" b="1" dirty="0">
              <a:solidFill>
                <a:schemeClr val="bg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128464" y="2024844"/>
            <a:ext cx="2364750" cy="615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3400" b="1">
                <a:solidFill>
                  <a:schemeClr val="bg1"/>
                </a:solidFill>
              </a:rPr>
              <a:t>화면설계서</a:t>
            </a:r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9381" y="6077898"/>
            <a:ext cx="1290559" cy="2949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6770236" y="6453336"/>
            <a:ext cx="298511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8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Copyright ⓒ 2025 WIZWIG CO., LTD., All rights reserved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128464" y="2744924"/>
            <a:ext cx="172354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</a:rPr>
              <a:t>[</a:t>
            </a:r>
            <a:r>
              <a:rPr lang="ko-KR" altLang="en-US" sz="2000" b="1" dirty="0">
                <a:solidFill>
                  <a:schemeClr val="bg1"/>
                </a:solidFill>
              </a:rPr>
              <a:t>홈페이지</a:t>
            </a:r>
            <a:r>
              <a:rPr lang="en-US" altLang="ko-KR" sz="2000" b="1" dirty="0">
                <a:solidFill>
                  <a:schemeClr val="bg1"/>
                </a:solidFill>
              </a:rPr>
              <a:t>]</a:t>
            </a:r>
          </a:p>
          <a:p>
            <a:r>
              <a:rPr lang="ko-KR" altLang="en-US" sz="2000" b="1" dirty="0">
                <a:solidFill>
                  <a:schemeClr val="bg1"/>
                </a:solidFill>
              </a:rPr>
              <a:t>프로그램신청</a:t>
            </a:r>
          </a:p>
        </p:txBody>
      </p:sp>
      <p:pic>
        <p:nvPicPr>
          <p:cNvPr id="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5D2B0827-74F0-A0F7-9599-1B004FECC3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6517" y="342531"/>
            <a:ext cx="1303423" cy="332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6887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Group 109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21648674"/>
              </p:ext>
            </p:extLst>
          </p:nvPr>
        </p:nvGraphicFramePr>
        <p:xfrm>
          <a:off x="165106" y="1183340"/>
          <a:ext cx="9575801" cy="5296448"/>
        </p:xfrm>
        <a:graphic>
          <a:graphicData uri="http://schemas.openxmlformats.org/drawingml/2006/table">
            <a:tbl>
              <a:tblPr/>
              <a:tblGrid>
                <a:gridCol w="8274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0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74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3221">
                <a:tc gridSpan="4"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문서이력표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53177" marR="53177" marT="42541" marB="425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53177" marR="53177" marT="42541" marB="425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53177" marR="53177" marT="42541" marB="425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862">
                <a:tc gridSpan="4">
                  <a:txBody>
                    <a:bodyPr/>
                    <a:lstStyle/>
                    <a:p>
                      <a:pPr marL="0" marR="0" lvl="0" indent="0" algn="l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오산교육재단 홈페이지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&gt;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프로그램신청 화면설계서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53177" marR="53177" marT="42541" marB="425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8862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문서버젼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개정일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개정내용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작성자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941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1.0</a:t>
                      </a: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2025.10.13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>
                          <a:latin typeface="나눔고딕" pitchFamily="50" charset="-127"/>
                          <a:ea typeface="나눔고딕" pitchFamily="50" charset="-127"/>
                        </a:rPr>
                        <a:t>최초 작성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>
                          <a:latin typeface="나눔고딕" pitchFamily="50" charset="-127"/>
                          <a:ea typeface="나눔고딕" pitchFamily="50" charset="-127"/>
                        </a:rPr>
                        <a:t>최성열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941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1.1</a:t>
                      </a: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2025.10.13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평생교육장려금 신청정보 폼 항목 변경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최성열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9941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1.2</a:t>
                      </a: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2025.10.23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평생교육장려금 신청정보 내 서약서 추가</a:t>
                      </a:r>
                      <a:endParaRPr lang="en-US" altLang="ko-KR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92075" marR="0" lvl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평생교육장려금 수강정보 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&gt;&gt; 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평생교육장려금 청구정보 로 네이밍 변경</a:t>
                      </a:r>
                      <a:endParaRPr lang="en-US" altLang="ko-KR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92075" marR="0" lvl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평생교육장려금 신청정보 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&gt;&gt; 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평생교육장려금 수강등록신고 로 네이밍 변경</a:t>
                      </a:r>
                      <a:endParaRPr lang="en-US" altLang="ko-KR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92075" marR="0" lvl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평생교육장려금 수강등록신고에 첨부파일 첨부 기능 추가</a:t>
                      </a:r>
                      <a:endParaRPr lang="en-US" altLang="ko-KR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92075" marR="0" lvl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고등학생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대학생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1000" dirty="0" err="1">
                          <a:latin typeface="나눔고딕" pitchFamily="50" charset="-127"/>
                          <a:ea typeface="나눔고딕" pitchFamily="50" charset="-127"/>
                        </a:rPr>
                        <a:t>특기생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 장학금 신청정보 내 제출서류 항목에 설정 정보 추가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>
                          <a:latin typeface="나눔고딕" pitchFamily="50" charset="-127"/>
                          <a:ea typeface="나눔고딕" pitchFamily="50" charset="-127"/>
                        </a:rPr>
                        <a:t>최성열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9941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1.3</a:t>
                      </a: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2025.10.23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화면설계서 코멘트 작업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최성열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9941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1.4</a:t>
                      </a: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2025.10.29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모든 신청정보 내 </a:t>
                      </a:r>
                      <a:r>
                        <a:rPr lang="ko-KR" altLang="en-US" sz="1000" dirty="0" err="1">
                          <a:latin typeface="나눔고딕" pitchFamily="50" charset="-127"/>
                          <a:ea typeface="나눔고딕" pitchFamily="50" charset="-127"/>
                        </a:rPr>
                        <a:t>최종전입일자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 항목을 주소란 위로 위치 이동</a:t>
                      </a:r>
                      <a:endParaRPr lang="en-US" altLang="ko-KR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92075" marR="0" lvl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고등학생 장학금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대학생장학금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1000" dirty="0" err="1">
                          <a:latin typeface="나눔고딕" pitchFamily="50" charset="-127"/>
                          <a:ea typeface="나눔고딕" pitchFamily="50" charset="-127"/>
                        </a:rPr>
                        <a:t>특기생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 장학금 신청정보 중 추천서 항목에 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[</a:t>
                      </a:r>
                      <a:r>
                        <a:rPr lang="ko-KR" altLang="en-US" sz="1000" dirty="0" err="1">
                          <a:latin typeface="나눔고딕" pitchFamily="50" charset="-127"/>
                          <a:ea typeface="나눔고딕" pitchFamily="50" charset="-127"/>
                        </a:rPr>
                        <a:t>양식받기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] 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기능 추가</a:t>
                      </a:r>
                      <a:endParaRPr lang="en-US" altLang="ko-KR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92075" marR="0" lvl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신청정보 중 건강보험료납입증명서 부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/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모 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&gt;&gt; 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보험료납입확인서로 명칭 변경</a:t>
                      </a:r>
                      <a:endParaRPr lang="en-US" altLang="ko-KR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92075" marR="0" lvl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신청정보 중 보험료납입확인서에서 </a:t>
                      </a:r>
                      <a:r>
                        <a:rPr lang="ko-KR" altLang="en-US" sz="1000" dirty="0" err="1">
                          <a:latin typeface="나눔고딕" pitchFamily="50" charset="-127"/>
                          <a:ea typeface="나눔고딕" pitchFamily="50" charset="-127"/>
                        </a:rPr>
                        <a:t>납부액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&gt;&gt; </a:t>
                      </a:r>
                      <a:r>
                        <a:rPr lang="ko-KR" altLang="en-US" sz="1000" dirty="0" err="1">
                          <a:latin typeface="나눔고딕" pitchFamily="50" charset="-127"/>
                          <a:ea typeface="나눔고딕" pitchFamily="50" charset="-127"/>
                        </a:rPr>
                        <a:t>납부액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(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부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/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모 합산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으로 명칭 변경</a:t>
                      </a:r>
                      <a:endParaRPr lang="en-US" altLang="ko-KR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92075" marR="0" lvl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신청정보 중 첨부파일 항목에 성적 입력란 추가</a:t>
                      </a:r>
                      <a:endParaRPr lang="en-US" altLang="ko-KR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92075" marR="0" lvl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신청정보 중 지방세 세목별 과세증명서 본인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/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부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/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모 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&gt;&gt; 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지방세 세목별 과세증명서로 명칭 변경</a:t>
                      </a:r>
                      <a:endParaRPr lang="en-US" altLang="ko-KR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92075" marR="0" lvl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신청정보 중 지방세 세목별 과세증명서에서 재산세 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&gt;&gt; 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재산세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(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부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/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모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/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학생 합산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으로 명칭 변경</a:t>
                      </a:r>
                      <a:endParaRPr lang="en-US" altLang="ko-KR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92075" marR="0" lvl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신청정보 중 수상실적확인서에서 </a:t>
                      </a:r>
                      <a:r>
                        <a:rPr lang="ko-KR" altLang="en-US" sz="1000" dirty="0" err="1">
                          <a:latin typeface="나눔고딕" pitchFamily="50" charset="-127"/>
                          <a:ea typeface="나눔고딕" pitchFamily="50" charset="-127"/>
                        </a:rPr>
                        <a:t>대회명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&gt;&gt; 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대회규모로 명칭 변경</a:t>
                      </a:r>
                      <a:endParaRPr lang="en-US" altLang="ko-KR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92075" marR="0" lvl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신청정보 중 수상실적확인서에서 </a:t>
                      </a:r>
                      <a:r>
                        <a:rPr lang="ko-KR" altLang="en-US" sz="1000" dirty="0" err="1">
                          <a:latin typeface="나눔고딕" pitchFamily="50" charset="-127"/>
                          <a:ea typeface="나눔고딕" pitchFamily="50" charset="-127"/>
                        </a:rPr>
                        <a:t>대회명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 앞에 </a:t>
                      </a:r>
                      <a:r>
                        <a:rPr lang="ko-KR" altLang="en-US" sz="1000" dirty="0" err="1">
                          <a:latin typeface="나눔고딕" pitchFamily="50" charset="-127"/>
                          <a:ea typeface="나눔고딕" pitchFamily="50" charset="-127"/>
                        </a:rPr>
                        <a:t>드롭박스로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 선택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/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국제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/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국내 추가</a:t>
                      </a:r>
                      <a:endParaRPr lang="en-US" altLang="ko-KR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92075" marR="0" lvl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신청정보 중 자격증사본에서 자격내용 앞에 </a:t>
                      </a:r>
                      <a:r>
                        <a:rPr lang="ko-KR" altLang="en-US" sz="1000" dirty="0" err="1">
                          <a:latin typeface="나눔고딕" pitchFamily="50" charset="-127"/>
                          <a:ea typeface="나눔고딕" pitchFamily="50" charset="-127"/>
                        </a:rPr>
                        <a:t>드롭박스로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 선택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/50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개 목록 추가</a:t>
                      </a:r>
                      <a:endParaRPr lang="en-US" altLang="ko-KR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92075" marR="0" lvl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행복기숙사 </a:t>
                      </a:r>
                      <a:r>
                        <a:rPr lang="ko-KR" altLang="en-US" sz="1000" dirty="0" err="1">
                          <a:latin typeface="나눔고딕" pitchFamily="50" charset="-127"/>
                          <a:ea typeface="나눔고딕" pitchFamily="50" charset="-127"/>
                        </a:rPr>
                        <a:t>입사비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 신청자정보에서 신청 기숙사 항목 및 </a:t>
                      </a:r>
                      <a:r>
                        <a:rPr lang="ko-KR" altLang="en-US" sz="1000" dirty="0" err="1">
                          <a:latin typeface="나눔고딕" pitchFamily="50" charset="-127"/>
                          <a:ea typeface="나눔고딕" pitchFamily="50" charset="-127"/>
                        </a:rPr>
                        <a:t>드롭박스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 추가</a:t>
                      </a:r>
                      <a:endParaRPr lang="en-US" altLang="ko-KR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92075" marR="0" lvl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행복기숙사 </a:t>
                      </a:r>
                      <a:r>
                        <a:rPr lang="ko-KR" altLang="en-US" sz="1000" dirty="0" err="1">
                          <a:latin typeface="나눔고딕" pitchFamily="50" charset="-127"/>
                          <a:ea typeface="나눔고딕" pitchFamily="50" charset="-127"/>
                        </a:rPr>
                        <a:t>입사비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 신청자정보 중 </a:t>
                      </a:r>
                      <a:r>
                        <a:rPr lang="ko-KR" altLang="en-US" sz="1000" dirty="0" err="1">
                          <a:latin typeface="나눔고딕" pitchFamily="50" charset="-127"/>
                          <a:ea typeface="나눔고딕" pitchFamily="50" charset="-127"/>
                        </a:rPr>
                        <a:t>최종전입일자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 내 공고일 기준 오산시 거주 확인 후 신청 텍스트 추가</a:t>
                      </a:r>
                      <a:endParaRPr lang="en-US" altLang="ko-KR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92075" marR="0" lvl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 err="1">
                          <a:latin typeface="나눔고딕" pitchFamily="50" charset="-127"/>
                          <a:ea typeface="나눔고딕" pitchFamily="50" charset="-127"/>
                        </a:rPr>
                        <a:t>행복기숙사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1000" dirty="0" err="1">
                          <a:latin typeface="나눔고딕" pitchFamily="50" charset="-127"/>
                          <a:ea typeface="나눔고딕" pitchFamily="50" charset="-127"/>
                        </a:rPr>
                        <a:t>입사비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 신청자 계좌정보 타이틀 옆에 </a:t>
                      </a:r>
                      <a:r>
                        <a:rPr lang="ko-KR" altLang="en-US" sz="1000" dirty="0" err="1">
                          <a:latin typeface="나눔고딕" pitchFamily="50" charset="-127"/>
                          <a:ea typeface="나눔고딕" pitchFamily="50" charset="-127"/>
                        </a:rPr>
                        <a:t>사립행복기숙사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 신청자만 계좌정보 기재 텍스트 추가</a:t>
                      </a:r>
                      <a:endParaRPr lang="en-US" altLang="ko-KR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92075" marR="0" lvl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 err="1">
                          <a:latin typeface="나눔고딕" pitchFamily="50" charset="-127"/>
                          <a:ea typeface="나눔고딕" pitchFamily="50" charset="-127"/>
                        </a:rPr>
                        <a:t>행복기숙사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1000" dirty="0" err="1">
                          <a:latin typeface="나눔고딕" pitchFamily="50" charset="-127"/>
                          <a:ea typeface="나눔고딕" pitchFamily="50" charset="-127"/>
                        </a:rPr>
                        <a:t>입사비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 신청정보에서 가족관계증명서 서류 제출 추가</a:t>
                      </a:r>
                      <a:endParaRPr lang="en-US" altLang="ko-KR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92075" marR="0" lvl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 err="1">
                          <a:latin typeface="나눔고딕" pitchFamily="50" charset="-127"/>
                          <a:ea typeface="나눔고딕" pitchFamily="50" charset="-127"/>
                        </a:rPr>
                        <a:t>행복기숙사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1000" dirty="0" err="1">
                          <a:latin typeface="나눔고딕" pitchFamily="50" charset="-127"/>
                          <a:ea typeface="나눔고딕" pitchFamily="50" charset="-127"/>
                        </a:rPr>
                        <a:t>입사비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 신청정보 중 재학증명서에 문구 추가</a:t>
                      </a:r>
                      <a:endParaRPr lang="en-US" altLang="ko-KR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92075" marR="0" lvl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 err="1">
                          <a:latin typeface="나눔고딕" pitchFamily="50" charset="-127"/>
                          <a:ea typeface="나눔고딕" pitchFamily="50" charset="-127"/>
                        </a:rPr>
                        <a:t>행복기숙사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1000" dirty="0" err="1">
                          <a:latin typeface="나눔고딕" pitchFamily="50" charset="-127"/>
                          <a:ea typeface="나눔고딕" pitchFamily="50" charset="-127"/>
                        </a:rPr>
                        <a:t>입사비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 신청정보 중 지원금 신청 서류 항목 삭제</a:t>
                      </a:r>
                      <a:endParaRPr lang="en-US" altLang="ko-KR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92075" marR="0" lvl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 err="1">
                          <a:latin typeface="나눔고딕" pitchFamily="50" charset="-127"/>
                          <a:ea typeface="나눔고딕" pitchFamily="50" charset="-127"/>
                        </a:rPr>
                        <a:t>행복기숙사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1000" dirty="0" err="1">
                          <a:latin typeface="나눔고딕" pitchFamily="50" charset="-127"/>
                          <a:ea typeface="나눔고딕" pitchFamily="50" charset="-127"/>
                        </a:rPr>
                        <a:t>입사비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 신청정보에서 서약서 항목 추가 및 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[</a:t>
                      </a:r>
                      <a:r>
                        <a:rPr lang="ko-KR" altLang="en-US" sz="1000" dirty="0" err="1">
                          <a:latin typeface="나눔고딕" pitchFamily="50" charset="-127"/>
                          <a:ea typeface="나눔고딕" pitchFamily="50" charset="-127"/>
                        </a:rPr>
                        <a:t>양식받기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] 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추가</a:t>
                      </a:r>
                      <a:endParaRPr lang="en-US" altLang="ko-KR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최성열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7482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3DA5F-93B0-F5A8-1532-F8BB9A9A9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Group 1091">
            <a:extLst>
              <a:ext uri="{FF2B5EF4-FFF2-40B4-BE49-F238E27FC236}">
                <a16:creationId xmlns:a16="http://schemas.microsoft.com/office/drawing/2014/main" id="{6EDC1341-8B35-114D-6A26-BC18ABD9C53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60848221"/>
              </p:ext>
            </p:extLst>
          </p:nvPr>
        </p:nvGraphicFramePr>
        <p:xfrm>
          <a:off x="165106" y="1183340"/>
          <a:ext cx="9575801" cy="2657825"/>
        </p:xfrm>
        <a:graphic>
          <a:graphicData uri="http://schemas.openxmlformats.org/drawingml/2006/table">
            <a:tbl>
              <a:tblPr/>
              <a:tblGrid>
                <a:gridCol w="7554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327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34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3221">
                <a:tc gridSpan="4"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문서이력표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53177" marR="53177" marT="42541" marB="425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53177" marR="53177" marT="42541" marB="425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53177" marR="53177" marT="42541" marB="425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862">
                <a:tc gridSpan="4">
                  <a:txBody>
                    <a:bodyPr/>
                    <a:lstStyle/>
                    <a:p>
                      <a:pPr marL="0" marR="0" lvl="0" indent="0" algn="l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오산교육재단 홈페이지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&gt;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프로그램신청 화면설계서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53177" marR="53177" marT="42541" marB="42541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8862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문서버젼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개정일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개정내용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작성자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941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1.4</a:t>
                      </a: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2025.10.29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 err="1">
                          <a:latin typeface="나눔고딕" pitchFamily="50" charset="-127"/>
                          <a:ea typeface="나눔고딕" pitchFamily="50" charset="-127"/>
                        </a:rPr>
                        <a:t>행복기숙사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1000" dirty="0" err="1">
                          <a:latin typeface="나눔고딕" pitchFamily="50" charset="-127"/>
                          <a:ea typeface="나눔고딕" pitchFamily="50" charset="-127"/>
                        </a:rPr>
                        <a:t>입사비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 신청정보 중 기타 및 추가서류 항목에 텍스트 추가</a:t>
                      </a:r>
                      <a:endParaRPr lang="en-US" altLang="ko-KR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92075" marR="0" lvl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고등학생 장학금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대학생장학금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1000" dirty="0" err="1">
                          <a:latin typeface="나눔고딕" pitchFamily="50" charset="-127"/>
                          <a:ea typeface="나눔고딕" pitchFamily="50" charset="-127"/>
                        </a:rPr>
                        <a:t>특기생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 장학금 신청정보 중 첨부파일 항목에 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[</a:t>
                      </a:r>
                      <a:r>
                        <a:rPr lang="ko-KR" altLang="en-US" sz="1000" dirty="0" err="1">
                          <a:latin typeface="나눔고딕" pitchFamily="50" charset="-127"/>
                          <a:ea typeface="나눔고딕" pitchFamily="50" charset="-127"/>
                        </a:rPr>
                        <a:t>양식받기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] 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추가</a:t>
                      </a:r>
                      <a:endParaRPr lang="en-US" altLang="ko-KR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92075" marR="0" lvl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고등학생 장학금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대학생장학금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1000" dirty="0" err="1">
                          <a:latin typeface="나눔고딕" pitchFamily="50" charset="-127"/>
                          <a:ea typeface="나눔고딕" pitchFamily="50" charset="-127"/>
                        </a:rPr>
                        <a:t>특기생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 장학금 수강정보 기능 삭제</a:t>
                      </a:r>
                      <a:endParaRPr lang="en-US" altLang="ko-KR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92075" marR="0" lvl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모든 프로그램 상태를 선택 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/ 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신청완료 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/ </a:t>
                      </a:r>
                      <a:r>
                        <a:rPr lang="ko-KR" altLang="en-US" sz="1000" dirty="0" err="1">
                          <a:latin typeface="나눔고딕" pitchFamily="50" charset="-127"/>
                          <a:ea typeface="나눔고딕" pitchFamily="50" charset="-127"/>
                        </a:rPr>
                        <a:t>심사중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/ 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선발 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/ 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탈락 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/ 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대기 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/ 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신청취소</a:t>
                      </a:r>
                      <a:endParaRPr lang="en-US" altLang="ko-KR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92075" marR="0" lvl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 err="1">
                          <a:latin typeface="나눔고딕" pitchFamily="50" charset="-127"/>
                          <a:ea typeface="나눔고딕" pitchFamily="50" charset="-127"/>
                        </a:rPr>
                        <a:t>팽생교육장려금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 청구정보 내 청구정보 폼을 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차 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~ 4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차까지 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개로 구성</a:t>
                      </a:r>
                      <a:endParaRPr lang="en-US" altLang="ko-KR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92075" marR="0" lvl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 err="1">
                          <a:latin typeface="나눔고딕" pitchFamily="50" charset="-127"/>
                          <a:ea typeface="나눔고딕" pitchFamily="50" charset="-127"/>
                        </a:rPr>
                        <a:t>팽생교육장려금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 청구정보 내 통장사본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주민등록초본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첨부파일을 별도 폼으로 분리</a:t>
                      </a:r>
                      <a:endParaRPr lang="en-US" altLang="ko-KR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92075" marR="0" lvl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 err="1">
                          <a:latin typeface="나눔고딕" pitchFamily="50" charset="-127"/>
                          <a:ea typeface="나눔고딕" pitchFamily="50" charset="-127"/>
                        </a:rPr>
                        <a:t>팽생교육장려금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 청구정보 내 교육기관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상태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프로그램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교육비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교육비 영수증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수료증을 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차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~4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차까지 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개 구성</a:t>
                      </a:r>
                      <a:endParaRPr lang="en-US" altLang="ko-KR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최성열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9941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1.5</a:t>
                      </a: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2025.11.03</a:t>
                      </a:r>
                      <a:endParaRPr lang="ko-KR" altLang="en-US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 err="1">
                          <a:latin typeface="나눔고딕" pitchFamily="50" charset="-127"/>
                          <a:ea typeface="나눔고딕" pitchFamily="50" charset="-127"/>
                        </a:rPr>
                        <a:t>특기생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 장학금에서 개인</a:t>
                      </a:r>
                      <a:r>
                        <a:rPr lang="en-US" altLang="ko-KR" sz="1000" dirty="0">
                          <a:latin typeface="나눔고딕" pitchFamily="50" charset="-127"/>
                          <a:ea typeface="나눔고딕" pitchFamily="50" charset="-127"/>
                        </a:rPr>
                        <a:t>/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단체 전형별 제출서류 중 자격증사본 삭제</a:t>
                      </a:r>
                      <a:endParaRPr lang="en-US" altLang="ko-KR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92075" marR="0" lvl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 err="1">
                          <a:latin typeface="나눔고딕" pitchFamily="50" charset="-127"/>
                          <a:ea typeface="나눔고딕" pitchFamily="50" charset="-127"/>
                        </a:rPr>
                        <a:t>특기생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 장학금에서 기능 전형별 제출서류 중 수상실적확인서 삭제</a:t>
                      </a:r>
                      <a:endParaRPr lang="en-US" altLang="ko-KR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marL="92075" marR="0" lvl="0" indent="-9207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 err="1">
                          <a:latin typeface="나눔고딕" pitchFamily="50" charset="-127"/>
                          <a:ea typeface="나눔고딕" pitchFamily="50" charset="-127"/>
                        </a:rPr>
                        <a:t>행복기숙사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1000" dirty="0" err="1">
                          <a:latin typeface="나눔고딕" pitchFamily="50" charset="-127"/>
                          <a:ea typeface="나눔고딕" pitchFamily="50" charset="-127"/>
                        </a:rPr>
                        <a:t>입사비</a:t>
                      </a: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 신청정보 중 계좌정보는 선택 사항으로 변경</a:t>
                      </a:r>
                      <a:endParaRPr lang="en-US" altLang="ko-KR" sz="10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나눔고딕" pitchFamily="50" charset="-127"/>
                          <a:ea typeface="나눔고딕" pitchFamily="50" charset="-127"/>
                        </a:rPr>
                        <a:t>최성열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96599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4891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Group 109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68648957"/>
              </p:ext>
            </p:extLst>
          </p:nvPr>
        </p:nvGraphicFramePr>
        <p:xfrm>
          <a:off x="165100" y="1175295"/>
          <a:ext cx="9575800" cy="237482"/>
        </p:xfrm>
        <a:graphic>
          <a:graphicData uri="http://schemas.openxmlformats.org/drawingml/2006/table">
            <a:tbl>
              <a:tblPr/>
              <a:tblGrid>
                <a:gridCol w="957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9436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홈페이지 메뉴 구조</a:t>
                      </a: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5" name="모서리가 둥근 직사각형 74"/>
          <p:cNvSpPr/>
          <p:nvPr/>
        </p:nvSpPr>
        <p:spPr>
          <a:xfrm>
            <a:off x="4064743" y="1520788"/>
            <a:ext cx="1931636" cy="229116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tx1">
                <a:lumMod val="95000"/>
                <a:lumOff val="5000"/>
              </a:schemeClr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오산교육재단 홈페이지</a:t>
            </a:r>
          </a:p>
        </p:txBody>
      </p:sp>
      <p:sp>
        <p:nvSpPr>
          <p:cNvPr id="76" name="모서리가 둥근 직사각형 75"/>
          <p:cNvSpPr/>
          <p:nvPr/>
        </p:nvSpPr>
        <p:spPr>
          <a:xfrm>
            <a:off x="164468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</a:t>
            </a:r>
          </a:p>
        </p:txBody>
      </p:sp>
      <p:sp>
        <p:nvSpPr>
          <p:cNvPr id="81" name="모서리가 둥근 직사각형 80"/>
          <p:cNvSpPr/>
          <p:nvPr/>
        </p:nvSpPr>
        <p:spPr>
          <a:xfrm>
            <a:off x="1068205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로그인</a:t>
            </a:r>
          </a:p>
        </p:txBody>
      </p:sp>
      <p:sp>
        <p:nvSpPr>
          <p:cNvPr id="82" name="모서리가 둥근 직사각형 81"/>
          <p:cNvSpPr/>
          <p:nvPr/>
        </p:nvSpPr>
        <p:spPr>
          <a:xfrm>
            <a:off x="1976252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회원가입</a:t>
            </a:r>
          </a:p>
        </p:txBody>
      </p:sp>
      <p:sp>
        <p:nvSpPr>
          <p:cNvPr id="83" name="모서리가 둥근 직사각형 82"/>
          <p:cNvSpPr/>
          <p:nvPr/>
        </p:nvSpPr>
        <p:spPr>
          <a:xfrm>
            <a:off x="3044788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ID/PW</a:t>
            </a:r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찾기</a:t>
            </a:r>
          </a:p>
        </p:txBody>
      </p:sp>
      <p:sp>
        <p:nvSpPr>
          <p:cNvPr id="84" name="모서리가 둥근 직사각형 83"/>
          <p:cNvSpPr/>
          <p:nvPr/>
        </p:nvSpPr>
        <p:spPr>
          <a:xfrm>
            <a:off x="4088904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재단소개</a:t>
            </a:r>
          </a:p>
        </p:txBody>
      </p:sp>
      <p:sp>
        <p:nvSpPr>
          <p:cNvPr id="85" name="모서리가 둥근 직사각형 84"/>
          <p:cNvSpPr/>
          <p:nvPr/>
        </p:nvSpPr>
        <p:spPr>
          <a:xfrm>
            <a:off x="6009278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열린경영</a:t>
            </a:r>
            <a:endParaRPr lang="ko-KR" altLang="en-US" sz="8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5" name="모서리가 둥근 직사각형 94"/>
          <p:cNvSpPr/>
          <p:nvPr/>
        </p:nvSpPr>
        <p:spPr>
          <a:xfrm>
            <a:off x="8875660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마이페이지</a:t>
            </a:r>
          </a:p>
        </p:txBody>
      </p:sp>
      <p:cxnSp>
        <p:nvCxnSpPr>
          <p:cNvPr id="104" name="꺾인 연결선 103"/>
          <p:cNvCxnSpPr>
            <a:stCxn id="76" idx="0"/>
            <a:endCxn id="75" idx="2"/>
          </p:cNvCxnSpPr>
          <p:nvPr/>
        </p:nvCxnSpPr>
        <p:spPr>
          <a:xfrm rot="5400000" flipH="1" flipV="1">
            <a:off x="2641771" y="-295398"/>
            <a:ext cx="343487" cy="4434093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꺾인 연결선 105"/>
          <p:cNvCxnSpPr>
            <a:stCxn id="81" idx="0"/>
            <a:endCxn id="75" idx="2"/>
          </p:cNvCxnSpPr>
          <p:nvPr/>
        </p:nvCxnSpPr>
        <p:spPr>
          <a:xfrm rot="5400000" flipH="1" flipV="1">
            <a:off x="3093640" y="156470"/>
            <a:ext cx="343487" cy="3530356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꺾인 연결선 106"/>
          <p:cNvCxnSpPr>
            <a:stCxn id="82" idx="0"/>
            <a:endCxn id="75" idx="2"/>
          </p:cNvCxnSpPr>
          <p:nvPr/>
        </p:nvCxnSpPr>
        <p:spPr>
          <a:xfrm rot="5400000" flipH="1" flipV="1">
            <a:off x="3547663" y="610494"/>
            <a:ext cx="343487" cy="2622309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꺾인 연결선 108"/>
          <p:cNvCxnSpPr>
            <a:cxnSpLocks/>
            <a:stCxn id="83" idx="0"/>
            <a:endCxn id="75" idx="2"/>
          </p:cNvCxnSpPr>
          <p:nvPr/>
        </p:nvCxnSpPr>
        <p:spPr>
          <a:xfrm rot="5400000" flipH="1" flipV="1">
            <a:off x="4081931" y="1144762"/>
            <a:ext cx="343487" cy="1553773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꺾인 연결선 109"/>
          <p:cNvCxnSpPr>
            <a:stCxn id="84" idx="0"/>
            <a:endCxn id="75" idx="2"/>
          </p:cNvCxnSpPr>
          <p:nvPr/>
        </p:nvCxnSpPr>
        <p:spPr>
          <a:xfrm rot="5400000" flipH="1" flipV="1">
            <a:off x="4603989" y="1666820"/>
            <a:ext cx="343487" cy="509657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꺾인 연결선 111"/>
          <p:cNvCxnSpPr>
            <a:stCxn id="85" idx="0"/>
            <a:endCxn id="75" idx="2"/>
          </p:cNvCxnSpPr>
          <p:nvPr/>
        </p:nvCxnSpPr>
        <p:spPr>
          <a:xfrm rot="16200000" flipV="1">
            <a:off x="5564177" y="1216289"/>
            <a:ext cx="343487" cy="1410717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꺾인 연결선 116"/>
          <p:cNvCxnSpPr>
            <a:cxnSpLocks/>
            <a:stCxn id="14" idx="0"/>
            <a:endCxn id="75" idx="2"/>
          </p:cNvCxnSpPr>
          <p:nvPr/>
        </p:nvCxnSpPr>
        <p:spPr>
          <a:xfrm rot="16200000" flipV="1">
            <a:off x="6528104" y="252362"/>
            <a:ext cx="343487" cy="3338571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꺾인 연결선 145">
            <a:extLst>
              <a:ext uri="{FF2B5EF4-FFF2-40B4-BE49-F238E27FC236}">
                <a16:creationId xmlns:a16="http://schemas.microsoft.com/office/drawing/2014/main" id="{644307EB-4AEF-9DF9-A665-63EC3A4CFC16}"/>
              </a:ext>
            </a:extLst>
          </p:cNvPr>
          <p:cNvCxnSpPr>
            <a:cxnSpLocks/>
            <a:stCxn id="95" idx="0"/>
            <a:endCxn id="75" idx="2"/>
          </p:cNvCxnSpPr>
          <p:nvPr/>
        </p:nvCxnSpPr>
        <p:spPr>
          <a:xfrm rot="16200000" flipV="1">
            <a:off x="6997368" y="-216902"/>
            <a:ext cx="343487" cy="4277099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모서리가 둥근 직사각형 84">
            <a:extLst>
              <a:ext uri="{FF2B5EF4-FFF2-40B4-BE49-F238E27FC236}">
                <a16:creationId xmlns:a16="http://schemas.microsoft.com/office/drawing/2014/main" id="{FF428B43-48C0-330F-58DF-A58897517C69}"/>
              </a:ext>
            </a:extLst>
          </p:cNvPr>
          <p:cNvSpPr/>
          <p:nvPr/>
        </p:nvSpPr>
        <p:spPr>
          <a:xfrm>
            <a:off x="7937132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프로그램신청</a:t>
            </a:r>
          </a:p>
        </p:txBody>
      </p:sp>
      <p:sp>
        <p:nvSpPr>
          <p:cNvPr id="3" name="모서리가 둥근 직사각형 83">
            <a:extLst>
              <a:ext uri="{FF2B5EF4-FFF2-40B4-BE49-F238E27FC236}">
                <a16:creationId xmlns:a16="http://schemas.microsoft.com/office/drawing/2014/main" id="{B6628934-0CC3-8B75-8F1A-251C2087CDC7}"/>
              </a:ext>
            </a:extLst>
          </p:cNvPr>
          <p:cNvSpPr/>
          <p:nvPr/>
        </p:nvSpPr>
        <p:spPr>
          <a:xfrm>
            <a:off x="4624329" y="2344450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재단안내</a:t>
            </a:r>
          </a:p>
        </p:txBody>
      </p:sp>
      <p:cxnSp>
        <p:nvCxnSpPr>
          <p:cNvPr id="4" name="꺾인 연결선 111">
            <a:extLst>
              <a:ext uri="{FF2B5EF4-FFF2-40B4-BE49-F238E27FC236}">
                <a16:creationId xmlns:a16="http://schemas.microsoft.com/office/drawing/2014/main" id="{49A95291-24B8-81D0-2B5C-A4201A8D5064}"/>
              </a:ext>
            </a:extLst>
          </p:cNvPr>
          <p:cNvCxnSpPr>
            <a:cxnSpLocks/>
            <a:stCxn id="3" idx="1"/>
            <a:endCxn id="84" idx="2"/>
          </p:cNvCxnSpPr>
          <p:nvPr/>
        </p:nvCxnSpPr>
        <p:spPr>
          <a:xfrm rot="10800000">
            <a:off x="4520905" y="2282743"/>
            <a:ext cx="103425" cy="147776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모서리가 둥근 직사각형 83">
            <a:extLst>
              <a:ext uri="{FF2B5EF4-FFF2-40B4-BE49-F238E27FC236}">
                <a16:creationId xmlns:a16="http://schemas.microsoft.com/office/drawing/2014/main" id="{542BC5F9-0DEA-6F6A-05DA-7CC81AC03EA5}"/>
              </a:ext>
            </a:extLst>
          </p:cNvPr>
          <p:cNvSpPr/>
          <p:nvPr/>
        </p:nvSpPr>
        <p:spPr>
          <a:xfrm>
            <a:off x="4624329" y="3383751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조직안내</a:t>
            </a:r>
          </a:p>
        </p:txBody>
      </p:sp>
      <p:sp>
        <p:nvSpPr>
          <p:cNvPr id="11" name="모서리가 둥근 직사각형 83">
            <a:extLst>
              <a:ext uri="{FF2B5EF4-FFF2-40B4-BE49-F238E27FC236}">
                <a16:creationId xmlns:a16="http://schemas.microsoft.com/office/drawing/2014/main" id="{D7CDACE6-F8F4-78E6-FE6E-80FE46ECB8C7}"/>
              </a:ext>
            </a:extLst>
          </p:cNvPr>
          <p:cNvSpPr/>
          <p:nvPr/>
        </p:nvSpPr>
        <p:spPr>
          <a:xfrm>
            <a:off x="4624329" y="4214716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사업소개</a:t>
            </a:r>
          </a:p>
        </p:txBody>
      </p:sp>
      <p:sp>
        <p:nvSpPr>
          <p:cNvPr id="12" name="모서리가 둥근 직사각형 83">
            <a:extLst>
              <a:ext uri="{FF2B5EF4-FFF2-40B4-BE49-F238E27FC236}">
                <a16:creationId xmlns:a16="http://schemas.microsoft.com/office/drawing/2014/main" id="{E0DFAD42-1C52-DC6A-734F-22B90376EDD5}"/>
              </a:ext>
            </a:extLst>
          </p:cNvPr>
          <p:cNvSpPr/>
          <p:nvPr/>
        </p:nvSpPr>
        <p:spPr>
          <a:xfrm>
            <a:off x="4624329" y="4873543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찾아오시는길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모서리가 둥근 직사각형 83">
            <a:extLst>
              <a:ext uri="{FF2B5EF4-FFF2-40B4-BE49-F238E27FC236}">
                <a16:creationId xmlns:a16="http://schemas.microsoft.com/office/drawing/2014/main" id="{E9485B48-F211-25A4-0EC7-9E6F19A48105}"/>
              </a:ext>
            </a:extLst>
          </p:cNvPr>
          <p:cNvSpPr/>
          <p:nvPr/>
        </p:nvSpPr>
        <p:spPr>
          <a:xfrm>
            <a:off x="4624329" y="5523506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약관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모서리가 둥근 직사각형 83">
            <a:extLst>
              <a:ext uri="{FF2B5EF4-FFF2-40B4-BE49-F238E27FC236}">
                <a16:creationId xmlns:a16="http://schemas.microsoft.com/office/drawing/2014/main" id="{9BAB1E5B-B43B-1151-5345-B7B8B01608B9}"/>
              </a:ext>
            </a:extLst>
          </p:cNvPr>
          <p:cNvSpPr/>
          <p:nvPr/>
        </p:nvSpPr>
        <p:spPr>
          <a:xfrm>
            <a:off x="3580212" y="2344450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아이디 찾기</a:t>
            </a:r>
          </a:p>
        </p:txBody>
      </p:sp>
      <p:cxnSp>
        <p:nvCxnSpPr>
          <p:cNvPr id="23" name="꺾인 연결선 111">
            <a:extLst>
              <a:ext uri="{FF2B5EF4-FFF2-40B4-BE49-F238E27FC236}">
                <a16:creationId xmlns:a16="http://schemas.microsoft.com/office/drawing/2014/main" id="{8B98DE72-7318-9BF4-88B0-552DE03FA791}"/>
              </a:ext>
            </a:extLst>
          </p:cNvPr>
          <p:cNvCxnSpPr>
            <a:cxnSpLocks/>
            <a:stCxn id="22" idx="1"/>
            <a:endCxn id="83" idx="2"/>
          </p:cNvCxnSpPr>
          <p:nvPr/>
        </p:nvCxnSpPr>
        <p:spPr>
          <a:xfrm rot="10800000">
            <a:off x="3476788" y="2282743"/>
            <a:ext cx="103424" cy="147776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모서리가 둥근 직사각형 83">
            <a:extLst>
              <a:ext uri="{FF2B5EF4-FFF2-40B4-BE49-F238E27FC236}">
                <a16:creationId xmlns:a16="http://schemas.microsoft.com/office/drawing/2014/main" id="{F21E7618-094F-0680-56DE-93F241DE3734}"/>
              </a:ext>
            </a:extLst>
          </p:cNvPr>
          <p:cNvSpPr/>
          <p:nvPr/>
        </p:nvSpPr>
        <p:spPr>
          <a:xfrm>
            <a:off x="3580212" y="2549702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비밀번호 찾기</a:t>
            </a:r>
          </a:p>
        </p:txBody>
      </p:sp>
      <p:sp>
        <p:nvSpPr>
          <p:cNvPr id="30" name="모서리가 둥근 직사각형 83">
            <a:extLst>
              <a:ext uri="{FF2B5EF4-FFF2-40B4-BE49-F238E27FC236}">
                <a16:creationId xmlns:a16="http://schemas.microsoft.com/office/drawing/2014/main" id="{69F46221-6C97-4B2E-708F-CC9E97DD3547}"/>
              </a:ext>
            </a:extLst>
          </p:cNvPr>
          <p:cNvSpPr/>
          <p:nvPr/>
        </p:nvSpPr>
        <p:spPr>
          <a:xfrm>
            <a:off x="2511676" y="2344450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이용약관동의</a:t>
            </a:r>
          </a:p>
        </p:txBody>
      </p:sp>
      <p:cxnSp>
        <p:nvCxnSpPr>
          <p:cNvPr id="31" name="꺾인 연결선 111">
            <a:extLst>
              <a:ext uri="{FF2B5EF4-FFF2-40B4-BE49-F238E27FC236}">
                <a16:creationId xmlns:a16="http://schemas.microsoft.com/office/drawing/2014/main" id="{0AD55E6D-B5A9-5C8D-5E00-3CB784F7CA74}"/>
              </a:ext>
            </a:extLst>
          </p:cNvPr>
          <p:cNvCxnSpPr>
            <a:cxnSpLocks/>
            <a:stCxn id="30" idx="1"/>
            <a:endCxn id="82" idx="2"/>
          </p:cNvCxnSpPr>
          <p:nvPr/>
        </p:nvCxnSpPr>
        <p:spPr>
          <a:xfrm rot="10800000">
            <a:off x="2408252" y="2282743"/>
            <a:ext cx="103424" cy="147776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모서리가 둥근 직사각형 83">
            <a:extLst>
              <a:ext uri="{FF2B5EF4-FFF2-40B4-BE49-F238E27FC236}">
                <a16:creationId xmlns:a16="http://schemas.microsoft.com/office/drawing/2014/main" id="{4EFD5377-C79E-BF81-3A68-CFD38A4C88FE}"/>
              </a:ext>
            </a:extLst>
          </p:cNvPr>
          <p:cNvSpPr/>
          <p:nvPr/>
        </p:nvSpPr>
        <p:spPr>
          <a:xfrm>
            <a:off x="2511676" y="2549702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만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14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세 미만</a:t>
            </a:r>
          </a:p>
        </p:txBody>
      </p:sp>
      <p:sp>
        <p:nvSpPr>
          <p:cNvPr id="33" name="모서리가 둥근 직사각형 83">
            <a:extLst>
              <a:ext uri="{FF2B5EF4-FFF2-40B4-BE49-F238E27FC236}">
                <a16:creationId xmlns:a16="http://schemas.microsoft.com/office/drawing/2014/main" id="{5A3B1B57-2331-7D22-5E6B-A8A8A647A70D}"/>
              </a:ext>
            </a:extLst>
          </p:cNvPr>
          <p:cNvSpPr/>
          <p:nvPr/>
        </p:nvSpPr>
        <p:spPr>
          <a:xfrm>
            <a:off x="2511676" y="2751743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만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14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세 이상</a:t>
            </a:r>
          </a:p>
        </p:txBody>
      </p:sp>
      <p:sp>
        <p:nvSpPr>
          <p:cNvPr id="34" name="모서리가 둥근 직사각형 83">
            <a:extLst>
              <a:ext uri="{FF2B5EF4-FFF2-40B4-BE49-F238E27FC236}">
                <a16:creationId xmlns:a16="http://schemas.microsoft.com/office/drawing/2014/main" id="{8388D7C8-00F5-81BB-0B86-4807235E4F0F}"/>
              </a:ext>
            </a:extLst>
          </p:cNvPr>
          <p:cNvSpPr/>
          <p:nvPr/>
        </p:nvSpPr>
        <p:spPr>
          <a:xfrm>
            <a:off x="2511676" y="2953784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회원정보 작성</a:t>
            </a:r>
          </a:p>
        </p:txBody>
      </p:sp>
      <p:sp>
        <p:nvSpPr>
          <p:cNvPr id="35" name="모서리가 둥근 직사각형 83">
            <a:extLst>
              <a:ext uri="{FF2B5EF4-FFF2-40B4-BE49-F238E27FC236}">
                <a16:creationId xmlns:a16="http://schemas.microsoft.com/office/drawing/2014/main" id="{BBEF9BFD-D023-5D5E-96F3-B30E868F1588}"/>
              </a:ext>
            </a:extLst>
          </p:cNvPr>
          <p:cNvSpPr/>
          <p:nvPr/>
        </p:nvSpPr>
        <p:spPr>
          <a:xfrm>
            <a:off x="2511676" y="3155825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가입신청 완료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7" name="모서리가 둥근 직사각형 83">
            <a:extLst>
              <a:ext uri="{FF2B5EF4-FFF2-40B4-BE49-F238E27FC236}">
                <a16:creationId xmlns:a16="http://schemas.microsoft.com/office/drawing/2014/main" id="{2AF7E80B-C64D-D588-A623-80F881C2630D}"/>
              </a:ext>
            </a:extLst>
          </p:cNvPr>
          <p:cNvSpPr/>
          <p:nvPr/>
        </p:nvSpPr>
        <p:spPr>
          <a:xfrm>
            <a:off x="5162602" y="2574696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이상장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인사말</a:t>
            </a:r>
          </a:p>
        </p:txBody>
      </p:sp>
      <p:cxnSp>
        <p:nvCxnSpPr>
          <p:cNvPr id="38" name="꺾인 연결선 111">
            <a:extLst>
              <a:ext uri="{FF2B5EF4-FFF2-40B4-BE49-F238E27FC236}">
                <a16:creationId xmlns:a16="http://schemas.microsoft.com/office/drawing/2014/main" id="{DBC2A0F1-56AB-CBE0-6102-B053D63E53F2}"/>
              </a:ext>
            </a:extLst>
          </p:cNvPr>
          <p:cNvCxnSpPr>
            <a:cxnSpLocks/>
            <a:stCxn id="37" idx="1"/>
            <a:endCxn id="3" idx="2"/>
          </p:cNvCxnSpPr>
          <p:nvPr/>
        </p:nvCxnSpPr>
        <p:spPr>
          <a:xfrm rot="10800000">
            <a:off x="5049508" y="2516589"/>
            <a:ext cx="113095" cy="144177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모서리가 둥근 직사각형 83">
            <a:extLst>
              <a:ext uri="{FF2B5EF4-FFF2-40B4-BE49-F238E27FC236}">
                <a16:creationId xmlns:a16="http://schemas.microsoft.com/office/drawing/2014/main" id="{C72AAB59-5BB5-D485-2800-852879DA7D16}"/>
              </a:ext>
            </a:extLst>
          </p:cNvPr>
          <p:cNvSpPr/>
          <p:nvPr/>
        </p:nvSpPr>
        <p:spPr>
          <a:xfrm>
            <a:off x="5162602" y="2765866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연혁 및 소개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2" name="모서리가 둥근 직사각형 83">
            <a:extLst>
              <a:ext uri="{FF2B5EF4-FFF2-40B4-BE49-F238E27FC236}">
                <a16:creationId xmlns:a16="http://schemas.microsoft.com/office/drawing/2014/main" id="{49AC9C30-79F1-138D-161C-D6B7D3C0DEB9}"/>
              </a:ext>
            </a:extLst>
          </p:cNvPr>
          <p:cNvSpPr/>
          <p:nvPr/>
        </p:nvSpPr>
        <p:spPr>
          <a:xfrm>
            <a:off x="5162602" y="2964364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비전및핵심가치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3" name="모서리가 둥근 직사각형 83">
            <a:extLst>
              <a:ext uri="{FF2B5EF4-FFF2-40B4-BE49-F238E27FC236}">
                <a16:creationId xmlns:a16="http://schemas.microsoft.com/office/drawing/2014/main" id="{254FDB1A-DBB2-3E62-F405-0B7F7B0E79F9}"/>
              </a:ext>
            </a:extLst>
          </p:cNvPr>
          <p:cNvSpPr/>
          <p:nvPr/>
        </p:nvSpPr>
        <p:spPr>
          <a:xfrm>
            <a:off x="5162602" y="3163776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설립취지</a:t>
            </a:r>
          </a:p>
        </p:txBody>
      </p:sp>
      <p:cxnSp>
        <p:nvCxnSpPr>
          <p:cNvPr id="44" name="꺾인 연결선 111">
            <a:extLst>
              <a:ext uri="{FF2B5EF4-FFF2-40B4-BE49-F238E27FC236}">
                <a16:creationId xmlns:a16="http://schemas.microsoft.com/office/drawing/2014/main" id="{E8598AB6-25DE-35BB-D3BF-368255A026E9}"/>
              </a:ext>
            </a:extLst>
          </p:cNvPr>
          <p:cNvCxnSpPr>
            <a:cxnSpLocks/>
            <a:stCxn id="9" idx="1"/>
            <a:endCxn id="84" idx="2"/>
          </p:cNvCxnSpPr>
          <p:nvPr/>
        </p:nvCxnSpPr>
        <p:spPr>
          <a:xfrm rot="10800000">
            <a:off x="4520905" y="2282744"/>
            <a:ext cx="103425" cy="1187077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모서리가 둥근 직사각형 83">
            <a:extLst>
              <a:ext uri="{FF2B5EF4-FFF2-40B4-BE49-F238E27FC236}">
                <a16:creationId xmlns:a16="http://schemas.microsoft.com/office/drawing/2014/main" id="{F347DBDD-05DC-F45E-4EB8-E10DA3E3B6A3}"/>
              </a:ext>
            </a:extLst>
          </p:cNvPr>
          <p:cNvSpPr/>
          <p:nvPr/>
        </p:nvSpPr>
        <p:spPr>
          <a:xfrm>
            <a:off x="5162602" y="3608303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조직도</a:t>
            </a:r>
          </a:p>
        </p:txBody>
      </p:sp>
      <p:cxnSp>
        <p:nvCxnSpPr>
          <p:cNvPr id="48" name="꺾인 연결선 111">
            <a:extLst>
              <a:ext uri="{FF2B5EF4-FFF2-40B4-BE49-F238E27FC236}">
                <a16:creationId xmlns:a16="http://schemas.microsoft.com/office/drawing/2014/main" id="{C75EBD39-12CB-2691-4735-62CA7AE1D6FC}"/>
              </a:ext>
            </a:extLst>
          </p:cNvPr>
          <p:cNvCxnSpPr>
            <a:cxnSpLocks/>
            <a:stCxn id="47" idx="1"/>
            <a:endCxn id="9" idx="2"/>
          </p:cNvCxnSpPr>
          <p:nvPr/>
        </p:nvCxnSpPr>
        <p:spPr>
          <a:xfrm rot="10800000">
            <a:off x="5049508" y="3555890"/>
            <a:ext cx="113095" cy="138483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모서리가 둥근 직사각형 83">
            <a:extLst>
              <a:ext uri="{FF2B5EF4-FFF2-40B4-BE49-F238E27FC236}">
                <a16:creationId xmlns:a16="http://schemas.microsoft.com/office/drawing/2014/main" id="{6BFA6220-A9E3-C632-2A99-B15148E9B1D3}"/>
              </a:ext>
            </a:extLst>
          </p:cNvPr>
          <p:cNvSpPr/>
          <p:nvPr/>
        </p:nvSpPr>
        <p:spPr>
          <a:xfrm>
            <a:off x="5162602" y="3807424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담당업무</a:t>
            </a:r>
          </a:p>
        </p:txBody>
      </p:sp>
      <p:sp>
        <p:nvSpPr>
          <p:cNvPr id="51" name="모서리가 둥근 직사각형 83">
            <a:extLst>
              <a:ext uri="{FF2B5EF4-FFF2-40B4-BE49-F238E27FC236}">
                <a16:creationId xmlns:a16="http://schemas.microsoft.com/office/drawing/2014/main" id="{F32A935E-9A99-1265-31F6-6303826976EF}"/>
              </a:ext>
            </a:extLst>
          </p:cNvPr>
          <p:cNvSpPr/>
          <p:nvPr/>
        </p:nvSpPr>
        <p:spPr>
          <a:xfrm>
            <a:off x="5162602" y="3999507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임원현황</a:t>
            </a:r>
          </a:p>
        </p:txBody>
      </p:sp>
      <p:cxnSp>
        <p:nvCxnSpPr>
          <p:cNvPr id="52" name="꺾인 연결선 111">
            <a:extLst>
              <a:ext uri="{FF2B5EF4-FFF2-40B4-BE49-F238E27FC236}">
                <a16:creationId xmlns:a16="http://schemas.microsoft.com/office/drawing/2014/main" id="{525B40D7-4721-70B3-F911-4D2F26F5EFB6}"/>
              </a:ext>
            </a:extLst>
          </p:cNvPr>
          <p:cNvCxnSpPr>
            <a:cxnSpLocks/>
            <a:stCxn id="32" idx="1"/>
            <a:endCxn id="82" idx="2"/>
          </p:cNvCxnSpPr>
          <p:nvPr/>
        </p:nvCxnSpPr>
        <p:spPr>
          <a:xfrm rot="10800000">
            <a:off x="2408252" y="2282743"/>
            <a:ext cx="103424" cy="353028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꺾인 연결선 111">
            <a:extLst>
              <a:ext uri="{FF2B5EF4-FFF2-40B4-BE49-F238E27FC236}">
                <a16:creationId xmlns:a16="http://schemas.microsoft.com/office/drawing/2014/main" id="{1EE1A782-A743-B6B7-71CC-4D5F11844199}"/>
              </a:ext>
            </a:extLst>
          </p:cNvPr>
          <p:cNvCxnSpPr>
            <a:cxnSpLocks/>
            <a:stCxn id="33" idx="1"/>
            <a:endCxn id="82" idx="2"/>
          </p:cNvCxnSpPr>
          <p:nvPr/>
        </p:nvCxnSpPr>
        <p:spPr>
          <a:xfrm rot="10800000">
            <a:off x="2408252" y="2282744"/>
            <a:ext cx="103424" cy="555069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꺾인 연결선 111">
            <a:extLst>
              <a:ext uri="{FF2B5EF4-FFF2-40B4-BE49-F238E27FC236}">
                <a16:creationId xmlns:a16="http://schemas.microsoft.com/office/drawing/2014/main" id="{94E241BD-E809-67AA-1726-C7DC5CD84B77}"/>
              </a:ext>
            </a:extLst>
          </p:cNvPr>
          <p:cNvCxnSpPr>
            <a:cxnSpLocks/>
            <a:stCxn id="34" idx="1"/>
            <a:endCxn id="82" idx="2"/>
          </p:cNvCxnSpPr>
          <p:nvPr/>
        </p:nvCxnSpPr>
        <p:spPr>
          <a:xfrm rot="10800000">
            <a:off x="2408252" y="2282743"/>
            <a:ext cx="103424" cy="757110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꺾인 연결선 111">
            <a:extLst>
              <a:ext uri="{FF2B5EF4-FFF2-40B4-BE49-F238E27FC236}">
                <a16:creationId xmlns:a16="http://schemas.microsoft.com/office/drawing/2014/main" id="{95350DA6-F948-FE41-F974-8A9CE6B93DDB}"/>
              </a:ext>
            </a:extLst>
          </p:cNvPr>
          <p:cNvCxnSpPr>
            <a:cxnSpLocks/>
            <a:stCxn id="35" idx="1"/>
            <a:endCxn id="82" idx="2"/>
          </p:cNvCxnSpPr>
          <p:nvPr/>
        </p:nvCxnSpPr>
        <p:spPr>
          <a:xfrm rot="10800000">
            <a:off x="2408252" y="2282744"/>
            <a:ext cx="103424" cy="959151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꺾인 연결선 111">
            <a:extLst>
              <a:ext uri="{FF2B5EF4-FFF2-40B4-BE49-F238E27FC236}">
                <a16:creationId xmlns:a16="http://schemas.microsoft.com/office/drawing/2014/main" id="{D565B3F3-68DE-294B-C4F6-B1D975437F25}"/>
              </a:ext>
            </a:extLst>
          </p:cNvPr>
          <p:cNvCxnSpPr>
            <a:cxnSpLocks/>
            <a:stCxn id="24" idx="1"/>
            <a:endCxn id="83" idx="2"/>
          </p:cNvCxnSpPr>
          <p:nvPr/>
        </p:nvCxnSpPr>
        <p:spPr>
          <a:xfrm rot="10800000">
            <a:off x="3476788" y="2282743"/>
            <a:ext cx="103424" cy="353028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꺾인 연결선 111">
            <a:extLst>
              <a:ext uri="{FF2B5EF4-FFF2-40B4-BE49-F238E27FC236}">
                <a16:creationId xmlns:a16="http://schemas.microsoft.com/office/drawing/2014/main" id="{00EE7086-BFFA-F6B2-F436-BB7C4449478B}"/>
              </a:ext>
            </a:extLst>
          </p:cNvPr>
          <p:cNvCxnSpPr>
            <a:cxnSpLocks/>
            <a:stCxn id="11" idx="1"/>
            <a:endCxn id="84" idx="2"/>
          </p:cNvCxnSpPr>
          <p:nvPr/>
        </p:nvCxnSpPr>
        <p:spPr>
          <a:xfrm rot="10800000">
            <a:off x="4520905" y="2282743"/>
            <a:ext cx="103425" cy="2018042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꺾인 연결선 111">
            <a:extLst>
              <a:ext uri="{FF2B5EF4-FFF2-40B4-BE49-F238E27FC236}">
                <a16:creationId xmlns:a16="http://schemas.microsoft.com/office/drawing/2014/main" id="{5677EEC1-01F7-36DC-5811-CCBEF0301880}"/>
              </a:ext>
            </a:extLst>
          </p:cNvPr>
          <p:cNvCxnSpPr>
            <a:cxnSpLocks/>
            <a:stCxn id="12" idx="1"/>
            <a:endCxn id="84" idx="2"/>
          </p:cNvCxnSpPr>
          <p:nvPr/>
        </p:nvCxnSpPr>
        <p:spPr>
          <a:xfrm rot="10800000">
            <a:off x="4520905" y="2282744"/>
            <a:ext cx="103425" cy="2676869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꺾인 연결선 111">
            <a:extLst>
              <a:ext uri="{FF2B5EF4-FFF2-40B4-BE49-F238E27FC236}">
                <a16:creationId xmlns:a16="http://schemas.microsoft.com/office/drawing/2014/main" id="{A5E72A2E-6DA7-A541-9121-1820F604FB80}"/>
              </a:ext>
            </a:extLst>
          </p:cNvPr>
          <p:cNvCxnSpPr>
            <a:cxnSpLocks/>
            <a:stCxn id="13" idx="1"/>
            <a:endCxn id="84" idx="2"/>
          </p:cNvCxnSpPr>
          <p:nvPr/>
        </p:nvCxnSpPr>
        <p:spPr>
          <a:xfrm rot="10800000">
            <a:off x="4520905" y="2282743"/>
            <a:ext cx="103425" cy="3326832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모서리가 둥근 직사각형 83">
            <a:extLst>
              <a:ext uri="{FF2B5EF4-FFF2-40B4-BE49-F238E27FC236}">
                <a16:creationId xmlns:a16="http://schemas.microsoft.com/office/drawing/2014/main" id="{50120EF7-868B-E4DC-9AD2-63B63D123538}"/>
              </a:ext>
            </a:extLst>
          </p:cNvPr>
          <p:cNvSpPr/>
          <p:nvPr/>
        </p:nvSpPr>
        <p:spPr>
          <a:xfrm>
            <a:off x="5162602" y="4438789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장학사업</a:t>
            </a:r>
          </a:p>
        </p:txBody>
      </p:sp>
      <p:cxnSp>
        <p:nvCxnSpPr>
          <p:cNvPr id="80" name="꺾인 연결선 111">
            <a:extLst>
              <a:ext uri="{FF2B5EF4-FFF2-40B4-BE49-F238E27FC236}">
                <a16:creationId xmlns:a16="http://schemas.microsoft.com/office/drawing/2014/main" id="{7B5EB351-D93A-D328-296A-3654D1D64778}"/>
              </a:ext>
            </a:extLst>
          </p:cNvPr>
          <p:cNvCxnSpPr>
            <a:cxnSpLocks/>
            <a:stCxn id="79" idx="1"/>
            <a:endCxn id="11" idx="2"/>
          </p:cNvCxnSpPr>
          <p:nvPr/>
        </p:nvCxnSpPr>
        <p:spPr>
          <a:xfrm rot="10800000">
            <a:off x="5049508" y="4386854"/>
            <a:ext cx="113095" cy="138004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모서리가 둥근 직사각형 83">
            <a:extLst>
              <a:ext uri="{FF2B5EF4-FFF2-40B4-BE49-F238E27FC236}">
                <a16:creationId xmlns:a16="http://schemas.microsoft.com/office/drawing/2014/main" id="{6C1EEFFE-832B-ABDC-66D7-D3952754F8C0}"/>
              </a:ext>
            </a:extLst>
          </p:cNvPr>
          <p:cNvSpPr/>
          <p:nvPr/>
        </p:nvSpPr>
        <p:spPr>
          <a:xfrm>
            <a:off x="5162602" y="4637910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교육사업</a:t>
            </a:r>
          </a:p>
        </p:txBody>
      </p:sp>
      <p:sp>
        <p:nvSpPr>
          <p:cNvPr id="91" name="모서리가 둥근 직사각형 83">
            <a:extLst>
              <a:ext uri="{FF2B5EF4-FFF2-40B4-BE49-F238E27FC236}">
                <a16:creationId xmlns:a16="http://schemas.microsoft.com/office/drawing/2014/main" id="{29F4F63E-ED10-29C5-1EEA-BC0D07D60AD0}"/>
              </a:ext>
            </a:extLst>
          </p:cNvPr>
          <p:cNvSpPr/>
          <p:nvPr/>
        </p:nvSpPr>
        <p:spPr>
          <a:xfrm>
            <a:off x="5162602" y="5109176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오산교육재단</a:t>
            </a:r>
          </a:p>
        </p:txBody>
      </p:sp>
      <p:cxnSp>
        <p:nvCxnSpPr>
          <p:cNvPr id="96" name="꺾인 연결선 111">
            <a:extLst>
              <a:ext uri="{FF2B5EF4-FFF2-40B4-BE49-F238E27FC236}">
                <a16:creationId xmlns:a16="http://schemas.microsoft.com/office/drawing/2014/main" id="{C7B8E469-1E70-9B5A-F59F-48B6D85135BE}"/>
              </a:ext>
            </a:extLst>
          </p:cNvPr>
          <p:cNvCxnSpPr>
            <a:cxnSpLocks/>
            <a:stCxn id="91" idx="1"/>
            <a:endCxn id="12" idx="2"/>
          </p:cNvCxnSpPr>
          <p:nvPr/>
        </p:nvCxnSpPr>
        <p:spPr>
          <a:xfrm rot="10800000">
            <a:off x="5049508" y="5045681"/>
            <a:ext cx="113095" cy="149564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모서리가 둥근 직사각형 83">
            <a:extLst>
              <a:ext uri="{FF2B5EF4-FFF2-40B4-BE49-F238E27FC236}">
                <a16:creationId xmlns:a16="http://schemas.microsoft.com/office/drawing/2014/main" id="{5FCF6EF1-9DC5-801C-D7FA-B4C1DEA29804}"/>
              </a:ext>
            </a:extLst>
          </p:cNvPr>
          <p:cNvSpPr/>
          <p:nvPr/>
        </p:nvSpPr>
        <p:spPr>
          <a:xfrm>
            <a:off x="5162602" y="5308297"/>
            <a:ext cx="1188000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오산시진로진학상담센터</a:t>
            </a:r>
          </a:p>
        </p:txBody>
      </p:sp>
      <p:sp>
        <p:nvSpPr>
          <p:cNvPr id="100" name="모서리가 둥근 직사각형 83">
            <a:extLst>
              <a:ext uri="{FF2B5EF4-FFF2-40B4-BE49-F238E27FC236}">
                <a16:creationId xmlns:a16="http://schemas.microsoft.com/office/drawing/2014/main" id="{F2A980E0-E622-B1EC-8E7C-B80F5E46F8AF}"/>
              </a:ext>
            </a:extLst>
          </p:cNvPr>
          <p:cNvSpPr/>
          <p:nvPr/>
        </p:nvSpPr>
        <p:spPr>
          <a:xfrm>
            <a:off x="5162602" y="5747579"/>
            <a:ext cx="1028931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개인정보처리방침</a:t>
            </a:r>
          </a:p>
        </p:txBody>
      </p:sp>
      <p:cxnSp>
        <p:nvCxnSpPr>
          <p:cNvPr id="101" name="꺾인 연결선 111">
            <a:extLst>
              <a:ext uri="{FF2B5EF4-FFF2-40B4-BE49-F238E27FC236}">
                <a16:creationId xmlns:a16="http://schemas.microsoft.com/office/drawing/2014/main" id="{8955E71C-68EA-0A43-D30B-05B1BEE010EB}"/>
              </a:ext>
            </a:extLst>
          </p:cNvPr>
          <p:cNvCxnSpPr>
            <a:cxnSpLocks/>
            <a:stCxn id="100" idx="1"/>
            <a:endCxn id="13" idx="2"/>
          </p:cNvCxnSpPr>
          <p:nvPr/>
        </p:nvCxnSpPr>
        <p:spPr>
          <a:xfrm rot="10800000">
            <a:off x="5049508" y="5695644"/>
            <a:ext cx="113095" cy="138004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모서리가 둥근 직사각형 83">
            <a:extLst>
              <a:ext uri="{FF2B5EF4-FFF2-40B4-BE49-F238E27FC236}">
                <a16:creationId xmlns:a16="http://schemas.microsoft.com/office/drawing/2014/main" id="{4915AB0F-6514-3157-42E0-CD072F814681}"/>
              </a:ext>
            </a:extLst>
          </p:cNvPr>
          <p:cNvSpPr/>
          <p:nvPr/>
        </p:nvSpPr>
        <p:spPr>
          <a:xfrm>
            <a:off x="5162602" y="5946700"/>
            <a:ext cx="1028931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이메일무단수집거부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3" name="모서리가 둥근 직사각형 83">
            <a:extLst>
              <a:ext uri="{FF2B5EF4-FFF2-40B4-BE49-F238E27FC236}">
                <a16:creationId xmlns:a16="http://schemas.microsoft.com/office/drawing/2014/main" id="{04E4C69E-E272-488F-01CE-C3C85ED2E45B}"/>
              </a:ext>
            </a:extLst>
          </p:cNvPr>
          <p:cNvSpPr/>
          <p:nvPr/>
        </p:nvSpPr>
        <p:spPr>
          <a:xfrm>
            <a:off x="5162602" y="6138783"/>
            <a:ext cx="1028931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홈페이지운영지침</a:t>
            </a:r>
          </a:p>
        </p:txBody>
      </p:sp>
      <p:sp>
        <p:nvSpPr>
          <p:cNvPr id="113" name="모서리가 둥근 직사각형 83">
            <a:extLst>
              <a:ext uri="{FF2B5EF4-FFF2-40B4-BE49-F238E27FC236}">
                <a16:creationId xmlns:a16="http://schemas.microsoft.com/office/drawing/2014/main" id="{413B4E26-32D8-FC2C-0BE6-6640FAAFE4B4}"/>
              </a:ext>
            </a:extLst>
          </p:cNvPr>
          <p:cNvSpPr/>
          <p:nvPr/>
        </p:nvSpPr>
        <p:spPr>
          <a:xfrm>
            <a:off x="6539144" y="2344450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윤리경영</a:t>
            </a:r>
          </a:p>
        </p:txBody>
      </p:sp>
      <p:cxnSp>
        <p:nvCxnSpPr>
          <p:cNvPr id="114" name="꺾인 연결선 111">
            <a:extLst>
              <a:ext uri="{FF2B5EF4-FFF2-40B4-BE49-F238E27FC236}">
                <a16:creationId xmlns:a16="http://schemas.microsoft.com/office/drawing/2014/main" id="{E9993304-7A3F-563B-C989-982F6CFCFDBC}"/>
              </a:ext>
            </a:extLst>
          </p:cNvPr>
          <p:cNvCxnSpPr>
            <a:cxnSpLocks/>
            <a:stCxn id="113" idx="1"/>
            <a:endCxn id="85" idx="2"/>
          </p:cNvCxnSpPr>
          <p:nvPr/>
        </p:nvCxnSpPr>
        <p:spPr>
          <a:xfrm rot="10800000">
            <a:off x="6441278" y="2282743"/>
            <a:ext cx="97866" cy="147776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모서리가 둥근 직사각형 83">
            <a:extLst>
              <a:ext uri="{FF2B5EF4-FFF2-40B4-BE49-F238E27FC236}">
                <a16:creationId xmlns:a16="http://schemas.microsoft.com/office/drawing/2014/main" id="{8F956949-D441-C91F-24C5-EA5A11F9E241}"/>
              </a:ext>
            </a:extLst>
          </p:cNvPr>
          <p:cNvSpPr/>
          <p:nvPr/>
        </p:nvSpPr>
        <p:spPr>
          <a:xfrm>
            <a:off x="7077416" y="2574696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윤리헌장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19" name="꺾인 연결선 111">
            <a:extLst>
              <a:ext uri="{FF2B5EF4-FFF2-40B4-BE49-F238E27FC236}">
                <a16:creationId xmlns:a16="http://schemas.microsoft.com/office/drawing/2014/main" id="{DFEDBBF5-8ED6-C524-73AE-2EED0812A735}"/>
              </a:ext>
            </a:extLst>
          </p:cNvPr>
          <p:cNvCxnSpPr>
            <a:cxnSpLocks/>
            <a:stCxn id="118" idx="1"/>
            <a:endCxn id="113" idx="2"/>
          </p:cNvCxnSpPr>
          <p:nvPr/>
        </p:nvCxnSpPr>
        <p:spPr>
          <a:xfrm rot="10800000">
            <a:off x="6964322" y="2516589"/>
            <a:ext cx="113094" cy="144177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모서리가 둥근 직사각형 83">
            <a:extLst>
              <a:ext uri="{FF2B5EF4-FFF2-40B4-BE49-F238E27FC236}">
                <a16:creationId xmlns:a16="http://schemas.microsoft.com/office/drawing/2014/main" id="{D6ED765A-3F23-8F65-60B9-DF0811A41392}"/>
              </a:ext>
            </a:extLst>
          </p:cNvPr>
          <p:cNvSpPr/>
          <p:nvPr/>
        </p:nvSpPr>
        <p:spPr>
          <a:xfrm>
            <a:off x="7077416" y="2765866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행동강령</a:t>
            </a:r>
          </a:p>
        </p:txBody>
      </p:sp>
      <p:sp>
        <p:nvSpPr>
          <p:cNvPr id="121" name="모서리가 둥근 직사각형 83">
            <a:extLst>
              <a:ext uri="{FF2B5EF4-FFF2-40B4-BE49-F238E27FC236}">
                <a16:creationId xmlns:a16="http://schemas.microsoft.com/office/drawing/2014/main" id="{0E4BAFCF-A5DF-3161-EEEE-EB9E155A923E}"/>
              </a:ext>
            </a:extLst>
          </p:cNvPr>
          <p:cNvSpPr/>
          <p:nvPr/>
        </p:nvSpPr>
        <p:spPr>
          <a:xfrm>
            <a:off x="7077416" y="2964364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재단규정집</a:t>
            </a:r>
          </a:p>
        </p:txBody>
      </p:sp>
      <p:sp>
        <p:nvSpPr>
          <p:cNvPr id="123" name="모서리가 둥근 직사각형 83">
            <a:extLst>
              <a:ext uri="{FF2B5EF4-FFF2-40B4-BE49-F238E27FC236}">
                <a16:creationId xmlns:a16="http://schemas.microsoft.com/office/drawing/2014/main" id="{33A95D41-0E05-BC69-3A3D-DB1288757225}"/>
              </a:ext>
            </a:extLst>
          </p:cNvPr>
          <p:cNvSpPr/>
          <p:nvPr/>
        </p:nvSpPr>
        <p:spPr>
          <a:xfrm>
            <a:off x="6539144" y="3179034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경영공시</a:t>
            </a:r>
          </a:p>
        </p:txBody>
      </p:sp>
      <p:cxnSp>
        <p:nvCxnSpPr>
          <p:cNvPr id="124" name="꺾인 연결선 111">
            <a:extLst>
              <a:ext uri="{FF2B5EF4-FFF2-40B4-BE49-F238E27FC236}">
                <a16:creationId xmlns:a16="http://schemas.microsoft.com/office/drawing/2014/main" id="{7C493631-A755-58D2-E6BC-A093455CB3CB}"/>
              </a:ext>
            </a:extLst>
          </p:cNvPr>
          <p:cNvCxnSpPr>
            <a:cxnSpLocks/>
            <a:stCxn id="123" idx="1"/>
            <a:endCxn id="85" idx="2"/>
          </p:cNvCxnSpPr>
          <p:nvPr/>
        </p:nvCxnSpPr>
        <p:spPr>
          <a:xfrm rot="10800000">
            <a:off x="6441278" y="2282743"/>
            <a:ext cx="97866" cy="982360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모서리가 둥근 직사각형 83">
            <a:extLst>
              <a:ext uri="{FF2B5EF4-FFF2-40B4-BE49-F238E27FC236}">
                <a16:creationId xmlns:a16="http://schemas.microsoft.com/office/drawing/2014/main" id="{78E56597-BF3A-43EE-E8DC-7E5F773400B6}"/>
              </a:ext>
            </a:extLst>
          </p:cNvPr>
          <p:cNvSpPr/>
          <p:nvPr/>
        </p:nvSpPr>
        <p:spPr>
          <a:xfrm>
            <a:off x="7077416" y="3409280"/>
            <a:ext cx="936000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경영계획및예산서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26" name="꺾인 연결선 111">
            <a:extLst>
              <a:ext uri="{FF2B5EF4-FFF2-40B4-BE49-F238E27FC236}">
                <a16:creationId xmlns:a16="http://schemas.microsoft.com/office/drawing/2014/main" id="{59F40F26-ED7E-A326-D29B-A486A793B0C0}"/>
              </a:ext>
            </a:extLst>
          </p:cNvPr>
          <p:cNvCxnSpPr>
            <a:cxnSpLocks/>
            <a:stCxn id="125" idx="1"/>
            <a:endCxn id="123" idx="2"/>
          </p:cNvCxnSpPr>
          <p:nvPr/>
        </p:nvCxnSpPr>
        <p:spPr>
          <a:xfrm rot="10800000">
            <a:off x="6964322" y="3351173"/>
            <a:ext cx="113094" cy="144177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모서리가 둥근 직사각형 83">
            <a:extLst>
              <a:ext uri="{FF2B5EF4-FFF2-40B4-BE49-F238E27FC236}">
                <a16:creationId xmlns:a16="http://schemas.microsoft.com/office/drawing/2014/main" id="{96FE0E3A-BD2B-D21F-112F-127566CD7446}"/>
              </a:ext>
            </a:extLst>
          </p:cNvPr>
          <p:cNvSpPr/>
          <p:nvPr/>
        </p:nvSpPr>
        <p:spPr>
          <a:xfrm>
            <a:off x="7077416" y="3600450"/>
            <a:ext cx="1620000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경영평가 결과 및 성과계약 달성도</a:t>
            </a:r>
          </a:p>
        </p:txBody>
      </p:sp>
      <p:sp>
        <p:nvSpPr>
          <p:cNvPr id="128" name="모서리가 둥근 직사각형 83">
            <a:extLst>
              <a:ext uri="{FF2B5EF4-FFF2-40B4-BE49-F238E27FC236}">
                <a16:creationId xmlns:a16="http://schemas.microsoft.com/office/drawing/2014/main" id="{1E974D06-9FE5-1B25-374C-E1C4F9802327}"/>
              </a:ext>
            </a:extLst>
          </p:cNvPr>
          <p:cNvSpPr/>
          <p:nvPr/>
        </p:nvSpPr>
        <p:spPr>
          <a:xfrm>
            <a:off x="7077416" y="3798948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감사결과</a:t>
            </a:r>
          </a:p>
        </p:txBody>
      </p:sp>
      <p:sp>
        <p:nvSpPr>
          <p:cNvPr id="130" name="모서리가 둥근 직사각형 83">
            <a:extLst>
              <a:ext uri="{FF2B5EF4-FFF2-40B4-BE49-F238E27FC236}">
                <a16:creationId xmlns:a16="http://schemas.microsoft.com/office/drawing/2014/main" id="{EBBB4298-B966-E33F-0BDF-04D68F985A9F}"/>
              </a:ext>
            </a:extLst>
          </p:cNvPr>
          <p:cNvSpPr/>
          <p:nvPr/>
        </p:nvSpPr>
        <p:spPr>
          <a:xfrm>
            <a:off x="7077416" y="3998851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결산서</a:t>
            </a:r>
          </a:p>
        </p:txBody>
      </p:sp>
      <p:sp>
        <p:nvSpPr>
          <p:cNvPr id="131" name="모서리가 둥근 직사각형 83">
            <a:extLst>
              <a:ext uri="{FF2B5EF4-FFF2-40B4-BE49-F238E27FC236}">
                <a16:creationId xmlns:a16="http://schemas.microsoft.com/office/drawing/2014/main" id="{47462B9D-FE88-4F0B-44AD-8E29C1E39D3C}"/>
              </a:ext>
            </a:extLst>
          </p:cNvPr>
          <p:cNvSpPr/>
          <p:nvPr/>
        </p:nvSpPr>
        <p:spPr>
          <a:xfrm>
            <a:off x="7077416" y="4206765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인력현황</a:t>
            </a:r>
          </a:p>
        </p:txBody>
      </p:sp>
      <p:sp>
        <p:nvSpPr>
          <p:cNvPr id="132" name="모서리가 둥근 직사각형 83">
            <a:extLst>
              <a:ext uri="{FF2B5EF4-FFF2-40B4-BE49-F238E27FC236}">
                <a16:creationId xmlns:a16="http://schemas.microsoft.com/office/drawing/2014/main" id="{75833101-F7C3-7DBA-A314-0821642479C2}"/>
              </a:ext>
            </a:extLst>
          </p:cNvPr>
          <p:cNvSpPr/>
          <p:nvPr/>
        </p:nvSpPr>
        <p:spPr>
          <a:xfrm>
            <a:off x="7077416" y="4404461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인건비현황</a:t>
            </a:r>
          </a:p>
        </p:txBody>
      </p:sp>
      <p:sp>
        <p:nvSpPr>
          <p:cNvPr id="133" name="모서리가 둥근 직사각형 83">
            <a:extLst>
              <a:ext uri="{FF2B5EF4-FFF2-40B4-BE49-F238E27FC236}">
                <a16:creationId xmlns:a16="http://schemas.microsoft.com/office/drawing/2014/main" id="{2E4A4F23-5126-5DCE-5BE7-B0398C6C81C5}"/>
              </a:ext>
            </a:extLst>
          </p:cNvPr>
          <p:cNvSpPr/>
          <p:nvPr/>
        </p:nvSpPr>
        <p:spPr>
          <a:xfrm>
            <a:off x="7077416" y="4602157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재무현황</a:t>
            </a:r>
          </a:p>
        </p:txBody>
      </p:sp>
      <p:sp>
        <p:nvSpPr>
          <p:cNvPr id="134" name="모서리가 둥근 직사각형 83">
            <a:extLst>
              <a:ext uri="{FF2B5EF4-FFF2-40B4-BE49-F238E27FC236}">
                <a16:creationId xmlns:a16="http://schemas.microsoft.com/office/drawing/2014/main" id="{00AE515F-55E3-C663-50BA-F8A328F5EBDE}"/>
              </a:ext>
            </a:extLst>
          </p:cNvPr>
          <p:cNvSpPr/>
          <p:nvPr/>
        </p:nvSpPr>
        <p:spPr>
          <a:xfrm>
            <a:off x="7077416" y="4793710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기본재산현황</a:t>
            </a:r>
          </a:p>
        </p:txBody>
      </p:sp>
      <p:sp>
        <p:nvSpPr>
          <p:cNvPr id="135" name="모서리가 둥근 직사각형 83">
            <a:extLst>
              <a:ext uri="{FF2B5EF4-FFF2-40B4-BE49-F238E27FC236}">
                <a16:creationId xmlns:a16="http://schemas.microsoft.com/office/drawing/2014/main" id="{9841BEB9-D1B4-C2E2-5D0B-441960B3BCEC}"/>
              </a:ext>
            </a:extLst>
          </p:cNvPr>
          <p:cNvSpPr/>
          <p:nvPr/>
        </p:nvSpPr>
        <p:spPr>
          <a:xfrm>
            <a:off x="6539144" y="5028079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기타공시</a:t>
            </a:r>
          </a:p>
        </p:txBody>
      </p:sp>
      <p:cxnSp>
        <p:nvCxnSpPr>
          <p:cNvPr id="136" name="꺾인 연결선 111">
            <a:extLst>
              <a:ext uri="{FF2B5EF4-FFF2-40B4-BE49-F238E27FC236}">
                <a16:creationId xmlns:a16="http://schemas.microsoft.com/office/drawing/2014/main" id="{FE7B4AF4-A247-3CA5-60A3-F81484E55AB0}"/>
              </a:ext>
            </a:extLst>
          </p:cNvPr>
          <p:cNvCxnSpPr>
            <a:cxnSpLocks/>
            <a:stCxn id="135" idx="1"/>
            <a:endCxn id="85" idx="2"/>
          </p:cNvCxnSpPr>
          <p:nvPr/>
        </p:nvCxnSpPr>
        <p:spPr>
          <a:xfrm rot="10800000">
            <a:off x="6441278" y="2282744"/>
            <a:ext cx="97866" cy="2831405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모서리가 둥근 직사각형 83">
            <a:extLst>
              <a:ext uri="{FF2B5EF4-FFF2-40B4-BE49-F238E27FC236}">
                <a16:creationId xmlns:a16="http://schemas.microsoft.com/office/drawing/2014/main" id="{EED8CEAF-ADEC-992C-2CAC-126BE3A19591}"/>
              </a:ext>
            </a:extLst>
          </p:cNvPr>
          <p:cNvSpPr/>
          <p:nvPr/>
        </p:nvSpPr>
        <p:spPr>
          <a:xfrm>
            <a:off x="7077416" y="5258325"/>
            <a:ext cx="1260000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복리후생비 및 업무추진비</a:t>
            </a:r>
          </a:p>
        </p:txBody>
      </p:sp>
      <p:cxnSp>
        <p:nvCxnSpPr>
          <p:cNvPr id="138" name="꺾인 연결선 111">
            <a:extLst>
              <a:ext uri="{FF2B5EF4-FFF2-40B4-BE49-F238E27FC236}">
                <a16:creationId xmlns:a16="http://schemas.microsoft.com/office/drawing/2014/main" id="{B4C32A8F-BEBD-3D94-F29E-8A45D76E5D9F}"/>
              </a:ext>
            </a:extLst>
          </p:cNvPr>
          <p:cNvCxnSpPr>
            <a:cxnSpLocks/>
            <a:stCxn id="137" idx="1"/>
            <a:endCxn id="135" idx="2"/>
          </p:cNvCxnSpPr>
          <p:nvPr/>
        </p:nvCxnSpPr>
        <p:spPr>
          <a:xfrm rot="10800000">
            <a:off x="6964322" y="5200218"/>
            <a:ext cx="113094" cy="144177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모서리가 둥근 직사각형 83">
            <a:extLst>
              <a:ext uri="{FF2B5EF4-FFF2-40B4-BE49-F238E27FC236}">
                <a16:creationId xmlns:a16="http://schemas.microsoft.com/office/drawing/2014/main" id="{5D195209-38E0-D767-BBDD-33812C95D645}"/>
              </a:ext>
            </a:extLst>
          </p:cNvPr>
          <p:cNvSpPr/>
          <p:nvPr/>
        </p:nvSpPr>
        <p:spPr>
          <a:xfrm>
            <a:off x="7077416" y="5449495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입찰 및 수의계약</a:t>
            </a:r>
          </a:p>
        </p:txBody>
      </p:sp>
      <p:sp>
        <p:nvSpPr>
          <p:cNvPr id="141" name="모서리가 둥근 직사각형 83">
            <a:extLst>
              <a:ext uri="{FF2B5EF4-FFF2-40B4-BE49-F238E27FC236}">
                <a16:creationId xmlns:a16="http://schemas.microsoft.com/office/drawing/2014/main" id="{5E689CB4-ACED-096D-71C8-FBCED0257015}"/>
              </a:ext>
            </a:extLst>
          </p:cNvPr>
          <p:cNvSpPr/>
          <p:nvPr/>
        </p:nvSpPr>
        <p:spPr>
          <a:xfrm>
            <a:off x="7077416" y="5647993"/>
            <a:ext cx="1008000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친인척채용인원 공개</a:t>
            </a:r>
          </a:p>
        </p:txBody>
      </p:sp>
      <p:sp>
        <p:nvSpPr>
          <p:cNvPr id="148" name="모서리가 둥근 직사각형 83">
            <a:extLst>
              <a:ext uri="{FF2B5EF4-FFF2-40B4-BE49-F238E27FC236}">
                <a16:creationId xmlns:a16="http://schemas.microsoft.com/office/drawing/2014/main" id="{02A1A2EE-32E7-3990-7F92-87457014BCD0}"/>
              </a:ext>
            </a:extLst>
          </p:cNvPr>
          <p:cNvSpPr/>
          <p:nvPr/>
        </p:nvSpPr>
        <p:spPr>
          <a:xfrm>
            <a:off x="7077416" y="5862844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인권경영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9" name="모서리가 둥근 직사각형 83">
            <a:extLst>
              <a:ext uri="{FF2B5EF4-FFF2-40B4-BE49-F238E27FC236}">
                <a16:creationId xmlns:a16="http://schemas.microsoft.com/office/drawing/2014/main" id="{DEA42532-CFA3-1E33-BFD3-322E8B4FD591}"/>
              </a:ext>
            </a:extLst>
          </p:cNvPr>
          <p:cNvSpPr/>
          <p:nvPr/>
        </p:nvSpPr>
        <p:spPr>
          <a:xfrm>
            <a:off x="7077416" y="6077394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기타</a:t>
            </a:r>
          </a:p>
        </p:txBody>
      </p:sp>
      <p:sp>
        <p:nvSpPr>
          <p:cNvPr id="153" name="모서리가 둥근 직사각형 83">
            <a:extLst>
              <a:ext uri="{FF2B5EF4-FFF2-40B4-BE49-F238E27FC236}">
                <a16:creationId xmlns:a16="http://schemas.microsoft.com/office/drawing/2014/main" id="{8D6E2C33-D4C4-96DF-A58A-776919F9AD92}"/>
              </a:ext>
            </a:extLst>
          </p:cNvPr>
          <p:cNvSpPr/>
          <p:nvPr/>
        </p:nvSpPr>
        <p:spPr>
          <a:xfrm>
            <a:off x="6539144" y="6332572"/>
            <a:ext cx="638885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비공개기준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54" name="꺾인 연결선 111">
            <a:extLst>
              <a:ext uri="{FF2B5EF4-FFF2-40B4-BE49-F238E27FC236}">
                <a16:creationId xmlns:a16="http://schemas.microsoft.com/office/drawing/2014/main" id="{05DE6A99-5F58-5C32-1E74-D67C514CEEBC}"/>
              </a:ext>
            </a:extLst>
          </p:cNvPr>
          <p:cNvCxnSpPr>
            <a:cxnSpLocks/>
            <a:stCxn id="153" idx="1"/>
            <a:endCxn id="85" idx="2"/>
          </p:cNvCxnSpPr>
          <p:nvPr/>
        </p:nvCxnSpPr>
        <p:spPr>
          <a:xfrm rot="10800000">
            <a:off x="6441278" y="2282743"/>
            <a:ext cx="97866" cy="4135898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모서리가 둥근 직사각형 83">
            <a:extLst>
              <a:ext uri="{FF2B5EF4-FFF2-40B4-BE49-F238E27FC236}">
                <a16:creationId xmlns:a16="http://schemas.microsoft.com/office/drawing/2014/main" id="{B7BB25F9-ABE0-9CA4-4F0E-154790BC52A3}"/>
              </a:ext>
            </a:extLst>
          </p:cNvPr>
          <p:cNvSpPr/>
          <p:nvPr/>
        </p:nvSpPr>
        <p:spPr>
          <a:xfrm>
            <a:off x="7207004" y="6332572"/>
            <a:ext cx="638885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통합공시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8" name="모서리가 둥근 직사각형 83">
            <a:extLst>
              <a:ext uri="{FF2B5EF4-FFF2-40B4-BE49-F238E27FC236}">
                <a16:creationId xmlns:a16="http://schemas.microsoft.com/office/drawing/2014/main" id="{DE2F36DF-7A6E-F2C3-6043-BEF27AE22E97}"/>
              </a:ext>
            </a:extLst>
          </p:cNvPr>
          <p:cNvSpPr/>
          <p:nvPr/>
        </p:nvSpPr>
        <p:spPr>
          <a:xfrm>
            <a:off x="7871600" y="6332572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정보공개시스템</a:t>
            </a:r>
          </a:p>
        </p:txBody>
      </p:sp>
      <p:sp>
        <p:nvSpPr>
          <p:cNvPr id="159" name="모서리가 둥근 직사각형 83">
            <a:extLst>
              <a:ext uri="{FF2B5EF4-FFF2-40B4-BE49-F238E27FC236}">
                <a16:creationId xmlns:a16="http://schemas.microsoft.com/office/drawing/2014/main" id="{6010266C-54CB-103A-E43E-0BF61BDC0882}"/>
              </a:ext>
            </a:extLst>
          </p:cNvPr>
          <p:cNvSpPr/>
          <p:nvPr/>
        </p:nvSpPr>
        <p:spPr>
          <a:xfrm>
            <a:off x="8752679" y="6332572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클린신고센터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4" name="모서리가 둥근 직사각형 84">
            <a:extLst>
              <a:ext uri="{FF2B5EF4-FFF2-40B4-BE49-F238E27FC236}">
                <a16:creationId xmlns:a16="http://schemas.microsoft.com/office/drawing/2014/main" id="{F01CFABE-8E2D-7956-80DE-7EDD03D621FB}"/>
              </a:ext>
            </a:extLst>
          </p:cNvPr>
          <p:cNvSpPr/>
          <p:nvPr/>
        </p:nvSpPr>
        <p:spPr>
          <a:xfrm>
            <a:off x="6981569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재단소식</a:t>
            </a:r>
          </a:p>
        </p:txBody>
      </p:sp>
      <p:cxnSp>
        <p:nvCxnSpPr>
          <p:cNvPr id="165" name="꺾인 연결선 111">
            <a:extLst>
              <a:ext uri="{FF2B5EF4-FFF2-40B4-BE49-F238E27FC236}">
                <a16:creationId xmlns:a16="http://schemas.microsoft.com/office/drawing/2014/main" id="{AA8B90FC-82BB-7060-E3C8-408FCE3DD0D9}"/>
              </a:ext>
            </a:extLst>
          </p:cNvPr>
          <p:cNvCxnSpPr>
            <a:cxnSpLocks/>
            <a:stCxn id="164" idx="0"/>
            <a:endCxn id="75" idx="2"/>
          </p:cNvCxnSpPr>
          <p:nvPr/>
        </p:nvCxnSpPr>
        <p:spPr>
          <a:xfrm rot="16200000" flipV="1">
            <a:off x="6050322" y="730144"/>
            <a:ext cx="343487" cy="2383008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7141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1544E-6F62-9875-3406-9DE85A7A3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Group 1091">
            <a:extLst>
              <a:ext uri="{FF2B5EF4-FFF2-40B4-BE49-F238E27FC236}">
                <a16:creationId xmlns:a16="http://schemas.microsoft.com/office/drawing/2014/main" id="{72D2C25A-7B32-8925-1FED-02A7A5CA52A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87006708"/>
              </p:ext>
            </p:extLst>
          </p:nvPr>
        </p:nvGraphicFramePr>
        <p:xfrm>
          <a:off x="165100" y="1175295"/>
          <a:ext cx="9575800" cy="237482"/>
        </p:xfrm>
        <a:graphic>
          <a:graphicData uri="http://schemas.openxmlformats.org/drawingml/2006/table">
            <a:tbl>
              <a:tblPr/>
              <a:tblGrid>
                <a:gridCol w="957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9436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홈페이지 메뉴 구조</a:t>
                      </a: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5" name="모서리가 둥근 직사각형 74">
            <a:extLst>
              <a:ext uri="{FF2B5EF4-FFF2-40B4-BE49-F238E27FC236}">
                <a16:creationId xmlns:a16="http://schemas.microsoft.com/office/drawing/2014/main" id="{9A0CA255-B742-1975-D9BE-AD27BCB81D5B}"/>
              </a:ext>
            </a:extLst>
          </p:cNvPr>
          <p:cNvSpPr/>
          <p:nvPr/>
        </p:nvSpPr>
        <p:spPr>
          <a:xfrm>
            <a:off x="4064743" y="1520788"/>
            <a:ext cx="1931636" cy="229116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tx1">
                <a:lumMod val="95000"/>
                <a:lumOff val="5000"/>
              </a:schemeClr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오산교육재단 홈페이지</a:t>
            </a:r>
          </a:p>
        </p:txBody>
      </p:sp>
      <p:sp>
        <p:nvSpPr>
          <p:cNvPr id="76" name="모서리가 둥근 직사각형 75">
            <a:extLst>
              <a:ext uri="{FF2B5EF4-FFF2-40B4-BE49-F238E27FC236}">
                <a16:creationId xmlns:a16="http://schemas.microsoft.com/office/drawing/2014/main" id="{017EBBED-B5DA-4728-C030-809B009C6D25}"/>
              </a:ext>
            </a:extLst>
          </p:cNvPr>
          <p:cNvSpPr/>
          <p:nvPr/>
        </p:nvSpPr>
        <p:spPr>
          <a:xfrm>
            <a:off x="164468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</a:t>
            </a:r>
          </a:p>
        </p:txBody>
      </p:sp>
      <p:sp>
        <p:nvSpPr>
          <p:cNvPr id="81" name="모서리가 둥근 직사각형 80">
            <a:extLst>
              <a:ext uri="{FF2B5EF4-FFF2-40B4-BE49-F238E27FC236}">
                <a16:creationId xmlns:a16="http://schemas.microsoft.com/office/drawing/2014/main" id="{4A491572-9D15-0CC5-090C-F38932B08A42}"/>
              </a:ext>
            </a:extLst>
          </p:cNvPr>
          <p:cNvSpPr/>
          <p:nvPr/>
        </p:nvSpPr>
        <p:spPr>
          <a:xfrm>
            <a:off x="1068205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로그인</a:t>
            </a:r>
          </a:p>
        </p:txBody>
      </p:sp>
      <p:sp>
        <p:nvSpPr>
          <p:cNvPr id="82" name="모서리가 둥근 직사각형 81">
            <a:extLst>
              <a:ext uri="{FF2B5EF4-FFF2-40B4-BE49-F238E27FC236}">
                <a16:creationId xmlns:a16="http://schemas.microsoft.com/office/drawing/2014/main" id="{480A9C06-EB14-CC9E-BBC9-60DF79819835}"/>
              </a:ext>
            </a:extLst>
          </p:cNvPr>
          <p:cNvSpPr/>
          <p:nvPr/>
        </p:nvSpPr>
        <p:spPr>
          <a:xfrm>
            <a:off x="1976252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회원가입</a:t>
            </a:r>
          </a:p>
        </p:txBody>
      </p:sp>
      <p:sp>
        <p:nvSpPr>
          <p:cNvPr id="83" name="모서리가 둥근 직사각형 82">
            <a:extLst>
              <a:ext uri="{FF2B5EF4-FFF2-40B4-BE49-F238E27FC236}">
                <a16:creationId xmlns:a16="http://schemas.microsoft.com/office/drawing/2014/main" id="{E0A5265F-A51F-1726-EAC7-7A6513E32EE7}"/>
              </a:ext>
            </a:extLst>
          </p:cNvPr>
          <p:cNvSpPr/>
          <p:nvPr/>
        </p:nvSpPr>
        <p:spPr>
          <a:xfrm>
            <a:off x="2919280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ID/PW</a:t>
            </a:r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찾기</a:t>
            </a:r>
          </a:p>
        </p:txBody>
      </p:sp>
      <p:sp>
        <p:nvSpPr>
          <p:cNvPr id="84" name="모서리가 둥근 직사각형 83">
            <a:extLst>
              <a:ext uri="{FF2B5EF4-FFF2-40B4-BE49-F238E27FC236}">
                <a16:creationId xmlns:a16="http://schemas.microsoft.com/office/drawing/2014/main" id="{2C6F652E-DA0A-64DC-8088-D03B6678B08E}"/>
              </a:ext>
            </a:extLst>
          </p:cNvPr>
          <p:cNvSpPr/>
          <p:nvPr/>
        </p:nvSpPr>
        <p:spPr>
          <a:xfrm>
            <a:off x="3859353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재단소개</a:t>
            </a:r>
          </a:p>
        </p:txBody>
      </p:sp>
      <p:sp>
        <p:nvSpPr>
          <p:cNvPr id="85" name="모서리가 둥근 직사각형 84">
            <a:extLst>
              <a:ext uri="{FF2B5EF4-FFF2-40B4-BE49-F238E27FC236}">
                <a16:creationId xmlns:a16="http://schemas.microsoft.com/office/drawing/2014/main" id="{B959220C-1EF3-9BC1-C84E-0FB47D74D28F}"/>
              </a:ext>
            </a:extLst>
          </p:cNvPr>
          <p:cNvSpPr/>
          <p:nvPr/>
        </p:nvSpPr>
        <p:spPr>
          <a:xfrm>
            <a:off x="4772461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열린경영</a:t>
            </a:r>
            <a:endParaRPr lang="ko-KR" altLang="en-US" sz="8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5" name="모서리가 둥근 직사각형 94">
            <a:extLst>
              <a:ext uri="{FF2B5EF4-FFF2-40B4-BE49-F238E27FC236}">
                <a16:creationId xmlns:a16="http://schemas.microsoft.com/office/drawing/2014/main" id="{3A6E6E07-C73F-6C0D-4A8F-F609C74231A3}"/>
              </a:ext>
            </a:extLst>
          </p:cNvPr>
          <p:cNvSpPr/>
          <p:nvPr/>
        </p:nvSpPr>
        <p:spPr>
          <a:xfrm>
            <a:off x="7905328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마이페이지</a:t>
            </a:r>
          </a:p>
        </p:txBody>
      </p:sp>
      <p:cxnSp>
        <p:nvCxnSpPr>
          <p:cNvPr id="104" name="꺾인 연결선 103">
            <a:extLst>
              <a:ext uri="{FF2B5EF4-FFF2-40B4-BE49-F238E27FC236}">
                <a16:creationId xmlns:a16="http://schemas.microsoft.com/office/drawing/2014/main" id="{34E9835C-EEB8-DEDD-F99A-7C53B39CF777}"/>
              </a:ext>
            </a:extLst>
          </p:cNvPr>
          <p:cNvCxnSpPr>
            <a:stCxn id="76" idx="0"/>
            <a:endCxn id="75" idx="2"/>
          </p:cNvCxnSpPr>
          <p:nvPr/>
        </p:nvCxnSpPr>
        <p:spPr>
          <a:xfrm rot="5400000" flipH="1" flipV="1">
            <a:off x="2641771" y="-295398"/>
            <a:ext cx="343487" cy="4434093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꺾인 연결선 105">
            <a:extLst>
              <a:ext uri="{FF2B5EF4-FFF2-40B4-BE49-F238E27FC236}">
                <a16:creationId xmlns:a16="http://schemas.microsoft.com/office/drawing/2014/main" id="{83557852-316D-2DD1-21BF-2B0ED83FB7BC}"/>
              </a:ext>
            </a:extLst>
          </p:cNvPr>
          <p:cNvCxnSpPr>
            <a:stCxn id="81" idx="0"/>
            <a:endCxn id="75" idx="2"/>
          </p:cNvCxnSpPr>
          <p:nvPr/>
        </p:nvCxnSpPr>
        <p:spPr>
          <a:xfrm rot="5400000" flipH="1" flipV="1">
            <a:off x="3093640" y="156470"/>
            <a:ext cx="343487" cy="3530356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꺾인 연결선 106">
            <a:extLst>
              <a:ext uri="{FF2B5EF4-FFF2-40B4-BE49-F238E27FC236}">
                <a16:creationId xmlns:a16="http://schemas.microsoft.com/office/drawing/2014/main" id="{9BDF283E-3A94-35FF-89EC-F4F9B8BD35DA}"/>
              </a:ext>
            </a:extLst>
          </p:cNvPr>
          <p:cNvCxnSpPr>
            <a:stCxn id="82" idx="0"/>
            <a:endCxn id="75" idx="2"/>
          </p:cNvCxnSpPr>
          <p:nvPr/>
        </p:nvCxnSpPr>
        <p:spPr>
          <a:xfrm rot="5400000" flipH="1" flipV="1">
            <a:off x="3547663" y="610494"/>
            <a:ext cx="343487" cy="2622309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꺾인 연결선 108">
            <a:extLst>
              <a:ext uri="{FF2B5EF4-FFF2-40B4-BE49-F238E27FC236}">
                <a16:creationId xmlns:a16="http://schemas.microsoft.com/office/drawing/2014/main" id="{6D67D85C-0E51-21F4-9742-E7600F9C7048}"/>
              </a:ext>
            </a:extLst>
          </p:cNvPr>
          <p:cNvCxnSpPr>
            <a:cxnSpLocks/>
            <a:stCxn id="83" idx="0"/>
            <a:endCxn id="75" idx="2"/>
          </p:cNvCxnSpPr>
          <p:nvPr/>
        </p:nvCxnSpPr>
        <p:spPr>
          <a:xfrm rot="5400000" flipH="1" flipV="1">
            <a:off x="4019177" y="1082008"/>
            <a:ext cx="343487" cy="1679281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꺾인 연결선 109">
            <a:extLst>
              <a:ext uri="{FF2B5EF4-FFF2-40B4-BE49-F238E27FC236}">
                <a16:creationId xmlns:a16="http://schemas.microsoft.com/office/drawing/2014/main" id="{88F9337A-7157-BDB1-3D2D-E866564EF8A8}"/>
              </a:ext>
            </a:extLst>
          </p:cNvPr>
          <p:cNvCxnSpPr>
            <a:stCxn id="84" idx="0"/>
            <a:endCxn id="75" idx="2"/>
          </p:cNvCxnSpPr>
          <p:nvPr/>
        </p:nvCxnSpPr>
        <p:spPr>
          <a:xfrm rot="5400000" flipH="1" flipV="1">
            <a:off x="4489214" y="1552044"/>
            <a:ext cx="343487" cy="739208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꺾인 연결선 111">
            <a:extLst>
              <a:ext uri="{FF2B5EF4-FFF2-40B4-BE49-F238E27FC236}">
                <a16:creationId xmlns:a16="http://schemas.microsoft.com/office/drawing/2014/main" id="{1602D228-343A-0737-29FA-B5DC06DB5419}"/>
              </a:ext>
            </a:extLst>
          </p:cNvPr>
          <p:cNvCxnSpPr>
            <a:stCxn id="85" idx="0"/>
            <a:endCxn id="75" idx="2"/>
          </p:cNvCxnSpPr>
          <p:nvPr/>
        </p:nvCxnSpPr>
        <p:spPr>
          <a:xfrm rot="16200000" flipV="1">
            <a:off x="4945768" y="1834698"/>
            <a:ext cx="343487" cy="173900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꺾인 연결선 116">
            <a:extLst>
              <a:ext uri="{FF2B5EF4-FFF2-40B4-BE49-F238E27FC236}">
                <a16:creationId xmlns:a16="http://schemas.microsoft.com/office/drawing/2014/main" id="{23E6EA51-46EF-FB1C-63AA-CAC6A3B68FF2}"/>
              </a:ext>
            </a:extLst>
          </p:cNvPr>
          <p:cNvCxnSpPr>
            <a:cxnSpLocks/>
            <a:stCxn id="14" idx="0"/>
            <a:endCxn id="75" idx="2"/>
          </p:cNvCxnSpPr>
          <p:nvPr/>
        </p:nvCxnSpPr>
        <p:spPr>
          <a:xfrm rot="16200000" flipV="1">
            <a:off x="5940586" y="839880"/>
            <a:ext cx="343487" cy="2163535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꺾인 연결선 145">
            <a:extLst>
              <a:ext uri="{FF2B5EF4-FFF2-40B4-BE49-F238E27FC236}">
                <a16:creationId xmlns:a16="http://schemas.microsoft.com/office/drawing/2014/main" id="{4B988DD0-30E7-B1A3-CD79-D79A84BE2B3B}"/>
              </a:ext>
            </a:extLst>
          </p:cNvPr>
          <p:cNvCxnSpPr>
            <a:cxnSpLocks/>
            <a:stCxn id="95" idx="0"/>
            <a:endCxn id="75" idx="2"/>
          </p:cNvCxnSpPr>
          <p:nvPr/>
        </p:nvCxnSpPr>
        <p:spPr>
          <a:xfrm rot="16200000" flipV="1">
            <a:off x="6512202" y="268264"/>
            <a:ext cx="343487" cy="3306767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모서리가 둥근 직사각형 84">
            <a:extLst>
              <a:ext uri="{FF2B5EF4-FFF2-40B4-BE49-F238E27FC236}">
                <a16:creationId xmlns:a16="http://schemas.microsoft.com/office/drawing/2014/main" id="{098AADA1-6721-9646-5EF8-DCCDB9E3406C}"/>
              </a:ext>
            </a:extLst>
          </p:cNvPr>
          <p:cNvSpPr/>
          <p:nvPr/>
        </p:nvSpPr>
        <p:spPr>
          <a:xfrm>
            <a:off x="6762096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프로그램신청</a:t>
            </a:r>
          </a:p>
        </p:txBody>
      </p:sp>
      <p:sp>
        <p:nvSpPr>
          <p:cNvPr id="30" name="모서리가 둥근 직사각형 83">
            <a:extLst>
              <a:ext uri="{FF2B5EF4-FFF2-40B4-BE49-F238E27FC236}">
                <a16:creationId xmlns:a16="http://schemas.microsoft.com/office/drawing/2014/main" id="{555E3155-5D13-21AB-C3AB-C8E406C97C15}"/>
              </a:ext>
            </a:extLst>
          </p:cNvPr>
          <p:cNvSpPr/>
          <p:nvPr/>
        </p:nvSpPr>
        <p:spPr>
          <a:xfrm>
            <a:off x="6228276" y="2344450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공지사항</a:t>
            </a:r>
          </a:p>
        </p:txBody>
      </p:sp>
      <p:cxnSp>
        <p:nvCxnSpPr>
          <p:cNvPr id="31" name="꺾인 연결선 111">
            <a:extLst>
              <a:ext uri="{FF2B5EF4-FFF2-40B4-BE49-F238E27FC236}">
                <a16:creationId xmlns:a16="http://schemas.microsoft.com/office/drawing/2014/main" id="{13F45691-3820-2A89-453F-C5355E393EC5}"/>
              </a:ext>
            </a:extLst>
          </p:cNvPr>
          <p:cNvCxnSpPr>
            <a:cxnSpLocks/>
            <a:stCxn id="30" idx="1"/>
            <a:endCxn id="164" idx="2"/>
          </p:cNvCxnSpPr>
          <p:nvPr/>
        </p:nvCxnSpPr>
        <p:spPr>
          <a:xfrm rot="10800000">
            <a:off x="6117570" y="2282743"/>
            <a:ext cx="110707" cy="147776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모서리가 둥근 직사각형 83">
            <a:extLst>
              <a:ext uri="{FF2B5EF4-FFF2-40B4-BE49-F238E27FC236}">
                <a16:creationId xmlns:a16="http://schemas.microsoft.com/office/drawing/2014/main" id="{248082DB-A60B-04DE-039F-89AA990A8BF0}"/>
              </a:ext>
            </a:extLst>
          </p:cNvPr>
          <p:cNvSpPr/>
          <p:nvPr/>
        </p:nvSpPr>
        <p:spPr>
          <a:xfrm>
            <a:off x="6228276" y="2549702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채용공고</a:t>
            </a:r>
          </a:p>
        </p:txBody>
      </p:sp>
      <p:sp>
        <p:nvSpPr>
          <p:cNvPr id="33" name="모서리가 둥근 직사각형 83">
            <a:extLst>
              <a:ext uri="{FF2B5EF4-FFF2-40B4-BE49-F238E27FC236}">
                <a16:creationId xmlns:a16="http://schemas.microsoft.com/office/drawing/2014/main" id="{D6866A08-AD4E-E56F-467C-92D733305963}"/>
              </a:ext>
            </a:extLst>
          </p:cNvPr>
          <p:cNvSpPr/>
          <p:nvPr/>
        </p:nvSpPr>
        <p:spPr>
          <a:xfrm>
            <a:off x="6228276" y="2751743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보도자료</a:t>
            </a:r>
          </a:p>
        </p:txBody>
      </p:sp>
      <p:sp>
        <p:nvSpPr>
          <p:cNvPr id="34" name="모서리가 둥근 직사각형 83">
            <a:extLst>
              <a:ext uri="{FF2B5EF4-FFF2-40B4-BE49-F238E27FC236}">
                <a16:creationId xmlns:a16="http://schemas.microsoft.com/office/drawing/2014/main" id="{0493B773-D557-5087-3C46-6F7006776BA9}"/>
              </a:ext>
            </a:extLst>
          </p:cNvPr>
          <p:cNvSpPr/>
          <p:nvPr/>
        </p:nvSpPr>
        <p:spPr>
          <a:xfrm>
            <a:off x="6228276" y="2953784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자료실</a:t>
            </a:r>
          </a:p>
        </p:txBody>
      </p:sp>
      <p:sp>
        <p:nvSpPr>
          <p:cNvPr id="35" name="모서리가 둥근 직사각형 83">
            <a:extLst>
              <a:ext uri="{FF2B5EF4-FFF2-40B4-BE49-F238E27FC236}">
                <a16:creationId xmlns:a16="http://schemas.microsoft.com/office/drawing/2014/main" id="{94EB47BD-53D1-5986-9AB2-14AB7EF7DD96}"/>
              </a:ext>
            </a:extLst>
          </p:cNvPr>
          <p:cNvSpPr/>
          <p:nvPr/>
        </p:nvSpPr>
        <p:spPr>
          <a:xfrm>
            <a:off x="6228276" y="3155825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후원현황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52" name="꺾인 연결선 111">
            <a:extLst>
              <a:ext uri="{FF2B5EF4-FFF2-40B4-BE49-F238E27FC236}">
                <a16:creationId xmlns:a16="http://schemas.microsoft.com/office/drawing/2014/main" id="{4FB1D6B5-22A7-CC45-B6E9-9E81804D5E83}"/>
              </a:ext>
            </a:extLst>
          </p:cNvPr>
          <p:cNvCxnSpPr>
            <a:cxnSpLocks/>
            <a:stCxn id="32" idx="1"/>
            <a:endCxn id="164" idx="2"/>
          </p:cNvCxnSpPr>
          <p:nvPr/>
        </p:nvCxnSpPr>
        <p:spPr>
          <a:xfrm rot="10800000">
            <a:off x="6117570" y="2282743"/>
            <a:ext cx="110707" cy="353028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꺾인 연결선 111">
            <a:extLst>
              <a:ext uri="{FF2B5EF4-FFF2-40B4-BE49-F238E27FC236}">
                <a16:creationId xmlns:a16="http://schemas.microsoft.com/office/drawing/2014/main" id="{151E8D67-FEDC-4AF8-2D95-959CCCA044EC}"/>
              </a:ext>
            </a:extLst>
          </p:cNvPr>
          <p:cNvCxnSpPr>
            <a:cxnSpLocks/>
            <a:stCxn id="33" idx="1"/>
            <a:endCxn id="164" idx="2"/>
          </p:cNvCxnSpPr>
          <p:nvPr/>
        </p:nvCxnSpPr>
        <p:spPr>
          <a:xfrm rot="10800000">
            <a:off x="6117570" y="2282744"/>
            <a:ext cx="110707" cy="555069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꺾인 연결선 111">
            <a:extLst>
              <a:ext uri="{FF2B5EF4-FFF2-40B4-BE49-F238E27FC236}">
                <a16:creationId xmlns:a16="http://schemas.microsoft.com/office/drawing/2014/main" id="{744DAA91-2EC2-F6C6-71AC-E7CA7974B272}"/>
              </a:ext>
            </a:extLst>
          </p:cNvPr>
          <p:cNvCxnSpPr>
            <a:cxnSpLocks/>
            <a:stCxn id="34" idx="1"/>
            <a:endCxn id="164" idx="2"/>
          </p:cNvCxnSpPr>
          <p:nvPr/>
        </p:nvCxnSpPr>
        <p:spPr>
          <a:xfrm rot="10800000">
            <a:off x="6117570" y="2282743"/>
            <a:ext cx="110707" cy="757110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꺾인 연결선 111">
            <a:extLst>
              <a:ext uri="{FF2B5EF4-FFF2-40B4-BE49-F238E27FC236}">
                <a16:creationId xmlns:a16="http://schemas.microsoft.com/office/drawing/2014/main" id="{62FC667D-D754-EE1D-3C74-E61B8D3EC66A}"/>
              </a:ext>
            </a:extLst>
          </p:cNvPr>
          <p:cNvCxnSpPr>
            <a:cxnSpLocks/>
            <a:stCxn id="35" idx="1"/>
            <a:endCxn id="164" idx="2"/>
          </p:cNvCxnSpPr>
          <p:nvPr/>
        </p:nvCxnSpPr>
        <p:spPr>
          <a:xfrm rot="10800000">
            <a:off x="6117570" y="2282744"/>
            <a:ext cx="110707" cy="959151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모서리가 둥근 직사각형 84">
            <a:extLst>
              <a:ext uri="{FF2B5EF4-FFF2-40B4-BE49-F238E27FC236}">
                <a16:creationId xmlns:a16="http://schemas.microsoft.com/office/drawing/2014/main" id="{205E6162-F9DA-61E8-8369-C4129CE62FE6}"/>
              </a:ext>
            </a:extLst>
          </p:cNvPr>
          <p:cNvSpPr/>
          <p:nvPr/>
        </p:nvSpPr>
        <p:spPr>
          <a:xfrm>
            <a:off x="5685569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재단소식</a:t>
            </a:r>
          </a:p>
        </p:txBody>
      </p:sp>
      <p:cxnSp>
        <p:nvCxnSpPr>
          <p:cNvPr id="165" name="꺾인 연결선 111">
            <a:extLst>
              <a:ext uri="{FF2B5EF4-FFF2-40B4-BE49-F238E27FC236}">
                <a16:creationId xmlns:a16="http://schemas.microsoft.com/office/drawing/2014/main" id="{DDACB877-92F9-6044-C0BA-CACCAFECD1EC}"/>
              </a:ext>
            </a:extLst>
          </p:cNvPr>
          <p:cNvCxnSpPr>
            <a:cxnSpLocks/>
            <a:stCxn id="164" idx="0"/>
            <a:endCxn id="75" idx="2"/>
          </p:cNvCxnSpPr>
          <p:nvPr/>
        </p:nvCxnSpPr>
        <p:spPr>
          <a:xfrm rot="16200000" flipV="1">
            <a:off x="5402322" y="1378144"/>
            <a:ext cx="343487" cy="1087008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모서리가 둥근 직사각형 83">
            <a:extLst>
              <a:ext uri="{FF2B5EF4-FFF2-40B4-BE49-F238E27FC236}">
                <a16:creationId xmlns:a16="http://schemas.microsoft.com/office/drawing/2014/main" id="{CA42D6F7-2D19-E6F0-E848-E576945D724F}"/>
              </a:ext>
            </a:extLst>
          </p:cNvPr>
          <p:cNvSpPr/>
          <p:nvPr/>
        </p:nvSpPr>
        <p:spPr>
          <a:xfrm>
            <a:off x="6228276" y="3374799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행사안내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9" name="꺾인 연결선 111">
            <a:extLst>
              <a:ext uri="{FF2B5EF4-FFF2-40B4-BE49-F238E27FC236}">
                <a16:creationId xmlns:a16="http://schemas.microsoft.com/office/drawing/2014/main" id="{7A326E9A-74B3-872A-E648-52163982062D}"/>
              </a:ext>
            </a:extLst>
          </p:cNvPr>
          <p:cNvCxnSpPr>
            <a:cxnSpLocks/>
            <a:stCxn id="28" idx="1"/>
            <a:endCxn id="164" idx="2"/>
          </p:cNvCxnSpPr>
          <p:nvPr/>
        </p:nvCxnSpPr>
        <p:spPr>
          <a:xfrm rot="10800000">
            <a:off x="6117570" y="2282744"/>
            <a:ext cx="110707" cy="1178125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모서리가 둥근 직사각형 83">
            <a:extLst>
              <a:ext uri="{FF2B5EF4-FFF2-40B4-BE49-F238E27FC236}">
                <a16:creationId xmlns:a16="http://schemas.microsoft.com/office/drawing/2014/main" id="{E2E01A21-4704-D743-8C4E-66CB36A03746}"/>
              </a:ext>
            </a:extLst>
          </p:cNvPr>
          <p:cNvSpPr/>
          <p:nvPr/>
        </p:nvSpPr>
        <p:spPr>
          <a:xfrm>
            <a:off x="7293260" y="2344450"/>
            <a:ext cx="935392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고등학생 장학금</a:t>
            </a:r>
          </a:p>
        </p:txBody>
      </p:sp>
      <p:cxnSp>
        <p:nvCxnSpPr>
          <p:cNvPr id="40" name="꺾인 연결선 111">
            <a:extLst>
              <a:ext uri="{FF2B5EF4-FFF2-40B4-BE49-F238E27FC236}">
                <a16:creationId xmlns:a16="http://schemas.microsoft.com/office/drawing/2014/main" id="{8C2AE7DD-3601-468E-A828-130A1E60A49A}"/>
              </a:ext>
            </a:extLst>
          </p:cNvPr>
          <p:cNvCxnSpPr>
            <a:cxnSpLocks/>
            <a:stCxn id="39" idx="1"/>
            <a:endCxn id="14" idx="2"/>
          </p:cNvCxnSpPr>
          <p:nvPr/>
        </p:nvCxnSpPr>
        <p:spPr>
          <a:xfrm rot="10800000">
            <a:off x="7194096" y="2282743"/>
            <a:ext cx="99164" cy="147776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모서리가 둥근 직사각형 83">
            <a:extLst>
              <a:ext uri="{FF2B5EF4-FFF2-40B4-BE49-F238E27FC236}">
                <a16:creationId xmlns:a16="http://schemas.microsoft.com/office/drawing/2014/main" id="{305C9485-CCB0-AABA-E288-3C5BED0E5992}"/>
              </a:ext>
            </a:extLst>
          </p:cNvPr>
          <p:cNvSpPr/>
          <p:nvPr/>
        </p:nvSpPr>
        <p:spPr>
          <a:xfrm>
            <a:off x="7293260" y="2549702"/>
            <a:ext cx="935392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대학생 장학금</a:t>
            </a:r>
          </a:p>
        </p:txBody>
      </p:sp>
      <p:sp>
        <p:nvSpPr>
          <p:cNvPr id="46" name="모서리가 둥근 직사각형 83">
            <a:extLst>
              <a:ext uri="{FF2B5EF4-FFF2-40B4-BE49-F238E27FC236}">
                <a16:creationId xmlns:a16="http://schemas.microsoft.com/office/drawing/2014/main" id="{53850BF0-D47F-D1E1-1458-C4B387940D18}"/>
              </a:ext>
            </a:extLst>
          </p:cNvPr>
          <p:cNvSpPr/>
          <p:nvPr/>
        </p:nvSpPr>
        <p:spPr>
          <a:xfrm>
            <a:off x="7293260" y="2751743"/>
            <a:ext cx="935392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특기생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장학금</a:t>
            </a:r>
          </a:p>
        </p:txBody>
      </p:sp>
      <p:sp>
        <p:nvSpPr>
          <p:cNvPr id="50" name="모서리가 둥근 직사각형 83">
            <a:extLst>
              <a:ext uri="{FF2B5EF4-FFF2-40B4-BE49-F238E27FC236}">
                <a16:creationId xmlns:a16="http://schemas.microsoft.com/office/drawing/2014/main" id="{2776E3B6-22AD-672C-AF1F-DEAC9AC4FA26}"/>
              </a:ext>
            </a:extLst>
          </p:cNvPr>
          <p:cNvSpPr/>
          <p:nvPr/>
        </p:nvSpPr>
        <p:spPr>
          <a:xfrm>
            <a:off x="7293260" y="2953784"/>
            <a:ext cx="935392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행복기숙사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입사비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3" name="모서리가 둥근 직사각형 83">
            <a:extLst>
              <a:ext uri="{FF2B5EF4-FFF2-40B4-BE49-F238E27FC236}">
                <a16:creationId xmlns:a16="http://schemas.microsoft.com/office/drawing/2014/main" id="{F8D0F3E8-A95F-FA46-A460-6EB6DA059DE1}"/>
              </a:ext>
            </a:extLst>
          </p:cNvPr>
          <p:cNvSpPr/>
          <p:nvPr/>
        </p:nvSpPr>
        <p:spPr>
          <a:xfrm>
            <a:off x="7293260" y="3155825"/>
            <a:ext cx="935392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평생교육장려금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54" name="꺾인 연결선 111">
            <a:extLst>
              <a:ext uri="{FF2B5EF4-FFF2-40B4-BE49-F238E27FC236}">
                <a16:creationId xmlns:a16="http://schemas.microsoft.com/office/drawing/2014/main" id="{DFBB6F6D-DC22-0442-88EB-C2B1EC616478}"/>
              </a:ext>
            </a:extLst>
          </p:cNvPr>
          <p:cNvCxnSpPr>
            <a:cxnSpLocks/>
            <a:stCxn id="45" idx="1"/>
            <a:endCxn id="14" idx="2"/>
          </p:cNvCxnSpPr>
          <p:nvPr/>
        </p:nvCxnSpPr>
        <p:spPr>
          <a:xfrm rot="10800000">
            <a:off x="7194096" y="2282743"/>
            <a:ext cx="99164" cy="353028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꺾인 연결선 111">
            <a:extLst>
              <a:ext uri="{FF2B5EF4-FFF2-40B4-BE49-F238E27FC236}">
                <a16:creationId xmlns:a16="http://schemas.microsoft.com/office/drawing/2014/main" id="{09464D84-F2FF-43A9-5E10-9BD0F11B8188}"/>
              </a:ext>
            </a:extLst>
          </p:cNvPr>
          <p:cNvCxnSpPr>
            <a:cxnSpLocks/>
            <a:stCxn id="46" idx="1"/>
            <a:endCxn id="14" idx="2"/>
          </p:cNvCxnSpPr>
          <p:nvPr/>
        </p:nvCxnSpPr>
        <p:spPr>
          <a:xfrm rot="10800000">
            <a:off x="7194096" y="2282744"/>
            <a:ext cx="99164" cy="555069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꺾인 연결선 111">
            <a:extLst>
              <a:ext uri="{FF2B5EF4-FFF2-40B4-BE49-F238E27FC236}">
                <a16:creationId xmlns:a16="http://schemas.microsoft.com/office/drawing/2014/main" id="{F7339286-A0DA-7FA6-19D0-D03FF85962CC}"/>
              </a:ext>
            </a:extLst>
          </p:cNvPr>
          <p:cNvCxnSpPr>
            <a:cxnSpLocks/>
            <a:stCxn id="50" idx="1"/>
            <a:endCxn id="14" idx="2"/>
          </p:cNvCxnSpPr>
          <p:nvPr/>
        </p:nvCxnSpPr>
        <p:spPr>
          <a:xfrm rot="10800000">
            <a:off x="7194096" y="2282743"/>
            <a:ext cx="99164" cy="757110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꺾인 연결선 111">
            <a:extLst>
              <a:ext uri="{FF2B5EF4-FFF2-40B4-BE49-F238E27FC236}">
                <a16:creationId xmlns:a16="http://schemas.microsoft.com/office/drawing/2014/main" id="{B0EE1558-5FE6-F41B-FB91-70722E0CE9AE}"/>
              </a:ext>
            </a:extLst>
          </p:cNvPr>
          <p:cNvCxnSpPr>
            <a:cxnSpLocks/>
            <a:stCxn id="53" idx="1"/>
            <a:endCxn id="14" idx="2"/>
          </p:cNvCxnSpPr>
          <p:nvPr/>
        </p:nvCxnSpPr>
        <p:spPr>
          <a:xfrm rot="10800000">
            <a:off x="7194096" y="2282744"/>
            <a:ext cx="99164" cy="959151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모서리가 둥근 직사각형 83">
            <a:extLst>
              <a:ext uri="{FF2B5EF4-FFF2-40B4-BE49-F238E27FC236}">
                <a16:creationId xmlns:a16="http://schemas.microsoft.com/office/drawing/2014/main" id="{B5C6A53B-EF9E-05C9-EB76-C6DDC738063E}"/>
              </a:ext>
            </a:extLst>
          </p:cNvPr>
          <p:cNvSpPr/>
          <p:nvPr/>
        </p:nvSpPr>
        <p:spPr>
          <a:xfrm>
            <a:off x="7293260" y="3374799"/>
            <a:ext cx="935392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교육사업 신청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62" name="꺾인 연결선 111">
            <a:extLst>
              <a:ext uri="{FF2B5EF4-FFF2-40B4-BE49-F238E27FC236}">
                <a16:creationId xmlns:a16="http://schemas.microsoft.com/office/drawing/2014/main" id="{8276D9F3-AB3E-7B1F-58F1-E4F9D57EC168}"/>
              </a:ext>
            </a:extLst>
          </p:cNvPr>
          <p:cNvCxnSpPr>
            <a:cxnSpLocks/>
            <a:stCxn id="60" idx="1"/>
            <a:endCxn id="14" idx="2"/>
          </p:cNvCxnSpPr>
          <p:nvPr/>
        </p:nvCxnSpPr>
        <p:spPr>
          <a:xfrm rot="10800000">
            <a:off x="7194096" y="2282744"/>
            <a:ext cx="99164" cy="1178125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모서리가 둥근 직사각형 83">
            <a:extLst>
              <a:ext uri="{FF2B5EF4-FFF2-40B4-BE49-F238E27FC236}">
                <a16:creationId xmlns:a16="http://schemas.microsoft.com/office/drawing/2014/main" id="{38048623-CB42-8277-ECC9-A82CE7135E16}"/>
              </a:ext>
            </a:extLst>
          </p:cNvPr>
          <p:cNvSpPr/>
          <p:nvPr/>
        </p:nvSpPr>
        <p:spPr>
          <a:xfrm>
            <a:off x="8436492" y="2344450"/>
            <a:ext cx="935392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내정보수정</a:t>
            </a:r>
          </a:p>
        </p:txBody>
      </p:sp>
      <p:cxnSp>
        <p:nvCxnSpPr>
          <p:cNvPr id="78" name="꺾인 연결선 111">
            <a:extLst>
              <a:ext uri="{FF2B5EF4-FFF2-40B4-BE49-F238E27FC236}">
                <a16:creationId xmlns:a16="http://schemas.microsoft.com/office/drawing/2014/main" id="{DDAA34CB-08F8-43F1-DFF2-B06139535516}"/>
              </a:ext>
            </a:extLst>
          </p:cNvPr>
          <p:cNvCxnSpPr>
            <a:cxnSpLocks/>
            <a:stCxn id="77" idx="1"/>
            <a:endCxn id="95" idx="2"/>
          </p:cNvCxnSpPr>
          <p:nvPr/>
        </p:nvCxnSpPr>
        <p:spPr>
          <a:xfrm rot="10800000">
            <a:off x="8337328" y="2282743"/>
            <a:ext cx="99164" cy="147776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모서리가 둥근 직사각형 83">
            <a:extLst>
              <a:ext uri="{FF2B5EF4-FFF2-40B4-BE49-F238E27FC236}">
                <a16:creationId xmlns:a16="http://schemas.microsoft.com/office/drawing/2014/main" id="{9B8F9C36-E968-0F79-D67C-AA2F393A1EC1}"/>
              </a:ext>
            </a:extLst>
          </p:cNvPr>
          <p:cNvSpPr/>
          <p:nvPr/>
        </p:nvSpPr>
        <p:spPr>
          <a:xfrm>
            <a:off x="8436492" y="2549702"/>
            <a:ext cx="935392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회원탈퇴</a:t>
            </a:r>
          </a:p>
        </p:txBody>
      </p:sp>
      <p:sp>
        <p:nvSpPr>
          <p:cNvPr id="88" name="모서리가 둥근 직사각형 83">
            <a:extLst>
              <a:ext uri="{FF2B5EF4-FFF2-40B4-BE49-F238E27FC236}">
                <a16:creationId xmlns:a16="http://schemas.microsoft.com/office/drawing/2014/main" id="{5CF05777-9F6F-BA1A-A5FD-B7C66AD7105B}"/>
              </a:ext>
            </a:extLst>
          </p:cNvPr>
          <p:cNvSpPr/>
          <p:nvPr/>
        </p:nvSpPr>
        <p:spPr>
          <a:xfrm>
            <a:off x="8436492" y="2751743"/>
            <a:ext cx="935392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나의신청내역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89" name="꺾인 연결선 111">
            <a:extLst>
              <a:ext uri="{FF2B5EF4-FFF2-40B4-BE49-F238E27FC236}">
                <a16:creationId xmlns:a16="http://schemas.microsoft.com/office/drawing/2014/main" id="{FDDB3BF7-B334-890B-F534-EBF856CCB2FC}"/>
              </a:ext>
            </a:extLst>
          </p:cNvPr>
          <p:cNvCxnSpPr>
            <a:cxnSpLocks/>
            <a:stCxn id="87" idx="1"/>
            <a:endCxn id="95" idx="2"/>
          </p:cNvCxnSpPr>
          <p:nvPr/>
        </p:nvCxnSpPr>
        <p:spPr>
          <a:xfrm rot="10800000">
            <a:off x="8337328" y="2282743"/>
            <a:ext cx="99164" cy="353028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꺾인 연결선 111">
            <a:extLst>
              <a:ext uri="{FF2B5EF4-FFF2-40B4-BE49-F238E27FC236}">
                <a16:creationId xmlns:a16="http://schemas.microsoft.com/office/drawing/2014/main" id="{8D620B14-6745-D571-B95A-E69D6E3498A3}"/>
              </a:ext>
            </a:extLst>
          </p:cNvPr>
          <p:cNvCxnSpPr>
            <a:cxnSpLocks/>
            <a:stCxn id="88" idx="1"/>
            <a:endCxn id="95" idx="2"/>
          </p:cNvCxnSpPr>
          <p:nvPr/>
        </p:nvCxnSpPr>
        <p:spPr>
          <a:xfrm rot="10800000">
            <a:off x="8337328" y="2282744"/>
            <a:ext cx="99164" cy="555069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3344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61516-166C-9BF8-EEBD-8BA99F8FB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44">
            <a:extLst>
              <a:ext uri="{FF2B5EF4-FFF2-40B4-BE49-F238E27FC236}">
                <a16:creationId xmlns:a16="http://schemas.microsoft.com/office/drawing/2014/main" id="{5BBC0E33-CFCB-64CD-9679-3093B1329D9D}"/>
              </a:ext>
            </a:extLst>
          </p:cNvPr>
          <p:cNvSpPr txBox="1"/>
          <p:nvPr/>
        </p:nvSpPr>
        <p:spPr>
          <a:xfrm rot="16200000">
            <a:off x="-432110" y="1197338"/>
            <a:ext cx="23066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Noto Sans" panose="020B0502040504020204" pitchFamily="34" charset="0"/>
                <a:ea typeface="맑은 고딕" panose="020B0503020000020004" pitchFamily="50" charset="-127"/>
                <a:cs typeface="+mn-cs"/>
              </a:rPr>
              <a:t>C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D7D7D7"/>
                </a:solidFill>
                <a:effectLst/>
                <a:uLnTx/>
                <a:uFillTx/>
                <a:latin typeface="Noto Sans" panose="020B0502040504020204" pitchFamily="34" charset="0"/>
                <a:ea typeface="맑은 고딕" panose="020B0503020000020004" pitchFamily="50" charset="-127"/>
                <a:cs typeface="+mn-cs"/>
              </a:rPr>
              <a:t>O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Noto Sans" panose="020B0502040504020204" pitchFamily="34" charset="0"/>
                <a:ea typeface="맑은 고딕" panose="020B0503020000020004" pitchFamily="50" charset="-127"/>
                <a:cs typeface="+mn-cs"/>
              </a:rPr>
              <a:t>NTENT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Noto Sans" panose="020B0502040504020204" pitchFamily="34" charset="0"/>
                <a:ea typeface="맑은 고딕" panose="020B0503020000020004" pitchFamily="50" charset="-127"/>
                <a:cs typeface="+mn-cs"/>
              </a:rPr>
              <a:t>S</a:t>
            </a:r>
            <a:endParaRPr kumimoji="0" lang="ko-KR" altLang="en-US" sz="3000" b="1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Noto Sans" panose="020B050204050402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0" name="Text Box 11">
            <a:extLst>
              <a:ext uri="{FF2B5EF4-FFF2-40B4-BE49-F238E27FC236}">
                <a16:creationId xmlns:a16="http://schemas.microsoft.com/office/drawing/2014/main" id="{6CD1A369-D75E-6747-8C3F-027F658E37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5436" y="2140622"/>
            <a:ext cx="4765463" cy="469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굴림" pitchFamily="50" charset="-127"/>
              </a:rPr>
              <a:t>오산교육재단 홈페이지 메인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굴림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굴림" pitchFamily="50" charset="-127"/>
              </a:rPr>
              <a:t>● 홈페이지 메인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굴림" pitchFamily="50" charset="-127"/>
            </a:endParaRPr>
          </a:p>
        </p:txBody>
      </p:sp>
      <p:sp>
        <p:nvSpPr>
          <p:cNvPr id="31" name="Text Box 5">
            <a:extLst>
              <a:ext uri="{FF2B5EF4-FFF2-40B4-BE49-F238E27FC236}">
                <a16:creationId xmlns:a16="http://schemas.microsoft.com/office/drawing/2014/main" id="{F8E5F1C3-130E-9952-ED3F-EF2890E3A2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6305" y="1477454"/>
            <a:ext cx="3703099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Noto Sans" panose="020B0502040504020204" pitchFamily="34" charset="0"/>
                <a:ea typeface="맑은 고딕" panose="020B0503020000020004" pitchFamily="50" charset="-127"/>
              </a:rPr>
              <a:t>메인</a:t>
            </a: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Noto Sans" panose="020B050204050402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TextBox 13">
            <a:extLst>
              <a:ext uri="{FF2B5EF4-FFF2-40B4-BE49-F238E27FC236}">
                <a16:creationId xmlns:a16="http://schemas.microsoft.com/office/drawing/2014/main" id="{18C575E3-D060-F523-64E8-590F181CCC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0483" y="1369732"/>
            <a:ext cx="764953" cy="55399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00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4239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D2B7C-1924-7901-48CC-455B99191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Group 1091">
            <a:extLst>
              <a:ext uri="{FF2B5EF4-FFF2-40B4-BE49-F238E27FC236}">
                <a16:creationId xmlns:a16="http://schemas.microsoft.com/office/drawing/2014/main" id="{75E70AB0-BEC2-9E13-34CE-E9F7D3EA010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56519210"/>
              </p:ext>
            </p:extLst>
          </p:nvPr>
        </p:nvGraphicFramePr>
        <p:xfrm>
          <a:off x="165100" y="1175295"/>
          <a:ext cx="9575800" cy="237482"/>
        </p:xfrm>
        <a:graphic>
          <a:graphicData uri="http://schemas.openxmlformats.org/drawingml/2006/table">
            <a:tbl>
              <a:tblPr/>
              <a:tblGrid>
                <a:gridCol w="957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9436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홈페이지 메뉴 구조</a:t>
                      </a: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5" name="모서리가 둥근 직사각형 74">
            <a:extLst>
              <a:ext uri="{FF2B5EF4-FFF2-40B4-BE49-F238E27FC236}">
                <a16:creationId xmlns:a16="http://schemas.microsoft.com/office/drawing/2014/main" id="{5DCDCF39-3470-B19C-ABFB-A759D84D810F}"/>
              </a:ext>
            </a:extLst>
          </p:cNvPr>
          <p:cNvSpPr/>
          <p:nvPr/>
        </p:nvSpPr>
        <p:spPr>
          <a:xfrm>
            <a:off x="4064743" y="1520788"/>
            <a:ext cx="1931636" cy="229116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tx1">
                <a:lumMod val="95000"/>
                <a:lumOff val="5000"/>
              </a:schemeClr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오산교육재단 홈페이지</a:t>
            </a:r>
          </a:p>
        </p:txBody>
      </p:sp>
      <p:sp>
        <p:nvSpPr>
          <p:cNvPr id="76" name="모서리가 둥근 직사각형 75">
            <a:extLst>
              <a:ext uri="{FF2B5EF4-FFF2-40B4-BE49-F238E27FC236}">
                <a16:creationId xmlns:a16="http://schemas.microsoft.com/office/drawing/2014/main" id="{AE0CDF05-C115-8091-8302-967F7C5E2251}"/>
              </a:ext>
            </a:extLst>
          </p:cNvPr>
          <p:cNvSpPr/>
          <p:nvPr/>
        </p:nvSpPr>
        <p:spPr>
          <a:xfrm>
            <a:off x="164468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메인</a:t>
            </a:r>
          </a:p>
        </p:txBody>
      </p:sp>
      <p:sp>
        <p:nvSpPr>
          <p:cNvPr id="81" name="모서리가 둥근 직사각형 80">
            <a:extLst>
              <a:ext uri="{FF2B5EF4-FFF2-40B4-BE49-F238E27FC236}">
                <a16:creationId xmlns:a16="http://schemas.microsoft.com/office/drawing/2014/main" id="{FFA10D4C-C88C-6DDA-BF73-8FF128D0DE2B}"/>
              </a:ext>
            </a:extLst>
          </p:cNvPr>
          <p:cNvSpPr/>
          <p:nvPr/>
        </p:nvSpPr>
        <p:spPr>
          <a:xfrm>
            <a:off x="1068205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로그인</a:t>
            </a:r>
          </a:p>
        </p:txBody>
      </p:sp>
      <p:sp>
        <p:nvSpPr>
          <p:cNvPr id="82" name="모서리가 둥근 직사각형 81">
            <a:extLst>
              <a:ext uri="{FF2B5EF4-FFF2-40B4-BE49-F238E27FC236}">
                <a16:creationId xmlns:a16="http://schemas.microsoft.com/office/drawing/2014/main" id="{6EB9397C-C7F1-FC30-DF96-3B9C2501B4BC}"/>
              </a:ext>
            </a:extLst>
          </p:cNvPr>
          <p:cNvSpPr/>
          <p:nvPr/>
        </p:nvSpPr>
        <p:spPr>
          <a:xfrm>
            <a:off x="1976252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회원가입</a:t>
            </a:r>
          </a:p>
        </p:txBody>
      </p:sp>
      <p:sp>
        <p:nvSpPr>
          <p:cNvPr id="83" name="모서리가 둥근 직사각형 82">
            <a:extLst>
              <a:ext uri="{FF2B5EF4-FFF2-40B4-BE49-F238E27FC236}">
                <a16:creationId xmlns:a16="http://schemas.microsoft.com/office/drawing/2014/main" id="{D5BDE528-58A0-F1DA-3A9C-EBA816E204EF}"/>
              </a:ext>
            </a:extLst>
          </p:cNvPr>
          <p:cNvSpPr/>
          <p:nvPr/>
        </p:nvSpPr>
        <p:spPr>
          <a:xfrm>
            <a:off x="2877516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ID/PW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찾기</a:t>
            </a:r>
          </a:p>
        </p:txBody>
      </p:sp>
      <p:sp>
        <p:nvSpPr>
          <p:cNvPr id="84" name="모서리가 둥근 직사각형 83">
            <a:extLst>
              <a:ext uri="{FF2B5EF4-FFF2-40B4-BE49-F238E27FC236}">
                <a16:creationId xmlns:a16="http://schemas.microsoft.com/office/drawing/2014/main" id="{54EE9E0A-ECA7-52E0-C991-8BE95A3F6D8C}"/>
              </a:ext>
            </a:extLst>
          </p:cNvPr>
          <p:cNvSpPr/>
          <p:nvPr/>
        </p:nvSpPr>
        <p:spPr>
          <a:xfrm>
            <a:off x="3780770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재단소개</a:t>
            </a:r>
          </a:p>
        </p:txBody>
      </p:sp>
      <p:sp>
        <p:nvSpPr>
          <p:cNvPr id="85" name="모서리가 둥근 직사각형 84">
            <a:extLst>
              <a:ext uri="{FF2B5EF4-FFF2-40B4-BE49-F238E27FC236}">
                <a16:creationId xmlns:a16="http://schemas.microsoft.com/office/drawing/2014/main" id="{099F89B8-DE7C-8A3E-AA4B-A305C34C8E21}"/>
              </a:ext>
            </a:extLst>
          </p:cNvPr>
          <p:cNvSpPr/>
          <p:nvPr/>
        </p:nvSpPr>
        <p:spPr>
          <a:xfrm>
            <a:off x="5513162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열린경영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5" name="모서리가 둥근 직사각형 94">
            <a:extLst>
              <a:ext uri="{FF2B5EF4-FFF2-40B4-BE49-F238E27FC236}">
                <a16:creationId xmlns:a16="http://schemas.microsoft.com/office/drawing/2014/main" id="{F0E1E3DA-FAB9-8ED5-E547-240978DBB8D7}"/>
              </a:ext>
            </a:extLst>
          </p:cNvPr>
          <p:cNvSpPr/>
          <p:nvPr/>
        </p:nvSpPr>
        <p:spPr>
          <a:xfrm>
            <a:off x="9135494" y="2093391"/>
            <a:ext cx="71405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마이페이지</a:t>
            </a:r>
          </a:p>
        </p:txBody>
      </p:sp>
      <p:cxnSp>
        <p:nvCxnSpPr>
          <p:cNvPr id="104" name="꺾인 연결선 103">
            <a:extLst>
              <a:ext uri="{FF2B5EF4-FFF2-40B4-BE49-F238E27FC236}">
                <a16:creationId xmlns:a16="http://schemas.microsoft.com/office/drawing/2014/main" id="{C2B8378A-868B-81D6-0010-3B1FD1117D88}"/>
              </a:ext>
            </a:extLst>
          </p:cNvPr>
          <p:cNvCxnSpPr>
            <a:stCxn id="76" idx="0"/>
            <a:endCxn id="75" idx="2"/>
          </p:cNvCxnSpPr>
          <p:nvPr/>
        </p:nvCxnSpPr>
        <p:spPr>
          <a:xfrm rot="5400000" flipH="1" flipV="1">
            <a:off x="2641771" y="-295398"/>
            <a:ext cx="343487" cy="4434093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꺾인 연결선 105">
            <a:extLst>
              <a:ext uri="{FF2B5EF4-FFF2-40B4-BE49-F238E27FC236}">
                <a16:creationId xmlns:a16="http://schemas.microsoft.com/office/drawing/2014/main" id="{6929C7A8-1C83-910B-E26B-38D9E52A87A6}"/>
              </a:ext>
            </a:extLst>
          </p:cNvPr>
          <p:cNvCxnSpPr>
            <a:stCxn id="81" idx="0"/>
            <a:endCxn id="75" idx="2"/>
          </p:cNvCxnSpPr>
          <p:nvPr/>
        </p:nvCxnSpPr>
        <p:spPr>
          <a:xfrm rot="5400000" flipH="1" flipV="1">
            <a:off x="3093640" y="156470"/>
            <a:ext cx="343487" cy="3530356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꺾인 연결선 106">
            <a:extLst>
              <a:ext uri="{FF2B5EF4-FFF2-40B4-BE49-F238E27FC236}">
                <a16:creationId xmlns:a16="http://schemas.microsoft.com/office/drawing/2014/main" id="{E2F103AD-6AE7-EB54-1FDC-5EE0F9B8C309}"/>
              </a:ext>
            </a:extLst>
          </p:cNvPr>
          <p:cNvCxnSpPr>
            <a:stCxn id="82" idx="0"/>
            <a:endCxn id="75" idx="2"/>
          </p:cNvCxnSpPr>
          <p:nvPr/>
        </p:nvCxnSpPr>
        <p:spPr>
          <a:xfrm rot="5400000" flipH="1" flipV="1">
            <a:off x="3547663" y="610494"/>
            <a:ext cx="343487" cy="2622309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꺾인 연결선 108">
            <a:extLst>
              <a:ext uri="{FF2B5EF4-FFF2-40B4-BE49-F238E27FC236}">
                <a16:creationId xmlns:a16="http://schemas.microsoft.com/office/drawing/2014/main" id="{E5611408-9450-8755-3481-787177FC726A}"/>
              </a:ext>
            </a:extLst>
          </p:cNvPr>
          <p:cNvCxnSpPr>
            <a:cxnSpLocks/>
            <a:stCxn id="83" idx="0"/>
            <a:endCxn id="75" idx="2"/>
          </p:cNvCxnSpPr>
          <p:nvPr/>
        </p:nvCxnSpPr>
        <p:spPr>
          <a:xfrm rot="5400000" flipH="1" flipV="1">
            <a:off x="3998295" y="1061126"/>
            <a:ext cx="343487" cy="1721045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꺾인 연결선 109">
            <a:extLst>
              <a:ext uri="{FF2B5EF4-FFF2-40B4-BE49-F238E27FC236}">
                <a16:creationId xmlns:a16="http://schemas.microsoft.com/office/drawing/2014/main" id="{A0A9DC2C-07C7-A7B3-7386-6DCD977A145B}"/>
              </a:ext>
            </a:extLst>
          </p:cNvPr>
          <p:cNvCxnSpPr>
            <a:stCxn id="84" idx="0"/>
            <a:endCxn id="75" idx="2"/>
          </p:cNvCxnSpPr>
          <p:nvPr/>
        </p:nvCxnSpPr>
        <p:spPr>
          <a:xfrm rot="5400000" flipH="1" flipV="1">
            <a:off x="4449922" y="1512753"/>
            <a:ext cx="343487" cy="817791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꺾인 연결선 111">
            <a:extLst>
              <a:ext uri="{FF2B5EF4-FFF2-40B4-BE49-F238E27FC236}">
                <a16:creationId xmlns:a16="http://schemas.microsoft.com/office/drawing/2014/main" id="{C25FFF29-F352-D8B7-7424-CE593A05D8EC}"/>
              </a:ext>
            </a:extLst>
          </p:cNvPr>
          <p:cNvCxnSpPr>
            <a:stCxn id="85" idx="0"/>
            <a:endCxn id="75" idx="2"/>
          </p:cNvCxnSpPr>
          <p:nvPr/>
        </p:nvCxnSpPr>
        <p:spPr>
          <a:xfrm rot="16200000" flipV="1">
            <a:off x="5316119" y="1464347"/>
            <a:ext cx="343487" cy="914601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꺾인 연결선 116">
            <a:extLst>
              <a:ext uri="{FF2B5EF4-FFF2-40B4-BE49-F238E27FC236}">
                <a16:creationId xmlns:a16="http://schemas.microsoft.com/office/drawing/2014/main" id="{FDAF0988-C88C-E2F6-CA8F-B84E7D5A8C09}"/>
              </a:ext>
            </a:extLst>
          </p:cNvPr>
          <p:cNvCxnSpPr>
            <a:cxnSpLocks/>
            <a:stCxn id="14" idx="0"/>
            <a:endCxn id="75" idx="2"/>
          </p:cNvCxnSpPr>
          <p:nvPr/>
        </p:nvCxnSpPr>
        <p:spPr>
          <a:xfrm rot="16200000" flipV="1">
            <a:off x="6215101" y="565365"/>
            <a:ext cx="343487" cy="2712565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꺾인 연결선 145">
            <a:extLst>
              <a:ext uri="{FF2B5EF4-FFF2-40B4-BE49-F238E27FC236}">
                <a16:creationId xmlns:a16="http://schemas.microsoft.com/office/drawing/2014/main" id="{59ED26FF-E3F7-01A5-10F4-96F71EF16EF1}"/>
              </a:ext>
            </a:extLst>
          </p:cNvPr>
          <p:cNvCxnSpPr>
            <a:cxnSpLocks/>
            <a:stCxn id="95" idx="0"/>
            <a:endCxn id="75" idx="2"/>
          </p:cNvCxnSpPr>
          <p:nvPr/>
        </p:nvCxnSpPr>
        <p:spPr>
          <a:xfrm rot="16200000" flipV="1">
            <a:off x="7089797" y="-309331"/>
            <a:ext cx="343487" cy="4461958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모서리가 둥근 직사각형 84">
            <a:extLst>
              <a:ext uri="{FF2B5EF4-FFF2-40B4-BE49-F238E27FC236}">
                <a16:creationId xmlns:a16="http://schemas.microsoft.com/office/drawing/2014/main" id="{697223C3-45F5-7018-13D5-BB1FAD43A29D}"/>
              </a:ext>
            </a:extLst>
          </p:cNvPr>
          <p:cNvSpPr/>
          <p:nvPr/>
        </p:nvSpPr>
        <p:spPr>
          <a:xfrm>
            <a:off x="7311126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</a:t>
            </a:r>
          </a:p>
        </p:txBody>
      </p:sp>
      <p:sp>
        <p:nvSpPr>
          <p:cNvPr id="3" name="모서리가 둥근 직사각형 83">
            <a:extLst>
              <a:ext uri="{FF2B5EF4-FFF2-40B4-BE49-F238E27FC236}">
                <a16:creationId xmlns:a16="http://schemas.microsoft.com/office/drawing/2014/main" id="{96D4673F-857D-E1B9-54BE-55C256837ADB}"/>
              </a:ext>
            </a:extLst>
          </p:cNvPr>
          <p:cNvSpPr/>
          <p:nvPr/>
        </p:nvSpPr>
        <p:spPr>
          <a:xfrm>
            <a:off x="4316195" y="2344450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재단안내</a:t>
            </a:r>
          </a:p>
        </p:txBody>
      </p:sp>
      <p:cxnSp>
        <p:nvCxnSpPr>
          <p:cNvPr id="4" name="꺾인 연결선 111">
            <a:extLst>
              <a:ext uri="{FF2B5EF4-FFF2-40B4-BE49-F238E27FC236}">
                <a16:creationId xmlns:a16="http://schemas.microsoft.com/office/drawing/2014/main" id="{7DA573A2-D503-0F10-4F1B-708F9914D333}"/>
              </a:ext>
            </a:extLst>
          </p:cNvPr>
          <p:cNvCxnSpPr>
            <a:cxnSpLocks/>
            <a:stCxn id="3" idx="1"/>
            <a:endCxn id="84" idx="2"/>
          </p:cNvCxnSpPr>
          <p:nvPr/>
        </p:nvCxnSpPr>
        <p:spPr>
          <a:xfrm rot="10800000">
            <a:off x="4212771" y="2282743"/>
            <a:ext cx="103425" cy="147776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모서리가 둥근 직사각형 83">
            <a:extLst>
              <a:ext uri="{FF2B5EF4-FFF2-40B4-BE49-F238E27FC236}">
                <a16:creationId xmlns:a16="http://schemas.microsoft.com/office/drawing/2014/main" id="{1D96D982-F798-5F57-5F2B-6F2B85F91DF7}"/>
              </a:ext>
            </a:extLst>
          </p:cNvPr>
          <p:cNvSpPr/>
          <p:nvPr/>
        </p:nvSpPr>
        <p:spPr>
          <a:xfrm>
            <a:off x="4316195" y="3383751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조직안내</a:t>
            </a:r>
          </a:p>
        </p:txBody>
      </p:sp>
      <p:sp>
        <p:nvSpPr>
          <p:cNvPr id="11" name="모서리가 둥근 직사각형 83">
            <a:extLst>
              <a:ext uri="{FF2B5EF4-FFF2-40B4-BE49-F238E27FC236}">
                <a16:creationId xmlns:a16="http://schemas.microsoft.com/office/drawing/2014/main" id="{FB5429F3-4A4C-FD25-BAE2-E0A225059746}"/>
              </a:ext>
            </a:extLst>
          </p:cNvPr>
          <p:cNvSpPr/>
          <p:nvPr/>
        </p:nvSpPr>
        <p:spPr>
          <a:xfrm>
            <a:off x="4316195" y="4214716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사업소개</a:t>
            </a:r>
          </a:p>
        </p:txBody>
      </p:sp>
      <p:sp>
        <p:nvSpPr>
          <p:cNvPr id="12" name="모서리가 둥근 직사각형 83">
            <a:extLst>
              <a:ext uri="{FF2B5EF4-FFF2-40B4-BE49-F238E27FC236}">
                <a16:creationId xmlns:a16="http://schemas.microsoft.com/office/drawing/2014/main" id="{D978C184-076C-2C7E-54D6-6E9C1ED7031C}"/>
              </a:ext>
            </a:extLst>
          </p:cNvPr>
          <p:cNvSpPr/>
          <p:nvPr/>
        </p:nvSpPr>
        <p:spPr>
          <a:xfrm>
            <a:off x="4316195" y="4873543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찾아오시는길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모서리가 둥근 직사각형 83">
            <a:extLst>
              <a:ext uri="{FF2B5EF4-FFF2-40B4-BE49-F238E27FC236}">
                <a16:creationId xmlns:a16="http://schemas.microsoft.com/office/drawing/2014/main" id="{84C760AF-A619-2302-87D2-CCA9381CB44C}"/>
              </a:ext>
            </a:extLst>
          </p:cNvPr>
          <p:cNvSpPr/>
          <p:nvPr/>
        </p:nvSpPr>
        <p:spPr>
          <a:xfrm>
            <a:off x="4316195" y="5523506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약관</a:t>
            </a:r>
          </a:p>
        </p:txBody>
      </p:sp>
      <p:sp>
        <p:nvSpPr>
          <p:cNvPr id="30" name="모서리가 둥근 직사각형 83">
            <a:extLst>
              <a:ext uri="{FF2B5EF4-FFF2-40B4-BE49-F238E27FC236}">
                <a16:creationId xmlns:a16="http://schemas.microsoft.com/office/drawing/2014/main" id="{D929498C-78A4-5CF5-987D-592ADC84408A}"/>
              </a:ext>
            </a:extLst>
          </p:cNvPr>
          <p:cNvSpPr/>
          <p:nvPr/>
        </p:nvSpPr>
        <p:spPr>
          <a:xfrm>
            <a:off x="2511676" y="2344450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이용약관동의</a:t>
            </a:r>
          </a:p>
        </p:txBody>
      </p:sp>
      <p:cxnSp>
        <p:nvCxnSpPr>
          <p:cNvPr id="31" name="꺾인 연결선 111">
            <a:extLst>
              <a:ext uri="{FF2B5EF4-FFF2-40B4-BE49-F238E27FC236}">
                <a16:creationId xmlns:a16="http://schemas.microsoft.com/office/drawing/2014/main" id="{7C963793-9628-4E3C-269B-F3B4DF930859}"/>
              </a:ext>
            </a:extLst>
          </p:cNvPr>
          <p:cNvCxnSpPr>
            <a:cxnSpLocks/>
            <a:stCxn id="30" idx="1"/>
            <a:endCxn id="82" idx="2"/>
          </p:cNvCxnSpPr>
          <p:nvPr/>
        </p:nvCxnSpPr>
        <p:spPr>
          <a:xfrm rot="10800000">
            <a:off x="2408252" y="2282743"/>
            <a:ext cx="103424" cy="147776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모서리가 둥근 직사각형 83">
            <a:extLst>
              <a:ext uri="{FF2B5EF4-FFF2-40B4-BE49-F238E27FC236}">
                <a16:creationId xmlns:a16="http://schemas.microsoft.com/office/drawing/2014/main" id="{112BFA78-05F5-4DDA-87C0-0AA052F35E86}"/>
              </a:ext>
            </a:extLst>
          </p:cNvPr>
          <p:cNvSpPr/>
          <p:nvPr/>
        </p:nvSpPr>
        <p:spPr>
          <a:xfrm>
            <a:off x="2511676" y="2549702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만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14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세 미만</a:t>
            </a:r>
          </a:p>
        </p:txBody>
      </p:sp>
      <p:sp>
        <p:nvSpPr>
          <p:cNvPr id="33" name="모서리가 둥근 직사각형 83">
            <a:extLst>
              <a:ext uri="{FF2B5EF4-FFF2-40B4-BE49-F238E27FC236}">
                <a16:creationId xmlns:a16="http://schemas.microsoft.com/office/drawing/2014/main" id="{BFB49CFD-0618-17E3-A536-F50E0E00DDF3}"/>
              </a:ext>
            </a:extLst>
          </p:cNvPr>
          <p:cNvSpPr/>
          <p:nvPr/>
        </p:nvSpPr>
        <p:spPr>
          <a:xfrm>
            <a:off x="2511676" y="2751743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만</a:t>
            </a: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14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세 이상</a:t>
            </a:r>
          </a:p>
        </p:txBody>
      </p:sp>
      <p:sp>
        <p:nvSpPr>
          <p:cNvPr id="34" name="모서리가 둥근 직사각형 83">
            <a:extLst>
              <a:ext uri="{FF2B5EF4-FFF2-40B4-BE49-F238E27FC236}">
                <a16:creationId xmlns:a16="http://schemas.microsoft.com/office/drawing/2014/main" id="{9D05663F-C2A4-CD85-D4F8-FD69ED8FE7E2}"/>
              </a:ext>
            </a:extLst>
          </p:cNvPr>
          <p:cNvSpPr/>
          <p:nvPr/>
        </p:nvSpPr>
        <p:spPr>
          <a:xfrm>
            <a:off x="2511676" y="2953784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회원정보 작성</a:t>
            </a:r>
          </a:p>
        </p:txBody>
      </p:sp>
      <p:sp>
        <p:nvSpPr>
          <p:cNvPr id="35" name="모서리가 둥근 직사각형 83">
            <a:extLst>
              <a:ext uri="{FF2B5EF4-FFF2-40B4-BE49-F238E27FC236}">
                <a16:creationId xmlns:a16="http://schemas.microsoft.com/office/drawing/2014/main" id="{225D44E4-EC38-83E1-852D-70A05BBF3125}"/>
              </a:ext>
            </a:extLst>
          </p:cNvPr>
          <p:cNvSpPr/>
          <p:nvPr/>
        </p:nvSpPr>
        <p:spPr>
          <a:xfrm>
            <a:off x="2511676" y="3155825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가입신청 완료</a:t>
            </a:r>
          </a:p>
        </p:txBody>
      </p:sp>
      <p:sp>
        <p:nvSpPr>
          <p:cNvPr id="37" name="모서리가 둥근 직사각형 83">
            <a:extLst>
              <a:ext uri="{FF2B5EF4-FFF2-40B4-BE49-F238E27FC236}">
                <a16:creationId xmlns:a16="http://schemas.microsoft.com/office/drawing/2014/main" id="{8A0BC0A0-3642-6FE4-7B79-0C5C68EE1088}"/>
              </a:ext>
            </a:extLst>
          </p:cNvPr>
          <p:cNvSpPr/>
          <p:nvPr/>
        </p:nvSpPr>
        <p:spPr>
          <a:xfrm>
            <a:off x="4854468" y="2574696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이상장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인사말</a:t>
            </a:r>
          </a:p>
        </p:txBody>
      </p:sp>
      <p:cxnSp>
        <p:nvCxnSpPr>
          <p:cNvPr id="38" name="꺾인 연결선 111">
            <a:extLst>
              <a:ext uri="{FF2B5EF4-FFF2-40B4-BE49-F238E27FC236}">
                <a16:creationId xmlns:a16="http://schemas.microsoft.com/office/drawing/2014/main" id="{0DB1AA73-FF46-F5D7-997C-8ECABD3CC77E}"/>
              </a:ext>
            </a:extLst>
          </p:cNvPr>
          <p:cNvCxnSpPr>
            <a:cxnSpLocks/>
            <a:stCxn id="37" idx="1"/>
            <a:endCxn id="3" idx="2"/>
          </p:cNvCxnSpPr>
          <p:nvPr/>
        </p:nvCxnSpPr>
        <p:spPr>
          <a:xfrm rot="10800000">
            <a:off x="4741374" y="2516589"/>
            <a:ext cx="113095" cy="144177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모서리가 둥근 직사각형 83">
            <a:extLst>
              <a:ext uri="{FF2B5EF4-FFF2-40B4-BE49-F238E27FC236}">
                <a16:creationId xmlns:a16="http://schemas.microsoft.com/office/drawing/2014/main" id="{639B8090-1F8B-0EE8-EBD9-1987DD819BA6}"/>
              </a:ext>
            </a:extLst>
          </p:cNvPr>
          <p:cNvSpPr/>
          <p:nvPr/>
        </p:nvSpPr>
        <p:spPr>
          <a:xfrm>
            <a:off x="4854468" y="2765866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연혁 및 소개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2" name="모서리가 둥근 직사각형 83">
            <a:extLst>
              <a:ext uri="{FF2B5EF4-FFF2-40B4-BE49-F238E27FC236}">
                <a16:creationId xmlns:a16="http://schemas.microsoft.com/office/drawing/2014/main" id="{C4EBB2C7-8D52-E936-2208-56B34A0FBB6D}"/>
              </a:ext>
            </a:extLst>
          </p:cNvPr>
          <p:cNvSpPr/>
          <p:nvPr/>
        </p:nvSpPr>
        <p:spPr>
          <a:xfrm>
            <a:off x="4854468" y="2964364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비전및핵심가치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3" name="모서리가 둥근 직사각형 83">
            <a:extLst>
              <a:ext uri="{FF2B5EF4-FFF2-40B4-BE49-F238E27FC236}">
                <a16:creationId xmlns:a16="http://schemas.microsoft.com/office/drawing/2014/main" id="{605BD91F-2B5C-0395-73C7-627969A618F0}"/>
              </a:ext>
            </a:extLst>
          </p:cNvPr>
          <p:cNvSpPr/>
          <p:nvPr/>
        </p:nvSpPr>
        <p:spPr>
          <a:xfrm>
            <a:off x="4854468" y="3163776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설립취지</a:t>
            </a:r>
          </a:p>
        </p:txBody>
      </p:sp>
      <p:cxnSp>
        <p:nvCxnSpPr>
          <p:cNvPr id="44" name="꺾인 연결선 111">
            <a:extLst>
              <a:ext uri="{FF2B5EF4-FFF2-40B4-BE49-F238E27FC236}">
                <a16:creationId xmlns:a16="http://schemas.microsoft.com/office/drawing/2014/main" id="{A0F44DDE-2DEA-DF7C-9FCA-E83BE8F916D2}"/>
              </a:ext>
            </a:extLst>
          </p:cNvPr>
          <p:cNvCxnSpPr>
            <a:cxnSpLocks/>
            <a:stCxn id="9" idx="1"/>
            <a:endCxn id="84" idx="2"/>
          </p:cNvCxnSpPr>
          <p:nvPr/>
        </p:nvCxnSpPr>
        <p:spPr>
          <a:xfrm rot="10800000">
            <a:off x="4212771" y="2282744"/>
            <a:ext cx="103425" cy="1187077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모서리가 둥근 직사각형 83">
            <a:extLst>
              <a:ext uri="{FF2B5EF4-FFF2-40B4-BE49-F238E27FC236}">
                <a16:creationId xmlns:a16="http://schemas.microsoft.com/office/drawing/2014/main" id="{435123F7-1498-58DD-B1B3-3F03A67CC48F}"/>
              </a:ext>
            </a:extLst>
          </p:cNvPr>
          <p:cNvSpPr/>
          <p:nvPr/>
        </p:nvSpPr>
        <p:spPr>
          <a:xfrm>
            <a:off x="4854468" y="3608303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조직도</a:t>
            </a:r>
          </a:p>
        </p:txBody>
      </p:sp>
      <p:cxnSp>
        <p:nvCxnSpPr>
          <p:cNvPr id="48" name="꺾인 연결선 111">
            <a:extLst>
              <a:ext uri="{FF2B5EF4-FFF2-40B4-BE49-F238E27FC236}">
                <a16:creationId xmlns:a16="http://schemas.microsoft.com/office/drawing/2014/main" id="{5C86FFFC-EDCA-E280-01B9-E89ADB3A634B}"/>
              </a:ext>
            </a:extLst>
          </p:cNvPr>
          <p:cNvCxnSpPr>
            <a:cxnSpLocks/>
            <a:stCxn id="47" idx="1"/>
            <a:endCxn id="9" idx="2"/>
          </p:cNvCxnSpPr>
          <p:nvPr/>
        </p:nvCxnSpPr>
        <p:spPr>
          <a:xfrm rot="10800000">
            <a:off x="4741374" y="3555890"/>
            <a:ext cx="113095" cy="138483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모서리가 둥근 직사각형 83">
            <a:extLst>
              <a:ext uri="{FF2B5EF4-FFF2-40B4-BE49-F238E27FC236}">
                <a16:creationId xmlns:a16="http://schemas.microsoft.com/office/drawing/2014/main" id="{C330135C-0CCB-CB09-1372-759651695398}"/>
              </a:ext>
            </a:extLst>
          </p:cNvPr>
          <p:cNvSpPr/>
          <p:nvPr/>
        </p:nvSpPr>
        <p:spPr>
          <a:xfrm>
            <a:off x="4854468" y="3807424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담당업무</a:t>
            </a:r>
          </a:p>
        </p:txBody>
      </p:sp>
      <p:sp>
        <p:nvSpPr>
          <p:cNvPr id="51" name="모서리가 둥근 직사각형 83">
            <a:extLst>
              <a:ext uri="{FF2B5EF4-FFF2-40B4-BE49-F238E27FC236}">
                <a16:creationId xmlns:a16="http://schemas.microsoft.com/office/drawing/2014/main" id="{D69151D9-B4C7-219A-9C07-DAB45B8AEA26}"/>
              </a:ext>
            </a:extLst>
          </p:cNvPr>
          <p:cNvSpPr/>
          <p:nvPr/>
        </p:nvSpPr>
        <p:spPr>
          <a:xfrm>
            <a:off x="4854468" y="3999507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임원현황</a:t>
            </a:r>
          </a:p>
        </p:txBody>
      </p:sp>
      <p:cxnSp>
        <p:nvCxnSpPr>
          <p:cNvPr id="52" name="꺾인 연결선 111">
            <a:extLst>
              <a:ext uri="{FF2B5EF4-FFF2-40B4-BE49-F238E27FC236}">
                <a16:creationId xmlns:a16="http://schemas.microsoft.com/office/drawing/2014/main" id="{C4B5797F-C06A-588E-0B52-770AD502918C}"/>
              </a:ext>
            </a:extLst>
          </p:cNvPr>
          <p:cNvCxnSpPr>
            <a:cxnSpLocks/>
            <a:stCxn id="32" idx="1"/>
            <a:endCxn id="82" idx="2"/>
          </p:cNvCxnSpPr>
          <p:nvPr/>
        </p:nvCxnSpPr>
        <p:spPr>
          <a:xfrm rot="10800000">
            <a:off x="2408252" y="2282743"/>
            <a:ext cx="103424" cy="353028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꺾인 연결선 111">
            <a:extLst>
              <a:ext uri="{FF2B5EF4-FFF2-40B4-BE49-F238E27FC236}">
                <a16:creationId xmlns:a16="http://schemas.microsoft.com/office/drawing/2014/main" id="{64DDC45E-F3E3-7A7B-5E75-E10375426524}"/>
              </a:ext>
            </a:extLst>
          </p:cNvPr>
          <p:cNvCxnSpPr>
            <a:cxnSpLocks/>
            <a:stCxn id="33" idx="1"/>
            <a:endCxn id="82" idx="2"/>
          </p:cNvCxnSpPr>
          <p:nvPr/>
        </p:nvCxnSpPr>
        <p:spPr>
          <a:xfrm rot="10800000">
            <a:off x="2408252" y="2282744"/>
            <a:ext cx="103424" cy="555069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꺾인 연결선 111">
            <a:extLst>
              <a:ext uri="{FF2B5EF4-FFF2-40B4-BE49-F238E27FC236}">
                <a16:creationId xmlns:a16="http://schemas.microsoft.com/office/drawing/2014/main" id="{258A5806-D0B8-65FA-5881-F4B8A5C349B7}"/>
              </a:ext>
            </a:extLst>
          </p:cNvPr>
          <p:cNvCxnSpPr>
            <a:cxnSpLocks/>
            <a:stCxn id="34" idx="1"/>
            <a:endCxn id="82" idx="2"/>
          </p:cNvCxnSpPr>
          <p:nvPr/>
        </p:nvCxnSpPr>
        <p:spPr>
          <a:xfrm rot="10800000">
            <a:off x="2408252" y="2282743"/>
            <a:ext cx="103424" cy="757110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꺾인 연결선 111">
            <a:extLst>
              <a:ext uri="{FF2B5EF4-FFF2-40B4-BE49-F238E27FC236}">
                <a16:creationId xmlns:a16="http://schemas.microsoft.com/office/drawing/2014/main" id="{2F927B8F-C957-E356-BB8C-963EC7345768}"/>
              </a:ext>
            </a:extLst>
          </p:cNvPr>
          <p:cNvCxnSpPr>
            <a:cxnSpLocks/>
            <a:stCxn id="35" idx="1"/>
            <a:endCxn id="82" idx="2"/>
          </p:cNvCxnSpPr>
          <p:nvPr/>
        </p:nvCxnSpPr>
        <p:spPr>
          <a:xfrm rot="10800000">
            <a:off x="2408252" y="2282744"/>
            <a:ext cx="103424" cy="959151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꺾인 연결선 111">
            <a:extLst>
              <a:ext uri="{FF2B5EF4-FFF2-40B4-BE49-F238E27FC236}">
                <a16:creationId xmlns:a16="http://schemas.microsoft.com/office/drawing/2014/main" id="{3A5681D8-BCF8-6FAD-2324-A78CC9B53C0E}"/>
              </a:ext>
            </a:extLst>
          </p:cNvPr>
          <p:cNvCxnSpPr>
            <a:cxnSpLocks/>
            <a:stCxn id="11" idx="1"/>
            <a:endCxn id="84" idx="2"/>
          </p:cNvCxnSpPr>
          <p:nvPr/>
        </p:nvCxnSpPr>
        <p:spPr>
          <a:xfrm rot="10800000">
            <a:off x="4212771" y="2282743"/>
            <a:ext cx="103425" cy="2018042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꺾인 연결선 111">
            <a:extLst>
              <a:ext uri="{FF2B5EF4-FFF2-40B4-BE49-F238E27FC236}">
                <a16:creationId xmlns:a16="http://schemas.microsoft.com/office/drawing/2014/main" id="{40839915-2A13-3873-7E0E-45700EF9D620}"/>
              </a:ext>
            </a:extLst>
          </p:cNvPr>
          <p:cNvCxnSpPr>
            <a:cxnSpLocks/>
            <a:stCxn id="12" idx="1"/>
            <a:endCxn id="84" idx="2"/>
          </p:cNvCxnSpPr>
          <p:nvPr/>
        </p:nvCxnSpPr>
        <p:spPr>
          <a:xfrm rot="10800000">
            <a:off x="4212771" y="2282744"/>
            <a:ext cx="103425" cy="2676869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꺾인 연결선 111">
            <a:extLst>
              <a:ext uri="{FF2B5EF4-FFF2-40B4-BE49-F238E27FC236}">
                <a16:creationId xmlns:a16="http://schemas.microsoft.com/office/drawing/2014/main" id="{4F9F6677-067C-A939-0245-D4EA8926D0B9}"/>
              </a:ext>
            </a:extLst>
          </p:cNvPr>
          <p:cNvCxnSpPr>
            <a:cxnSpLocks/>
            <a:stCxn id="13" idx="1"/>
            <a:endCxn id="84" idx="2"/>
          </p:cNvCxnSpPr>
          <p:nvPr/>
        </p:nvCxnSpPr>
        <p:spPr>
          <a:xfrm rot="10800000">
            <a:off x="4212771" y="2282743"/>
            <a:ext cx="103425" cy="3326832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모서리가 둥근 직사각형 83">
            <a:extLst>
              <a:ext uri="{FF2B5EF4-FFF2-40B4-BE49-F238E27FC236}">
                <a16:creationId xmlns:a16="http://schemas.microsoft.com/office/drawing/2014/main" id="{C83A8E3A-B8FF-ACAF-96E8-F693BA4E2BFC}"/>
              </a:ext>
            </a:extLst>
          </p:cNvPr>
          <p:cNvSpPr/>
          <p:nvPr/>
        </p:nvSpPr>
        <p:spPr>
          <a:xfrm>
            <a:off x="4854468" y="4438789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장학사업</a:t>
            </a:r>
          </a:p>
        </p:txBody>
      </p:sp>
      <p:cxnSp>
        <p:nvCxnSpPr>
          <p:cNvPr id="80" name="꺾인 연결선 111">
            <a:extLst>
              <a:ext uri="{FF2B5EF4-FFF2-40B4-BE49-F238E27FC236}">
                <a16:creationId xmlns:a16="http://schemas.microsoft.com/office/drawing/2014/main" id="{FF24206F-5948-44CF-BBB7-B0AD8D651222}"/>
              </a:ext>
            </a:extLst>
          </p:cNvPr>
          <p:cNvCxnSpPr>
            <a:cxnSpLocks/>
            <a:stCxn id="79" idx="1"/>
            <a:endCxn id="11" idx="2"/>
          </p:cNvCxnSpPr>
          <p:nvPr/>
        </p:nvCxnSpPr>
        <p:spPr>
          <a:xfrm rot="10800000">
            <a:off x="4741374" y="4386854"/>
            <a:ext cx="113095" cy="138004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모서리가 둥근 직사각형 83">
            <a:extLst>
              <a:ext uri="{FF2B5EF4-FFF2-40B4-BE49-F238E27FC236}">
                <a16:creationId xmlns:a16="http://schemas.microsoft.com/office/drawing/2014/main" id="{883CBD5D-9AFB-AF55-68CA-F04DE133C36E}"/>
              </a:ext>
            </a:extLst>
          </p:cNvPr>
          <p:cNvSpPr/>
          <p:nvPr/>
        </p:nvSpPr>
        <p:spPr>
          <a:xfrm>
            <a:off x="4854468" y="4637910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교육사업</a:t>
            </a:r>
          </a:p>
        </p:txBody>
      </p:sp>
      <p:sp>
        <p:nvSpPr>
          <p:cNvPr id="91" name="모서리가 둥근 직사각형 83">
            <a:extLst>
              <a:ext uri="{FF2B5EF4-FFF2-40B4-BE49-F238E27FC236}">
                <a16:creationId xmlns:a16="http://schemas.microsoft.com/office/drawing/2014/main" id="{65E1AA97-5A47-C25A-1138-72DF3E42D609}"/>
              </a:ext>
            </a:extLst>
          </p:cNvPr>
          <p:cNvSpPr/>
          <p:nvPr/>
        </p:nvSpPr>
        <p:spPr>
          <a:xfrm>
            <a:off x="4854468" y="5109176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오산교육재단</a:t>
            </a:r>
          </a:p>
        </p:txBody>
      </p:sp>
      <p:cxnSp>
        <p:nvCxnSpPr>
          <p:cNvPr id="96" name="꺾인 연결선 111">
            <a:extLst>
              <a:ext uri="{FF2B5EF4-FFF2-40B4-BE49-F238E27FC236}">
                <a16:creationId xmlns:a16="http://schemas.microsoft.com/office/drawing/2014/main" id="{6D40AACB-8E59-F39C-7686-6E04024BFD78}"/>
              </a:ext>
            </a:extLst>
          </p:cNvPr>
          <p:cNvCxnSpPr>
            <a:cxnSpLocks/>
            <a:stCxn id="91" idx="1"/>
            <a:endCxn id="12" idx="2"/>
          </p:cNvCxnSpPr>
          <p:nvPr/>
        </p:nvCxnSpPr>
        <p:spPr>
          <a:xfrm rot="10800000">
            <a:off x="4741374" y="5045681"/>
            <a:ext cx="113095" cy="149564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모서리가 둥근 직사각형 83">
            <a:extLst>
              <a:ext uri="{FF2B5EF4-FFF2-40B4-BE49-F238E27FC236}">
                <a16:creationId xmlns:a16="http://schemas.microsoft.com/office/drawing/2014/main" id="{0CE0B5E3-154A-C1C7-1EEF-A57B93584131}"/>
              </a:ext>
            </a:extLst>
          </p:cNvPr>
          <p:cNvSpPr/>
          <p:nvPr/>
        </p:nvSpPr>
        <p:spPr>
          <a:xfrm>
            <a:off x="4854468" y="5308297"/>
            <a:ext cx="1044000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오산시진로진학상담센터</a:t>
            </a:r>
          </a:p>
        </p:txBody>
      </p:sp>
      <p:sp>
        <p:nvSpPr>
          <p:cNvPr id="100" name="모서리가 둥근 직사각형 83">
            <a:extLst>
              <a:ext uri="{FF2B5EF4-FFF2-40B4-BE49-F238E27FC236}">
                <a16:creationId xmlns:a16="http://schemas.microsoft.com/office/drawing/2014/main" id="{57829BE1-7741-35A8-81BC-F8768CB4490F}"/>
              </a:ext>
            </a:extLst>
          </p:cNvPr>
          <p:cNvSpPr/>
          <p:nvPr/>
        </p:nvSpPr>
        <p:spPr>
          <a:xfrm>
            <a:off x="4854468" y="5747579"/>
            <a:ext cx="1028931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개인정보처리방침</a:t>
            </a:r>
          </a:p>
        </p:txBody>
      </p:sp>
      <p:cxnSp>
        <p:nvCxnSpPr>
          <p:cNvPr id="101" name="꺾인 연결선 111">
            <a:extLst>
              <a:ext uri="{FF2B5EF4-FFF2-40B4-BE49-F238E27FC236}">
                <a16:creationId xmlns:a16="http://schemas.microsoft.com/office/drawing/2014/main" id="{9D270DAA-8016-DA1C-83C0-6551786663C2}"/>
              </a:ext>
            </a:extLst>
          </p:cNvPr>
          <p:cNvCxnSpPr>
            <a:cxnSpLocks/>
            <a:stCxn id="100" idx="1"/>
            <a:endCxn id="13" idx="2"/>
          </p:cNvCxnSpPr>
          <p:nvPr/>
        </p:nvCxnSpPr>
        <p:spPr>
          <a:xfrm rot="10800000">
            <a:off x="4741374" y="5695644"/>
            <a:ext cx="113095" cy="138004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모서리가 둥근 직사각형 83">
            <a:extLst>
              <a:ext uri="{FF2B5EF4-FFF2-40B4-BE49-F238E27FC236}">
                <a16:creationId xmlns:a16="http://schemas.microsoft.com/office/drawing/2014/main" id="{4E4415CF-1F3C-A62A-7F53-09897A5BB940}"/>
              </a:ext>
            </a:extLst>
          </p:cNvPr>
          <p:cNvSpPr/>
          <p:nvPr/>
        </p:nvSpPr>
        <p:spPr>
          <a:xfrm>
            <a:off x="4854468" y="5946700"/>
            <a:ext cx="1028931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이메일무단수집거부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3" name="모서리가 둥근 직사각형 83">
            <a:extLst>
              <a:ext uri="{FF2B5EF4-FFF2-40B4-BE49-F238E27FC236}">
                <a16:creationId xmlns:a16="http://schemas.microsoft.com/office/drawing/2014/main" id="{6EB0F228-8595-7F4E-B4D5-E9B7092581FB}"/>
              </a:ext>
            </a:extLst>
          </p:cNvPr>
          <p:cNvSpPr/>
          <p:nvPr/>
        </p:nvSpPr>
        <p:spPr>
          <a:xfrm>
            <a:off x="4854468" y="6138783"/>
            <a:ext cx="1028931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홈페이지운영지침</a:t>
            </a:r>
          </a:p>
        </p:txBody>
      </p:sp>
      <p:sp>
        <p:nvSpPr>
          <p:cNvPr id="113" name="모서리가 둥근 직사각형 83">
            <a:extLst>
              <a:ext uri="{FF2B5EF4-FFF2-40B4-BE49-F238E27FC236}">
                <a16:creationId xmlns:a16="http://schemas.microsoft.com/office/drawing/2014/main" id="{FC914826-094F-01C4-6782-850D880266CC}"/>
              </a:ext>
            </a:extLst>
          </p:cNvPr>
          <p:cNvSpPr/>
          <p:nvPr/>
        </p:nvSpPr>
        <p:spPr>
          <a:xfrm>
            <a:off x="6043028" y="2344450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윤리경영</a:t>
            </a:r>
          </a:p>
        </p:txBody>
      </p:sp>
      <p:cxnSp>
        <p:nvCxnSpPr>
          <p:cNvPr id="114" name="꺾인 연결선 111">
            <a:extLst>
              <a:ext uri="{FF2B5EF4-FFF2-40B4-BE49-F238E27FC236}">
                <a16:creationId xmlns:a16="http://schemas.microsoft.com/office/drawing/2014/main" id="{CDECA647-B623-DCC1-8FCD-64B1197BCF1D}"/>
              </a:ext>
            </a:extLst>
          </p:cNvPr>
          <p:cNvCxnSpPr>
            <a:cxnSpLocks/>
            <a:stCxn id="113" idx="1"/>
            <a:endCxn id="85" idx="2"/>
          </p:cNvCxnSpPr>
          <p:nvPr/>
        </p:nvCxnSpPr>
        <p:spPr>
          <a:xfrm rot="10800000">
            <a:off x="5945162" y="2282743"/>
            <a:ext cx="97866" cy="147776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모서리가 둥근 직사각형 83">
            <a:extLst>
              <a:ext uri="{FF2B5EF4-FFF2-40B4-BE49-F238E27FC236}">
                <a16:creationId xmlns:a16="http://schemas.microsoft.com/office/drawing/2014/main" id="{8289839F-991A-A760-2684-5E5EAC6B3891}"/>
              </a:ext>
            </a:extLst>
          </p:cNvPr>
          <p:cNvSpPr/>
          <p:nvPr/>
        </p:nvSpPr>
        <p:spPr>
          <a:xfrm>
            <a:off x="6581300" y="2574696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윤리헌장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19" name="꺾인 연결선 111">
            <a:extLst>
              <a:ext uri="{FF2B5EF4-FFF2-40B4-BE49-F238E27FC236}">
                <a16:creationId xmlns:a16="http://schemas.microsoft.com/office/drawing/2014/main" id="{E2557C98-558B-8F65-BD2E-CF17DA93F39C}"/>
              </a:ext>
            </a:extLst>
          </p:cNvPr>
          <p:cNvCxnSpPr>
            <a:cxnSpLocks/>
            <a:stCxn id="118" idx="1"/>
            <a:endCxn id="113" idx="2"/>
          </p:cNvCxnSpPr>
          <p:nvPr/>
        </p:nvCxnSpPr>
        <p:spPr>
          <a:xfrm rot="10800000">
            <a:off x="6468206" y="2516589"/>
            <a:ext cx="113094" cy="144177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모서리가 둥근 직사각형 83">
            <a:extLst>
              <a:ext uri="{FF2B5EF4-FFF2-40B4-BE49-F238E27FC236}">
                <a16:creationId xmlns:a16="http://schemas.microsoft.com/office/drawing/2014/main" id="{E057C477-1C9B-78AB-1006-1D877D7CE09D}"/>
              </a:ext>
            </a:extLst>
          </p:cNvPr>
          <p:cNvSpPr/>
          <p:nvPr/>
        </p:nvSpPr>
        <p:spPr>
          <a:xfrm>
            <a:off x="6581300" y="2765866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행동강령</a:t>
            </a:r>
          </a:p>
        </p:txBody>
      </p:sp>
      <p:sp>
        <p:nvSpPr>
          <p:cNvPr id="121" name="모서리가 둥근 직사각형 83">
            <a:extLst>
              <a:ext uri="{FF2B5EF4-FFF2-40B4-BE49-F238E27FC236}">
                <a16:creationId xmlns:a16="http://schemas.microsoft.com/office/drawing/2014/main" id="{7F6F0FDC-A097-E26E-A327-44F36A34A878}"/>
              </a:ext>
            </a:extLst>
          </p:cNvPr>
          <p:cNvSpPr/>
          <p:nvPr/>
        </p:nvSpPr>
        <p:spPr>
          <a:xfrm>
            <a:off x="6581300" y="2964364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재단규정집</a:t>
            </a:r>
          </a:p>
        </p:txBody>
      </p:sp>
      <p:sp>
        <p:nvSpPr>
          <p:cNvPr id="123" name="모서리가 둥근 직사각형 83">
            <a:extLst>
              <a:ext uri="{FF2B5EF4-FFF2-40B4-BE49-F238E27FC236}">
                <a16:creationId xmlns:a16="http://schemas.microsoft.com/office/drawing/2014/main" id="{C2238056-2BEE-56F2-409B-658DF71C9905}"/>
              </a:ext>
            </a:extLst>
          </p:cNvPr>
          <p:cNvSpPr/>
          <p:nvPr/>
        </p:nvSpPr>
        <p:spPr>
          <a:xfrm>
            <a:off x="6043028" y="3179034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경영공시</a:t>
            </a:r>
          </a:p>
        </p:txBody>
      </p:sp>
      <p:cxnSp>
        <p:nvCxnSpPr>
          <p:cNvPr id="124" name="꺾인 연결선 111">
            <a:extLst>
              <a:ext uri="{FF2B5EF4-FFF2-40B4-BE49-F238E27FC236}">
                <a16:creationId xmlns:a16="http://schemas.microsoft.com/office/drawing/2014/main" id="{7B67EF7B-8475-08EC-BD4E-B8168910FB78}"/>
              </a:ext>
            </a:extLst>
          </p:cNvPr>
          <p:cNvCxnSpPr>
            <a:cxnSpLocks/>
            <a:stCxn id="123" idx="1"/>
            <a:endCxn id="85" idx="2"/>
          </p:cNvCxnSpPr>
          <p:nvPr/>
        </p:nvCxnSpPr>
        <p:spPr>
          <a:xfrm rot="10800000">
            <a:off x="5945162" y="2282743"/>
            <a:ext cx="97866" cy="982360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모서리가 둥근 직사각형 83">
            <a:extLst>
              <a:ext uri="{FF2B5EF4-FFF2-40B4-BE49-F238E27FC236}">
                <a16:creationId xmlns:a16="http://schemas.microsoft.com/office/drawing/2014/main" id="{573491CF-057A-0E85-31CA-03A1B8CF73AF}"/>
              </a:ext>
            </a:extLst>
          </p:cNvPr>
          <p:cNvSpPr/>
          <p:nvPr/>
        </p:nvSpPr>
        <p:spPr>
          <a:xfrm>
            <a:off x="6581300" y="3409280"/>
            <a:ext cx="936000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경영계획및예산서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26" name="꺾인 연결선 111">
            <a:extLst>
              <a:ext uri="{FF2B5EF4-FFF2-40B4-BE49-F238E27FC236}">
                <a16:creationId xmlns:a16="http://schemas.microsoft.com/office/drawing/2014/main" id="{A1F6FBCB-9587-0DAE-9E91-AF0050A4FE95}"/>
              </a:ext>
            </a:extLst>
          </p:cNvPr>
          <p:cNvCxnSpPr>
            <a:cxnSpLocks/>
            <a:stCxn id="125" idx="1"/>
            <a:endCxn id="123" idx="2"/>
          </p:cNvCxnSpPr>
          <p:nvPr/>
        </p:nvCxnSpPr>
        <p:spPr>
          <a:xfrm rot="10800000">
            <a:off x="6468206" y="3351173"/>
            <a:ext cx="113094" cy="144177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모서리가 둥근 직사각형 83">
            <a:extLst>
              <a:ext uri="{FF2B5EF4-FFF2-40B4-BE49-F238E27FC236}">
                <a16:creationId xmlns:a16="http://schemas.microsoft.com/office/drawing/2014/main" id="{20A1B4FC-DE32-8CB4-D883-9F9C9D1D974B}"/>
              </a:ext>
            </a:extLst>
          </p:cNvPr>
          <p:cNvSpPr/>
          <p:nvPr/>
        </p:nvSpPr>
        <p:spPr>
          <a:xfrm>
            <a:off x="6581300" y="3600450"/>
            <a:ext cx="1620000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경영평가 결과 및 성과계약 달성도</a:t>
            </a:r>
          </a:p>
        </p:txBody>
      </p:sp>
      <p:sp>
        <p:nvSpPr>
          <p:cNvPr id="128" name="모서리가 둥근 직사각형 83">
            <a:extLst>
              <a:ext uri="{FF2B5EF4-FFF2-40B4-BE49-F238E27FC236}">
                <a16:creationId xmlns:a16="http://schemas.microsoft.com/office/drawing/2014/main" id="{B91DE144-0702-DA20-A060-1B4B85E07D18}"/>
              </a:ext>
            </a:extLst>
          </p:cNvPr>
          <p:cNvSpPr/>
          <p:nvPr/>
        </p:nvSpPr>
        <p:spPr>
          <a:xfrm>
            <a:off x="6581300" y="3798948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감사결과</a:t>
            </a:r>
          </a:p>
        </p:txBody>
      </p:sp>
      <p:sp>
        <p:nvSpPr>
          <p:cNvPr id="130" name="모서리가 둥근 직사각형 83">
            <a:extLst>
              <a:ext uri="{FF2B5EF4-FFF2-40B4-BE49-F238E27FC236}">
                <a16:creationId xmlns:a16="http://schemas.microsoft.com/office/drawing/2014/main" id="{12424439-DBD7-FF8F-3052-54275038DEEA}"/>
              </a:ext>
            </a:extLst>
          </p:cNvPr>
          <p:cNvSpPr/>
          <p:nvPr/>
        </p:nvSpPr>
        <p:spPr>
          <a:xfrm>
            <a:off x="6581300" y="3998851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결산서</a:t>
            </a:r>
          </a:p>
        </p:txBody>
      </p:sp>
      <p:sp>
        <p:nvSpPr>
          <p:cNvPr id="131" name="모서리가 둥근 직사각형 83">
            <a:extLst>
              <a:ext uri="{FF2B5EF4-FFF2-40B4-BE49-F238E27FC236}">
                <a16:creationId xmlns:a16="http://schemas.microsoft.com/office/drawing/2014/main" id="{43A12BCF-CFE7-8FE9-5446-4134DDC9033D}"/>
              </a:ext>
            </a:extLst>
          </p:cNvPr>
          <p:cNvSpPr/>
          <p:nvPr/>
        </p:nvSpPr>
        <p:spPr>
          <a:xfrm>
            <a:off x="6581300" y="4206765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인력현황</a:t>
            </a:r>
          </a:p>
        </p:txBody>
      </p:sp>
      <p:sp>
        <p:nvSpPr>
          <p:cNvPr id="132" name="모서리가 둥근 직사각형 83">
            <a:extLst>
              <a:ext uri="{FF2B5EF4-FFF2-40B4-BE49-F238E27FC236}">
                <a16:creationId xmlns:a16="http://schemas.microsoft.com/office/drawing/2014/main" id="{DB2C2D9B-D6D8-75E7-85AE-34496C8B0479}"/>
              </a:ext>
            </a:extLst>
          </p:cNvPr>
          <p:cNvSpPr/>
          <p:nvPr/>
        </p:nvSpPr>
        <p:spPr>
          <a:xfrm>
            <a:off x="6581300" y="4404461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인건비현황</a:t>
            </a:r>
          </a:p>
        </p:txBody>
      </p:sp>
      <p:sp>
        <p:nvSpPr>
          <p:cNvPr id="133" name="모서리가 둥근 직사각형 83">
            <a:extLst>
              <a:ext uri="{FF2B5EF4-FFF2-40B4-BE49-F238E27FC236}">
                <a16:creationId xmlns:a16="http://schemas.microsoft.com/office/drawing/2014/main" id="{C14B2905-FAA9-AB06-F538-EA13B24952FA}"/>
              </a:ext>
            </a:extLst>
          </p:cNvPr>
          <p:cNvSpPr/>
          <p:nvPr/>
        </p:nvSpPr>
        <p:spPr>
          <a:xfrm>
            <a:off x="6581300" y="4602157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재무현황</a:t>
            </a:r>
          </a:p>
        </p:txBody>
      </p:sp>
      <p:sp>
        <p:nvSpPr>
          <p:cNvPr id="134" name="모서리가 둥근 직사각형 83">
            <a:extLst>
              <a:ext uri="{FF2B5EF4-FFF2-40B4-BE49-F238E27FC236}">
                <a16:creationId xmlns:a16="http://schemas.microsoft.com/office/drawing/2014/main" id="{0CF745E6-6578-FE8E-BDF5-6D53076F957C}"/>
              </a:ext>
            </a:extLst>
          </p:cNvPr>
          <p:cNvSpPr/>
          <p:nvPr/>
        </p:nvSpPr>
        <p:spPr>
          <a:xfrm>
            <a:off x="6581300" y="4793710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기본재산현황</a:t>
            </a:r>
          </a:p>
        </p:txBody>
      </p:sp>
      <p:sp>
        <p:nvSpPr>
          <p:cNvPr id="135" name="모서리가 둥근 직사각형 83">
            <a:extLst>
              <a:ext uri="{FF2B5EF4-FFF2-40B4-BE49-F238E27FC236}">
                <a16:creationId xmlns:a16="http://schemas.microsoft.com/office/drawing/2014/main" id="{8F0C2176-5053-0B74-36CD-CC1C3AC37663}"/>
              </a:ext>
            </a:extLst>
          </p:cNvPr>
          <p:cNvSpPr/>
          <p:nvPr/>
        </p:nvSpPr>
        <p:spPr>
          <a:xfrm>
            <a:off x="6043028" y="5028079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기타공시</a:t>
            </a:r>
          </a:p>
        </p:txBody>
      </p:sp>
      <p:cxnSp>
        <p:nvCxnSpPr>
          <p:cNvPr id="136" name="꺾인 연결선 111">
            <a:extLst>
              <a:ext uri="{FF2B5EF4-FFF2-40B4-BE49-F238E27FC236}">
                <a16:creationId xmlns:a16="http://schemas.microsoft.com/office/drawing/2014/main" id="{9D72D67D-3BE9-3141-5A45-656D8C09B1B6}"/>
              </a:ext>
            </a:extLst>
          </p:cNvPr>
          <p:cNvCxnSpPr>
            <a:cxnSpLocks/>
            <a:stCxn id="135" idx="1"/>
            <a:endCxn id="85" idx="2"/>
          </p:cNvCxnSpPr>
          <p:nvPr/>
        </p:nvCxnSpPr>
        <p:spPr>
          <a:xfrm rot="10800000">
            <a:off x="5945162" y="2282744"/>
            <a:ext cx="97866" cy="2831405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모서리가 둥근 직사각형 83">
            <a:extLst>
              <a:ext uri="{FF2B5EF4-FFF2-40B4-BE49-F238E27FC236}">
                <a16:creationId xmlns:a16="http://schemas.microsoft.com/office/drawing/2014/main" id="{75BED7E8-FC5C-A161-0FE6-7330F5F4FCCA}"/>
              </a:ext>
            </a:extLst>
          </p:cNvPr>
          <p:cNvSpPr/>
          <p:nvPr/>
        </p:nvSpPr>
        <p:spPr>
          <a:xfrm>
            <a:off x="6581300" y="5258325"/>
            <a:ext cx="1260000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복리후생비 및 업무추진비</a:t>
            </a:r>
          </a:p>
        </p:txBody>
      </p:sp>
      <p:cxnSp>
        <p:nvCxnSpPr>
          <p:cNvPr id="138" name="꺾인 연결선 111">
            <a:extLst>
              <a:ext uri="{FF2B5EF4-FFF2-40B4-BE49-F238E27FC236}">
                <a16:creationId xmlns:a16="http://schemas.microsoft.com/office/drawing/2014/main" id="{F1DD2397-9039-75B8-E3FE-FCB0052BBC4D}"/>
              </a:ext>
            </a:extLst>
          </p:cNvPr>
          <p:cNvCxnSpPr>
            <a:cxnSpLocks/>
            <a:stCxn id="137" idx="1"/>
            <a:endCxn id="135" idx="2"/>
          </p:cNvCxnSpPr>
          <p:nvPr/>
        </p:nvCxnSpPr>
        <p:spPr>
          <a:xfrm rot="10800000">
            <a:off x="6468206" y="5200218"/>
            <a:ext cx="113094" cy="144177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모서리가 둥근 직사각형 83">
            <a:extLst>
              <a:ext uri="{FF2B5EF4-FFF2-40B4-BE49-F238E27FC236}">
                <a16:creationId xmlns:a16="http://schemas.microsoft.com/office/drawing/2014/main" id="{0EBC167A-2A63-1DCC-E0A5-0BCFBA7F50B0}"/>
              </a:ext>
            </a:extLst>
          </p:cNvPr>
          <p:cNvSpPr/>
          <p:nvPr/>
        </p:nvSpPr>
        <p:spPr>
          <a:xfrm>
            <a:off x="6581300" y="5449495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입찰 및 수의계약</a:t>
            </a:r>
          </a:p>
        </p:txBody>
      </p:sp>
      <p:sp>
        <p:nvSpPr>
          <p:cNvPr id="141" name="모서리가 둥근 직사각형 83">
            <a:extLst>
              <a:ext uri="{FF2B5EF4-FFF2-40B4-BE49-F238E27FC236}">
                <a16:creationId xmlns:a16="http://schemas.microsoft.com/office/drawing/2014/main" id="{A01B493E-8FF2-8541-E462-5E89F2755836}"/>
              </a:ext>
            </a:extLst>
          </p:cNvPr>
          <p:cNvSpPr/>
          <p:nvPr/>
        </p:nvSpPr>
        <p:spPr>
          <a:xfrm>
            <a:off x="6581300" y="5647993"/>
            <a:ext cx="1008000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친인척채용인원 공개</a:t>
            </a:r>
          </a:p>
        </p:txBody>
      </p:sp>
      <p:sp>
        <p:nvSpPr>
          <p:cNvPr id="148" name="모서리가 둥근 직사각형 83">
            <a:extLst>
              <a:ext uri="{FF2B5EF4-FFF2-40B4-BE49-F238E27FC236}">
                <a16:creationId xmlns:a16="http://schemas.microsoft.com/office/drawing/2014/main" id="{DECE3269-4171-C63F-75BA-E22351581700}"/>
              </a:ext>
            </a:extLst>
          </p:cNvPr>
          <p:cNvSpPr/>
          <p:nvPr/>
        </p:nvSpPr>
        <p:spPr>
          <a:xfrm>
            <a:off x="6581300" y="5862844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인권경영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9" name="모서리가 둥근 직사각형 83">
            <a:extLst>
              <a:ext uri="{FF2B5EF4-FFF2-40B4-BE49-F238E27FC236}">
                <a16:creationId xmlns:a16="http://schemas.microsoft.com/office/drawing/2014/main" id="{FB3D84D4-1A75-9E95-350D-CCFE87E2B254}"/>
              </a:ext>
            </a:extLst>
          </p:cNvPr>
          <p:cNvSpPr/>
          <p:nvPr/>
        </p:nvSpPr>
        <p:spPr>
          <a:xfrm>
            <a:off x="6581300" y="6077394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기타</a:t>
            </a:r>
          </a:p>
        </p:txBody>
      </p:sp>
      <p:sp>
        <p:nvSpPr>
          <p:cNvPr id="153" name="모서리가 둥근 직사각형 83">
            <a:extLst>
              <a:ext uri="{FF2B5EF4-FFF2-40B4-BE49-F238E27FC236}">
                <a16:creationId xmlns:a16="http://schemas.microsoft.com/office/drawing/2014/main" id="{2D10841B-D71E-E084-0282-96579D8F0640}"/>
              </a:ext>
            </a:extLst>
          </p:cNvPr>
          <p:cNvSpPr/>
          <p:nvPr/>
        </p:nvSpPr>
        <p:spPr>
          <a:xfrm>
            <a:off x="6043028" y="6332572"/>
            <a:ext cx="638885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비공개기준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54" name="꺾인 연결선 111">
            <a:extLst>
              <a:ext uri="{FF2B5EF4-FFF2-40B4-BE49-F238E27FC236}">
                <a16:creationId xmlns:a16="http://schemas.microsoft.com/office/drawing/2014/main" id="{597D9C21-8C89-884A-F991-FA906E393EEE}"/>
              </a:ext>
            </a:extLst>
          </p:cNvPr>
          <p:cNvCxnSpPr>
            <a:cxnSpLocks/>
            <a:stCxn id="153" idx="1"/>
            <a:endCxn id="85" idx="2"/>
          </p:cNvCxnSpPr>
          <p:nvPr/>
        </p:nvCxnSpPr>
        <p:spPr>
          <a:xfrm rot="10800000">
            <a:off x="5945162" y="2282743"/>
            <a:ext cx="97866" cy="4135898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모서리가 둥근 직사각형 83">
            <a:extLst>
              <a:ext uri="{FF2B5EF4-FFF2-40B4-BE49-F238E27FC236}">
                <a16:creationId xmlns:a16="http://schemas.microsoft.com/office/drawing/2014/main" id="{3B8BCEE8-7F52-2CCA-DBFA-5B979A06F761}"/>
              </a:ext>
            </a:extLst>
          </p:cNvPr>
          <p:cNvSpPr/>
          <p:nvPr/>
        </p:nvSpPr>
        <p:spPr>
          <a:xfrm>
            <a:off x="6710888" y="6332572"/>
            <a:ext cx="638885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통합공시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8" name="모서리가 둥근 직사각형 83">
            <a:extLst>
              <a:ext uri="{FF2B5EF4-FFF2-40B4-BE49-F238E27FC236}">
                <a16:creationId xmlns:a16="http://schemas.microsoft.com/office/drawing/2014/main" id="{0848B208-FA03-C322-1C65-89B6BF9CCB8C}"/>
              </a:ext>
            </a:extLst>
          </p:cNvPr>
          <p:cNvSpPr/>
          <p:nvPr/>
        </p:nvSpPr>
        <p:spPr>
          <a:xfrm>
            <a:off x="7375484" y="6332572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정보공개시스템</a:t>
            </a:r>
          </a:p>
        </p:txBody>
      </p:sp>
      <p:sp>
        <p:nvSpPr>
          <p:cNvPr id="159" name="모서리가 둥근 직사각형 83">
            <a:extLst>
              <a:ext uri="{FF2B5EF4-FFF2-40B4-BE49-F238E27FC236}">
                <a16:creationId xmlns:a16="http://schemas.microsoft.com/office/drawing/2014/main" id="{C8F21960-9514-C1DB-7962-BD13171463B9}"/>
              </a:ext>
            </a:extLst>
          </p:cNvPr>
          <p:cNvSpPr/>
          <p:nvPr/>
        </p:nvSpPr>
        <p:spPr>
          <a:xfrm>
            <a:off x="8256563" y="6332572"/>
            <a:ext cx="850356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클린신고센터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4" name="모서리가 둥근 직사각형 84">
            <a:extLst>
              <a:ext uri="{FF2B5EF4-FFF2-40B4-BE49-F238E27FC236}">
                <a16:creationId xmlns:a16="http://schemas.microsoft.com/office/drawing/2014/main" id="{3E773A0F-1D1C-B142-FA76-F1D5EEC5C2B8}"/>
              </a:ext>
            </a:extLst>
          </p:cNvPr>
          <p:cNvSpPr/>
          <p:nvPr/>
        </p:nvSpPr>
        <p:spPr>
          <a:xfrm>
            <a:off x="6407873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재단소식</a:t>
            </a:r>
          </a:p>
        </p:txBody>
      </p:sp>
      <p:cxnSp>
        <p:nvCxnSpPr>
          <p:cNvPr id="165" name="꺾인 연결선 111">
            <a:extLst>
              <a:ext uri="{FF2B5EF4-FFF2-40B4-BE49-F238E27FC236}">
                <a16:creationId xmlns:a16="http://schemas.microsoft.com/office/drawing/2014/main" id="{45E262CB-BDD2-80C3-86A9-E486C86059BD}"/>
              </a:ext>
            </a:extLst>
          </p:cNvPr>
          <p:cNvCxnSpPr>
            <a:cxnSpLocks/>
            <a:stCxn id="164" idx="0"/>
            <a:endCxn id="75" idx="2"/>
          </p:cNvCxnSpPr>
          <p:nvPr/>
        </p:nvCxnSpPr>
        <p:spPr>
          <a:xfrm rot="16200000" flipV="1">
            <a:off x="5763474" y="1016992"/>
            <a:ext cx="343487" cy="1809312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모서리가 둥근 직사각형 84">
            <a:extLst>
              <a:ext uri="{FF2B5EF4-FFF2-40B4-BE49-F238E27FC236}">
                <a16:creationId xmlns:a16="http://schemas.microsoft.com/office/drawing/2014/main" id="{AA5807D2-62E0-2A49-61E5-2F4E98FE3574}"/>
              </a:ext>
            </a:extLst>
          </p:cNvPr>
          <p:cNvSpPr/>
          <p:nvPr/>
        </p:nvSpPr>
        <p:spPr>
          <a:xfrm>
            <a:off x="8225198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오산시민평생교육장려금</a:t>
            </a:r>
          </a:p>
        </p:txBody>
      </p:sp>
    </p:spTree>
    <p:extLst>
      <p:ext uri="{BB962C8B-B14F-4D97-AF65-F5344CB8AC3E}">
        <p14:creationId xmlns:p14="http://schemas.microsoft.com/office/powerpoint/2010/main" val="1710201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15F81-5178-7602-F917-B5E75F87B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DEC9959-209A-8D33-DE3D-E030DD3F15EB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고등학생장학금 조회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F2B0FE2-3E27-AA64-134B-9A0DB759E273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프로그램신청관리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고등학생장학금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조회</a:t>
            </a: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E0A4DB3E-32CA-59D7-5E46-096C8862B4F4}"/>
              </a:ext>
            </a:extLst>
          </p:cNvPr>
          <p:cNvGraphicFramePr>
            <a:graphicFrameLocks noGrp="1"/>
          </p:cNvGraphicFramePr>
          <p:nvPr/>
        </p:nvGraphicFramePr>
        <p:xfrm>
          <a:off x="6969418" y="2548005"/>
          <a:ext cx="2772114" cy="971337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9B4460F6-FCEC-F620-F476-C0CA72C9BD9D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pmh_hit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35A8BF59-07FE-A92C-C5A7-868BA00E5904}"/>
              </a:ext>
            </a:extLst>
          </p:cNvPr>
          <p:cNvSpPr/>
          <p:nvPr/>
        </p:nvSpPr>
        <p:spPr>
          <a:xfrm>
            <a:off x="165100" y="1376772"/>
            <a:ext cx="6732116" cy="36877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7F1E3B1D-E2EA-80F9-1ABE-8A4898E3F4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1468700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823B1718-6000-AEF9-188A-DA5D8C6D605F}"/>
              </a:ext>
            </a:extLst>
          </p:cNvPr>
          <p:cNvSpPr/>
          <p:nvPr/>
        </p:nvSpPr>
        <p:spPr>
          <a:xfrm>
            <a:off x="5680946" y="1586865"/>
            <a:ext cx="1165384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오산시민 평생교육장려금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6FD2445-4278-6ECD-1D88-CF63B5173095}"/>
              </a:ext>
            </a:extLst>
          </p:cNvPr>
          <p:cNvSpPr/>
          <p:nvPr/>
        </p:nvSpPr>
        <p:spPr>
          <a:xfrm>
            <a:off x="4831365" y="1586865"/>
            <a:ext cx="652423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 신청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CCF122-ABA1-5257-601C-815477DE2B56}"/>
              </a:ext>
            </a:extLst>
          </p:cNvPr>
          <p:cNvSpPr/>
          <p:nvPr/>
        </p:nvSpPr>
        <p:spPr>
          <a:xfrm>
            <a:off x="4223838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재단소식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8FBB7A3-1DB6-2BA4-7B6E-A7AB734A7E80}"/>
              </a:ext>
            </a:extLst>
          </p:cNvPr>
          <p:cNvSpPr/>
          <p:nvPr/>
        </p:nvSpPr>
        <p:spPr>
          <a:xfrm>
            <a:off x="3616311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열린경영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49EAE53-6B5B-DB4D-DF82-DFE938744F22}"/>
              </a:ext>
            </a:extLst>
          </p:cNvPr>
          <p:cNvSpPr/>
          <p:nvPr/>
        </p:nvSpPr>
        <p:spPr>
          <a:xfrm>
            <a:off x="3008784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1073C43-38F6-3B97-86AF-44D939A1938F}"/>
              </a:ext>
            </a:extLst>
          </p:cNvPr>
          <p:cNvSpPr/>
          <p:nvPr/>
        </p:nvSpPr>
        <p:spPr>
          <a:xfrm>
            <a:off x="165100" y="1790190"/>
            <a:ext cx="6732116" cy="1170758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메인 슬라이드 영역</a:t>
            </a: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D99DD60-146F-D452-9FA9-804B36D1F8B1}"/>
              </a:ext>
            </a:extLst>
          </p:cNvPr>
          <p:cNvSpPr/>
          <p:nvPr/>
        </p:nvSpPr>
        <p:spPr>
          <a:xfrm>
            <a:off x="5997030" y="1428678"/>
            <a:ext cx="686086" cy="7694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마이페이지  </a:t>
            </a:r>
            <a:r>
              <a:rPr kumimoji="0" lang="en-US" altLang="ko-KR" sz="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|  </a:t>
            </a:r>
            <a:r>
              <a:rPr kumimoji="0" lang="ko-KR" altLang="en-US" sz="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로그아웃</a:t>
            </a:r>
          </a:p>
        </p:txBody>
      </p:sp>
      <p:pic>
        <p:nvPicPr>
          <p:cNvPr id="8" name="Picture 161" descr="D:\05 문서\02 문서 디자인\아이콘\icon2\appbar.lines.horizontal.4.png">
            <a:extLst>
              <a:ext uri="{FF2B5EF4-FFF2-40B4-BE49-F238E27FC236}">
                <a16:creationId xmlns:a16="http://schemas.microsoft.com/office/drawing/2014/main" id="{1CE3D9AC-21FC-D527-73E3-2C512A6D39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7131" y="1370565"/>
            <a:ext cx="193896" cy="193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3B12AE95-5D69-1BB6-41DE-AB200AE812C2}"/>
              </a:ext>
            </a:extLst>
          </p:cNvPr>
          <p:cNvSpPr/>
          <p:nvPr/>
        </p:nvSpPr>
        <p:spPr>
          <a:xfrm>
            <a:off x="165100" y="3005593"/>
            <a:ext cx="2155338" cy="1287548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19F589C-18B1-D075-94CD-FB36F95706F6}"/>
              </a:ext>
            </a:extLst>
          </p:cNvPr>
          <p:cNvSpPr/>
          <p:nvPr/>
        </p:nvSpPr>
        <p:spPr>
          <a:xfrm>
            <a:off x="210872" y="3055042"/>
            <a:ext cx="1003480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온라인 명예의 전당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72C5929-ED0A-6D34-0CE2-4FDF446D5524}"/>
              </a:ext>
            </a:extLst>
          </p:cNvPr>
          <p:cNvSpPr/>
          <p:nvPr/>
        </p:nvSpPr>
        <p:spPr>
          <a:xfrm>
            <a:off x="210872" y="3243431"/>
            <a:ext cx="448841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포토갤러리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BCDDE2B-0B51-236F-191E-0EEBF4C41BA1}"/>
              </a:ext>
            </a:extLst>
          </p:cNvPr>
          <p:cNvSpPr/>
          <p:nvPr/>
        </p:nvSpPr>
        <p:spPr>
          <a:xfrm>
            <a:off x="1979178" y="4098985"/>
            <a:ext cx="270908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◀ ▶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416C83C-EDDD-FCA3-EED4-88FB3F8B9C92}"/>
              </a:ext>
            </a:extLst>
          </p:cNvPr>
          <p:cNvSpPr/>
          <p:nvPr/>
        </p:nvSpPr>
        <p:spPr>
          <a:xfrm>
            <a:off x="2396716" y="3005593"/>
            <a:ext cx="4484310" cy="1287548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A1214ED-DFD7-EE93-4D59-689826DBA2B2}"/>
              </a:ext>
            </a:extLst>
          </p:cNvPr>
          <p:cNvSpPr/>
          <p:nvPr/>
        </p:nvSpPr>
        <p:spPr>
          <a:xfrm>
            <a:off x="2506845" y="3055042"/>
            <a:ext cx="461665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재단소식</a:t>
            </a:r>
            <a:endParaRPr kumimoji="0" lang="ko-KR" alt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5F1A609-D851-2568-2CE6-4C7B13187569}"/>
              </a:ext>
            </a:extLst>
          </p:cNvPr>
          <p:cNvSpPr/>
          <p:nvPr/>
        </p:nvSpPr>
        <p:spPr>
          <a:xfrm>
            <a:off x="3207389" y="3055042"/>
            <a:ext cx="461665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공지사항</a:t>
            </a:r>
            <a:endParaRPr kumimoji="0" lang="ko-KR" alt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44E03C3-8455-97A1-D915-0CB69E7EC9ED}"/>
              </a:ext>
            </a:extLst>
          </p:cNvPr>
          <p:cNvSpPr/>
          <p:nvPr/>
        </p:nvSpPr>
        <p:spPr>
          <a:xfrm>
            <a:off x="3907933" y="3055042"/>
            <a:ext cx="461665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채용공고</a:t>
            </a:r>
            <a:endParaRPr kumimoji="0" lang="ko-KR" alt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0A4F78D-B8B9-DBF9-BF0E-78DD891C891A}"/>
              </a:ext>
            </a:extLst>
          </p:cNvPr>
          <p:cNvSpPr/>
          <p:nvPr/>
        </p:nvSpPr>
        <p:spPr>
          <a:xfrm>
            <a:off x="4608477" y="3055042"/>
            <a:ext cx="461665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보도자료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BB05B27-3402-83DF-CDDC-9C72C60C2898}"/>
              </a:ext>
            </a:extLst>
          </p:cNvPr>
          <p:cNvSpPr/>
          <p:nvPr/>
        </p:nvSpPr>
        <p:spPr>
          <a:xfrm>
            <a:off x="6753200" y="3020157"/>
            <a:ext cx="92974" cy="1538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+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78B856F-E6E4-20A3-084D-7F45B5596FD6}"/>
              </a:ext>
            </a:extLst>
          </p:cNvPr>
          <p:cNvSpPr/>
          <p:nvPr/>
        </p:nvSpPr>
        <p:spPr>
          <a:xfrm>
            <a:off x="2559317" y="3304728"/>
            <a:ext cx="872034" cy="94865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공지사항 제목 입니다</a:t>
            </a:r>
            <a:endParaRPr kumimoji="0" lang="en-US" altLang="ko-KR" sz="7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공지사항 제목 입니다</a:t>
            </a:r>
            <a:endParaRPr lang="en-US" altLang="ko-KR" sz="7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공지사항 제목 입니다</a:t>
            </a:r>
            <a:endParaRPr kumimoji="0" lang="en-US" altLang="ko-KR" sz="7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공지사항 제목 입니다</a:t>
            </a:r>
            <a:endParaRPr lang="en-US" altLang="ko-KR" sz="7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공지사항 제목 입니다</a:t>
            </a:r>
            <a:endParaRPr kumimoji="0" lang="en-US" altLang="ko-KR" sz="7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공지사항 제목 입니다</a:t>
            </a: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C9BAE96E-6304-B985-0ACD-FB70C8BC4896}"/>
              </a:ext>
            </a:extLst>
          </p:cNvPr>
          <p:cNvCxnSpPr>
            <a:cxnSpLocks/>
          </p:cNvCxnSpPr>
          <p:nvPr/>
        </p:nvCxnSpPr>
        <p:spPr>
          <a:xfrm>
            <a:off x="2519562" y="3267284"/>
            <a:ext cx="4287013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1B90B378-9E61-457E-D577-D712FC0C1C35}"/>
              </a:ext>
            </a:extLst>
          </p:cNvPr>
          <p:cNvSpPr/>
          <p:nvPr/>
        </p:nvSpPr>
        <p:spPr>
          <a:xfrm>
            <a:off x="6370558" y="3304728"/>
            <a:ext cx="436017" cy="94865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2025.10.28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2025.10.28</a:t>
            </a:r>
            <a:endParaRPr lang="en-US" altLang="ko-KR" sz="7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2025.10.28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2025.10.28</a:t>
            </a:r>
            <a:endParaRPr lang="en-US" altLang="ko-KR" sz="7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2025.10.28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2025.10.28</a:t>
            </a:r>
            <a:endParaRPr kumimoji="0" lang="ko-KR" altLang="en-US" sz="7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C291EA8D-5A5D-6C42-2079-5482A0FA823C}"/>
              </a:ext>
            </a:extLst>
          </p:cNvPr>
          <p:cNvSpPr/>
          <p:nvPr/>
        </p:nvSpPr>
        <p:spPr>
          <a:xfrm>
            <a:off x="165100" y="4338674"/>
            <a:ext cx="6732116" cy="818518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3928838D-100F-0656-C8C2-241D717A683E}"/>
              </a:ext>
            </a:extLst>
          </p:cNvPr>
          <p:cNvSpPr/>
          <p:nvPr/>
        </p:nvSpPr>
        <p:spPr>
          <a:xfrm>
            <a:off x="210872" y="4426291"/>
            <a:ext cx="1194238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오산교육재단 사업안내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75470213-489D-3ED0-0BE8-5D261CB577E2}"/>
              </a:ext>
            </a:extLst>
          </p:cNvPr>
          <p:cNvSpPr/>
          <p:nvPr/>
        </p:nvSpPr>
        <p:spPr>
          <a:xfrm>
            <a:off x="271480" y="4854038"/>
            <a:ext cx="829092" cy="174260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사업안내 </a:t>
            </a: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보러가기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2" name="모서리가 둥근 직사각형 121">
            <a:extLst>
              <a:ext uri="{FF2B5EF4-FFF2-40B4-BE49-F238E27FC236}">
                <a16:creationId xmlns:a16="http://schemas.microsoft.com/office/drawing/2014/main" id="{FF2DD1BF-FA0F-D0A0-AE49-E4E68B0C98EF}"/>
              </a:ext>
            </a:extLst>
          </p:cNvPr>
          <p:cNvSpPr/>
          <p:nvPr/>
        </p:nvSpPr>
        <p:spPr>
          <a:xfrm>
            <a:off x="2358477" y="4417189"/>
            <a:ext cx="2104240" cy="656868"/>
          </a:xfrm>
          <a:prstGeom prst="roundRect">
            <a:avLst>
              <a:gd name="adj" fmla="val 9900"/>
            </a:avLst>
          </a:prstGeom>
          <a:solidFill>
            <a:schemeClr val="bg1">
              <a:alpha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algn="ctr"/>
            <a:endParaRPr lang="ko-KR" altLang="en-US" sz="700" b="1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53" name="모서리가 둥근 직사각형 121">
            <a:extLst>
              <a:ext uri="{FF2B5EF4-FFF2-40B4-BE49-F238E27FC236}">
                <a16:creationId xmlns:a16="http://schemas.microsoft.com/office/drawing/2014/main" id="{95396D41-D2E6-7B78-17A2-6B264E0962E0}"/>
              </a:ext>
            </a:extLst>
          </p:cNvPr>
          <p:cNvSpPr/>
          <p:nvPr/>
        </p:nvSpPr>
        <p:spPr>
          <a:xfrm>
            <a:off x="4608477" y="4417189"/>
            <a:ext cx="2104240" cy="656868"/>
          </a:xfrm>
          <a:prstGeom prst="roundRect">
            <a:avLst>
              <a:gd name="adj" fmla="val 7479"/>
            </a:avLst>
          </a:prstGeom>
          <a:solidFill>
            <a:schemeClr val="bg1">
              <a:alpha val="90000"/>
            </a:schemeClr>
          </a:solidFill>
          <a:ln w="190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algn="ctr"/>
            <a:endParaRPr lang="ko-KR" altLang="en-US" sz="700" b="1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8612B072-4A45-444B-B490-67748806D739}"/>
              </a:ext>
            </a:extLst>
          </p:cNvPr>
          <p:cNvSpPr/>
          <p:nvPr/>
        </p:nvSpPr>
        <p:spPr>
          <a:xfrm>
            <a:off x="3063326" y="4506496"/>
            <a:ext cx="461665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장학사업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F4244133-3EFE-56B2-F94D-BEB8EC19106D}"/>
              </a:ext>
            </a:extLst>
          </p:cNvPr>
          <p:cNvSpPr/>
          <p:nvPr/>
        </p:nvSpPr>
        <p:spPr>
          <a:xfrm>
            <a:off x="3044788" y="4686934"/>
            <a:ext cx="1396870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고등학생 장학금</a:t>
            </a:r>
            <a:r>
              <a:rPr kumimoji="0" lang="en-US" altLang="ko-KR" sz="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대학생 장학금</a:t>
            </a:r>
            <a:r>
              <a:rPr kumimoji="0" lang="en-US" altLang="ko-KR" sz="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6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특기생</a:t>
            </a:r>
            <a:r>
              <a:rPr kumimoji="0" lang="ko-KR" altLang="en-US" sz="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장학금 </a:t>
            </a:r>
            <a:r>
              <a:rPr kumimoji="0" lang="ko-KR" altLang="en-US" sz="6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행복기숙사</a:t>
            </a:r>
            <a:r>
              <a:rPr kumimoji="0" lang="ko-KR" altLang="en-US" sz="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6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입사비</a:t>
            </a:r>
            <a:endParaRPr kumimoji="0" lang="ko-KR" altLang="en-US" sz="6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F246197C-85D8-7E3A-5F76-B7601EC849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1954997"/>
              </p:ext>
            </p:extLst>
          </p:nvPr>
        </p:nvGraphicFramePr>
        <p:xfrm>
          <a:off x="2439911" y="4489142"/>
          <a:ext cx="544502" cy="5038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38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이미지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" name="직사각형 57">
            <a:extLst>
              <a:ext uri="{FF2B5EF4-FFF2-40B4-BE49-F238E27FC236}">
                <a16:creationId xmlns:a16="http://schemas.microsoft.com/office/drawing/2014/main" id="{D48347B1-BE8B-8B68-8545-BA687D469F6C}"/>
              </a:ext>
            </a:extLst>
          </p:cNvPr>
          <p:cNvSpPr/>
          <p:nvPr/>
        </p:nvSpPr>
        <p:spPr>
          <a:xfrm>
            <a:off x="5304164" y="4506496"/>
            <a:ext cx="461665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장학사업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90E03FF3-101F-BE27-2783-C734CB3A0E8A}"/>
              </a:ext>
            </a:extLst>
          </p:cNvPr>
          <p:cNvSpPr/>
          <p:nvPr/>
        </p:nvSpPr>
        <p:spPr>
          <a:xfrm>
            <a:off x="5285626" y="4686934"/>
            <a:ext cx="139687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평생교육장려금</a:t>
            </a:r>
            <a:r>
              <a:rPr kumimoji="0" lang="en-US" altLang="ko-KR" sz="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교과학습체험</a:t>
            </a:r>
            <a:r>
              <a:rPr kumimoji="0" lang="en-US" altLang="ko-KR" sz="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교육강사양성</a:t>
            </a:r>
            <a:r>
              <a:rPr kumimoji="0" lang="en-US" altLang="ko-KR" sz="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진로진학상담</a:t>
            </a:r>
            <a:r>
              <a:rPr kumimoji="0" lang="en-US" altLang="ko-KR" sz="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6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드림멘토링</a:t>
            </a:r>
            <a:r>
              <a:rPr kumimoji="0" lang="en-US" altLang="ko-KR" sz="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6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학습코칭</a:t>
            </a:r>
            <a:r>
              <a:rPr kumimoji="0" lang="en-US" altLang="ko-KR" sz="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6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얼리버드</a:t>
            </a:r>
            <a:r>
              <a:rPr kumimoji="0" lang="en-US" altLang="ko-KR" sz="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지역협력체제구축</a:t>
            </a:r>
          </a:p>
        </p:txBody>
      </p:sp>
      <p:graphicFrame>
        <p:nvGraphicFramePr>
          <p:cNvPr id="60" name="표 59">
            <a:extLst>
              <a:ext uri="{FF2B5EF4-FFF2-40B4-BE49-F238E27FC236}">
                <a16:creationId xmlns:a16="http://schemas.microsoft.com/office/drawing/2014/main" id="{F27E69EB-5F40-48D2-0293-7F9BCA3BE3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8331435"/>
              </p:ext>
            </p:extLst>
          </p:nvPr>
        </p:nvGraphicFramePr>
        <p:xfrm>
          <a:off x="4680749" y="4489142"/>
          <a:ext cx="544502" cy="5038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38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이미지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1" name="직사각형 60">
            <a:extLst>
              <a:ext uri="{FF2B5EF4-FFF2-40B4-BE49-F238E27FC236}">
                <a16:creationId xmlns:a16="http://schemas.microsoft.com/office/drawing/2014/main" id="{D88DE7C4-811D-AF85-1A0B-54085D31AE45}"/>
              </a:ext>
            </a:extLst>
          </p:cNvPr>
          <p:cNvSpPr/>
          <p:nvPr/>
        </p:nvSpPr>
        <p:spPr>
          <a:xfrm>
            <a:off x="4323910" y="4417434"/>
            <a:ext cx="92974" cy="1538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+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4E36B17E-66CE-44C3-0582-53BB7117F63C}"/>
              </a:ext>
            </a:extLst>
          </p:cNvPr>
          <p:cNvSpPr/>
          <p:nvPr/>
        </p:nvSpPr>
        <p:spPr>
          <a:xfrm>
            <a:off x="6583667" y="4417434"/>
            <a:ext cx="92974" cy="1538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+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A5DADFCE-936C-661E-88FB-0DE78E9AA8BC}"/>
              </a:ext>
            </a:extLst>
          </p:cNvPr>
          <p:cNvSpPr/>
          <p:nvPr/>
        </p:nvSpPr>
        <p:spPr>
          <a:xfrm>
            <a:off x="165100" y="5205292"/>
            <a:ext cx="6732116" cy="409918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b="1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스크롤 배너</a:t>
            </a: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03550EE6-1280-F3C6-0497-B24547E21959}"/>
              </a:ext>
            </a:extLst>
          </p:cNvPr>
          <p:cNvSpPr/>
          <p:nvPr/>
        </p:nvSpPr>
        <p:spPr>
          <a:xfrm>
            <a:off x="201776" y="5324788"/>
            <a:ext cx="129506" cy="129506"/>
          </a:xfrm>
          <a:prstGeom prst="ellipse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&lt;</a:t>
            </a:r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7E484042-9F39-2E9B-C2EB-99F12D7BFB60}"/>
              </a:ext>
            </a:extLst>
          </p:cNvPr>
          <p:cNvSpPr/>
          <p:nvPr/>
        </p:nvSpPr>
        <p:spPr>
          <a:xfrm>
            <a:off x="6705773" y="5324788"/>
            <a:ext cx="129506" cy="129506"/>
          </a:xfrm>
          <a:prstGeom prst="ellipse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itchFamily="50" charset="-127"/>
                <a:ea typeface="맑은 고딕" pitchFamily="50" charset="-127"/>
              </a:rPr>
              <a:t>&gt;</a:t>
            </a:r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50E50FD0-634D-DC7F-DE4B-44F578D53626}"/>
              </a:ext>
            </a:extLst>
          </p:cNvPr>
          <p:cNvSpPr/>
          <p:nvPr/>
        </p:nvSpPr>
        <p:spPr>
          <a:xfrm>
            <a:off x="165100" y="5670867"/>
            <a:ext cx="6732116" cy="818834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69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3916DF01-086A-7A20-2AD7-D69AACCECC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0329" y="5859092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B2E75804-9BA8-5884-389F-97CCE8E70C13}"/>
              </a:ext>
            </a:extLst>
          </p:cNvPr>
          <p:cNvSpPr txBox="1"/>
          <p:nvPr/>
        </p:nvSpPr>
        <p:spPr>
          <a:xfrm>
            <a:off x="2044783" y="6061492"/>
            <a:ext cx="31242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경기 오산시 </a:t>
            </a:r>
            <a:r>
              <a:rPr lang="ko-KR" altLang="en-US" sz="600" b="0" i="0" dirty="0" err="1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현충로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100 (</a:t>
            </a:r>
            <a:r>
              <a:rPr lang="ko-KR" altLang="en-US" sz="600" b="0" i="0" dirty="0" err="1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은계동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오산시립미술관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2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층 오산교육재단 사업자등록번호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124-82-15464</a:t>
            </a:r>
          </a:p>
          <a:p>
            <a:pPr algn="ctr">
              <a:buNone/>
            </a:pP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TEL. (031)377-1679 FAX. (031)377-1672</a:t>
            </a:r>
          </a:p>
          <a:p>
            <a:pPr algn="ctr">
              <a:buNone/>
            </a:pP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Copyrightⓒ2025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오산교육재단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 ALL RIGHTSRESERVED.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05AE28FD-EC6D-0BDC-42A0-74B40746C4CB}"/>
              </a:ext>
            </a:extLst>
          </p:cNvPr>
          <p:cNvSpPr/>
          <p:nvPr/>
        </p:nvSpPr>
        <p:spPr>
          <a:xfrm>
            <a:off x="3120329" y="5707019"/>
            <a:ext cx="839974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이메일 무단수집거부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BC16705B-830B-BDF9-BB88-5C43BE7C5E71}"/>
              </a:ext>
            </a:extLst>
          </p:cNvPr>
          <p:cNvSpPr/>
          <p:nvPr/>
        </p:nvSpPr>
        <p:spPr>
          <a:xfrm>
            <a:off x="4101992" y="5707019"/>
            <a:ext cx="570669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찾아오시는 길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2724A285-C4B1-EC66-4154-D16F02235D84}"/>
              </a:ext>
            </a:extLst>
          </p:cNvPr>
          <p:cNvSpPr/>
          <p:nvPr/>
        </p:nvSpPr>
        <p:spPr>
          <a:xfrm>
            <a:off x="2264425" y="5707019"/>
            <a:ext cx="718146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개인정보처리방침</a:t>
            </a:r>
          </a:p>
        </p:txBody>
      </p:sp>
    </p:spTree>
    <p:extLst>
      <p:ext uri="{BB962C8B-B14F-4D97-AF65-F5344CB8AC3E}">
        <p14:creationId xmlns:p14="http://schemas.microsoft.com/office/powerpoint/2010/main" val="13097482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44"/>
          <p:cNvSpPr txBox="1"/>
          <p:nvPr/>
        </p:nvSpPr>
        <p:spPr>
          <a:xfrm rot="16200000">
            <a:off x="-432110" y="1197338"/>
            <a:ext cx="23066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000" b="1" dirty="0">
                <a:solidFill>
                  <a:prstClr val="white">
                    <a:lumMod val="75000"/>
                  </a:prstClr>
                </a:solidFill>
                <a:latin typeface="Noto Sans" panose="020B0502040504020204" pitchFamily="34" charset="0"/>
              </a:rPr>
              <a:t>C</a:t>
            </a:r>
            <a:r>
              <a:rPr lang="en-US" altLang="ko-KR" sz="3000" b="1" dirty="0">
                <a:solidFill>
                  <a:srgbClr val="D7D7D7"/>
                </a:solidFill>
                <a:latin typeface="Noto Sans" panose="020B0502040504020204" pitchFamily="34" charset="0"/>
              </a:rPr>
              <a:t>O</a:t>
            </a:r>
            <a:r>
              <a:rPr lang="en-US" altLang="ko-KR" sz="3000" b="1" dirty="0">
                <a:solidFill>
                  <a:prstClr val="white">
                    <a:lumMod val="75000"/>
                  </a:prstClr>
                </a:solidFill>
                <a:latin typeface="Noto Sans" panose="020B0502040504020204" pitchFamily="34" charset="0"/>
              </a:rPr>
              <a:t>NTENT</a:t>
            </a:r>
            <a:r>
              <a:rPr lang="en-US" altLang="ko-KR" sz="3000" b="1" dirty="0">
                <a:solidFill>
                  <a:srgbClr val="F0F0F0"/>
                </a:solidFill>
                <a:latin typeface="Noto Sans" panose="020B0502040504020204" pitchFamily="34" charset="0"/>
              </a:rPr>
              <a:t>S</a:t>
            </a:r>
            <a:endParaRPr lang="ko-KR" altLang="en-US" sz="3000" b="1" dirty="0">
              <a:solidFill>
                <a:srgbClr val="F0F0F0"/>
              </a:solidFill>
              <a:latin typeface="Noto Sans" panose="020B0502040504020204" pitchFamily="34" charset="0"/>
            </a:endParaRPr>
          </a:p>
        </p:txBody>
      </p:sp>
      <p:sp>
        <p:nvSpPr>
          <p:cNvPr id="30" name="Text Box 11"/>
          <p:cNvSpPr txBox="1">
            <a:spLocks noChangeArrowheads="1"/>
          </p:cNvSpPr>
          <p:nvPr/>
        </p:nvSpPr>
        <p:spPr bwMode="auto">
          <a:xfrm>
            <a:off x="4975436" y="2140622"/>
            <a:ext cx="4765463" cy="677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ko-KR" altLang="en-US" sz="1100" dirty="0">
                <a:solidFill>
                  <a:prstClr val="black">
                    <a:lumMod val="50000"/>
                    <a:lumOff val="50000"/>
                  </a:prstClr>
                </a:solidFill>
                <a:cs typeface="굴림" pitchFamily="50" charset="-127"/>
              </a:rPr>
              <a:t>고등학생 대상 장학금 신청</a:t>
            </a:r>
            <a:endParaRPr lang="en-US" altLang="ko-KR" sz="1100" dirty="0">
              <a:solidFill>
                <a:prstClr val="black">
                  <a:lumMod val="50000"/>
                  <a:lumOff val="50000"/>
                </a:prstClr>
              </a:solidFill>
              <a:cs typeface="굴림" pitchFamily="50" charset="-127"/>
            </a:endParaRPr>
          </a:p>
          <a:p>
            <a:pPr>
              <a:spcAft>
                <a:spcPts val="300"/>
              </a:spcAft>
              <a:defRPr/>
            </a:pPr>
            <a:r>
              <a:rPr lang="ko-KR" altLang="en-US" sz="1100" dirty="0">
                <a:solidFill>
                  <a:prstClr val="black">
                    <a:lumMod val="50000"/>
                    <a:lumOff val="50000"/>
                  </a:prstClr>
                </a:solidFill>
                <a:cs typeface="굴림" pitchFamily="50" charset="-127"/>
              </a:rPr>
              <a:t>● 고등학생 장학금 프로그램 조회</a:t>
            </a:r>
            <a:endParaRPr lang="en-US" altLang="ko-KR" sz="1100" dirty="0">
              <a:solidFill>
                <a:prstClr val="black">
                  <a:lumMod val="50000"/>
                  <a:lumOff val="50000"/>
                </a:prstClr>
              </a:solidFill>
              <a:cs typeface="굴림" pitchFamily="50" charset="-127"/>
            </a:endParaRPr>
          </a:p>
          <a:p>
            <a:pPr>
              <a:spcAft>
                <a:spcPts val="300"/>
              </a:spcAft>
              <a:defRPr/>
            </a:pPr>
            <a:r>
              <a:rPr lang="ko-KR" altLang="en-US" sz="1100" dirty="0">
                <a:solidFill>
                  <a:prstClr val="black">
                    <a:lumMod val="50000"/>
                    <a:lumOff val="50000"/>
                  </a:prstClr>
                </a:solidFill>
                <a:cs typeface="굴림" pitchFamily="50" charset="-127"/>
              </a:rPr>
              <a:t>● 장학금 신청 등록</a:t>
            </a:r>
            <a:endParaRPr lang="en-US" altLang="ko-KR" sz="1100" dirty="0">
              <a:solidFill>
                <a:prstClr val="black">
                  <a:lumMod val="50000"/>
                  <a:lumOff val="50000"/>
                </a:prstClr>
              </a:solidFill>
              <a:cs typeface="굴림" pitchFamily="50" charset="-127"/>
            </a:endParaRPr>
          </a:p>
        </p:txBody>
      </p:sp>
      <p:sp>
        <p:nvSpPr>
          <p:cNvPr id="31" name="Text Box 5"/>
          <p:cNvSpPr txBox="1">
            <a:spLocks noChangeArrowheads="1"/>
          </p:cNvSpPr>
          <p:nvPr/>
        </p:nvSpPr>
        <p:spPr bwMode="auto">
          <a:xfrm>
            <a:off x="4886305" y="1477454"/>
            <a:ext cx="3703099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ko-KR" altLang="en-US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Noto Sans" panose="020B0502040504020204" pitchFamily="34" charset="0"/>
              </a:rPr>
              <a:t>홈</a:t>
            </a:r>
            <a:r>
              <a:rPr lang="en-US" altLang="ko-KR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Noto Sans" panose="020B0502040504020204" pitchFamily="34" charset="0"/>
              </a:rPr>
              <a:t>&gt;</a:t>
            </a:r>
            <a:r>
              <a:rPr lang="ko-KR" altLang="en-US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Noto Sans" panose="020B0502040504020204" pitchFamily="34" charset="0"/>
              </a:rPr>
              <a:t>프로그램신청</a:t>
            </a:r>
            <a:r>
              <a:rPr lang="en-US" altLang="ko-KR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Noto Sans" panose="020B0502040504020204" pitchFamily="34" charset="0"/>
              </a:rPr>
              <a:t>&gt;</a:t>
            </a:r>
            <a:r>
              <a:rPr lang="ko-KR" altLang="en-US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Noto Sans" panose="020B0502040504020204" pitchFamily="34" charset="0"/>
              </a:rPr>
              <a:t>고등학생장학금</a:t>
            </a:r>
            <a:endParaRPr lang="en-US" altLang="ko-KR" sz="1600" b="1" dirty="0">
              <a:solidFill>
                <a:prstClr val="black">
                  <a:lumMod val="75000"/>
                  <a:lumOff val="25000"/>
                </a:prstClr>
              </a:solidFill>
              <a:latin typeface="Noto Sans" panose="020B0502040504020204" pitchFamily="34" charset="0"/>
            </a:endParaRPr>
          </a:p>
        </p:txBody>
      </p:sp>
      <p:sp>
        <p:nvSpPr>
          <p:cNvPr id="16" name="TextBox 13"/>
          <p:cNvSpPr txBox="1">
            <a:spLocks noChangeArrowheads="1"/>
          </p:cNvSpPr>
          <p:nvPr/>
        </p:nvSpPr>
        <p:spPr bwMode="auto">
          <a:xfrm>
            <a:off x="4210483" y="1369732"/>
            <a:ext cx="764953" cy="55399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prstClr val="white"/>
                </a:solidFill>
              </a:rPr>
              <a:t>01</a:t>
            </a:r>
            <a:endParaRPr lang="ko-KR" altLang="en-US" sz="2000" b="1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30558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1A71C-0770-BAD4-D722-CDCCFF9E3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Group 1091">
            <a:extLst>
              <a:ext uri="{FF2B5EF4-FFF2-40B4-BE49-F238E27FC236}">
                <a16:creationId xmlns:a16="http://schemas.microsoft.com/office/drawing/2014/main" id="{0B7021F2-3DD2-B87A-94ED-559EEF7F86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52878291"/>
              </p:ext>
            </p:extLst>
          </p:nvPr>
        </p:nvGraphicFramePr>
        <p:xfrm>
          <a:off x="165100" y="1175295"/>
          <a:ext cx="9575800" cy="237482"/>
        </p:xfrm>
        <a:graphic>
          <a:graphicData uri="http://schemas.openxmlformats.org/drawingml/2006/table">
            <a:tbl>
              <a:tblPr/>
              <a:tblGrid>
                <a:gridCol w="957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9436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홈페이지 메뉴 구조</a:t>
                      </a: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5" name="모서리가 둥근 직사각형 74">
            <a:extLst>
              <a:ext uri="{FF2B5EF4-FFF2-40B4-BE49-F238E27FC236}">
                <a16:creationId xmlns:a16="http://schemas.microsoft.com/office/drawing/2014/main" id="{093343A2-F4CA-B10F-3FAA-D53961AE665E}"/>
              </a:ext>
            </a:extLst>
          </p:cNvPr>
          <p:cNvSpPr/>
          <p:nvPr/>
        </p:nvSpPr>
        <p:spPr>
          <a:xfrm>
            <a:off x="4064743" y="1520788"/>
            <a:ext cx="1931636" cy="229116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tx1">
                <a:lumMod val="95000"/>
                <a:lumOff val="5000"/>
              </a:schemeClr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오산교육재단 홈페이지</a:t>
            </a:r>
          </a:p>
        </p:txBody>
      </p:sp>
      <p:sp>
        <p:nvSpPr>
          <p:cNvPr id="76" name="모서리가 둥근 직사각형 75">
            <a:extLst>
              <a:ext uri="{FF2B5EF4-FFF2-40B4-BE49-F238E27FC236}">
                <a16:creationId xmlns:a16="http://schemas.microsoft.com/office/drawing/2014/main" id="{4C48BB99-E70F-BA6F-5AF6-799015AC77A0}"/>
              </a:ext>
            </a:extLst>
          </p:cNvPr>
          <p:cNvSpPr/>
          <p:nvPr/>
        </p:nvSpPr>
        <p:spPr>
          <a:xfrm>
            <a:off x="164468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메인</a:t>
            </a:r>
          </a:p>
        </p:txBody>
      </p:sp>
      <p:sp>
        <p:nvSpPr>
          <p:cNvPr id="81" name="모서리가 둥근 직사각형 80">
            <a:extLst>
              <a:ext uri="{FF2B5EF4-FFF2-40B4-BE49-F238E27FC236}">
                <a16:creationId xmlns:a16="http://schemas.microsoft.com/office/drawing/2014/main" id="{ED0E0C1B-36A1-1778-A8E5-E835C4A53EE7}"/>
              </a:ext>
            </a:extLst>
          </p:cNvPr>
          <p:cNvSpPr/>
          <p:nvPr/>
        </p:nvSpPr>
        <p:spPr>
          <a:xfrm>
            <a:off x="1068205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로그인</a:t>
            </a:r>
          </a:p>
        </p:txBody>
      </p:sp>
      <p:sp>
        <p:nvSpPr>
          <p:cNvPr id="82" name="모서리가 둥근 직사각형 81">
            <a:extLst>
              <a:ext uri="{FF2B5EF4-FFF2-40B4-BE49-F238E27FC236}">
                <a16:creationId xmlns:a16="http://schemas.microsoft.com/office/drawing/2014/main" id="{54DA99A2-463D-1997-AC95-8982E349CD57}"/>
              </a:ext>
            </a:extLst>
          </p:cNvPr>
          <p:cNvSpPr/>
          <p:nvPr/>
        </p:nvSpPr>
        <p:spPr>
          <a:xfrm>
            <a:off x="1976252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회원가입</a:t>
            </a:r>
          </a:p>
        </p:txBody>
      </p:sp>
      <p:sp>
        <p:nvSpPr>
          <p:cNvPr id="83" name="모서리가 둥근 직사각형 82">
            <a:extLst>
              <a:ext uri="{FF2B5EF4-FFF2-40B4-BE49-F238E27FC236}">
                <a16:creationId xmlns:a16="http://schemas.microsoft.com/office/drawing/2014/main" id="{D56AF16C-60E5-2E3C-5902-4F4B8E8C0BAB}"/>
              </a:ext>
            </a:extLst>
          </p:cNvPr>
          <p:cNvSpPr/>
          <p:nvPr/>
        </p:nvSpPr>
        <p:spPr>
          <a:xfrm>
            <a:off x="2919280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ID/PW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찾기</a:t>
            </a:r>
          </a:p>
        </p:txBody>
      </p:sp>
      <p:sp>
        <p:nvSpPr>
          <p:cNvPr id="84" name="모서리가 둥근 직사각형 83">
            <a:extLst>
              <a:ext uri="{FF2B5EF4-FFF2-40B4-BE49-F238E27FC236}">
                <a16:creationId xmlns:a16="http://schemas.microsoft.com/office/drawing/2014/main" id="{7B5E6E03-79EE-04DF-14AE-F71822FA7F36}"/>
              </a:ext>
            </a:extLst>
          </p:cNvPr>
          <p:cNvSpPr/>
          <p:nvPr/>
        </p:nvSpPr>
        <p:spPr>
          <a:xfrm>
            <a:off x="3859353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재단소개</a:t>
            </a:r>
          </a:p>
        </p:txBody>
      </p:sp>
      <p:sp>
        <p:nvSpPr>
          <p:cNvPr id="85" name="모서리가 둥근 직사각형 84">
            <a:extLst>
              <a:ext uri="{FF2B5EF4-FFF2-40B4-BE49-F238E27FC236}">
                <a16:creationId xmlns:a16="http://schemas.microsoft.com/office/drawing/2014/main" id="{965E4A55-5AFD-4AAD-A642-73F6F9653013}"/>
              </a:ext>
            </a:extLst>
          </p:cNvPr>
          <p:cNvSpPr/>
          <p:nvPr/>
        </p:nvSpPr>
        <p:spPr>
          <a:xfrm>
            <a:off x="4772461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열린경영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5" name="모서리가 둥근 직사각형 94">
            <a:extLst>
              <a:ext uri="{FF2B5EF4-FFF2-40B4-BE49-F238E27FC236}">
                <a16:creationId xmlns:a16="http://schemas.microsoft.com/office/drawing/2014/main" id="{CEE49844-156E-D94E-0104-BC20E4960A31}"/>
              </a:ext>
            </a:extLst>
          </p:cNvPr>
          <p:cNvSpPr/>
          <p:nvPr/>
        </p:nvSpPr>
        <p:spPr>
          <a:xfrm>
            <a:off x="8876900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마이페이지</a:t>
            </a:r>
          </a:p>
        </p:txBody>
      </p:sp>
      <p:cxnSp>
        <p:nvCxnSpPr>
          <p:cNvPr id="104" name="꺾인 연결선 103">
            <a:extLst>
              <a:ext uri="{FF2B5EF4-FFF2-40B4-BE49-F238E27FC236}">
                <a16:creationId xmlns:a16="http://schemas.microsoft.com/office/drawing/2014/main" id="{11A5BDB1-9465-E63E-8C6F-EFC46126FCF6}"/>
              </a:ext>
            </a:extLst>
          </p:cNvPr>
          <p:cNvCxnSpPr>
            <a:stCxn id="76" idx="0"/>
            <a:endCxn id="75" idx="2"/>
          </p:cNvCxnSpPr>
          <p:nvPr/>
        </p:nvCxnSpPr>
        <p:spPr>
          <a:xfrm rot="5400000" flipH="1" flipV="1">
            <a:off x="2641771" y="-295398"/>
            <a:ext cx="343487" cy="4434093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꺾인 연결선 105">
            <a:extLst>
              <a:ext uri="{FF2B5EF4-FFF2-40B4-BE49-F238E27FC236}">
                <a16:creationId xmlns:a16="http://schemas.microsoft.com/office/drawing/2014/main" id="{2065FF27-689D-A55E-EB2C-BC2C44BD4751}"/>
              </a:ext>
            </a:extLst>
          </p:cNvPr>
          <p:cNvCxnSpPr>
            <a:stCxn id="81" idx="0"/>
            <a:endCxn id="75" idx="2"/>
          </p:cNvCxnSpPr>
          <p:nvPr/>
        </p:nvCxnSpPr>
        <p:spPr>
          <a:xfrm rot="5400000" flipH="1" flipV="1">
            <a:off x="3093640" y="156470"/>
            <a:ext cx="343487" cy="3530356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꺾인 연결선 106">
            <a:extLst>
              <a:ext uri="{FF2B5EF4-FFF2-40B4-BE49-F238E27FC236}">
                <a16:creationId xmlns:a16="http://schemas.microsoft.com/office/drawing/2014/main" id="{3F9675E4-4420-2EA9-F93B-994BFBF3D747}"/>
              </a:ext>
            </a:extLst>
          </p:cNvPr>
          <p:cNvCxnSpPr>
            <a:stCxn id="82" idx="0"/>
            <a:endCxn id="75" idx="2"/>
          </p:cNvCxnSpPr>
          <p:nvPr/>
        </p:nvCxnSpPr>
        <p:spPr>
          <a:xfrm rot="5400000" flipH="1" flipV="1">
            <a:off x="3547663" y="610494"/>
            <a:ext cx="343487" cy="2622309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꺾인 연결선 108">
            <a:extLst>
              <a:ext uri="{FF2B5EF4-FFF2-40B4-BE49-F238E27FC236}">
                <a16:creationId xmlns:a16="http://schemas.microsoft.com/office/drawing/2014/main" id="{1E4DAA34-109B-212A-2124-97EC98E3C06C}"/>
              </a:ext>
            </a:extLst>
          </p:cNvPr>
          <p:cNvCxnSpPr>
            <a:cxnSpLocks/>
            <a:stCxn id="83" idx="0"/>
            <a:endCxn id="75" idx="2"/>
          </p:cNvCxnSpPr>
          <p:nvPr/>
        </p:nvCxnSpPr>
        <p:spPr>
          <a:xfrm rot="5400000" flipH="1" flipV="1">
            <a:off x="4019177" y="1082008"/>
            <a:ext cx="343487" cy="1679281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꺾인 연결선 109">
            <a:extLst>
              <a:ext uri="{FF2B5EF4-FFF2-40B4-BE49-F238E27FC236}">
                <a16:creationId xmlns:a16="http://schemas.microsoft.com/office/drawing/2014/main" id="{424763BF-884D-9C98-2AA7-976A1483B7E1}"/>
              </a:ext>
            </a:extLst>
          </p:cNvPr>
          <p:cNvCxnSpPr>
            <a:stCxn id="84" idx="0"/>
            <a:endCxn id="75" idx="2"/>
          </p:cNvCxnSpPr>
          <p:nvPr/>
        </p:nvCxnSpPr>
        <p:spPr>
          <a:xfrm rot="5400000" flipH="1" flipV="1">
            <a:off x="4489214" y="1552044"/>
            <a:ext cx="343487" cy="739208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꺾인 연결선 111">
            <a:extLst>
              <a:ext uri="{FF2B5EF4-FFF2-40B4-BE49-F238E27FC236}">
                <a16:creationId xmlns:a16="http://schemas.microsoft.com/office/drawing/2014/main" id="{6510076E-3759-6B23-0E24-2EDB79AFAE21}"/>
              </a:ext>
            </a:extLst>
          </p:cNvPr>
          <p:cNvCxnSpPr>
            <a:stCxn id="85" idx="0"/>
            <a:endCxn id="75" idx="2"/>
          </p:cNvCxnSpPr>
          <p:nvPr/>
        </p:nvCxnSpPr>
        <p:spPr>
          <a:xfrm rot="16200000" flipV="1">
            <a:off x="4945768" y="1834698"/>
            <a:ext cx="343487" cy="173900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꺾인 연결선 116">
            <a:extLst>
              <a:ext uri="{FF2B5EF4-FFF2-40B4-BE49-F238E27FC236}">
                <a16:creationId xmlns:a16="http://schemas.microsoft.com/office/drawing/2014/main" id="{DEECECD5-0978-ED3D-3292-4E48C2AFA440}"/>
              </a:ext>
            </a:extLst>
          </p:cNvPr>
          <p:cNvCxnSpPr>
            <a:cxnSpLocks/>
            <a:stCxn id="14" idx="0"/>
            <a:endCxn id="75" idx="2"/>
          </p:cNvCxnSpPr>
          <p:nvPr/>
        </p:nvCxnSpPr>
        <p:spPr>
          <a:xfrm rot="16200000" flipV="1">
            <a:off x="5854079" y="926387"/>
            <a:ext cx="343487" cy="1990521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꺾인 연결선 145">
            <a:extLst>
              <a:ext uri="{FF2B5EF4-FFF2-40B4-BE49-F238E27FC236}">
                <a16:creationId xmlns:a16="http://schemas.microsoft.com/office/drawing/2014/main" id="{7F9CD72B-552E-82E4-E01E-348D6E297A26}"/>
              </a:ext>
            </a:extLst>
          </p:cNvPr>
          <p:cNvCxnSpPr>
            <a:cxnSpLocks/>
            <a:stCxn id="95" idx="0"/>
            <a:endCxn id="75" idx="2"/>
          </p:cNvCxnSpPr>
          <p:nvPr/>
        </p:nvCxnSpPr>
        <p:spPr>
          <a:xfrm rot="16200000" flipV="1">
            <a:off x="6997988" y="-217522"/>
            <a:ext cx="343487" cy="4278339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모서리가 둥근 직사각형 84">
            <a:extLst>
              <a:ext uri="{FF2B5EF4-FFF2-40B4-BE49-F238E27FC236}">
                <a16:creationId xmlns:a16="http://schemas.microsoft.com/office/drawing/2014/main" id="{775381A2-4297-90BA-D3AA-49359D00A755}"/>
              </a:ext>
            </a:extLst>
          </p:cNvPr>
          <p:cNvSpPr/>
          <p:nvPr/>
        </p:nvSpPr>
        <p:spPr>
          <a:xfrm>
            <a:off x="6589082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</a:t>
            </a:r>
          </a:p>
        </p:txBody>
      </p:sp>
      <p:sp>
        <p:nvSpPr>
          <p:cNvPr id="164" name="모서리가 둥근 직사각형 84">
            <a:extLst>
              <a:ext uri="{FF2B5EF4-FFF2-40B4-BE49-F238E27FC236}">
                <a16:creationId xmlns:a16="http://schemas.microsoft.com/office/drawing/2014/main" id="{021CEEF7-5FFF-137F-4F50-90D13432DBF7}"/>
              </a:ext>
            </a:extLst>
          </p:cNvPr>
          <p:cNvSpPr/>
          <p:nvPr/>
        </p:nvSpPr>
        <p:spPr>
          <a:xfrm>
            <a:off x="5685569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재단소식</a:t>
            </a:r>
          </a:p>
        </p:txBody>
      </p:sp>
      <p:cxnSp>
        <p:nvCxnSpPr>
          <p:cNvPr id="165" name="꺾인 연결선 111">
            <a:extLst>
              <a:ext uri="{FF2B5EF4-FFF2-40B4-BE49-F238E27FC236}">
                <a16:creationId xmlns:a16="http://schemas.microsoft.com/office/drawing/2014/main" id="{866EF586-91FE-DFA2-6B53-5D5DC88B1AD0}"/>
              </a:ext>
            </a:extLst>
          </p:cNvPr>
          <p:cNvCxnSpPr>
            <a:cxnSpLocks/>
            <a:stCxn id="164" idx="0"/>
            <a:endCxn id="75" idx="2"/>
          </p:cNvCxnSpPr>
          <p:nvPr/>
        </p:nvCxnSpPr>
        <p:spPr>
          <a:xfrm rot="16200000" flipV="1">
            <a:off x="5402322" y="1378144"/>
            <a:ext cx="343487" cy="1087008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모서리가 둥근 직사각형 83">
            <a:extLst>
              <a:ext uri="{FF2B5EF4-FFF2-40B4-BE49-F238E27FC236}">
                <a16:creationId xmlns:a16="http://schemas.microsoft.com/office/drawing/2014/main" id="{CD2BF0B7-58AF-6B8C-053E-F55C58359824}"/>
              </a:ext>
            </a:extLst>
          </p:cNvPr>
          <p:cNvSpPr/>
          <p:nvPr/>
        </p:nvSpPr>
        <p:spPr>
          <a:xfrm>
            <a:off x="7120246" y="2344450"/>
            <a:ext cx="935392" cy="172138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고등학생 장학금</a:t>
            </a:r>
          </a:p>
        </p:txBody>
      </p:sp>
      <p:cxnSp>
        <p:nvCxnSpPr>
          <p:cNvPr id="40" name="꺾인 연결선 111">
            <a:extLst>
              <a:ext uri="{FF2B5EF4-FFF2-40B4-BE49-F238E27FC236}">
                <a16:creationId xmlns:a16="http://schemas.microsoft.com/office/drawing/2014/main" id="{42F61ADD-6605-CC52-2093-56D52F291DCE}"/>
              </a:ext>
            </a:extLst>
          </p:cNvPr>
          <p:cNvCxnSpPr>
            <a:cxnSpLocks/>
            <a:stCxn id="39" idx="1"/>
            <a:endCxn id="14" idx="2"/>
          </p:cNvCxnSpPr>
          <p:nvPr/>
        </p:nvCxnSpPr>
        <p:spPr>
          <a:xfrm rot="10800000">
            <a:off x="7021082" y="2282743"/>
            <a:ext cx="99164" cy="147776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모서리가 둥근 직사각형 83">
            <a:extLst>
              <a:ext uri="{FF2B5EF4-FFF2-40B4-BE49-F238E27FC236}">
                <a16:creationId xmlns:a16="http://schemas.microsoft.com/office/drawing/2014/main" id="{D3BB3F8F-32F1-B1CF-4E2E-52C6D121BE21}"/>
              </a:ext>
            </a:extLst>
          </p:cNvPr>
          <p:cNvSpPr/>
          <p:nvPr/>
        </p:nvSpPr>
        <p:spPr>
          <a:xfrm>
            <a:off x="7120246" y="2827809"/>
            <a:ext cx="935392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대학생 장학금</a:t>
            </a:r>
          </a:p>
        </p:txBody>
      </p:sp>
      <p:sp>
        <p:nvSpPr>
          <p:cNvPr id="46" name="모서리가 둥근 직사각형 83">
            <a:extLst>
              <a:ext uri="{FF2B5EF4-FFF2-40B4-BE49-F238E27FC236}">
                <a16:creationId xmlns:a16="http://schemas.microsoft.com/office/drawing/2014/main" id="{6CCD1682-F4F2-07DE-5E19-0FD91B307949}"/>
              </a:ext>
            </a:extLst>
          </p:cNvPr>
          <p:cNvSpPr/>
          <p:nvPr/>
        </p:nvSpPr>
        <p:spPr>
          <a:xfrm>
            <a:off x="7120246" y="3029850"/>
            <a:ext cx="935392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특기생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장학금</a:t>
            </a:r>
          </a:p>
        </p:txBody>
      </p:sp>
      <p:sp>
        <p:nvSpPr>
          <p:cNvPr id="50" name="모서리가 둥근 직사각형 83">
            <a:extLst>
              <a:ext uri="{FF2B5EF4-FFF2-40B4-BE49-F238E27FC236}">
                <a16:creationId xmlns:a16="http://schemas.microsoft.com/office/drawing/2014/main" id="{B6646A26-5BE5-D39A-DED1-2FB12AD2E71D}"/>
              </a:ext>
            </a:extLst>
          </p:cNvPr>
          <p:cNvSpPr/>
          <p:nvPr/>
        </p:nvSpPr>
        <p:spPr>
          <a:xfrm>
            <a:off x="7120246" y="3231891"/>
            <a:ext cx="935392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행복기숙사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입사비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3" name="모서리가 둥근 직사각형 83">
            <a:extLst>
              <a:ext uri="{FF2B5EF4-FFF2-40B4-BE49-F238E27FC236}">
                <a16:creationId xmlns:a16="http://schemas.microsoft.com/office/drawing/2014/main" id="{89D6CD6E-FB49-B9D5-7FFE-DBC27031208E}"/>
              </a:ext>
            </a:extLst>
          </p:cNvPr>
          <p:cNvSpPr/>
          <p:nvPr/>
        </p:nvSpPr>
        <p:spPr>
          <a:xfrm>
            <a:off x="7120246" y="3433932"/>
            <a:ext cx="935392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평생교육장려금</a:t>
            </a:r>
          </a:p>
        </p:txBody>
      </p:sp>
      <p:cxnSp>
        <p:nvCxnSpPr>
          <p:cNvPr id="54" name="꺾인 연결선 111">
            <a:extLst>
              <a:ext uri="{FF2B5EF4-FFF2-40B4-BE49-F238E27FC236}">
                <a16:creationId xmlns:a16="http://schemas.microsoft.com/office/drawing/2014/main" id="{600DF059-2741-67AC-43BC-4EA5C958D2BC}"/>
              </a:ext>
            </a:extLst>
          </p:cNvPr>
          <p:cNvCxnSpPr>
            <a:cxnSpLocks/>
            <a:stCxn id="45" idx="1"/>
            <a:endCxn id="14" idx="2"/>
          </p:cNvCxnSpPr>
          <p:nvPr/>
        </p:nvCxnSpPr>
        <p:spPr>
          <a:xfrm rot="10800000">
            <a:off x="7021082" y="2282744"/>
            <a:ext cx="99164" cy="631135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꺾인 연결선 111">
            <a:extLst>
              <a:ext uri="{FF2B5EF4-FFF2-40B4-BE49-F238E27FC236}">
                <a16:creationId xmlns:a16="http://schemas.microsoft.com/office/drawing/2014/main" id="{82B5A216-D5E6-E8D2-3FAE-02210CDCAC4D}"/>
              </a:ext>
            </a:extLst>
          </p:cNvPr>
          <p:cNvCxnSpPr>
            <a:cxnSpLocks/>
            <a:stCxn id="46" idx="1"/>
            <a:endCxn id="14" idx="2"/>
          </p:cNvCxnSpPr>
          <p:nvPr/>
        </p:nvCxnSpPr>
        <p:spPr>
          <a:xfrm rot="10800000">
            <a:off x="7021082" y="2282743"/>
            <a:ext cx="99164" cy="833176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꺾인 연결선 111">
            <a:extLst>
              <a:ext uri="{FF2B5EF4-FFF2-40B4-BE49-F238E27FC236}">
                <a16:creationId xmlns:a16="http://schemas.microsoft.com/office/drawing/2014/main" id="{4C1A41CD-CEFE-6121-8700-30FACC0148D0}"/>
              </a:ext>
            </a:extLst>
          </p:cNvPr>
          <p:cNvCxnSpPr>
            <a:cxnSpLocks/>
            <a:stCxn id="50" idx="1"/>
            <a:endCxn id="14" idx="2"/>
          </p:cNvCxnSpPr>
          <p:nvPr/>
        </p:nvCxnSpPr>
        <p:spPr>
          <a:xfrm rot="10800000">
            <a:off x="7021082" y="2282744"/>
            <a:ext cx="99164" cy="1035217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꺾인 연결선 111">
            <a:extLst>
              <a:ext uri="{FF2B5EF4-FFF2-40B4-BE49-F238E27FC236}">
                <a16:creationId xmlns:a16="http://schemas.microsoft.com/office/drawing/2014/main" id="{12026A70-A497-71A5-0AC6-DABAF5F5C29E}"/>
              </a:ext>
            </a:extLst>
          </p:cNvPr>
          <p:cNvCxnSpPr>
            <a:cxnSpLocks/>
            <a:stCxn id="53" idx="1"/>
            <a:endCxn id="14" idx="2"/>
          </p:cNvCxnSpPr>
          <p:nvPr/>
        </p:nvCxnSpPr>
        <p:spPr>
          <a:xfrm rot="10800000">
            <a:off x="7021082" y="2282743"/>
            <a:ext cx="99164" cy="1237258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모서리가 둥근 직사각형 83">
            <a:extLst>
              <a:ext uri="{FF2B5EF4-FFF2-40B4-BE49-F238E27FC236}">
                <a16:creationId xmlns:a16="http://schemas.microsoft.com/office/drawing/2014/main" id="{73F9DB24-F824-83FA-EE9D-9E9B7A614C20}"/>
              </a:ext>
            </a:extLst>
          </p:cNvPr>
          <p:cNvSpPr/>
          <p:nvPr/>
        </p:nvSpPr>
        <p:spPr>
          <a:xfrm>
            <a:off x="7120246" y="3652906"/>
            <a:ext cx="935392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교육사업 신청</a:t>
            </a:r>
          </a:p>
        </p:txBody>
      </p:sp>
      <p:cxnSp>
        <p:nvCxnSpPr>
          <p:cNvPr id="62" name="꺾인 연결선 111">
            <a:extLst>
              <a:ext uri="{FF2B5EF4-FFF2-40B4-BE49-F238E27FC236}">
                <a16:creationId xmlns:a16="http://schemas.microsoft.com/office/drawing/2014/main" id="{98D1082C-0A2A-332F-7F59-CFCAFC0A2D12}"/>
              </a:ext>
            </a:extLst>
          </p:cNvPr>
          <p:cNvCxnSpPr>
            <a:cxnSpLocks/>
            <a:stCxn id="60" idx="1"/>
            <a:endCxn id="14" idx="2"/>
          </p:cNvCxnSpPr>
          <p:nvPr/>
        </p:nvCxnSpPr>
        <p:spPr>
          <a:xfrm rot="10800000">
            <a:off x="7021082" y="2282743"/>
            <a:ext cx="99164" cy="1456232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모서리가 둥근 직사각형 83">
            <a:extLst>
              <a:ext uri="{FF2B5EF4-FFF2-40B4-BE49-F238E27FC236}">
                <a16:creationId xmlns:a16="http://schemas.microsoft.com/office/drawing/2014/main" id="{AE459D93-4B68-8319-9150-04885BB0A3BE}"/>
              </a:ext>
            </a:extLst>
          </p:cNvPr>
          <p:cNvSpPr/>
          <p:nvPr/>
        </p:nvSpPr>
        <p:spPr>
          <a:xfrm>
            <a:off x="7687106" y="2563424"/>
            <a:ext cx="935392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 조회</a:t>
            </a:r>
          </a:p>
        </p:txBody>
      </p:sp>
      <p:cxnSp>
        <p:nvCxnSpPr>
          <p:cNvPr id="4" name="꺾인 연결선 111">
            <a:extLst>
              <a:ext uri="{FF2B5EF4-FFF2-40B4-BE49-F238E27FC236}">
                <a16:creationId xmlns:a16="http://schemas.microsoft.com/office/drawing/2014/main" id="{798BDE6D-1EA6-033A-1BEE-CD212477E828}"/>
              </a:ext>
            </a:extLst>
          </p:cNvPr>
          <p:cNvCxnSpPr>
            <a:cxnSpLocks/>
            <a:stCxn id="3" idx="1"/>
            <a:endCxn id="39" idx="2"/>
          </p:cNvCxnSpPr>
          <p:nvPr/>
        </p:nvCxnSpPr>
        <p:spPr>
          <a:xfrm rot="10800000">
            <a:off x="7587942" y="2516589"/>
            <a:ext cx="99164" cy="132905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모서리가 둥근 직사각형 83">
            <a:extLst>
              <a:ext uri="{FF2B5EF4-FFF2-40B4-BE49-F238E27FC236}">
                <a16:creationId xmlns:a16="http://schemas.microsoft.com/office/drawing/2014/main" id="{1575C140-E25F-104E-FD46-1DD00E6D05B2}"/>
              </a:ext>
            </a:extLst>
          </p:cNvPr>
          <p:cNvSpPr/>
          <p:nvPr/>
        </p:nvSpPr>
        <p:spPr>
          <a:xfrm>
            <a:off x="8646351" y="2563424"/>
            <a:ext cx="935392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장학금 신청</a:t>
            </a:r>
          </a:p>
        </p:txBody>
      </p:sp>
      <p:sp>
        <p:nvSpPr>
          <p:cNvPr id="17" name="모서리가 둥근 직사각형 84">
            <a:extLst>
              <a:ext uri="{FF2B5EF4-FFF2-40B4-BE49-F238E27FC236}">
                <a16:creationId xmlns:a16="http://schemas.microsoft.com/office/drawing/2014/main" id="{9C82F877-26E0-A26F-C9B2-BF56FB046E01}"/>
              </a:ext>
            </a:extLst>
          </p:cNvPr>
          <p:cNvSpPr/>
          <p:nvPr/>
        </p:nvSpPr>
        <p:spPr>
          <a:xfrm>
            <a:off x="7532495" y="2093391"/>
            <a:ext cx="1264982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오산시민평생교육장려금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9" name="꺾인 연결선 145">
            <a:extLst>
              <a:ext uri="{FF2B5EF4-FFF2-40B4-BE49-F238E27FC236}">
                <a16:creationId xmlns:a16="http://schemas.microsoft.com/office/drawing/2014/main" id="{7B347DEF-1E53-3677-E09B-9FEAEA5B9E06}"/>
              </a:ext>
            </a:extLst>
          </p:cNvPr>
          <p:cNvCxnSpPr>
            <a:cxnSpLocks/>
            <a:stCxn id="17" idx="0"/>
            <a:endCxn id="75" idx="2"/>
          </p:cNvCxnSpPr>
          <p:nvPr/>
        </p:nvCxnSpPr>
        <p:spPr>
          <a:xfrm rot="16200000" flipV="1">
            <a:off x="6426031" y="354435"/>
            <a:ext cx="343487" cy="3134425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95950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460A0-8F3E-7EC9-0856-F5F42185E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41E27F-0CB6-355A-45A1-D1679C13FC2B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고등학생장학금 조회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4399FD5-0C86-ADE3-3C5D-A2CF4540EBBD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고등학생장학금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조회</a:t>
            </a: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8FCA7E4C-3023-7E59-61E4-78C6CA00D7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3039021"/>
              </p:ext>
            </p:extLst>
          </p:nvPr>
        </p:nvGraphicFramePr>
        <p:xfrm>
          <a:off x="6969418" y="2548005"/>
          <a:ext cx="2772114" cy="3459899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프로그램신청 메뉴 중 고등학생 장학금 클릭 시 보이는 화면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전체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선택 후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검색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시 등록된 모든 공고를 목록에 표시 한다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.</a:t>
                      </a: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준비중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조회일 기준 접수기간 이전일 경우의 상태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선택 후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검색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시 준비중 상태의 공고를 목록에 표시 한다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접수중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조회일 기준 접수기간일 경우의 상태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선택 후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검색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시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접수중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상태의 공고를 목록에 표시 한다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마감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조회일 기준 접수기간이 지난 경우의 상태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선택 후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검색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시 마감 상태의 공고를 목록에 표시 한다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검색조건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제목 고정 표시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공고의 제목 입력 후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검색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시 해당 조건에 맞는 공고가 목록에 보인다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.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제목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공고 등록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수정 시 설정된 제목을 표시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접수기간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공고 등록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수정 시 설정된 접수기간을 표시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상태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준비중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/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접수중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/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마감 중 표시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준비중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조회일 기준 접수기간 이전일 경우의 상태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접수중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조회일 기준 접수기간일 경우의 상태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6CE6575B-BF72-0AE0-7A1C-419AB12AEA70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pah_hit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4280F3F5-A74E-E859-1ED4-BA7ACE9B4BA3}"/>
              </a:ext>
            </a:extLst>
          </p:cNvPr>
          <p:cNvSpPr/>
          <p:nvPr/>
        </p:nvSpPr>
        <p:spPr>
          <a:xfrm>
            <a:off x="165100" y="1376772"/>
            <a:ext cx="6732116" cy="36877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E78FBB3F-7CCE-35EB-CEB9-B65CE14661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1468700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E681C25B-B52C-4E37-3423-1F34CF14D8F2}"/>
              </a:ext>
            </a:extLst>
          </p:cNvPr>
          <p:cNvSpPr/>
          <p:nvPr/>
        </p:nvSpPr>
        <p:spPr>
          <a:xfrm>
            <a:off x="5680946" y="1586865"/>
            <a:ext cx="1165384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오산시민 평생교육장려금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565DD70-5756-B25D-47D4-A59CDF5E00F1}"/>
              </a:ext>
            </a:extLst>
          </p:cNvPr>
          <p:cNvSpPr/>
          <p:nvPr/>
        </p:nvSpPr>
        <p:spPr>
          <a:xfrm>
            <a:off x="4831365" y="1586865"/>
            <a:ext cx="652423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 신청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7E61A37-B20C-569C-7DEC-02F4B5E14259}"/>
              </a:ext>
            </a:extLst>
          </p:cNvPr>
          <p:cNvSpPr/>
          <p:nvPr/>
        </p:nvSpPr>
        <p:spPr>
          <a:xfrm>
            <a:off x="4223838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재단소식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2BBA797-CF2E-B187-859E-02CB0AB2EF03}"/>
              </a:ext>
            </a:extLst>
          </p:cNvPr>
          <p:cNvSpPr/>
          <p:nvPr/>
        </p:nvSpPr>
        <p:spPr>
          <a:xfrm>
            <a:off x="3616311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열린경영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CF3C81A-09A4-4348-D38A-5CB01594D3BD}"/>
              </a:ext>
            </a:extLst>
          </p:cNvPr>
          <p:cNvSpPr/>
          <p:nvPr/>
        </p:nvSpPr>
        <p:spPr>
          <a:xfrm>
            <a:off x="3008784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608B05C-F543-B4C7-61EA-EEF51EB83518}"/>
              </a:ext>
            </a:extLst>
          </p:cNvPr>
          <p:cNvSpPr/>
          <p:nvPr/>
        </p:nvSpPr>
        <p:spPr>
          <a:xfrm>
            <a:off x="165100" y="1790190"/>
            <a:ext cx="6732116" cy="469951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FB14426-3754-C444-DE2A-3E41E009902C}"/>
              </a:ext>
            </a:extLst>
          </p:cNvPr>
          <p:cNvSpPr/>
          <p:nvPr/>
        </p:nvSpPr>
        <p:spPr>
          <a:xfrm>
            <a:off x="5483789" y="1879740"/>
            <a:ext cx="1295227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고등학생장학금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10199EE-7552-7A06-C132-F15DCF6384FC}"/>
              </a:ext>
            </a:extLst>
          </p:cNvPr>
          <p:cNvSpPr/>
          <p:nvPr/>
        </p:nvSpPr>
        <p:spPr>
          <a:xfrm>
            <a:off x="236476" y="1844824"/>
            <a:ext cx="847989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고등학생 장학금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29B289B-154A-435B-5895-52CA7AD28F7E}"/>
              </a:ext>
            </a:extLst>
          </p:cNvPr>
          <p:cNvSpPr/>
          <p:nvPr/>
        </p:nvSpPr>
        <p:spPr>
          <a:xfrm>
            <a:off x="3824511" y="2248048"/>
            <a:ext cx="277591" cy="144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검색</a:t>
            </a: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561643F-AB8C-3BB3-55EF-D7500068C095}"/>
              </a:ext>
            </a:extLst>
          </p:cNvPr>
          <p:cNvSpPr/>
          <p:nvPr/>
        </p:nvSpPr>
        <p:spPr>
          <a:xfrm>
            <a:off x="2610475" y="2248048"/>
            <a:ext cx="1193641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검색어를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입력하세요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3" name="Picture 13">
            <a:extLst>
              <a:ext uri="{FF2B5EF4-FFF2-40B4-BE49-F238E27FC236}">
                <a16:creationId xmlns:a16="http://schemas.microsoft.com/office/drawing/2014/main" id="{5CF32953-83D7-2494-5C2B-34388843D5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2534" y="2246398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2D0434FB-E249-08C7-C727-88ABB6582F38}"/>
              </a:ext>
            </a:extLst>
          </p:cNvPr>
          <p:cNvSpPr/>
          <p:nvPr/>
        </p:nvSpPr>
        <p:spPr>
          <a:xfrm>
            <a:off x="2025221" y="2248048"/>
            <a:ext cx="393415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제목</a:t>
            </a: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DA0FAB72-BE05-98DA-E331-11D103FDE8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4682064"/>
              </p:ext>
            </p:extLst>
          </p:nvPr>
        </p:nvGraphicFramePr>
        <p:xfrm>
          <a:off x="284966" y="2881893"/>
          <a:ext cx="6494051" cy="27033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6426">
                  <a:extLst>
                    <a:ext uri="{9D8B030D-6E8A-4147-A177-3AD203B41FA5}">
                      <a16:colId xmlns:a16="http://schemas.microsoft.com/office/drawing/2014/main" val="795720410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1696">
                  <a:extLst>
                    <a:ext uri="{9D8B030D-6E8A-4147-A177-3AD203B41FA5}">
                      <a16:colId xmlns:a16="http://schemas.microsoft.com/office/drawing/2014/main" val="3302419106"/>
                    </a:ext>
                  </a:extLst>
                </a:gridCol>
                <a:gridCol w="69227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545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접수기간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신청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b="0" dirty="0">
                          <a:latin typeface="맑은 고딕" panose="020B0503020000020004" pitchFamily="50" charset="-127"/>
                          <a:ea typeface="+mn-ea"/>
                        </a:rPr>
                        <a:t>2025</a:t>
                      </a:r>
                      <a:r>
                        <a:rPr lang="ko-KR" altLang="en-US" sz="700" b="0" dirty="0">
                          <a:latin typeface="맑은 고딕" panose="020B0503020000020004" pitchFamily="50" charset="-127"/>
                          <a:ea typeface="+mn-ea"/>
                        </a:rPr>
                        <a:t>년 하반기 고등학생 장학금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준비중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b="0" dirty="0">
                          <a:latin typeface="맑은 고딕" panose="020B0503020000020004" pitchFamily="50" charset="-127"/>
                          <a:ea typeface="+mn-ea"/>
                        </a:rPr>
                        <a:t>2025</a:t>
                      </a:r>
                      <a:r>
                        <a:rPr lang="ko-KR" altLang="en-US" sz="700" b="0" dirty="0">
                          <a:latin typeface="맑은 고딕" panose="020B0503020000020004" pitchFamily="50" charset="-127"/>
                          <a:ea typeface="+mn-ea"/>
                        </a:rPr>
                        <a:t>년 하반기 고등학생 장학금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접수중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7312254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b="0" dirty="0">
                          <a:latin typeface="맑은 고딕" panose="020B0503020000020004" pitchFamily="50" charset="-127"/>
                          <a:ea typeface="+mn-ea"/>
                        </a:rPr>
                        <a:t>2025</a:t>
                      </a:r>
                      <a:r>
                        <a:rPr lang="ko-KR" altLang="en-US" sz="700" b="0" dirty="0">
                          <a:latin typeface="맑은 고딕" panose="020B0503020000020004" pitchFamily="50" charset="-127"/>
                          <a:ea typeface="+mn-ea"/>
                        </a:rPr>
                        <a:t>년 하반기 고등학생 장학금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접수중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8246901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b="0" dirty="0">
                          <a:latin typeface="맑은 고딕" panose="020B0503020000020004" pitchFamily="50" charset="-127"/>
                          <a:ea typeface="+mn-ea"/>
                        </a:rPr>
                        <a:t>2025</a:t>
                      </a:r>
                      <a:r>
                        <a:rPr lang="ko-KR" altLang="en-US" sz="700" b="0" dirty="0">
                          <a:latin typeface="맑은 고딕" panose="020B0503020000020004" pitchFamily="50" charset="-127"/>
                          <a:ea typeface="+mn-ea"/>
                        </a:rPr>
                        <a:t>년 하반기 고등학생 장학금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마감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1439070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b="0" dirty="0">
                          <a:latin typeface="맑은 고딕" panose="020B0503020000020004" pitchFamily="50" charset="-127"/>
                          <a:ea typeface="+mn-ea"/>
                        </a:rPr>
                        <a:t>2025</a:t>
                      </a:r>
                      <a:r>
                        <a:rPr lang="ko-KR" altLang="en-US" sz="700" b="0" dirty="0">
                          <a:latin typeface="맑은 고딕" panose="020B0503020000020004" pitchFamily="50" charset="-127"/>
                          <a:ea typeface="+mn-ea"/>
                        </a:rPr>
                        <a:t>년 하반기 고등학생 장학금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마감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3880563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b="0" dirty="0">
                          <a:latin typeface="맑은 고딕" panose="020B0503020000020004" pitchFamily="50" charset="-127"/>
                          <a:ea typeface="+mn-ea"/>
                        </a:rPr>
                        <a:t>2025</a:t>
                      </a:r>
                      <a:r>
                        <a:rPr lang="ko-KR" altLang="en-US" sz="700" b="0" dirty="0">
                          <a:latin typeface="맑은 고딕" panose="020B0503020000020004" pitchFamily="50" charset="-127"/>
                          <a:ea typeface="+mn-ea"/>
                        </a:rPr>
                        <a:t>년 하반기 고등학생 장학금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마감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0006018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b="0" dirty="0">
                          <a:latin typeface="맑은 고딕" panose="020B0503020000020004" pitchFamily="50" charset="-127"/>
                          <a:ea typeface="+mn-ea"/>
                        </a:rPr>
                        <a:t>2025</a:t>
                      </a:r>
                      <a:r>
                        <a:rPr lang="ko-KR" altLang="en-US" sz="700" b="0" dirty="0">
                          <a:latin typeface="맑은 고딕" panose="020B0503020000020004" pitchFamily="50" charset="-127"/>
                          <a:ea typeface="+mn-ea"/>
                        </a:rPr>
                        <a:t>년 하반기 고등학생 장학금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2894528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b="0" dirty="0">
                          <a:latin typeface="맑은 고딕" panose="020B0503020000020004" pitchFamily="50" charset="-127"/>
                          <a:ea typeface="+mn-ea"/>
                        </a:rPr>
                        <a:t>2025</a:t>
                      </a:r>
                      <a:r>
                        <a:rPr lang="ko-KR" altLang="en-US" sz="700" b="0" dirty="0">
                          <a:latin typeface="맑은 고딕" panose="020B0503020000020004" pitchFamily="50" charset="-127"/>
                          <a:ea typeface="+mn-ea"/>
                        </a:rPr>
                        <a:t>년 하반기 고등학생 장학금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6804240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b="0" dirty="0">
                          <a:latin typeface="맑은 고딕" panose="020B0503020000020004" pitchFamily="50" charset="-127"/>
                          <a:ea typeface="+mn-ea"/>
                        </a:rPr>
                        <a:t>2025</a:t>
                      </a:r>
                      <a:r>
                        <a:rPr lang="ko-KR" altLang="en-US" sz="700" b="0" dirty="0">
                          <a:latin typeface="맑은 고딕" panose="020B0503020000020004" pitchFamily="50" charset="-127"/>
                          <a:ea typeface="+mn-ea"/>
                        </a:rPr>
                        <a:t>년 하반기 고등학생 장학금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마감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6797012"/>
                  </a:ext>
                </a:extLst>
              </a:tr>
            </a:tbl>
          </a:graphicData>
        </a:graphic>
      </p:graphicFrame>
      <p:sp>
        <p:nvSpPr>
          <p:cNvPr id="17" name="직사각형 16">
            <a:extLst>
              <a:ext uri="{FF2B5EF4-FFF2-40B4-BE49-F238E27FC236}">
                <a16:creationId xmlns:a16="http://schemas.microsoft.com/office/drawing/2014/main" id="{42CFE38E-32FA-B2BF-7CAE-718BE092A0C5}"/>
              </a:ext>
            </a:extLst>
          </p:cNvPr>
          <p:cNvSpPr/>
          <p:nvPr/>
        </p:nvSpPr>
        <p:spPr>
          <a:xfrm>
            <a:off x="3352870" y="5661248"/>
            <a:ext cx="902491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처음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◀  1  ▶  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마지막</a:t>
            </a:r>
          </a:p>
        </p:txBody>
      </p:sp>
      <p:pic>
        <p:nvPicPr>
          <p:cNvPr id="20" name="Picture 13">
            <a:extLst>
              <a:ext uri="{FF2B5EF4-FFF2-40B4-BE49-F238E27FC236}">
                <a16:creationId xmlns:a16="http://schemas.microsoft.com/office/drawing/2014/main" id="{C67BC70A-1102-AE91-BA22-4CE7FA479E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1455" y="2655760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7D2E62AB-73C3-84D6-62A2-0371F087F056}"/>
              </a:ext>
            </a:extLst>
          </p:cNvPr>
          <p:cNvSpPr/>
          <p:nvPr/>
        </p:nvSpPr>
        <p:spPr>
          <a:xfrm>
            <a:off x="6254137" y="2649459"/>
            <a:ext cx="35765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10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건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9E0FD7E0-7B69-18A1-0E84-BAA7F6FF66B9}"/>
              </a:ext>
            </a:extLst>
          </p:cNvPr>
          <p:cNvGrpSpPr/>
          <p:nvPr/>
        </p:nvGrpSpPr>
        <p:grpSpPr>
          <a:xfrm>
            <a:off x="1169162" y="2246542"/>
            <a:ext cx="408361" cy="144462"/>
            <a:chOff x="2403014" y="4597515"/>
            <a:chExt cx="408361" cy="144462"/>
          </a:xfrm>
        </p:grpSpPr>
        <p:sp>
          <p:nvSpPr>
            <p:cNvPr id="30" name="Rectangle 191">
              <a:extLst>
                <a:ext uri="{FF2B5EF4-FFF2-40B4-BE49-F238E27FC236}">
                  <a16:creationId xmlns:a16="http://schemas.microsoft.com/office/drawing/2014/main" id="{3F7F6161-8B44-4473-80EB-E38A5AA8C3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2071" y="4615885"/>
              <a:ext cx="269304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접수중</a:t>
              </a:r>
            </a:p>
          </p:txBody>
        </p:sp>
        <p:graphicFrame>
          <p:nvGraphicFramePr>
            <p:cNvPr id="31" name="개체 30">
              <a:extLst>
                <a:ext uri="{FF2B5EF4-FFF2-40B4-BE49-F238E27FC236}">
                  <a16:creationId xmlns:a16="http://schemas.microsoft.com/office/drawing/2014/main" id="{9A9EC7E9-F80C-6228-30A0-557206E3019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03014" y="4597515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145435" imgH="145435" progId="Visio.Drawing.11">
                    <p:embed/>
                  </p:oleObj>
                </mc:Choice>
                <mc:Fallback>
                  <p:oleObj name="Visio" r:id="rId4" imgW="145435" imgH="145435" progId="Visio.Drawing.11">
                    <p:embed/>
                    <p:pic>
                      <p:nvPicPr>
                        <p:cNvPr id="26" name="개체 25">
                          <a:extLst>
                            <a:ext uri="{FF2B5EF4-FFF2-40B4-BE49-F238E27FC236}">
                              <a16:creationId xmlns:a16="http://schemas.microsoft.com/office/drawing/2014/main" id="{6448F353-10E0-6B94-D0EB-61095012E90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3014" y="4597515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C8BEB04A-7E3F-A5D6-19FF-25EB6D9C134B}"/>
              </a:ext>
            </a:extLst>
          </p:cNvPr>
          <p:cNvGrpSpPr/>
          <p:nvPr/>
        </p:nvGrpSpPr>
        <p:grpSpPr>
          <a:xfrm>
            <a:off x="266961" y="2246398"/>
            <a:ext cx="316600" cy="144462"/>
            <a:chOff x="2145750" y="2807609"/>
            <a:chExt cx="316600" cy="144462"/>
          </a:xfrm>
        </p:grpSpPr>
        <p:sp>
          <p:nvSpPr>
            <p:cNvPr id="33" name="Rectangle 191">
              <a:extLst>
                <a:ext uri="{FF2B5EF4-FFF2-40B4-BE49-F238E27FC236}">
                  <a16:creationId xmlns:a16="http://schemas.microsoft.com/office/drawing/2014/main" id="{BEC19DCF-9809-E0DA-A748-93CDAA8A33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2814" y="2826123"/>
              <a:ext cx="179536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700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전체</a:t>
              </a:r>
              <a:endParaRPr kumimoji="0" lang="ko-KR" altLang="en-US" sz="7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aphicFrame>
          <p:nvGraphicFramePr>
            <p:cNvPr id="34" name="개체 33">
              <a:extLst>
                <a:ext uri="{FF2B5EF4-FFF2-40B4-BE49-F238E27FC236}">
                  <a16:creationId xmlns:a16="http://schemas.microsoft.com/office/drawing/2014/main" id="{A173AA21-C552-2D92-D180-AB6604EA001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45750" y="2807609"/>
            <a:ext cx="144463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6" imgW="145435" imgH="145435" progId="Visio.Drawing.11">
                    <p:embed/>
                  </p:oleObj>
                </mc:Choice>
                <mc:Fallback>
                  <p:oleObj name="Visio" r:id="rId6" imgW="145435" imgH="145435" progId="Visio.Drawing.11">
                    <p:embed/>
                    <p:pic>
                      <p:nvPicPr>
                        <p:cNvPr id="52" name="개체 51">
                          <a:extLst>
                            <a:ext uri="{FF2B5EF4-FFF2-40B4-BE49-F238E27FC236}">
                              <a16:creationId xmlns:a16="http://schemas.microsoft.com/office/drawing/2014/main" id="{67F21EE5-42B1-63D3-87FF-AEF760FB005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45750" y="2807609"/>
                          <a:ext cx="144463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7A884131-EF17-B156-6B3A-FD48FAC656E2}"/>
              </a:ext>
            </a:extLst>
          </p:cNvPr>
          <p:cNvGrpSpPr/>
          <p:nvPr/>
        </p:nvGrpSpPr>
        <p:grpSpPr>
          <a:xfrm>
            <a:off x="1666143" y="2246542"/>
            <a:ext cx="318593" cy="144462"/>
            <a:chOff x="2403014" y="4597515"/>
            <a:chExt cx="318593" cy="144462"/>
          </a:xfrm>
        </p:grpSpPr>
        <p:sp>
          <p:nvSpPr>
            <p:cNvPr id="36" name="Rectangle 191">
              <a:extLst>
                <a:ext uri="{FF2B5EF4-FFF2-40B4-BE49-F238E27FC236}">
                  <a16:creationId xmlns:a16="http://schemas.microsoft.com/office/drawing/2014/main" id="{B072C552-BFF2-C301-390F-8E1E757EFA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2071" y="4615885"/>
              <a:ext cx="179536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마감</a:t>
              </a:r>
            </a:p>
          </p:txBody>
        </p:sp>
        <p:graphicFrame>
          <p:nvGraphicFramePr>
            <p:cNvPr id="37" name="개체 36">
              <a:extLst>
                <a:ext uri="{FF2B5EF4-FFF2-40B4-BE49-F238E27FC236}">
                  <a16:creationId xmlns:a16="http://schemas.microsoft.com/office/drawing/2014/main" id="{16B60233-81E8-E99E-ECB7-BA0C11EAF16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03014" y="4597515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145435" imgH="145435" progId="Visio.Drawing.11">
                    <p:embed/>
                  </p:oleObj>
                </mc:Choice>
                <mc:Fallback>
                  <p:oleObj name="Visio" r:id="rId4" imgW="145435" imgH="145435" progId="Visio.Drawing.11">
                    <p:embed/>
                    <p:pic>
                      <p:nvPicPr>
                        <p:cNvPr id="59" name="개체 58">
                          <a:extLst>
                            <a:ext uri="{FF2B5EF4-FFF2-40B4-BE49-F238E27FC236}">
                              <a16:creationId xmlns:a16="http://schemas.microsoft.com/office/drawing/2014/main" id="{99F7A61E-3A7C-D8F9-5901-496CDF2F9C1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3014" y="4597515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90406BDB-F272-8FF0-836F-47C61A14724A}"/>
              </a:ext>
            </a:extLst>
          </p:cNvPr>
          <p:cNvGrpSpPr/>
          <p:nvPr/>
        </p:nvGrpSpPr>
        <p:grpSpPr>
          <a:xfrm>
            <a:off x="672181" y="2246542"/>
            <a:ext cx="408361" cy="144462"/>
            <a:chOff x="2403014" y="4597515"/>
            <a:chExt cx="408361" cy="144462"/>
          </a:xfrm>
        </p:grpSpPr>
        <p:sp>
          <p:nvSpPr>
            <p:cNvPr id="39" name="Rectangle 191">
              <a:extLst>
                <a:ext uri="{FF2B5EF4-FFF2-40B4-BE49-F238E27FC236}">
                  <a16:creationId xmlns:a16="http://schemas.microsoft.com/office/drawing/2014/main" id="{0DF0CE6F-101A-251E-5F93-6A71E74CA4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2071" y="4615885"/>
              <a:ext cx="269304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준비중</a:t>
              </a:r>
            </a:p>
          </p:txBody>
        </p:sp>
        <p:graphicFrame>
          <p:nvGraphicFramePr>
            <p:cNvPr id="40" name="개체 39">
              <a:extLst>
                <a:ext uri="{FF2B5EF4-FFF2-40B4-BE49-F238E27FC236}">
                  <a16:creationId xmlns:a16="http://schemas.microsoft.com/office/drawing/2014/main" id="{DA34CE84-382F-0311-728F-D3DAB5B4199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88631711"/>
                </p:ext>
              </p:extLst>
            </p:nvPr>
          </p:nvGraphicFramePr>
          <p:xfrm>
            <a:off x="2403014" y="4597515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145435" imgH="145435" progId="Visio.Drawing.11">
                    <p:embed/>
                  </p:oleObj>
                </mc:Choice>
                <mc:Fallback>
                  <p:oleObj name="Visio" r:id="rId4" imgW="145435" imgH="145435" progId="Visio.Drawing.11">
                    <p:embed/>
                    <p:pic>
                      <p:nvPicPr>
                        <p:cNvPr id="83" name="개체 82">
                          <a:extLst>
                            <a:ext uri="{FF2B5EF4-FFF2-40B4-BE49-F238E27FC236}">
                              <a16:creationId xmlns:a16="http://schemas.microsoft.com/office/drawing/2014/main" id="{73723011-AEEB-1DE5-9341-B8DFD3582C3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3014" y="4597515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1" name="Rectangle 191">
            <a:extLst>
              <a:ext uri="{FF2B5EF4-FFF2-40B4-BE49-F238E27FC236}">
                <a16:creationId xmlns:a16="http://schemas.microsoft.com/office/drawing/2014/main" id="{FCDCD154-9B31-4C02-1402-C3F61B57E5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778" y="2666591"/>
            <a:ext cx="261290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총 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7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건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3B4422F-845D-4F38-6921-07FCCA0788B8}"/>
              </a:ext>
            </a:extLst>
          </p:cNvPr>
          <p:cNvSpPr/>
          <p:nvPr/>
        </p:nvSpPr>
        <p:spPr>
          <a:xfrm>
            <a:off x="6205078" y="3470683"/>
            <a:ext cx="468001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신청하기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D4686EB-302A-8821-5242-12D9C11A3C89}"/>
              </a:ext>
            </a:extLst>
          </p:cNvPr>
          <p:cNvSpPr/>
          <p:nvPr/>
        </p:nvSpPr>
        <p:spPr>
          <a:xfrm>
            <a:off x="6205078" y="3738165"/>
            <a:ext cx="468001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신청하기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0345093E-B7A3-4619-3581-1530C759211C}"/>
              </a:ext>
            </a:extLst>
          </p:cNvPr>
          <p:cNvSpPr>
            <a:spLocks noChangeAspect="1"/>
          </p:cNvSpPr>
          <p:nvPr/>
        </p:nvSpPr>
        <p:spPr>
          <a:xfrm>
            <a:off x="113466" y="2240173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A8BB8E0C-BA67-7E8C-5DF4-EE223597899F}"/>
              </a:ext>
            </a:extLst>
          </p:cNvPr>
          <p:cNvSpPr>
            <a:spLocks noChangeAspect="1"/>
          </p:cNvSpPr>
          <p:nvPr/>
        </p:nvSpPr>
        <p:spPr>
          <a:xfrm>
            <a:off x="226603" y="2812217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20567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F1828-7E25-6186-F26B-7AD83EEA8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A491F5-08A6-FEF2-579B-54EBA2509DDB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고등학생장학금 조회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965B604-F0B2-587E-CECC-070E9EB697A9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고등학생장학금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조회</a:t>
            </a: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98CA0C39-DDEF-E59A-E6FC-F95F68C8EC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3315631"/>
              </p:ext>
            </p:extLst>
          </p:nvPr>
        </p:nvGraphicFramePr>
        <p:xfrm>
          <a:off x="6969418" y="2548005"/>
          <a:ext cx="2772114" cy="1184520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상태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준비중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/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접수중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/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마감 중 표시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준비중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조회일 기준 접수기간 이전일 경우의 상태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접수중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조회일 기준 접수기간일 경우의 상태로 회원이 장학금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산칭하기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가 가능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마감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조회일 기준 접수기간이 지난 경우의 상태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신청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신청하기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공고 상태가 접수중일 경우에 한해 보이며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시 장학금 신청 화면으로 이동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6D8FD544-0D2F-5FF6-443D-68BDF60AB5EA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pah_hit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DB03EA94-7B62-FD29-0F0F-973F9AC4094E}"/>
              </a:ext>
            </a:extLst>
          </p:cNvPr>
          <p:cNvSpPr/>
          <p:nvPr/>
        </p:nvSpPr>
        <p:spPr>
          <a:xfrm>
            <a:off x="165100" y="1376772"/>
            <a:ext cx="6732116" cy="36877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6774AABD-63C1-89DF-A3F8-2B85BAFFA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1468700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86E822DD-2293-622D-4C81-4A9B72C98194}"/>
              </a:ext>
            </a:extLst>
          </p:cNvPr>
          <p:cNvSpPr/>
          <p:nvPr/>
        </p:nvSpPr>
        <p:spPr>
          <a:xfrm>
            <a:off x="5680946" y="1586865"/>
            <a:ext cx="1165384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오산시민 평생교육장려금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A47B1B2-AE75-2CC5-0E55-CB0AE7C21F5D}"/>
              </a:ext>
            </a:extLst>
          </p:cNvPr>
          <p:cNvSpPr/>
          <p:nvPr/>
        </p:nvSpPr>
        <p:spPr>
          <a:xfrm>
            <a:off x="4831365" y="1586865"/>
            <a:ext cx="652423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 신청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B1185DD-B0D5-B0C4-6B54-E4D772817AEF}"/>
              </a:ext>
            </a:extLst>
          </p:cNvPr>
          <p:cNvSpPr/>
          <p:nvPr/>
        </p:nvSpPr>
        <p:spPr>
          <a:xfrm>
            <a:off x="4223838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재단소식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B460977-C190-CDB5-58C2-277EB2258389}"/>
              </a:ext>
            </a:extLst>
          </p:cNvPr>
          <p:cNvSpPr/>
          <p:nvPr/>
        </p:nvSpPr>
        <p:spPr>
          <a:xfrm>
            <a:off x="3616311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열린경영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B879E70-DCC1-0531-1B69-1BB66E361C7D}"/>
              </a:ext>
            </a:extLst>
          </p:cNvPr>
          <p:cNvSpPr/>
          <p:nvPr/>
        </p:nvSpPr>
        <p:spPr>
          <a:xfrm>
            <a:off x="3008784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A1D6C4C-E219-D4CC-FAE0-1D688D7730BF}"/>
              </a:ext>
            </a:extLst>
          </p:cNvPr>
          <p:cNvSpPr/>
          <p:nvPr/>
        </p:nvSpPr>
        <p:spPr>
          <a:xfrm>
            <a:off x="165100" y="1790190"/>
            <a:ext cx="6732116" cy="469951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1C7D659-6802-85A1-0D51-D87A683D3458}"/>
              </a:ext>
            </a:extLst>
          </p:cNvPr>
          <p:cNvSpPr/>
          <p:nvPr/>
        </p:nvSpPr>
        <p:spPr>
          <a:xfrm>
            <a:off x="5483789" y="1879740"/>
            <a:ext cx="1295227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고등학생장학금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72B85E9-0424-9D77-7A25-4C56FC0326D7}"/>
              </a:ext>
            </a:extLst>
          </p:cNvPr>
          <p:cNvSpPr/>
          <p:nvPr/>
        </p:nvSpPr>
        <p:spPr>
          <a:xfrm>
            <a:off x="236476" y="1844824"/>
            <a:ext cx="847989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고등학생 장학금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D5DCCFD-E67F-0F6F-9EB1-B5DFCD3765E4}"/>
              </a:ext>
            </a:extLst>
          </p:cNvPr>
          <p:cNvSpPr/>
          <p:nvPr/>
        </p:nvSpPr>
        <p:spPr>
          <a:xfrm>
            <a:off x="3824511" y="2248048"/>
            <a:ext cx="277591" cy="144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검색</a:t>
            </a: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8B5B896-F75D-3F5A-AF4E-C79BC9481294}"/>
              </a:ext>
            </a:extLst>
          </p:cNvPr>
          <p:cNvSpPr/>
          <p:nvPr/>
        </p:nvSpPr>
        <p:spPr>
          <a:xfrm>
            <a:off x="2610475" y="2248048"/>
            <a:ext cx="1193641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검색어를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입력하세요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3" name="Picture 13">
            <a:extLst>
              <a:ext uri="{FF2B5EF4-FFF2-40B4-BE49-F238E27FC236}">
                <a16:creationId xmlns:a16="http://schemas.microsoft.com/office/drawing/2014/main" id="{795DEFA5-2955-2A6B-D541-36A955DBF9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2534" y="2246398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F55075A6-CA34-5F5A-3987-1E9523F26965}"/>
              </a:ext>
            </a:extLst>
          </p:cNvPr>
          <p:cNvSpPr/>
          <p:nvPr/>
        </p:nvSpPr>
        <p:spPr>
          <a:xfrm>
            <a:off x="2025221" y="2248048"/>
            <a:ext cx="393415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제목</a:t>
            </a: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226420A0-67D4-CE0A-1AD7-513D1BDB0A46}"/>
              </a:ext>
            </a:extLst>
          </p:cNvPr>
          <p:cNvGraphicFramePr>
            <a:graphicFrameLocks noGrp="1"/>
          </p:cNvGraphicFramePr>
          <p:nvPr/>
        </p:nvGraphicFramePr>
        <p:xfrm>
          <a:off x="284966" y="2881893"/>
          <a:ext cx="6494051" cy="27033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6426">
                  <a:extLst>
                    <a:ext uri="{9D8B030D-6E8A-4147-A177-3AD203B41FA5}">
                      <a16:colId xmlns:a16="http://schemas.microsoft.com/office/drawing/2014/main" val="795720410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1696">
                  <a:extLst>
                    <a:ext uri="{9D8B030D-6E8A-4147-A177-3AD203B41FA5}">
                      <a16:colId xmlns:a16="http://schemas.microsoft.com/office/drawing/2014/main" val="3302419106"/>
                    </a:ext>
                  </a:extLst>
                </a:gridCol>
                <a:gridCol w="69227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545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접수기간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신청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b="0" dirty="0">
                          <a:latin typeface="맑은 고딕" panose="020B0503020000020004" pitchFamily="50" charset="-127"/>
                          <a:ea typeface="+mn-ea"/>
                        </a:rPr>
                        <a:t>2025</a:t>
                      </a:r>
                      <a:r>
                        <a:rPr lang="ko-KR" altLang="en-US" sz="700" b="0" dirty="0">
                          <a:latin typeface="맑은 고딕" panose="020B0503020000020004" pitchFamily="50" charset="-127"/>
                          <a:ea typeface="+mn-ea"/>
                        </a:rPr>
                        <a:t>년 하반기 고등학생 장학금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준비중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b="0" dirty="0">
                          <a:latin typeface="맑은 고딕" panose="020B0503020000020004" pitchFamily="50" charset="-127"/>
                          <a:ea typeface="+mn-ea"/>
                        </a:rPr>
                        <a:t>2025</a:t>
                      </a:r>
                      <a:r>
                        <a:rPr lang="ko-KR" altLang="en-US" sz="700" b="0" dirty="0">
                          <a:latin typeface="맑은 고딕" panose="020B0503020000020004" pitchFamily="50" charset="-127"/>
                          <a:ea typeface="+mn-ea"/>
                        </a:rPr>
                        <a:t>년 하반기 고등학생 장학금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접수중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7312254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b="0" dirty="0">
                          <a:latin typeface="맑은 고딕" panose="020B0503020000020004" pitchFamily="50" charset="-127"/>
                          <a:ea typeface="+mn-ea"/>
                        </a:rPr>
                        <a:t>2025</a:t>
                      </a:r>
                      <a:r>
                        <a:rPr lang="ko-KR" altLang="en-US" sz="700" b="0" dirty="0">
                          <a:latin typeface="맑은 고딕" panose="020B0503020000020004" pitchFamily="50" charset="-127"/>
                          <a:ea typeface="+mn-ea"/>
                        </a:rPr>
                        <a:t>년 하반기 고등학생 장학금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접수중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8246901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b="0" dirty="0">
                          <a:latin typeface="맑은 고딕" panose="020B0503020000020004" pitchFamily="50" charset="-127"/>
                          <a:ea typeface="+mn-ea"/>
                        </a:rPr>
                        <a:t>2025</a:t>
                      </a:r>
                      <a:r>
                        <a:rPr lang="ko-KR" altLang="en-US" sz="700" b="0" dirty="0">
                          <a:latin typeface="맑은 고딕" panose="020B0503020000020004" pitchFamily="50" charset="-127"/>
                          <a:ea typeface="+mn-ea"/>
                        </a:rPr>
                        <a:t>년 하반기 고등학생 장학금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마감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1439070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b="0" dirty="0">
                          <a:latin typeface="맑은 고딕" panose="020B0503020000020004" pitchFamily="50" charset="-127"/>
                          <a:ea typeface="+mn-ea"/>
                        </a:rPr>
                        <a:t>2025</a:t>
                      </a:r>
                      <a:r>
                        <a:rPr lang="ko-KR" altLang="en-US" sz="700" b="0" dirty="0">
                          <a:latin typeface="맑은 고딕" panose="020B0503020000020004" pitchFamily="50" charset="-127"/>
                          <a:ea typeface="+mn-ea"/>
                        </a:rPr>
                        <a:t>년 하반기 고등학생 장학금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마감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3880563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b="0" dirty="0">
                          <a:latin typeface="맑은 고딕" panose="020B0503020000020004" pitchFamily="50" charset="-127"/>
                          <a:ea typeface="+mn-ea"/>
                        </a:rPr>
                        <a:t>2025</a:t>
                      </a:r>
                      <a:r>
                        <a:rPr lang="ko-KR" altLang="en-US" sz="700" b="0" dirty="0">
                          <a:latin typeface="맑은 고딕" panose="020B0503020000020004" pitchFamily="50" charset="-127"/>
                          <a:ea typeface="+mn-ea"/>
                        </a:rPr>
                        <a:t>년 하반기 고등학생 장학금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마감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0006018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b="0" dirty="0">
                          <a:latin typeface="맑은 고딕" panose="020B0503020000020004" pitchFamily="50" charset="-127"/>
                          <a:ea typeface="+mn-ea"/>
                        </a:rPr>
                        <a:t>2025</a:t>
                      </a:r>
                      <a:r>
                        <a:rPr lang="ko-KR" altLang="en-US" sz="700" b="0" dirty="0">
                          <a:latin typeface="맑은 고딕" panose="020B0503020000020004" pitchFamily="50" charset="-127"/>
                          <a:ea typeface="+mn-ea"/>
                        </a:rPr>
                        <a:t>년 하반기 고등학생 장학금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2894528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b="0" dirty="0">
                          <a:latin typeface="맑은 고딕" panose="020B0503020000020004" pitchFamily="50" charset="-127"/>
                          <a:ea typeface="+mn-ea"/>
                        </a:rPr>
                        <a:t>2025</a:t>
                      </a:r>
                      <a:r>
                        <a:rPr lang="ko-KR" altLang="en-US" sz="700" b="0" dirty="0">
                          <a:latin typeface="맑은 고딕" panose="020B0503020000020004" pitchFamily="50" charset="-127"/>
                          <a:ea typeface="+mn-ea"/>
                        </a:rPr>
                        <a:t>년 하반기 고등학생 장학금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6804240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b="0" dirty="0">
                          <a:latin typeface="맑은 고딕" panose="020B0503020000020004" pitchFamily="50" charset="-127"/>
                          <a:ea typeface="+mn-ea"/>
                        </a:rPr>
                        <a:t>2025</a:t>
                      </a:r>
                      <a:r>
                        <a:rPr lang="ko-KR" altLang="en-US" sz="700" b="0" dirty="0">
                          <a:latin typeface="맑은 고딕" panose="020B0503020000020004" pitchFamily="50" charset="-127"/>
                          <a:ea typeface="+mn-ea"/>
                        </a:rPr>
                        <a:t>년 하반기 고등학생 장학금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마감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6797012"/>
                  </a:ext>
                </a:extLst>
              </a:tr>
            </a:tbl>
          </a:graphicData>
        </a:graphic>
      </p:graphicFrame>
      <p:sp>
        <p:nvSpPr>
          <p:cNvPr id="17" name="직사각형 16">
            <a:extLst>
              <a:ext uri="{FF2B5EF4-FFF2-40B4-BE49-F238E27FC236}">
                <a16:creationId xmlns:a16="http://schemas.microsoft.com/office/drawing/2014/main" id="{5EBF4BD8-7796-FDE8-8ADD-8282A512A5A7}"/>
              </a:ext>
            </a:extLst>
          </p:cNvPr>
          <p:cNvSpPr/>
          <p:nvPr/>
        </p:nvSpPr>
        <p:spPr>
          <a:xfrm>
            <a:off x="3352870" y="5661248"/>
            <a:ext cx="902491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처음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◀  1  ▶  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마지막</a:t>
            </a:r>
          </a:p>
        </p:txBody>
      </p:sp>
      <p:pic>
        <p:nvPicPr>
          <p:cNvPr id="20" name="Picture 13">
            <a:extLst>
              <a:ext uri="{FF2B5EF4-FFF2-40B4-BE49-F238E27FC236}">
                <a16:creationId xmlns:a16="http://schemas.microsoft.com/office/drawing/2014/main" id="{A0A3E282-5DEF-931D-3AAB-F24FD8EFFA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1455" y="2655760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CA33DBD6-6B97-DB4F-359D-1BD8AE212E4C}"/>
              </a:ext>
            </a:extLst>
          </p:cNvPr>
          <p:cNvSpPr/>
          <p:nvPr/>
        </p:nvSpPr>
        <p:spPr>
          <a:xfrm>
            <a:off x="6254137" y="2649459"/>
            <a:ext cx="35765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10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건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802AC846-4A18-936E-EB0B-4031FEE201E3}"/>
              </a:ext>
            </a:extLst>
          </p:cNvPr>
          <p:cNvGrpSpPr/>
          <p:nvPr/>
        </p:nvGrpSpPr>
        <p:grpSpPr>
          <a:xfrm>
            <a:off x="1169162" y="2246542"/>
            <a:ext cx="408361" cy="144462"/>
            <a:chOff x="2403014" y="4597515"/>
            <a:chExt cx="408361" cy="144462"/>
          </a:xfrm>
        </p:grpSpPr>
        <p:sp>
          <p:nvSpPr>
            <p:cNvPr id="30" name="Rectangle 191">
              <a:extLst>
                <a:ext uri="{FF2B5EF4-FFF2-40B4-BE49-F238E27FC236}">
                  <a16:creationId xmlns:a16="http://schemas.microsoft.com/office/drawing/2014/main" id="{ABE2950A-8120-FB66-5256-15B3D5AEB2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2071" y="4615885"/>
              <a:ext cx="269304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접수중</a:t>
              </a:r>
            </a:p>
          </p:txBody>
        </p:sp>
        <p:graphicFrame>
          <p:nvGraphicFramePr>
            <p:cNvPr id="31" name="개체 30">
              <a:extLst>
                <a:ext uri="{FF2B5EF4-FFF2-40B4-BE49-F238E27FC236}">
                  <a16:creationId xmlns:a16="http://schemas.microsoft.com/office/drawing/2014/main" id="{9AF3F7C7-2DA3-A2BC-F55B-0AB906022CF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03014" y="4597515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145435" imgH="145435" progId="Visio.Drawing.11">
                    <p:embed/>
                  </p:oleObj>
                </mc:Choice>
                <mc:Fallback>
                  <p:oleObj name="Visio" r:id="rId4" imgW="145435" imgH="145435" progId="Visio.Drawing.11">
                    <p:embed/>
                    <p:pic>
                      <p:nvPicPr>
                        <p:cNvPr id="31" name="개체 30">
                          <a:extLst>
                            <a:ext uri="{FF2B5EF4-FFF2-40B4-BE49-F238E27FC236}">
                              <a16:creationId xmlns:a16="http://schemas.microsoft.com/office/drawing/2014/main" id="{9A9EC7E9-F80C-6228-30A0-557206E3019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3014" y="4597515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0698A39E-6F15-6C51-68EE-494C2E4A5F50}"/>
              </a:ext>
            </a:extLst>
          </p:cNvPr>
          <p:cNvGrpSpPr/>
          <p:nvPr/>
        </p:nvGrpSpPr>
        <p:grpSpPr>
          <a:xfrm>
            <a:off x="266961" y="2246398"/>
            <a:ext cx="316600" cy="144462"/>
            <a:chOff x="2145750" y="2807609"/>
            <a:chExt cx="316600" cy="144462"/>
          </a:xfrm>
        </p:grpSpPr>
        <p:sp>
          <p:nvSpPr>
            <p:cNvPr id="33" name="Rectangle 191">
              <a:extLst>
                <a:ext uri="{FF2B5EF4-FFF2-40B4-BE49-F238E27FC236}">
                  <a16:creationId xmlns:a16="http://schemas.microsoft.com/office/drawing/2014/main" id="{163370B6-8257-9E6B-F7B2-C7FCD4237E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2814" y="2826123"/>
              <a:ext cx="179536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700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전체</a:t>
              </a:r>
              <a:endParaRPr kumimoji="0" lang="ko-KR" altLang="en-US" sz="7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aphicFrame>
          <p:nvGraphicFramePr>
            <p:cNvPr id="34" name="개체 33">
              <a:extLst>
                <a:ext uri="{FF2B5EF4-FFF2-40B4-BE49-F238E27FC236}">
                  <a16:creationId xmlns:a16="http://schemas.microsoft.com/office/drawing/2014/main" id="{BD4C4529-9FF0-B1EE-A7A2-A8CCC27DABD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45750" y="2807609"/>
            <a:ext cx="144463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6" imgW="145435" imgH="145435" progId="Visio.Drawing.11">
                    <p:embed/>
                  </p:oleObj>
                </mc:Choice>
                <mc:Fallback>
                  <p:oleObj name="Visio" r:id="rId6" imgW="145435" imgH="145435" progId="Visio.Drawing.11">
                    <p:embed/>
                    <p:pic>
                      <p:nvPicPr>
                        <p:cNvPr id="34" name="개체 33">
                          <a:extLst>
                            <a:ext uri="{FF2B5EF4-FFF2-40B4-BE49-F238E27FC236}">
                              <a16:creationId xmlns:a16="http://schemas.microsoft.com/office/drawing/2014/main" id="{A173AA21-C552-2D92-D180-AB6604EA001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45750" y="2807609"/>
                          <a:ext cx="144463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D2F6181F-3365-E300-F814-CF3CE93F6F48}"/>
              </a:ext>
            </a:extLst>
          </p:cNvPr>
          <p:cNvGrpSpPr/>
          <p:nvPr/>
        </p:nvGrpSpPr>
        <p:grpSpPr>
          <a:xfrm>
            <a:off x="1666143" y="2246542"/>
            <a:ext cx="318593" cy="144462"/>
            <a:chOff x="2403014" y="4597515"/>
            <a:chExt cx="318593" cy="144462"/>
          </a:xfrm>
        </p:grpSpPr>
        <p:sp>
          <p:nvSpPr>
            <p:cNvPr id="36" name="Rectangle 191">
              <a:extLst>
                <a:ext uri="{FF2B5EF4-FFF2-40B4-BE49-F238E27FC236}">
                  <a16:creationId xmlns:a16="http://schemas.microsoft.com/office/drawing/2014/main" id="{1E77A15F-160F-E6B9-86A7-E873480AA2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2071" y="4615885"/>
              <a:ext cx="179536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마감</a:t>
              </a:r>
            </a:p>
          </p:txBody>
        </p:sp>
        <p:graphicFrame>
          <p:nvGraphicFramePr>
            <p:cNvPr id="37" name="개체 36">
              <a:extLst>
                <a:ext uri="{FF2B5EF4-FFF2-40B4-BE49-F238E27FC236}">
                  <a16:creationId xmlns:a16="http://schemas.microsoft.com/office/drawing/2014/main" id="{FE4CC2F8-EA65-F8B1-5D1C-326E420CBC1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03014" y="4597515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145435" imgH="145435" progId="Visio.Drawing.11">
                    <p:embed/>
                  </p:oleObj>
                </mc:Choice>
                <mc:Fallback>
                  <p:oleObj name="Visio" r:id="rId4" imgW="145435" imgH="145435" progId="Visio.Drawing.11">
                    <p:embed/>
                    <p:pic>
                      <p:nvPicPr>
                        <p:cNvPr id="37" name="개체 36">
                          <a:extLst>
                            <a:ext uri="{FF2B5EF4-FFF2-40B4-BE49-F238E27FC236}">
                              <a16:creationId xmlns:a16="http://schemas.microsoft.com/office/drawing/2014/main" id="{16B60233-81E8-E99E-ECB7-BA0C11EAF16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3014" y="4597515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2E9169E2-4573-F1E5-CCC6-0FF3EC574906}"/>
              </a:ext>
            </a:extLst>
          </p:cNvPr>
          <p:cNvGrpSpPr/>
          <p:nvPr/>
        </p:nvGrpSpPr>
        <p:grpSpPr>
          <a:xfrm>
            <a:off x="672181" y="2246542"/>
            <a:ext cx="408361" cy="144462"/>
            <a:chOff x="2403014" y="4597515"/>
            <a:chExt cx="408361" cy="144462"/>
          </a:xfrm>
        </p:grpSpPr>
        <p:sp>
          <p:nvSpPr>
            <p:cNvPr id="39" name="Rectangle 191">
              <a:extLst>
                <a:ext uri="{FF2B5EF4-FFF2-40B4-BE49-F238E27FC236}">
                  <a16:creationId xmlns:a16="http://schemas.microsoft.com/office/drawing/2014/main" id="{62F8E239-4D46-E075-AFC6-88DADDA9F1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2071" y="4615885"/>
              <a:ext cx="269304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준비중</a:t>
              </a:r>
            </a:p>
          </p:txBody>
        </p:sp>
        <p:graphicFrame>
          <p:nvGraphicFramePr>
            <p:cNvPr id="40" name="개체 39">
              <a:extLst>
                <a:ext uri="{FF2B5EF4-FFF2-40B4-BE49-F238E27FC236}">
                  <a16:creationId xmlns:a16="http://schemas.microsoft.com/office/drawing/2014/main" id="{C42BF7CD-8B87-D951-4251-6A602FA1882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03014" y="4597515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145435" imgH="145435" progId="Visio.Drawing.11">
                    <p:embed/>
                  </p:oleObj>
                </mc:Choice>
                <mc:Fallback>
                  <p:oleObj name="Visio" r:id="rId4" imgW="145435" imgH="145435" progId="Visio.Drawing.11">
                    <p:embed/>
                    <p:pic>
                      <p:nvPicPr>
                        <p:cNvPr id="40" name="개체 39">
                          <a:extLst>
                            <a:ext uri="{FF2B5EF4-FFF2-40B4-BE49-F238E27FC236}">
                              <a16:creationId xmlns:a16="http://schemas.microsoft.com/office/drawing/2014/main" id="{DA34CE84-382F-0311-728F-D3DAB5B4199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3014" y="4597515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1" name="Rectangle 191">
            <a:extLst>
              <a:ext uri="{FF2B5EF4-FFF2-40B4-BE49-F238E27FC236}">
                <a16:creationId xmlns:a16="http://schemas.microsoft.com/office/drawing/2014/main" id="{E0E978B0-F39C-38D1-0225-FB8A32ABA5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778" y="2666591"/>
            <a:ext cx="261290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총 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7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건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631E7E5-8833-A741-6332-E55BA9EF00DB}"/>
              </a:ext>
            </a:extLst>
          </p:cNvPr>
          <p:cNvSpPr/>
          <p:nvPr/>
        </p:nvSpPr>
        <p:spPr>
          <a:xfrm>
            <a:off x="6205078" y="3470683"/>
            <a:ext cx="468001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신청하기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478C40F-7D43-3892-B86B-9307D30F44B1}"/>
              </a:ext>
            </a:extLst>
          </p:cNvPr>
          <p:cNvSpPr/>
          <p:nvPr/>
        </p:nvSpPr>
        <p:spPr>
          <a:xfrm>
            <a:off x="6205078" y="3738165"/>
            <a:ext cx="468001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신청하기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AFC19C05-19C2-25DF-61C4-6B19225E10AB}"/>
              </a:ext>
            </a:extLst>
          </p:cNvPr>
          <p:cNvSpPr>
            <a:spLocks noChangeAspect="1"/>
          </p:cNvSpPr>
          <p:nvPr/>
        </p:nvSpPr>
        <p:spPr>
          <a:xfrm>
            <a:off x="113466" y="2240173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38C26BFD-2613-84F4-D321-CBD2A2CA99A1}"/>
              </a:ext>
            </a:extLst>
          </p:cNvPr>
          <p:cNvSpPr>
            <a:spLocks noChangeAspect="1"/>
          </p:cNvSpPr>
          <p:nvPr/>
        </p:nvSpPr>
        <p:spPr>
          <a:xfrm>
            <a:off x="226603" y="2812217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993940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68DD1-0AAB-6BA8-716B-AA6DD86EC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13B8689-E3AE-C8BC-7746-CFB16E933C19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고등학생장학금 신청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94DA77A-29E4-6599-51F6-44B936350CC3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고등학생장학금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장학금신청</a:t>
            </a: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E3CBFD6C-3D04-6A01-5AC0-8DC1D21D1B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661506"/>
              </p:ext>
            </p:extLst>
          </p:nvPr>
        </p:nvGraphicFramePr>
        <p:xfrm>
          <a:off x="6969418" y="2548005"/>
          <a:ext cx="2772114" cy="3511579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프로그램신청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고등학생장학금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조회 화면 목록에서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신청하기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클릭 시 보이는 화면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사이트관리자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프로그램신청관리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개인정보동의관리에서 설정된 개인정보 수집 및 활용에 대한 동의 내용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개인정보 수집 및 활용에 동의합니다 체크 시 신청이 가능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이름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신청자 회원의 이름을 표시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보호자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신청 시 작성한 보호자 이름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생년월일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신청 시 설정한 신청자의 생년월일로 수정이 가능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보호자 연락처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신청 시 설정한 보호자 연락처로 수정이 가능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졸업 중학교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신청 시 작성한 졸업 중학교로 수정이 가능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재학 고등학교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신청 시 설정한 신청자 재학 고등학교로 수정이 가능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최종전입일자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신청 시 설정한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최종전입일자로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본인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보호자 중 선택 및 전입일자를 설정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주소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신청 시 설정한 신청자 주소로 수정이 가능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우편번호 찾기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주소검색 팝업창에서 해당 주소 검색 및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선택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우편번호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기본주소가 주소란에 적용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상세주소 직접입력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은행명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신청 시 설정한신청자 본인 계좌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은행명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예금주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신청 시 자동 신청자의 회원 이름을 자동으로 표시하며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수정이 불가능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계좌번호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신청 시 설정한 본인 계좌의 계좌번호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3355939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DABE66E8-6814-6A83-2C75-ABAD273681A4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pah_application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86DEAECB-45D7-D1A1-A168-294228453410}"/>
              </a:ext>
            </a:extLst>
          </p:cNvPr>
          <p:cNvSpPr/>
          <p:nvPr/>
        </p:nvSpPr>
        <p:spPr>
          <a:xfrm>
            <a:off x="165100" y="1376772"/>
            <a:ext cx="6732116" cy="36877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C229A9F5-CC34-B0BB-B066-5DA18BD055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1468700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CE59800E-86BE-2EC3-2C4E-33808E291A42}"/>
              </a:ext>
            </a:extLst>
          </p:cNvPr>
          <p:cNvSpPr/>
          <p:nvPr/>
        </p:nvSpPr>
        <p:spPr>
          <a:xfrm>
            <a:off x="5680946" y="1586865"/>
            <a:ext cx="1165384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오산시민 평생교육장려금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E962ECF-6D27-A89A-49E8-657A3699B758}"/>
              </a:ext>
            </a:extLst>
          </p:cNvPr>
          <p:cNvSpPr/>
          <p:nvPr/>
        </p:nvSpPr>
        <p:spPr>
          <a:xfrm>
            <a:off x="4831365" y="1586865"/>
            <a:ext cx="652423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 신청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C4AEB9B-D080-A68B-86DB-280915804622}"/>
              </a:ext>
            </a:extLst>
          </p:cNvPr>
          <p:cNvSpPr/>
          <p:nvPr/>
        </p:nvSpPr>
        <p:spPr>
          <a:xfrm>
            <a:off x="4223838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재단소식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A68C3DF-2DC7-0177-D0CC-774CAA03F3CD}"/>
              </a:ext>
            </a:extLst>
          </p:cNvPr>
          <p:cNvSpPr/>
          <p:nvPr/>
        </p:nvSpPr>
        <p:spPr>
          <a:xfrm>
            <a:off x="3616311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열린경영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2ABA687-4E53-5DE2-9D05-A1560E52521C}"/>
              </a:ext>
            </a:extLst>
          </p:cNvPr>
          <p:cNvSpPr/>
          <p:nvPr/>
        </p:nvSpPr>
        <p:spPr>
          <a:xfrm>
            <a:off x="3008784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BDC14BC-308F-A40D-00E5-68266639237C}"/>
              </a:ext>
            </a:extLst>
          </p:cNvPr>
          <p:cNvSpPr/>
          <p:nvPr/>
        </p:nvSpPr>
        <p:spPr>
          <a:xfrm>
            <a:off x="165100" y="1790190"/>
            <a:ext cx="6732116" cy="469951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805A2BE-4501-84F5-C5F1-F15D10B18D34}"/>
              </a:ext>
            </a:extLst>
          </p:cNvPr>
          <p:cNvSpPr/>
          <p:nvPr/>
        </p:nvSpPr>
        <p:spPr>
          <a:xfrm>
            <a:off x="5483789" y="1879740"/>
            <a:ext cx="1295227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고등학생장학금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7CB1903-9E51-E291-2572-A50932A626D2}"/>
              </a:ext>
            </a:extLst>
          </p:cNvPr>
          <p:cNvSpPr/>
          <p:nvPr/>
        </p:nvSpPr>
        <p:spPr>
          <a:xfrm>
            <a:off x="236476" y="1844824"/>
            <a:ext cx="847989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고등학생 장학금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2D8ADDC-631C-235A-4E80-4C4671CEFA89}"/>
              </a:ext>
            </a:extLst>
          </p:cNvPr>
          <p:cNvSpPr/>
          <p:nvPr/>
        </p:nvSpPr>
        <p:spPr>
          <a:xfrm>
            <a:off x="280582" y="2216207"/>
            <a:ext cx="1620636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800" b="1" dirty="0">
                <a:solidFill>
                  <a:prstClr val="black"/>
                </a:solidFill>
              </a:rPr>
              <a:t>개인정보 수집 및 활용에 대한 안내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3B939AD9-75AF-3F6A-039A-EEBB8750ACB0}"/>
              </a:ext>
            </a:extLst>
          </p:cNvPr>
          <p:cNvGrpSpPr/>
          <p:nvPr/>
        </p:nvGrpSpPr>
        <p:grpSpPr>
          <a:xfrm>
            <a:off x="6733077" y="2395896"/>
            <a:ext cx="77080" cy="792000"/>
            <a:chOff x="6781481" y="1888563"/>
            <a:chExt cx="77080" cy="792000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E31877E4-77E9-FDBB-35DF-12E8E43963B5}"/>
                </a:ext>
              </a:extLst>
            </p:cNvPr>
            <p:cNvSpPr/>
            <p:nvPr/>
          </p:nvSpPr>
          <p:spPr>
            <a:xfrm>
              <a:off x="6786561" y="1888563"/>
              <a:ext cx="72000" cy="792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E991F9C9-C4C9-9197-C5B1-6A4B9AA7C27A}"/>
                </a:ext>
              </a:extLst>
            </p:cNvPr>
            <p:cNvSpPr/>
            <p:nvPr/>
          </p:nvSpPr>
          <p:spPr>
            <a:xfrm>
              <a:off x="6781481" y="2116070"/>
              <a:ext cx="72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endParaRPr>
            </a:p>
          </p:txBody>
        </p:sp>
      </p:grp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06F5D48-88D1-8D5E-12D8-0FF254D18731}"/>
              </a:ext>
            </a:extLst>
          </p:cNvPr>
          <p:cNvSpPr/>
          <p:nvPr/>
        </p:nvSpPr>
        <p:spPr>
          <a:xfrm>
            <a:off x="266529" y="2396227"/>
            <a:ext cx="6461468" cy="78963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t"/>
          <a:lstStyle/>
          <a:p>
            <a:r>
              <a:rPr lang="ko-KR" altLang="en-US" sz="700" dirty="0">
                <a:solidFill>
                  <a:prstClr val="black"/>
                </a:solidFill>
              </a:rPr>
              <a:t>오산교육재단 홈페이지 프로그램 신청을 위하여 아래와 같이 개인정보를 수집・이용하고자 합니다</a:t>
            </a:r>
            <a:r>
              <a:rPr lang="en-US" altLang="ko-KR" sz="700" dirty="0">
                <a:solidFill>
                  <a:prstClr val="black"/>
                </a:solidFill>
              </a:rPr>
              <a:t>. </a:t>
            </a:r>
            <a:r>
              <a:rPr lang="ko-KR" altLang="en-US" sz="700" dirty="0">
                <a:solidFill>
                  <a:prstClr val="black"/>
                </a:solidFill>
              </a:rPr>
              <a:t>내용을 자세히 읽으신 후 동의 여부를 결정하여 주시기 바랍니다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</a:p>
          <a:p>
            <a:endParaRPr lang="en-US" altLang="ko-KR" sz="700" dirty="0">
              <a:solidFill>
                <a:prstClr val="black"/>
              </a:solidFill>
            </a:endParaRPr>
          </a:p>
          <a:p>
            <a:r>
              <a:rPr lang="ko-KR" altLang="en-US" sz="700" dirty="0">
                <a:solidFill>
                  <a:prstClr val="black"/>
                </a:solidFill>
              </a:rPr>
              <a:t>개인정보 수집・이용 내역</a:t>
            </a:r>
            <a:endParaRPr lang="en-US" altLang="ko-KR" sz="700" dirty="0">
              <a:solidFill>
                <a:prstClr val="black"/>
              </a:solidFill>
            </a:endParaRPr>
          </a:p>
          <a:p>
            <a:r>
              <a:rPr lang="en-US" altLang="ko-KR" sz="700" dirty="0">
                <a:solidFill>
                  <a:prstClr val="black"/>
                </a:solidFill>
              </a:rPr>
              <a:t>1. </a:t>
            </a:r>
            <a:r>
              <a:rPr lang="ko-KR" altLang="en-US" sz="700" dirty="0">
                <a:solidFill>
                  <a:prstClr val="black"/>
                </a:solidFill>
              </a:rPr>
              <a:t>항목</a:t>
            </a:r>
            <a:endParaRPr lang="en-US" altLang="ko-KR" sz="700" dirty="0">
              <a:solidFill>
                <a:prstClr val="black"/>
              </a:solidFill>
            </a:endParaRPr>
          </a:p>
          <a:p>
            <a:r>
              <a:rPr lang="en-US" altLang="ko-KR" sz="700" dirty="0">
                <a:solidFill>
                  <a:prstClr val="black"/>
                </a:solidFill>
              </a:rPr>
              <a:t>‣ </a:t>
            </a:r>
            <a:r>
              <a:rPr lang="ko-KR" altLang="en-US" sz="700" dirty="0">
                <a:solidFill>
                  <a:prstClr val="black"/>
                </a:solidFill>
              </a:rPr>
              <a:t>필수항목 </a:t>
            </a:r>
            <a:r>
              <a:rPr lang="en-US" altLang="ko-KR" sz="700" dirty="0">
                <a:solidFill>
                  <a:prstClr val="black"/>
                </a:solidFill>
              </a:rPr>
              <a:t>: </a:t>
            </a:r>
            <a:r>
              <a:rPr lang="ko-KR" altLang="en-US" sz="700" dirty="0">
                <a:solidFill>
                  <a:prstClr val="black"/>
                </a:solidFill>
              </a:rPr>
              <a:t>성명</a:t>
            </a:r>
            <a:r>
              <a:rPr lang="en-US" altLang="ko-KR" sz="700" dirty="0">
                <a:solidFill>
                  <a:prstClr val="black"/>
                </a:solidFill>
              </a:rPr>
              <a:t>, </a:t>
            </a:r>
            <a:r>
              <a:rPr lang="ko-KR" altLang="en-US" sz="700" dirty="0">
                <a:solidFill>
                  <a:prstClr val="black"/>
                </a:solidFill>
              </a:rPr>
              <a:t>아이디</a:t>
            </a:r>
            <a:r>
              <a:rPr lang="en-US" altLang="ko-KR" sz="700" dirty="0">
                <a:solidFill>
                  <a:prstClr val="black"/>
                </a:solidFill>
              </a:rPr>
              <a:t>, </a:t>
            </a:r>
            <a:r>
              <a:rPr lang="ko-KR" altLang="en-US" sz="700" dirty="0">
                <a:solidFill>
                  <a:prstClr val="black"/>
                </a:solidFill>
              </a:rPr>
              <a:t>비밀번호</a:t>
            </a:r>
            <a:r>
              <a:rPr lang="en-US" altLang="ko-KR" sz="700" dirty="0">
                <a:solidFill>
                  <a:prstClr val="black"/>
                </a:solidFill>
              </a:rPr>
              <a:t>, </a:t>
            </a:r>
            <a:r>
              <a:rPr lang="ko-KR" altLang="en-US" sz="700" dirty="0">
                <a:solidFill>
                  <a:prstClr val="black"/>
                </a:solidFill>
              </a:rPr>
              <a:t>휴대폰번호</a:t>
            </a:r>
            <a:r>
              <a:rPr lang="en-US" altLang="ko-KR" sz="700" dirty="0">
                <a:solidFill>
                  <a:prstClr val="black"/>
                </a:solidFill>
              </a:rPr>
              <a:t>, </a:t>
            </a:r>
            <a:r>
              <a:rPr lang="ko-KR" altLang="en-US" sz="700" dirty="0" err="1">
                <a:solidFill>
                  <a:prstClr val="black"/>
                </a:solidFill>
              </a:rPr>
              <a:t>이메일주소</a:t>
            </a:r>
            <a:r>
              <a:rPr lang="en-US" altLang="ko-KR" sz="700" dirty="0">
                <a:solidFill>
                  <a:prstClr val="black"/>
                </a:solidFill>
              </a:rPr>
              <a:t>, </a:t>
            </a:r>
            <a:r>
              <a:rPr lang="ko-KR" altLang="en-US" sz="700" dirty="0">
                <a:solidFill>
                  <a:prstClr val="black"/>
                </a:solidFill>
              </a:rPr>
              <a:t>관리를 위해 수집함</a:t>
            </a:r>
            <a:endParaRPr lang="en-US" altLang="ko-KR" sz="700" dirty="0">
              <a:solidFill>
                <a:prstClr val="black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8275061-55A8-2277-DCA7-0641156200CF}"/>
              </a:ext>
            </a:extLst>
          </p:cNvPr>
          <p:cNvSpPr/>
          <p:nvPr/>
        </p:nvSpPr>
        <p:spPr>
          <a:xfrm>
            <a:off x="280582" y="3428653"/>
            <a:ext cx="549831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800" b="1" dirty="0">
                <a:solidFill>
                  <a:prstClr val="black"/>
                </a:solidFill>
              </a:rPr>
              <a:t>신청자 정보</a:t>
            </a: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5A4F523C-5546-3A98-9D74-C3B2858D02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5001773"/>
              </p:ext>
            </p:extLst>
          </p:nvPr>
        </p:nvGraphicFramePr>
        <p:xfrm>
          <a:off x="266528" y="3601567"/>
          <a:ext cx="6523209" cy="1839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94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32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3437">
                  <a:extLst>
                    <a:ext uri="{9D8B030D-6E8A-4147-A177-3AD203B41FA5}">
                      <a16:colId xmlns:a16="http://schemas.microsoft.com/office/drawing/2014/main" val="3116975180"/>
                    </a:ext>
                  </a:extLst>
                </a:gridCol>
                <a:gridCol w="2217094">
                  <a:extLst>
                    <a:ext uri="{9D8B030D-6E8A-4147-A177-3AD203B41FA5}">
                      <a16:colId xmlns:a16="http://schemas.microsoft.com/office/drawing/2014/main" val="4261210409"/>
                    </a:ext>
                  </a:extLst>
                </a:gridCol>
              </a:tblGrid>
              <a:tr h="229955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홍이삭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보호자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9955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생년월일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2008.05.23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보호자 연락처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9955">
                <a:tc>
                  <a:txBody>
                    <a:bodyPr/>
                    <a:lstStyle/>
                    <a:p>
                      <a:pPr algn="r" latinLnBrk="0"/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/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본인 연락처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955">
                <a:tc>
                  <a:txBody>
                    <a:bodyPr/>
                    <a:lstStyle/>
                    <a:p>
                      <a:pPr algn="r" latinLnBrk="0"/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졸업 중학교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/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재학 고등학교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4276378"/>
                  </a:ext>
                </a:extLst>
              </a:tr>
              <a:tr h="229955">
                <a:tc>
                  <a:txBody>
                    <a:bodyPr/>
                    <a:lstStyle/>
                    <a:p>
                      <a:pPr algn="r" latinLnBrk="0"/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최종전입일자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0171961"/>
                  </a:ext>
                </a:extLst>
              </a:tr>
              <a:tr h="229955">
                <a:tc rowSpan="3">
                  <a:txBody>
                    <a:bodyPr/>
                    <a:lstStyle/>
                    <a:p>
                      <a:pPr algn="r" latinLnBrk="0"/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주소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162364"/>
                  </a:ext>
                </a:extLst>
              </a:tr>
              <a:tr h="229955">
                <a:tc vMerge="1">
                  <a:txBody>
                    <a:bodyPr/>
                    <a:lstStyle/>
                    <a:p>
                      <a:pPr algn="r" latinLnBrk="0"/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5576740"/>
                  </a:ext>
                </a:extLst>
              </a:tr>
              <a:tr h="229955">
                <a:tc vMerge="1">
                  <a:txBody>
                    <a:bodyPr/>
                    <a:lstStyle/>
                    <a:p>
                      <a:pPr algn="r" latinLnBrk="0"/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latinLnBrk="0"/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515371"/>
                  </a:ext>
                </a:extLst>
              </a:tr>
            </a:tbl>
          </a:graphicData>
        </a:graphic>
      </p:graphicFrame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8E6248E1-D3C9-9719-B9C0-F1A1A7E0EE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4519402"/>
              </p:ext>
            </p:extLst>
          </p:nvPr>
        </p:nvGraphicFramePr>
        <p:xfrm>
          <a:off x="266529" y="5681404"/>
          <a:ext cx="6523209" cy="699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94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37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3308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은행명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308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예금주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홍이삭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308">
                <a:tc>
                  <a:txBody>
                    <a:bodyPr/>
                    <a:lstStyle/>
                    <a:p>
                      <a:pPr algn="r" latinLnBrk="0"/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계좌번호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2" name="직사각형 41">
            <a:extLst>
              <a:ext uri="{FF2B5EF4-FFF2-40B4-BE49-F238E27FC236}">
                <a16:creationId xmlns:a16="http://schemas.microsoft.com/office/drawing/2014/main" id="{CC417E9A-9198-B51B-326C-4344E92B458B}"/>
              </a:ext>
            </a:extLst>
          </p:cNvPr>
          <p:cNvSpPr/>
          <p:nvPr/>
        </p:nvSpPr>
        <p:spPr>
          <a:xfrm>
            <a:off x="280582" y="5501037"/>
            <a:ext cx="755015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800" b="1" dirty="0">
                <a:solidFill>
                  <a:prstClr val="black"/>
                </a:solidFill>
              </a:rPr>
              <a:t>신청자 계좌정보</a:t>
            </a:r>
          </a:p>
        </p:txBody>
      </p:sp>
      <p:pic>
        <p:nvPicPr>
          <p:cNvPr id="43" name="Picture 13">
            <a:extLst>
              <a:ext uri="{FF2B5EF4-FFF2-40B4-BE49-F238E27FC236}">
                <a16:creationId xmlns:a16="http://schemas.microsoft.com/office/drawing/2014/main" id="{AB4BC76A-53AD-C086-6488-0C7EF721CA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133" y="3866702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4" name="직사각형 43">
            <a:extLst>
              <a:ext uri="{FF2B5EF4-FFF2-40B4-BE49-F238E27FC236}">
                <a16:creationId xmlns:a16="http://schemas.microsoft.com/office/drawing/2014/main" id="{98BA1DE5-BE30-0EC0-E4DB-0D70529FF984}"/>
              </a:ext>
            </a:extLst>
          </p:cNvPr>
          <p:cNvSpPr/>
          <p:nvPr/>
        </p:nvSpPr>
        <p:spPr>
          <a:xfrm>
            <a:off x="1235243" y="3866966"/>
            <a:ext cx="35765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2008</a:t>
            </a: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년</a:t>
            </a:r>
          </a:p>
        </p:txBody>
      </p:sp>
      <p:pic>
        <p:nvPicPr>
          <p:cNvPr id="46" name="Picture 13">
            <a:extLst>
              <a:ext uri="{FF2B5EF4-FFF2-40B4-BE49-F238E27FC236}">
                <a16:creationId xmlns:a16="http://schemas.microsoft.com/office/drawing/2014/main" id="{79922365-68E3-963D-F033-AEAEC54482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5863" y="3866702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7" name="직사각형 46">
            <a:extLst>
              <a:ext uri="{FF2B5EF4-FFF2-40B4-BE49-F238E27FC236}">
                <a16:creationId xmlns:a16="http://schemas.microsoft.com/office/drawing/2014/main" id="{B261C900-5A8D-7680-306E-66BA7AD5A751}"/>
              </a:ext>
            </a:extLst>
          </p:cNvPr>
          <p:cNvSpPr/>
          <p:nvPr/>
        </p:nvSpPr>
        <p:spPr>
          <a:xfrm>
            <a:off x="1761211" y="3866966"/>
            <a:ext cx="295578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01</a:t>
            </a: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월</a:t>
            </a:r>
          </a:p>
        </p:txBody>
      </p:sp>
      <p:pic>
        <p:nvPicPr>
          <p:cNvPr id="48" name="Picture 13">
            <a:extLst>
              <a:ext uri="{FF2B5EF4-FFF2-40B4-BE49-F238E27FC236}">
                <a16:creationId xmlns:a16="http://schemas.microsoft.com/office/drawing/2014/main" id="{FDE68169-8499-B634-173D-84C0113C9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7716" y="3866702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9" name="직사각형 48">
            <a:extLst>
              <a:ext uri="{FF2B5EF4-FFF2-40B4-BE49-F238E27FC236}">
                <a16:creationId xmlns:a16="http://schemas.microsoft.com/office/drawing/2014/main" id="{868937FB-FBD0-ED5D-7870-2A8225042CBE}"/>
              </a:ext>
            </a:extLst>
          </p:cNvPr>
          <p:cNvSpPr/>
          <p:nvPr/>
        </p:nvSpPr>
        <p:spPr>
          <a:xfrm>
            <a:off x="2233064" y="3866966"/>
            <a:ext cx="295578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01</a:t>
            </a: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일</a:t>
            </a:r>
          </a:p>
        </p:txBody>
      </p:sp>
      <p:pic>
        <p:nvPicPr>
          <p:cNvPr id="50" name="Picture 13">
            <a:extLst>
              <a:ext uri="{FF2B5EF4-FFF2-40B4-BE49-F238E27FC236}">
                <a16:creationId xmlns:a16="http://schemas.microsoft.com/office/drawing/2014/main" id="{77424165-99B7-5FCC-9965-ED35FB38D5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6236" y="3873318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1" name="직사각형 50">
            <a:extLst>
              <a:ext uri="{FF2B5EF4-FFF2-40B4-BE49-F238E27FC236}">
                <a16:creationId xmlns:a16="http://schemas.microsoft.com/office/drawing/2014/main" id="{C0991814-72FE-CA87-BE05-76AD79249A04}"/>
              </a:ext>
            </a:extLst>
          </p:cNvPr>
          <p:cNvSpPr/>
          <p:nvPr/>
        </p:nvSpPr>
        <p:spPr>
          <a:xfrm>
            <a:off x="4605112" y="3873582"/>
            <a:ext cx="245885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010</a:t>
            </a:r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D8273B1A-1025-338E-7CAB-78DA43A7BBDE}"/>
              </a:ext>
            </a:extLst>
          </p:cNvPr>
          <p:cNvSpPr/>
          <p:nvPr/>
        </p:nvSpPr>
        <p:spPr>
          <a:xfrm>
            <a:off x="5107225" y="3873582"/>
            <a:ext cx="325136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1234</a:t>
            </a:r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A9420C94-C47E-C75F-203B-0ECDA8B51ABF}"/>
              </a:ext>
            </a:extLst>
          </p:cNvPr>
          <p:cNvSpPr/>
          <p:nvPr/>
        </p:nvSpPr>
        <p:spPr>
          <a:xfrm>
            <a:off x="5046128" y="3883770"/>
            <a:ext cx="36869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ko-KR" sz="700" dirty="0">
                <a:solidFill>
                  <a:prstClr val="black"/>
                </a:solidFill>
              </a:rPr>
              <a:t>-</a:t>
            </a:r>
            <a:endParaRPr lang="ko-KR" altLang="en-US" sz="700" dirty="0">
              <a:solidFill>
                <a:prstClr val="black"/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91F2C4CA-2A0A-FC98-16AC-51C3ADE35725}"/>
              </a:ext>
            </a:extLst>
          </p:cNvPr>
          <p:cNvSpPr/>
          <p:nvPr/>
        </p:nvSpPr>
        <p:spPr>
          <a:xfrm>
            <a:off x="5463065" y="3891721"/>
            <a:ext cx="36869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ko-KR" sz="700" dirty="0">
                <a:solidFill>
                  <a:prstClr val="black"/>
                </a:solidFill>
              </a:rPr>
              <a:t>-</a:t>
            </a:r>
            <a:endParaRPr lang="ko-KR" altLang="en-US" sz="700" dirty="0">
              <a:solidFill>
                <a:prstClr val="black"/>
              </a:solidFill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6E5144F1-ED8D-7D7B-DC25-0BD35DAFF76A}"/>
              </a:ext>
            </a:extLst>
          </p:cNvPr>
          <p:cNvSpPr/>
          <p:nvPr/>
        </p:nvSpPr>
        <p:spPr>
          <a:xfrm>
            <a:off x="5530638" y="3873582"/>
            <a:ext cx="325136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5678</a:t>
            </a:r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8D28ED7F-D447-A241-E9BE-D200A6D70C60}"/>
              </a:ext>
            </a:extLst>
          </p:cNvPr>
          <p:cNvSpPr/>
          <p:nvPr/>
        </p:nvSpPr>
        <p:spPr>
          <a:xfrm>
            <a:off x="4605111" y="4334734"/>
            <a:ext cx="864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오산고등학교</a:t>
            </a:r>
          </a:p>
        </p:txBody>
      </p:sp>
      <p:pic>
        <p:nvPicPr>
          <p:cNvPr id="57" name="Picture 13">
            <a:extLst>
              <a:ext uri="{FF2B5EF4-FFF2-40B4-BE49-F238E27FC236}">
                <a16:creationId xmlns:a16="http://schemas.microsoft.com/office/drawing/2014/main" id="{C4C2D2A3-6376-CA33-1D8A-696267633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5530" y="4335388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8" name="직사각형 57">
            <a:extLst>
              <a:ext uri="{FF2B5EF4-FFF2-40B4-BE49-F238E27FC236}">
                <a16:creationId xmlns:a16="http://schemas.microsoft.com/office/drawing/2014/main" id="{E293D8A4-5B6F-E9DB-3CE1-E0CB0ECDCDE3}"/>
              </a:ext>
            </a:extLst>
          </p:cNvPr>
          <p:cNvSpPr/>
          <p:nvPr/>
        </p:nvSpPr>
        <p:spPr>
          <a:xfrm>
            <a:off x="5500529" y="4335652"/>
            <a:ext cx="295578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>
                <a:solidFill>
                  <a:prstClr val="black">
                    <a:lumMod val="95000"/>
                    <a:lumOff val="5000"/>
                  </a:prstClr>
                </a:solidFill>
              </a:rPr>
              <a:t>2</a:t>
            </a: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학년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E915DF64-4081-6D34-5FEB-97F3A21B31B9}"/>
              </a:ext>
            </a:extLst>
          </p:cNvPr>
          <p:cNvSpPr/>
          <p:nvPr/>
        </p:nvSpPr>
        <p:spPr>
          <a:xfrm>
            <a:off x="1240466" y="4334734"/>
            <a:ext cx="864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r>
              <a:rPr lang="ko-KR" altLang="en-US" sz="7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오산중학교</a:t>
            </a:r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3C59168B-8125-7C19-C92D-86F2BFFEF1F9}"/>
              </a:ext>
            </a:extLst>
          </p:cNvPr>
          <p:cNvGrpSpPr/>
          <p:nvPr/>
        </p:nvGrpSpPr>
        <p:grpSpPr>
          <a:xfrm>
            <a:off x="1569057" y="4099563"/>
            <a:ext cx="236445" cy="144462"/>
            <a:chOff x="2716253" y="2405617"/>
            <a:chExt cx="236445" cy="144462"/>
          </a:xfrm>
        </p:grpSpPr>
        <p:sp>
          <p:nvSpPr>
            <p:cNvPr id="61" name="Rectangle 191">
              <a:extLst>
                <a:ext uri="{FF2B5EF4-FFF2-40B4-BE49-F238E27FC236}">
                  <a16:creationId xmlns:a16="http://schemas.microsoft.com/office/drawing/2014/main" id="{40106211-DE22-0084-D2C7-4D4598BC40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89768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여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graphicFrame>
          <p:nvGraphicFramePr>
            <p:cNvPr id="62" name="개체 61">
              <a:extLst>
                <a:ext uri="{FF2B5EF4-FFF2-40B4-BE49-F238E27FC236}">
                  <a16:creationId xmlns:a16="http://schemas.microsoft.com/office/drawing/2014/main" id="{276C0B59-E243-69EE-13D1-1AEEACD51E9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145435" imgH="145435" progId="Visio.Drawing.11">
                    <p:embed/>
                  </p:oleObj>
                </mc:Choice>
                <mc:Fallback>
                  <p:oleObj name="Visio" r:id="rId4" imgW="145435" imgH="145435" progId="Visio.Drawing.11">
                    <p:embed/>
                    <p:pic>
                      <p:nvPicPr>
                        <p:cNvPr id="1097" name="개체 1096">
                          <a:extLst>
                            <a:ext uri="{FF2B5EF4-FFF2-40B4-BE49-F238E27FC236}">
                              <a16:creationId xmlns:a16="http://schemas.microsoft.com/office/drawing/2014/main" id="{64D42244-BC18-D317-B1C5-57C4268034B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9EBBB89C-4E1F-207D-77C6-44F90E5C1F8C}"/>
              </a:ext>
            </a:extLst>
          </p:cNvPr>
          <p:cNvGrpSpPr/>
          <p:nvPr/>
        </p:nvGrpSpPr>
        <p:grpSpPr>
          <a:xfrm>
            <a:off x="1245021" y="4105449"/>
            <a:ext cx="237128" cy="144463"/>
            <a:chOff x="2864768" y="2513669"/>
            <a:chExt cx="237128" cy="144463"/>
          </a:xfrm>
        </p:grpSpPr>
        <p:sp>
          <p:nvSpPr>
            <p:cNvPr id="64" name="Rectangle 191">
              <a:extLst>
                <a:ext uri="{FF2B5EF4-FFF2-40B4-BE49-F238E27FC236}">
                  <a16:creationId xmlns:a16="http://schemas.microsoft.com/office/drawing/2014/main" id="{1CDF956A-D059-ABE6-FCF7-0CE28545E4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2128" y="2526153"/>
              <a:ext cx="89768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남</a:t>
              </a:r>
            </a:p>
          </p:txBody>
        </p:sp>
        <p:graphicFrame>
          <p:nvGraphicFramePr>
            <p:cNvPr id="65" name="개체 64">
              <a:extLst>
                <a:ext uri="{FF2B5EF4-FFF2-40B4-BE49-F238E27FC236}">
                  <a16:creationId xmlns:a16="http://schemas.microsoft.com/office/drawing/2014/main" id="{E3EB4740-51B0-379A-7CD6-6F768CF64E9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4624968"/>
                </p:ext>
              </p:extLst>
            </p:nvPr>
          </p:nvGraphicFramePr>
          <p:xfrm>
            <a:off x="2864768" y="2513669"/>
            <a:ext cx="144462" cy="144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6" imgW="145435" imgH="145435" progId="Visio.Drawing.11">
                    <p:embed/>
                  </p:oleObj>
                </mc:Choice>
                <mc:Fallback>
                  <p:oleObj name="Visio" r:id="rId6" imgW="145435" imgH="145435" progId="Visio.Drawing.11">
                    <p:embed/>
                    <p:pic>
                      <p:nvPicPr>
                        <p:cNvPr id="1099" name="개체 1098">
                          <a:extLst>
                            <a:ext uri="{FF2B5EF4-FFF2-40B4-BE49-F238E27FC236}">
                              <a16:creationId xmlns:a16="http://schemas.microsoft.com/office/drawing/2014/main" id="{869BC3E9-980F-60CB-DF7D-E40E81C796D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64768" y="2513669"/>
                          <a:ext cx="144462" cy="1444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29417911-BD70-E0E0-FCCC-67C2481123EE}"/>
              </a:ext>
            </a:extLst>
          </p:cNvPr>
          <p:cNvSpPr/>
          <p:nvPr/>
        </p:nvSpPr>
        <p:spPr>
          <a:xfrm>
            <a:off x="4605111" y="3642319"/>
            <a:ext cx="864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홍길동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236C5CC7-A5FD-7123-2660-57F8CFB721B9}"/>
              </a:ext>
            </a:extLst>
          </p:cNvPr>
          <p:cNvSpPr/>
          <p:nvPr/>
        </p:nvSpPr>
        <p:spPr>
          <a:xfrm>
            <a:off x="1772160" y="4776575"/>
            <a:ext cx="622908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우편번호 찾기</a:t>
            </a:r>
            <a:endParaRPr lang="ko-KR" altLang="en-US" sz="7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34386A43-0E43-12A1-FE6F-228ADFF9D9F9}"/>
              </a:ext>
            </a:extLst>
          </p:cNvPr>
          <p:cNvSpPr/>
          <p:nvPr/>
        </p:nvSpPr>
        <p:spPr>
          <a:xfrm>
            <a:off x="1248658" y="4777179"/>
            <a:ext cx="476033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18131</a:t>
            </a:r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65411688-C552-5660-46E3-0AD34AB15DA8}"/>
              </a:ext>
            </a:extLst>
          </p:cNvPr>
          <p:cNvSpPr/>
          <p:nvPr/>
        </p:nvSpPr>
        <p:spPr>
          <a:xfrm>
            <a:off x="1248658" y="5011419"/>
            <a:ext cx="2423496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경기 오산시 </a:t>
            </a:r>
            <a:r>
              <a:rPr lang="ko-KR" altLang="en-US" sz="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현충로</a:t>
            </a:r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B16835FB-1621-21E4-B396-05805076A24B}"/>
              </a:ext>
            </a:extLst>
          </p:cNvPr>
          <p:cNvSpPr/>
          <p:nvPr/>
        </p:nvSpPr>
        <p:spPr>
          <a:xfrm>
            <a:off x="1248658" y="5245118"/>
            <a:ext cx="2423496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오산아파트 </a:t>
            </a:r>
            <a:r>
              <a:rPr lang="en-US" altLang="ko-KR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101</a:t>
            </a:r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 </a:t>
            </a:r>
            <a:r>
              <a:rPr lang="en-US" altLang="ko-KR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203</a:t>
            </a:r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F8A3AB74-90BE-1725-08FA-209490EA2DE9}"/>
              </a:ext>
            </a:extLst>
          </p:cNvPr>
          <p:cNvSpPr/>
          <p:nvPr/>
        </p:nvSpPr>
        <p:spPr>
          <a:xfrm>
            <a:off x="3731496" y="5037252"/>
            <a:ext cx="307777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60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기본주소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84D57467-E329-5418-33B3-366E917E099B}"/>
              </a:ext>
            </a:extLst>
          </p:cNvPr>
          <p:cNvSpPr/>
          <p:nvPr/>
        </p:nvSpPr>
        <p:spPr>
          <a:xfrm>
            <a:off x="3731496" y="5270951"/>
            <a:ext cx="307777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상세주소</a:t>
            </a:r>
          </a:p>
        </p:txBody>
      </p:sp>
      <p:pic>
        <p:nvPicPr>
          <p:cNvPr id="75" name="Picture 13">
            <a:extLst>
              <a:ext uri="{FF2B5EF4-FFF2-40B4-BE49-F238E27FC236}">
                <a16:creationId xmlns:a16="http://schemas.microsoft.com/office/drawing/2014/main" id="{56807AAD-04F1-A192-66F5-58FC8EF90C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9567" y="5719687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6" name="직사각형 75">
            <a:extLst>
              <a:ext uri="{FF2B5EF4-FFF2-40B4-BE49-F238E27FC236}">
                <a16:creationId xmlns:a16="http://schemas.microsoft.com/office/drawing/2014/main" id="{C4095EF0-BBA0-21E6-A7A3-CE63A3553493}"/>
              </a:ext>
            </a:extLst>
          </p:cNvPr>
          <p:cNvSpPr/>
          <p:nvPr/>
        </p:nvSpPr>
        <p:spPr>
          <a:xfrm>
            <a:off x="1235243" y="5719951"/>
            <a:ext cx="684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국민은행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F4F25CBF-968E-3A92-D23D-E88F86D12E7A}"/>
              </a:ext>
            </a:extLst>
          </p:cNvPr>
          <p:cNvSpPr/>
          <p:nvPr/>
        </p:nvSpPr>
        <p:spPr>
          <a:xfrm>
            <a:off x="1240466" y="6188720"/>
            <a:ext cx="1584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r>
              <a:rPr lang="en-US" altLang="ko-KR" sz="7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123-12-1234567</a:t>
            </a:r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0683731A-28C7-B9E4-696C-81A3D1D981CB}"/>
              </a:ext>
            </a:extLst>
          </p:cNvPr>
          <p:cNvGrpSpPr/>
          <p:nvPr/>
        </p:nvGrpSpPr>
        <p:grpSpPr>
          <a:xfrm>
            <a:off x="261475" y="3217213"/>
            <a:ext cx="1651953" cy="144463"/>
            <a:chOff x="2156839" y="1593629"/>
            <a:chExt cx="1651953" cy="144463"/>
          </a:xfrm>
        </p:grpSpPr>
        <p:sp>
          <p:nvSpPr>
            <p:cNvPr id="80" name="Rectangle 191">
              <a:extLst>
                <a:ext uri="{FF2B5EF4-FFF2-40B4-BE49-F238E27FC236}">
                  <a16:creationId xmlns:a16="http://schemas.microsoft.com/office/drawing/2014/main" id="{32BF3C7A-8CDA-ED43-654B-857D4AFE2B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9984" y="1614297"/>
              <a:ext cx="1498808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latinLnBrk="0">
                <a:defRPr/>
              </a:pPr>
              <a:r>
                <a:rPr lang="ko-KR" altLang="en-US" sz="700" b="1" kern="0" dirty="0">
                  <a:solidFill>
                    <a:srgbClr val="000000"/>
                  </a:solidFill>
                </a:rPr>
                <a:t>개인정보 수집 및 활용에 동의합니다</a:t>
              </a:r>
              <a:r>
                <a:rPr lang="en-US" altLang="ko-KR" sz="700" b="1" kern="0" dirty="0">
                  <a:solidFill>
                    <a:srgbClr val="000000"/>
                  </a:solidFill>
                </a:rPr>
                <a:t>.</a:t>
              </a:r>
              <a:endParaRPr lang="ko-KR" altLang="en-US" sz="700" b="1" kern="0" dirty="0">
                <a:solidFill>
                  <a:srgbClr val="000000"/>
                </a:solidFill>
              </a:endParaRPr>
            </a:p>
          </p:txBody>
        </p:sp>
        <p:graphicFrame>
          <p:nvGraphicFramePr>
            <p:cNvPr id="81" name="개체 80">
              <a:extLst>
                <a:ext uri="{FF2B5EF4-FFF2-40B4-BE49-F238E27FC236}">
                  <a16:creationId xmlns:a16="http://schemas.microsoft.com/office/drawing/2014/main" id="{21402BE1-59BC-2989-8301-C0415675980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00968191"/>
                </p:ext>
              </p:extLst>
            </p:nvPr>
          </p:nvGraphicFramePr>
          <p:xfrm>
            <a:off x="2156839" y="1593629"/>
            <a:ext cx="144462" cy="144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8" imgW="145435" imgH="145435" progId="Visio.Drawing.11">
                    <p:embed/>
                  </p:oleObj>
                </mc:Choice>
                <mc:Fallback>
                  <p:oleObj name="Visio" r:id="rId8" imgW="145435" imgH="145435" progId="Visio.Drawing.11">
                    <p:embed/>
                    <p:pic>
                      <p:nvPicPr>
                        <p:cNvPr id="4" name="개체 3">
                          <a:extLst>
                            <a:ext uri="{FF2B5EF4-FFF2-40B4-BE49-F238E27FC236}">
                              <a16:creationId xmlns:a16="http://schemas.microsoft.com/office/drawing/2014/main" id="{F590496D-F74E-6BF7-2640-09B94D998EC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56839" y="1593629"/>
                          <a:ext cx="144462" cy="1444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82" name="Picture 13">
            <a:extLst>
              <a:ext uri="{FF2B5EF4-FFF2-40B4-BE49-F238E27FC236}">
                <a16:creationId xmlns:a16="http://schemas.microsoft.com/office/drawing/2014/main" id="{B0474BB4-81CC-4CCE-958B-61905E5A6B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6236" y="4103379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3" name="직사각형 82">
            <a:extLst>
              <a:ext uri="{FF2B5EF4-FFF2-40B4-BE49-F238E27FC236}">
                <a16:creationId xmlns:a16="http://schemas.microsoft.com/office/drawing/2014/main" id="{A879B26D-CA64-6888-1E9B-25FC6078E104}"/>
              </a:ext>
            </a:extLst>
          </p:cNvPr>
          <p:cNvSpPr/>
          <p:nvPr/>
        </p:nvSpPr>
        <p:spPr>
          <a:xfrm>
            <a:off x="4605112" y="4103643"/>
            <a:ext cx="245885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010</a:t>
            </a:r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77A759D1-E23F-9DAA-8621-AFA0176BD86B}"/>
              </a:ext>
            </a:extLst>
          </p:cNvPr>
          <p:cNvSpPr/>
          <p:nvPr/>
        </p:nvSpPr>
        <p:spPr>
          <a:xfrm>
            <a:off x="5107225" y="4103643"/>
            <a:ext cx="325136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1234</a:t>
            </a:r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09D0B5C2-6FF3-3387-35D8-CE7DCD72B021}"/>
              </a:ext>
            </a:extLst>
          </p:cNvPr>
          <p:cNvSpPr/>
          <p:nvPr/>
        </p:nvSpPr>
        <p:spPr>
          <a:xfrm>
            <a:off x="5046128" y="4113831"/>
            <a:ext cx="36869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ko-KR" sz="700" dirty="0">
                <a:solidFill>
                  <a:prstClr val="black"/>
                </a:solidFill>
              </a:rPr>
              <a:t>-</a:t>
            </a:r>
            <a:endParaRPr lang="ko-KR" altLang="en-US" sz="700" dirty="0">
              <a:solidFill>
                <a:prstClr val="black"/>
              </a:solidFill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EF708C9D-227A-4A92-6061-19B13E29CFEB}"/>
              </a:ext>
            </a:extLst>
          </p:cNvPr>
          <p:cNvSpPr/>
          <p:nvPr/>
        </p:nvSpPr>
        <p:spPr>
          <a:xfrm>
            <a:off x="5463065" y="4121782"/>
            <a:ext cx="36869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ko-KR" sz="700" dirty="0">
                <a:solidFill>
                  <a:prstClr val="black"/>
                </a:solidFill>
              </a:rPr>
              <a:t>-</a:t>
            </a:r>
            <a:endParaRPr lang="ko-KR" altLang="en-US" sz="700" dirty="0">
              <a:solidFill>
                <a:prstClr val="black"/>
              </a:solidFill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58F71CBE-599D-4EF0-E21B-873E34C9161B}"/>
              </a:ext>
            </a:extLst>
          </p:cNvPr>
          <p:cNvSpPr/>
          <p:nvPr/>
        </p:nvSpPr>
        <p:spPr>
          <a:xfrm>
            <a:off x="5530638" y="4103643"/>
            <a:ext cx="325136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5678</a:t>
            </a:r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6352D299-039E-7908-6FFF-B0DB1DD7C65E}"/>
              </a:ext>
            </a:extLst>
          </p:cNvPr>
          <p:cNvSpPr>
            <a:spLocks noChangeAspect="1"/>
          </p:cNvSpPr>
          <p:nvPr/>
        </p:nvSpPr>
        <p:spPr>
          <a:xfrm>
            <a:off x="200472" y="2320843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AA51FDD7-3E83-AFDE-88F5-634C6722B099}"/>
              </a:ext>
            </a:extLst>
          </p:cNvPr>
          <p:cNvSpPr>
            <a:spLocks noChangeAspect="1"/>
          </p:cNvSpPr>
          <p:nvPr/>
        </p:nvSpPr>
        <p:spPr>
          <a:xfrm>
            <a:off x="200472" y="3527911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DA2C2A9F-4897-11E3-59A8-57E86945A1BF}"/>
              </a:ext>
            </a:extLst>
          </p:cNvPr>
          <p:cNvSpPr>
            <a:spLocks noChangeAspect="1"/>
          </p:cNvSpPr>
          <p:nvPr/>
        </p:nvSpPr>
        <p:spPr>
          <a:xfrm>
            <a:off x="200472" y="5614907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F3884FB4-8D8B-6C50-091D-C3D267EA274B}"/>
              </a:ext>
            </a:extLst>
          </p:cNvPr>
          <p:cNvGrpSpPr/>
          <p:nvPr/>
        </p:nvGrpSpPr>
        <p:grpSpPr>
          <a:xfrm>
            <a:off x="1229119" y="4562220"/>
            <a:ext cx="3974981" cy="147301"/>
            <a:chOff x="1229119" y="4562220"/>
            <a:chExt cx="3974981" cy="147301"/>
          </a:xfrm>
        </p:grpSpPr>
        <p:sp>
          <p:nvSpPr>
            <p:cNvPr id="37" name="Rectangle 191">
              <a:extLst>
                <a:ext uri="{FF2B5EF4-FFF2-40B4-BE49-F238E27FC236}">
                  <a16:creationId xmlns:a16="http://schemas.microsoft.com/office/drawing/2014/main" id="{114B3F83-D940-DDCB-99A1-2F1BC41C37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9419" y="4589703"/>
              <a:ext cx="1644681" cy="923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공고일 기준 오산시 </a:t>
              </a:r>
              <a:r>
                <a:rPr kumimoji="0" lang="en-US" altLang="ko-KR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1</a:t>
              </a:r>
              <a:r>
                <a:rPr kumimoji="0" lang="ko-KR" altLang="en-US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년 이상 거주 확인 후 신청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1571DEC4-32A1-057B-7978-3DA4AB585979}"/>
                </a:ext>
              </a:extLst>
            </p:cNvPr>
            <p:cNvGrpSpPr/>
            <p:nvPr/>
          </p:nvGrpSpPr>
          <p:grpSpPr>
            <a:xfrm>
              <a:off x="1588840" y="4563639"/>
              <a:ext cx="415981" cy="144462"/>
              <a:chOff x="2716253" y="2405617"/>
              <a:chExt cx="415981" cy="144462"/>
            </a:xfrm>
          </p:grpSpPr>
          <p:sp>
            <p:nvSpPr>
              <p:cNvPr id="39" name="Rectangle 191">
                <a:extLst>
                  <a:ext uri="{FF2B5EF4-FFF2-40B4-BE49-F238E27FC236}">
                    <a16:creationId xmlns:a16="http://schemas.microsoft.com/office/drawing/2014/main" id="{50D2A4F1-A1C2-5D95-EA15-686EDDC1B9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62930" y="2423987"/>
                <a:ext cx="269304" cy="10772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EAEAEA"/>
                    </a:solidFill>
                  </a14:hiddenFill>
                </a:ext>
                <a:ext uri="{91240B29-F687-4F45-9708-019B960494DF}">
                  <a14:hiddenLine xmlns:a14="http://schemas.microsoft.com/office/drawing/2010/main" w="635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7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보호자</a:t>
                </a:r>
              </a:p>
            </p:txBody>
          </p:sp>
          <p:graphicFrame>
            <p:nvGraphicFramePr>
              <p:cNvPr id="40" name="개체 39">
                <a:extLst>
                  <a:ext uri="{FF2B5EF4-FFF2-40B4-BE49-F238E27FC236}">
                    <a16:creationId xmlns:a16="http://schemas.microsoft.com/office/drawing/2014/main" id="{799E54F7-3588-2E91-64C5-87A8C14BC80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716253" y="2405617"/>
              <a:ext cx="144462" cy="1444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Visio" r:id="rId4" imgW="145435" imgH="145435" progId="Visio.Drawing.11">
                      <p:embed/>
                    </p:oleObj>
                  </mc:Choice>
                  <mc:Fallback>
                    <p:oleObj name="Visio" r:id="rId4" imgW="145435" imgH="145435" progId="Visio.Drawing.11">
                      <p:embed/>
                      <p:pic>
                        <p:nvPicPr>
                          <p:cNvPr id="14" name="개체 13">
                            <a:extLst>
                              <a:ext uri="{FF2B5EF4-FFF2-40B4-BE49-F238E27FC236}">
                                <a16:creationId xmlns:a16="http://schemas.microsoft.com/office/drawing/2014/main" id="{799E54F7-3588-2E91-64C5-87A8C14BC80D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16253" y="2405617"/>
                            <a:ext cx="144462" cy="1444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EAEAEA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6350" algn="ctr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909BB06A-2537-DCF1-E11A-ABDB007D0F4C}"/>
                </a:ext>
              </a:extLst>
            </p:cNvPr>
            <p:cNvGrpSpPr/>
            <p:nvPr/>
          </p:nvGrpSpPr>
          <p:grpSpPr>
            <a:xfrm>
              <a:off x="1229119" y="4563639"/>
              <a:ext cx="326896" cy="144463"/>
              <a:chOff x="2864768" y="2513669"/>
              <a:chExt cx="326896" cy="144463"/>
            </a:xfrm>
          </p:grpSpPr>
          <p:sp>
            <p:nvSpPr>
              <p:cNvPr id="77" name="Rectangle 191">
                <a:extLst>
                  <a:ext uri="{FF2B5EF4-FFF2-40B4-BE49-F238E27FC236}">
                    <a16:creationId xmlns:a16="http://schemas.microsoft.com/office/drawing/2014/main" id="{8781BD03-1A2F-0765-1258-DA29B42F69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12128" y="2526153"/>
                <a:ext cx="179536" cy="10772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EAEAEA"/>
                    </a:solidFill>
                  </a14:hiddenFill>
                </a:ext>
                <a:ext uri="{91240B29-F687-4F45-9708-019B960494DF}">
                  <a14:hiddenLine xmlns:a14="http://schemas.microsoft.com/office/drawing/2010/main" w="635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7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본인</a:t>
                </a:r>
              </a:p>
            </p:txBody>
          </p:sp>
          <p:graphicFrame>
            <p:nvGraphicFramePr>
              <p:cNvPr id="88" name="개체 87">
                <a:extLst>
                  <a:ext uri="{FF2B5EF4-FFF2-40B4-BE49-F238E27FC236}">
                    <a16:creationId xmlns:a16="http://schemas.microsoft.com/office/drawing/2014/main" id="{490D6870-FF18-48BF-A6DB-37DAA685FF3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85563485"/>
                  </p:ext>
                </p:extLst>
              </p:nvPr>
            </p:nvGraphicFramePr>
            <p:xfrm>
              <a:off x="2864768" y="2513669"/>
              <a:ext cx="144462" cy="1444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Visio" r:id="rId6" imgW="145435" imgH="145435" progId="Visio.Drawing.11">
                      <p:embed/>
                    </p:oleObj>
                  </mc:Choice>
                  <mc:Fallback>
                    <p:oleObj name="Visio" r:id="rId6" imgW="145435" imgH="145435" progId="Visio.Drawing.11">
                      <p:embed/>
                      <p:pic>
                        <p:nvPicPr>
                          <p:cNvPr id="20" name="개체 19">
                            <a:extLst>
                              <a:ext uri="{FF2B5EF4-FFF2-40B4-BE49-F238E27FC236}">
                                <a16:creationId xmlns:a16="http://schemas.microsoft.com/office/drawing/2014/main" id="{490D6870-FF18-48BF-A6DB-37DAA685FF30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64768" y="2513669"/>
                            <a:ext cx="144462" cy="14446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EAEAEA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6350" algn="ctr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pic>
          <p:nvPicPr>
            <p:cNvPr id="89" name="Picture 13">
              <a:extLst>
                <a:ext uri="{FF2B5EF4-FFF2-40B4-BE49-F238E27FC236}">
                  <a16:creationId xmlns:a16="http://schemas.microsoft.com/office/drawing/2014/main" id="{C6DCA892-908E-0AAC-BE00-0F46A86B2E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09851" y="4562220"/>
              <a:ext cx="154667" cy="147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90EB1994-435A-3FFD-6FDC-4070D2EE4D12}"/>
                </a:ext>
              </a:extLst>
            </p:cNvPr>
            <p:cNvSpPr/>
            <p:nvPr/>
          </p:nvSpPr>
          <p:spPr>
            <a:xfrm>
              <a:off x="2049961" y="4563870"/>
              <a:ext cx="35765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prstClr val="black">
                      <a:lumMod val="95000"/>
                      <a:lumOff val="5000"/>
                    </a:prstClr>
                  </a:solidFill>
                </a:rPr>
                <a:t>2008</a:t>
              </a:r>
              <a:r>
                <a:rPr lang="ko-KR" altLang="en-US" sz="700" dirty="0">
                  <a:solidFill>
                    <a:prstClr val="black">
                      <a:lumMod val="95000"/>
                      <a:lumOff val="5000"/>
                    </a:prstClr>
                  </a:solidFill>
                </a:rPr>
                <a:t>년</a:t>
              </a:r>
            </a:p>
          </p:txBody>
        </p:sp>
        <p:pic>
          <p:nvPicPr>
            <p:cNvPr id="91" name="Picture 13">
              <a:extLst>
                <a:ext uri="{FF2B5EF4-FFF2-40B4-BE49-F238E27FC236}">
                  <a16:creationId xmlns:a16="http://schemas.microsoft.com/office/drawing/2014/main" id="{25C725EC-FF95-A39F-89BA-E282F04306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0581" y="4562220"/>
              <a:ext cx="154667" cy="147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330A97D7-AB03-0D2A-FE86-CF66A834197E}"/>
                </a:ext>
              </a:extLst>
            </p:cNvPr>
            <p:cNvSpPr/>
            <p:nvPr/>
          </p:nvSpPr>
          <p:spPr>
            <a:xfrm>
              <a:off x="2575929" y="4563870"/>
              <a:ext cx="295578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prstClr val="black">
                      <a:lumMod val="95000"/>
                      <a:lumOff val="5000"/>
                    </a:prstClr>
                  </a:solidFill>
                </a:rPr>
                <a:t>01</a:t>
              </a:r>
              <a:r>
                <a:rPr lang="ko-KR" altLang="en-US" sz="700" dirty="0">
                  <a:solidFill>
                    <a:prstClr val="black">
                      <a:lumMod val="95000"/>
                      <a:lumOff val="5000"/>
                    </a:prstClr>
                  </a:solidFill>
                </a:rPr>
                <a:t>월</a:t>
              </a:r>
            </a:p>
          </p:txBody>
        </p:sp>
        <p:pic>
          <p:nvPicPr>
            <p:cNvPr id="93" name="Picture 13">
              <a:extLst>
                <a:ext uri="{FF2B5EF4-FFF2-40B4-BE49-F238E27FC236}">
                  <a16:creationId xmlns:a16="http://schemas.microsoft.com/office/drawing/2014/main" id="{EED10D99-ACDF-611E-8849-39008F815B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2434" y="4562220"/>
              <a:ext cx="154667" cy="147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FA7212DD-ADC2-2151-A3FB-0847D078777A}"/>
                </a:ext>
              </a:extLst>
            </p:cNvPr>
            <p:cNvSpPr/>
            <p:nvPr/>
          </p:nvSpPr>
          <p:spPr>
            <a:xfrm>
              <a:off x="3047782" y="4563870"/>
              <a:ext cx="295578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prstClr val="black">
                      <a:lumMod val="95000"/>
                      <a:lumOff val="5000"/>
                    </a:prstClr>
                  </a:solidFill>
                </a:rPr>
                <a:t>01</a:t>
              </a:r>
              <a:r>
                <a:rPr lang="ko-KR" altLang="en-US" sz="700" dirty="0">
                  <a:solidFill>
                    <a:prstClr val="black">
                      <a:lumMod val="95000"/>
                      <a:lumOff val="5000"/>
                    </a:prstClr>
                  </a:solidFill>
                </a:rPr>
                <a:t>일</a:t>
              </a:r>
            </a:p>
          </p:txBody>
        </p:sp>
      </p:grp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5A5D8003-3B24-AE86-3E6D-0F8356BE6A05}"/>
              </a:ext>
            </a:extLst>
          </p:cNvPr>
          <p:cNvSpPr/>
          <p:nvPr/>
        </p:nvSpPr>
        <p:spPr>
          <a:xfrm>
            <a:off x="283314" y="4525022"/>
            <a:ext cx="6506424" cy="21600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082590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699D1-1A3A-D0C4-3DD0-C603CAC07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F9AADDE-B7C0-316C-C1F0-264EDFB7F6BF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고등학생장학금 신청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1F376A4-1B28-8824-66D3-3CCCE109F863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프로그램신청관리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고등학생장학금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장학금신청</a:t>
            </a: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DE0B2665-A5EC-CABD-6E49-C58E6509B7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0609413"/>
              </p:ext>
            </p:extLst>
          </p:nvPr>
        </p:nvGraphicFramePr>
        <p:xfrm>
          <a:off x="6969418" y="2548005"/>
          <a:ext cx="2772114" cy="3221600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구분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고등학생 장학금 표시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제목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회원이 신청한 공고의 제목을 표시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접수기간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회원이 신청한 공고의 접수기간을 표시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전형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선택 시 전형별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공통 제출 서류 항목이 달라 진다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우수인재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성적증빙자료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희망인재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건강보험료납입증명서 부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모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근로자자녀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기업체 재직 증명서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가족관계증명서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한국노총오산시지부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장학생 추천서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다자녀가정자녀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지방세 세목별 과세증명서 본인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부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모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건강보험료 납입증명서 부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모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가족관계증명서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다문화가정자녀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가족관계증명서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기본증명서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전형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우수인재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전형별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성적증빙자료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성적증빙자료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성적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신청 회원의 성적을 입력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첨부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: 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제출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클릭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제출 서류 파일 선택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첨부완료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받기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클릭 시 첨부된 제출 서류 파일 다운로드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추천서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첨부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: 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제출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클릭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제출 서류 파일 선택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첨부완료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받기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클릭 시 첨부된 제출 서류 파일 다운로드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양식받기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클릭 시 추천서 양식 파일을 다운 받는다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5CB63C5B-B0E3-A054-03E0-DCFB39E195E7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pah_application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BF466D2-D02C-DF1E-AC75-7F899AC58EE4}"/>
              </a:ext>
            </a:extLst>
          </p:cNvPr>
          <p:cNvSpPr/>
          <p:nvPr/>
        </p:nvSpPr>
        <p:spPr>
          <a:xfrm>
            <a:off x="165100" y="1376363"/>
            <a:ext cx="6732116" cy="460414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B169834-D4C4-8818-C11F-50BFC24BB61E}"/>
              </a:ext>
            </a:extLst>
          </p:cNvPr>
          <p:cNvSpPr/>
          <p:nvPr/>
        </p:nvSpPr>
        <p:spPr>
          <a:xfrm>
            <a:off x="6397011" y="5049180"/>
            <a:ext cx="392727" cy="19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목록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BAEC260-9553-E408-44A1-35FCD6AACD4A}"/>
              </a:ext>
            </a:extLst>
          </p:cNvPr>
          <p:cNvSpPr/>
          <p:nvPr/>
        </p:nvSpPr>
        <p:spPr>
          <a:xfrm>
            <a:off x="5936915" y="5049180"/>
            <a:ext cx="392727" cy="198000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신청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33CFD88-F991-F36C-92A0-AAC2EBF95898}"/>
              </a:ext>
            </a:extLst>
          </p:cNvPr>
          <p:cNvSpPr/>
          <p:nvPr/>
        </p:nvSpPr>
        <p:spPr>
          <a:xfrm>
            <a:off x="292846" y="1448780"/>
            <a:ext cx="1202252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800" b="1" dirty="0">
                <a:solidFill>
                  <a:prstClr val="black"/>
                </a:solidFill>
              </a:rPr>
              <a:t>고등학생 장학금 신청정보</a:t>
            </a: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8C11240C-3D95-6F94-88BA-E0EBDEEE00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5978361"/>
              </p:ext>
            </p:extLst>
          </p:nvPr>
        </p:nvGraphicFramePr>
        <p:xfrm>
          <a:off x="273050" y="1629971"/>
          <a:ext cx="6516688" cy="32862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54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484">
                  <a:extLst>
                    <a:ext uri="{9D8B030D-6E8A-4147-A177-3AD203B41FA5}">
                      <a16:colId xmlns:a16="http://schemas.microsoft.com/office/drawing/2014/main" val="3668863434"/>
                    </a:ext>
                  </a:extLst>
                </a:gridCol>
                <a:gridCol w="49207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구분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고등학생 장학금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894265"/>
                  </a:ext>
                </a:extLst>
              </a:tr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</a:t>
                      </a:r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하반기 고등학생 장학금 신청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접수기간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2025.09.20 10:00 </a:t>
                      </a:r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~ 2025.09.30 10:00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전형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4735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전형별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성적증빙자료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2230354"/>
                  </a:ext>
                </a:extLst>
              </a:tr>
              <a:tr h="234735">
                <a:tc rowSpan="9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공통 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추천서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주민등록초본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1958612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주민등록등본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164179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국민기초생활보장수급자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차상위계층확인서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9729432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한부모가족보호대상확인서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장애인증명서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첨부파일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8089092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8418894"/>
                  </a:ext>
                </a:extLst>
              </a:tr>
            </a:tbl>
          </a:graphicData>
        </a:graphic>
      </p:graphicFrame>
      <p:grpSp>
        <p:nvGrpSpPr>
          <p:cNvPr id="120" name="그룹 119">
            <a:extLst>
              <a:ext uri="{FF2B5EF4-FFF2-40B4-BE49-F238E27FC236}">
                <a16:creationId xmlns:a16="http://schemas.microsoft.com/office/drawing/2014/main" id="{02727924-B49D-35D5-9099-08D11700731E}"/>
              </a:ext>
            </a:extLst>
          </p:cNvPr>
          <p:cNvGrpSpPr/>
          <p:nvPr/>
        </p:nvGrpSpPr>
        <p:grpSpPr>
          <a:xfrm>
            <a:off x="2474227" y="2381265"/>
            <a:ext cx="505750" cy="144462"/>
            <a:chOff x="2716253" y="2405617"/>
            <a:chExt cx="505750" cy="144462"/>
          </a:xfrm>
        </p:grpSpPr>
        <p:sp>
          <p:nvSpPr>
            <p:cNvPr id="121" name="Rectangle 191">
              <a:extLst>
                <a:ext uri="{FF2B5EF4-FFF2-40B4-BE49-F238E27FC236}">
                  <a16:creationId xmlns:a16="http://schemas.microsoft.com/office/drawing/2014/main" id="{C9CD1F1A-0DC4-05CA-7C0D-13E0D6C4B8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359073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희망인재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graphicFrame>
          <p:nvGraphicFramePr>
            <p:cNvPr id="122" name="개체 121">
              <a:extLst>
                <a:ext uri="{FF2B5EF4-FFF2-40B4-BE49-F238E27FC236}">
                  <a16:creationId xmlns:a16="http://schemas.microsoft.com/office/drawing/2014/main" id="{763DB448-8F83-B8C7-4864-19BDF870FBA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2" imgW="145435" imgH="145435" progId="Visio.Drawing.11">
                    <p:embed/>
                  </p:oleObj>
                </mc:Choice>
                <mc:Fallback>
                  <p:oleObj name="Visio" r:id="rId2" imgW="145435" imgH="145435" progId="Visio.Drawing.11">
                    <p:embed/>
                    <p:pic>
                      <p:nvPicPr>
                        <p:cNvPr id="20" name="개체 19">
                          <a:extLst>
                            <a:ext uri="{FF2B5EF4-FFF2-40B4-BE49-F238E27FC236}">
                              <a16:creationId xmlns:a16="http://schemas.microsoft.com/office/drawing/2014/main" id="{763DB448-8F83-B8C7-4864-19BDF870FBA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1A6E7F13-CF50-9720-FD52-9BBDD3C2F852}"/>
              </a:ext>
            </a:extLst>
          </p:cNvPr>
          <p:cNvGrpSpPr/>
          <p:nvPr/>
        </p:nvGrpSpPr>
        <p:grpSpPr>
          <a:xfrm>
            <a:off x="3051036" y="2381265"/>
            <a:ext cx="595518" cy="144462"/>
            <a:chOff x="2716253" y="2405617"/>
            <a:chExt cx="595518" cy="144462"/>
          </a:xfrm>
        </p:grpSpPr>
        <p:sp>
          <p:nvSpPr>
            <p:cNvPr id="124" name="Rectangle 191">
              <a:extLst>
                <a:ext uri="{FF2B5EF4-FFF2-40B4-BE49-F238E27FC236}">
                  <a16:creationId xmlns:a16="http://schemas.microsoft.com/office/drawing/2014/main" id="{36A51439-43A7-3885-D1B2-469E5DE1F7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448841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근로자자녀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graphicFrame>
          <p:nvGraphicFramePr>
            <p:cNvPr id="125" name="개체 124">
              <a:extLst>
                <a:ext uri="{FF2B5EF4-FFF2-40B4-BE49-F238E27FC236}">
                  <a16:creationId xmlns:a16="http://schemas.microsoft.com/office/drawing/2014/main" id="{3AEF0B8D-03CA-1E96-5808-8ECF1790BCF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2" imgW="145435" imgH="145435" progId="Visio.Drawing.11">
                    <p:embed/>
                  </p:oleObj>
                </mc:Choice>
                <mc:Fallback>
                  <p:oleObj name="Visio" r:id="rId2" imgW="145435" imgH="145435" progId="Visio.Drawing.11">
                    <p:embed/>
                    <p:pic>
                      <p:nvPicPr>
                        <p:cNvPr id="30" name="개체 29">
                          <a:extLst>
                            <a:ext uri="{FF2B5EF4-FFF2-40B4-BE49-F238E27FC236}">
                              <a16:creationId xmlns:a16="http://schemas.microsoft.com/office/drawing/2014/main" id="{3AEF0B8D-03CA-1E96-5808-8ECF1790BCF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6" name="그룹 125">
            <a:extLst>
              <a:ext uri="{FF2B5EF4-FFF2-40B4-BE49-F238E27FC236}">
                <a16:creationId xmlns:a16="http://schemas.microsoft.com/office/drawing/2014/main" id="{47BE874A-D79A-43B6-B37F-5A84D760328E}"/>
              </a:ext>
            </a:extLst>
          </p:cNvPr>
          <p:cNvGrpSpPr/>
          <p:nvPr/>
        </p:nvGrpSpPr>
        <p:grpSpPr>
          <a:xfrm>
            <a:off x="3701320" y="2381265"/>
            <a:ext cx="775054" cy="144462"/>
            <a:chOff x="2716253" y="2405617"/>
            <a:chExt cx="775054" cy="144462"/>
          </a:xfrm>
        </p:grpSpPr>
        <p:sp>
          <p:nvSpPr>
            <p:cNvPr id="127" name="Rectangle 191">
              <a:extLst>
                <a:ext uri="{FF2B5EF4-FFF2-40B4-BE49-F238E27FC236}">
                  <a16:creationId xmlns:a16="http://schemas.microsoft.com/office/drawing/2014/main" id="{2840AE31-DE80-BF4F-F447-C398C7AA99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628377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다자녀가정자녀</a:t>
              </a:r>
            </a:p>
          </p:txBody>
        </p:sp>
        <p:graphicFrame>
          <p:nvGraphicFramePr>
            <p:cNvPr id="128" name="개체 127">
              <a:extLst>
                <a:ext uri="{FF2B5EF4-FFF2-40B4-BE49-F238E27FC236}">
                  <a16:creationId xmlns:a16="http://schemas.microsoft.com/office/drawing/2014/main" id="{B09B7FEE-BC2A-E771-9A17-1A66C4B730C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2" imgW="145435" imgH="145435" progId="Visio.Drawing.11">
                    <p:embed/>
                  </p:oleObj>
                </mc:Choice>
                <mc:Fallback>
                  <p:oleObj name="Visio" r:id="rId2" imgW="145435" imgH="145435" progId="Visio.Drawing.11">
                    <p:embed/>
                    <p:pic>
                      <p:nvPicPr>
                        <p:cNvPr id="33" name="개체 32">
                          <a:extLst>
                            <a:ext uri="{FF2B5EF4-FFF2-40B4-BE49-F238E27FC236}">
                              <a16:creationId xmlns:a16="http://schemas.microsoft.com/office/drawing/2014/main" id="{B09B7FEE-BC2A-E771-9A17-1A66C4B730C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301EF138-DF5C-5589-9B13-C2E79FCCE12B}"/>
              </a:ext>
            </a:extLst>
          </p:cNvPr>
          <p:cNvGrpSpPr/>
          <p:nvPr/>
        </p:nvGrpSpPr>
        <p:grpSpPr>
          <a:xfrm>
            <a:off x="4531981" y="2381265"/>
            <a:ext cx="775054" cy="144462"/>
            <a:chOff x="2716253" y="2405617"/>
            <a:chExt cx="775054" cy="144462"/>
          </a:xfrm>
        </p:grpSpPr>
        <p:sp>
          <p:nvSpPr>
            <p:cNvPr id="130" name="Rectangle 191">
              <a:extLst>
                <a:ext uri="{FF2B5EF4-FFF2-40B4-BE49-F238E27FC236}">
                  <a16:creationId xmlns:a16="http://schemas.microsoft.com/office/drawing/2014/main" id="{2D0B016E-4797-DE97-892C-2A584D8E9E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628377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다문화가정자녀</a:t>
              </a:r>
            </a:p>
          </p:txBody>
        </p:sp>
        <p:graphicFrame>
          <p:nvGraphicFramePr>
            <p:cNvPr id="131" name="개체 130">
              <a:extLst>
                <a:ext uri="{FF2B5EF4-FFF2-40B4-BE49-F238E27FC236}">
                  <a16:creationId xmlns:a16="http://schemas.microsoft.com/office/drawing/2014/main" id="{477CE4A3-21CA-FCA8-645E-7A679500A9C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2" imgW="145435" imgH="145435" progId="Visio.Drawing.11">
                    <p:embed/>
                  </p:oleObj>
                </mc:Choice>
                <mc:Fallback>
                  <p:oleObj name="Visio" r:id="rId2" imgW="145435" imgH="145435" progId="Visio.Drawing.11">
                    <p:embed/>
                    <p:pic>
                      <p:nvPicPr>
                        <p:cNvPr id="36" name="개체 35">
                          <a:extLst>
                            <a:ext uri="{FF2B5EF4-FFF2-40B4-BE49-F238E27FC236}">
                              <a16:creationId xmlns:a16="http://schemas.microsoft.com/office/drawing/2014/main" id="{477CE4A3-21CA-FCA8-645E-7A679500A9C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2" name="그룹 131">
            <a:extLst>
              <a:ext uri="{FF2B5EF4-FFF2-40B4-BE49-F238E27FC236}">
                <a16:creationId xmlns:a16="http://schemas.microsoft.com/office/drawing/2014/main" id="{9413F787-0EA6-3D98-94A5-12D8422C405C}"/>
              </a:ext>
            </a:extLst>
          </p:cNvPr>
          <p:cNvGrpSpPr/>
          <p:nvPr/>
        </p:nvGrpSpPr>
        <p:grpSpPr>
          <a:xfrm>
            <a:off x="1897884" y="2387151"/>
            <a:ext cx="506433" cy="144463"/>
            <a:chOff x="3327015" y="1527346"/>
            <a:chExt cx="506433" cy="144463"/>
          </a:xfrm>
        </p:grpSpPr>
        <p:sp>
          <p:nvSpPr>
            <p:cNvPr id="133" name="Rectangle 191">
              <a:extLst>
                <a:ext uri="{FF2B5EF4-FFF2-40B4-BE49-F238E27FC236}">
                  <a16:creationId xmlns:a16="http://schemas.microsoft.com/office/drawing/2014/main" id="{D8F63B55-73DB-9C37-396B-549DEDED66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4375" y="1539830"/>
              <a:ext cx="359073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우수인재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graphicFrame>
          <p:nvGraphicFramePr>
            <p:cNvPr id="134" name="개체 133">
              <a:extLst>
                <a:ext uri="{FF2B5EF4-FFF2-40B4-BE49-F238E27FC236}">
                  <a16:creationId xmlns:a16="http://schemas.microsoft.com/office/drawing/2014/main" id="{B18B0B88-5B8F-1FA9-BD45-8644EFCE40A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24245782"/>
                </p:ext>
              </p:extLst>
            </p:nvPr>
          </p:nvGraphicFramePr>
          <p:xfrm>
            <a:off x="3327015" y="1527346"/>
            <a:ext cx="144462" cy="144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145435" imgH="145435" progId="Visio.Drawing.11">
                    <p:embed/>
                  </p:oleObj>
                </mc:Choice>
                <mc:Fallback>
                  <p:oleObj name="Visio" r:id="rId4" imgW="145435" imgH="145435" progId="Visio.Drawing.11">
                    <p:embed/>
                    <p:pic>
                      <p:nvPicPr>
                        <p:cNvPr id="39" name="개체 38">
                          <a:extLst>
                            <a:ext uri="{FF2B5EF4-FFF2-40B4-BE49-F238E27FC236}">
                              <a16:creationId xmlns:a16="http://schemas.microsoft.com/office/drawing/2014/main" id="{B18B0B88-5B8F-1FA9-BD45-8644EFCE40A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27015" y="1527346"/>
                          <a:ext cx="144462" cy="1444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B6639A88-9252-6602-D163-D3C16D967CFD}"/>
              </a:ext>
            </a:extLst>
          </p:cNvPr>
          <p:cNvSpPr/>
          <p:nvPr/>
        </p:nvSpPr>
        <p:spPr>
          <a:xfrm>
            <a:off x="1897884" y="3302431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주민등록등본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6DC61890-52D9-16EF-3F93-5F9CB6435C87}"/>
              </a:ext>
            </a:extLst>
          </p:cNvPr>
          <p:cNvSpPr/>
          <p:nvPr/>
        </p:nvSpPr>
        <p:spPr>
          <a:xfrm>
            <a:off x="3550882" y="3302423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C19082FB-3788-0A67-1407-83FF3587FCC7}"/>
              </a:ext>
            </a:extLst>
          </p:cNvPr>
          <p:cNvSpPr/>
          <p:nvPr/>
        </p:nvSpPr>
        <p:spPr>
          <a:xfrm>
            <a:off x="1897884" y="3538516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국민기초생활보장수급자</a:t>
            </a:r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41BE724B-50CE-A638-B977-F0705C0E3540}"/>
              </a:ext>
            </a:extLst>
          </p:cNvPr>
          <p:cNvSpPr/>
          <p:nvPr/>
        </p:nvSpPr>
        <p:spPr>
          <a:xfrm>
            <a:off x="3550882" y="3538508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ADEF00E0-E8B9-47CB-B67E-231DEFB4A88B}"/>
              </a:ext>
            </a:extLst>
          </p:cNvPr>
          <p:cNvSpPr/>
          <p:nvPr/>
        </p:nvSpPr>
        <p:spPr>
          <a:xfrm>
            <a:off x="1897884" y="3778434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차상위계층확인서</a:t>
            </a:r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051C96DE-9EE8-DD9B-5164-F3E1AA738D06}"/>
              </a:ext>
            </a:extLst>
          </p:cNvPr>
          <p:cNvSpPr/>
          <p:nvPr/>
        </p:nvSpPr>
        <p:spPr>
          <a:xfrm>
            <a:off x="3550882" y="3778426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5DF504DB-F7B7-8FA5-D234-A198DA0157DD}"/>
              </a:ext>
            </a:extLst>
          </p:cNvPr>
          <p:cNvSpPr/>
          <p:nvPr/>
        </p:nvSpPr>
        <p:spPr>
          <a:xfrm>
            <a:off x="1897884" y="4002409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EF2FD2AB-CBB5-A389-0C4E-1673873D34ED}"/>
              </a:ext>
            </a:extLst>
          </p:cNvPr>
          <p:cNvSpPr/>
          <p:nvPr/>
        </p:nvSpPr>
        <p:spPr>
          <a:xfrm>
            <a:off x="3550882" y="4002401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BDFB95BB-8288-5E27-393E-C64FBD047885}"/>
              </a:ext>
            </a:extLst>
          </p:cNvPr>
          <p:cNvSpPr/>
          <p:nvPr/>
        </p:nvSpPr>
        <p:spPr>
          <a:xfrm>
            <a:off x="1897884" y="4238538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9B15C52F-DB65-9E81-78D0-6E553C2273D2}"/>
              </a:ext>
            </a:extLst>
          </p:cNvPr>
          <p:cNvSpPr/>
          <p:nvPr/>
        </p:nvSpPr>
        <p:spPr>
          <a:xfrm>
            <a:off x="3550882" y="4238530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grpSp>
        <p:nvGrpSpPr>
          <p:cNvPr id="153" name="그룹 152">
            <a:extLst>
              <a:ext uri="{FF2B5EF4-FFF2-40B4-BE49-F238E27FC236}">
                <a16:creationId xmlns:a16="http://schemas.microsoft.com/office/drawing/2014/main" id="{CB36B8DC-2704-0EF7-C4AF-DDB67BCB3AC7}"/>
              </a:ext>
            </a:extLst>
          </p:cNvPr>
          <p:cNvGrpSpPr/>
          <p:nvPr/>
        </p:nvGrpSpPr>
        <p:grpSpPr>
          <a:xfrm>
            <a:off x="1933165" y="4744531"/>
            <a:ext cx="1105196" cy="128396"/>
            <a:chOff x="3438680" y="4305150"/>
            <a:chExt cx="1105196" cy="128396"/>
          </a:xfrm>
        </p:grpSpPr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B1E5FF41-32CE-BDC7-48EC-BD298B42C025}"/>
                </a:ext>
              </a:extLst>
            </p:cNvPr>
            <p:cNvSpPr txBox="1"/>
            <p:nvPr/>
          </p:nvSpPr>
          <p:spPr>
            <a:xfrm>
              <a:off x="3438680" y="4305150"/>
              <a:ext cx="971420" cy="10772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신청 관련 부가 서류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55" name="Picture 10">
              <a:extLst>
                <a:ext uri="{FF2B5EF4-FFF2-40B4-BE49-F238E27FC236}">
                  <a16:creationId xmlns:a16="http://schemas.microsoft.com/office/drawing/2014/main" id="{31666F6E-2AF1-409C-588D-3638BC0379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7418" y="4312303"/>
              <a:ext cx="106458" cy="121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56" name="그룹 155">
            <a:extLst>
              <a:ext uri="{FF2B5EF4-FFF2-40B4-BE49-F238E27FC236}">
                <a16:creationId xmlns:a16="http://schemas.microsoft.com/office/drawing/2014/main" id="{27A702CE-8FD0-D856-D95A-327A1FCC9560}"/>
              </a:ext>
            </a:extLst>
          </p:cNvPr>
          <p:cNvGrpSpPr/>
          <p:nvPr/>
        </p:nvGrpSpPr>
        <p:grpSpPr>
          <a:xfrm>
            <a:off x="3119578" y="4744531"/>
            <a:ext cx="1105196" cy="128396"/>
            <a:chOff x="3438680" y="4305150"/>
            <a:chExt cx="1105196" cy="128396"/>
          </a:xfrm>
        </p:grpSpPr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E0557A0E-7939-9707-5224-5548212F9C6D}"/>
                </a:ext>
              </a:extLst>
            </p:cNvPr>
            <p:cNvSpPr txBox="1"/>
            <p:nvPr/>
          </p:nvSpPr>
          <p:spPr>
            <a:xfrm>
              <a:off x="3438680" y="4305150"/>
              <a:ext cx="971420" cy="10772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신청 관련 부가 서류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58" name="Picture 10">
              <a:extLst>
                <a:ext uri="{FF2B5EF4-FFF2-40B4-BE49-F238E27FC236}">
                  <a16:creationId xmlns:a16="http://schemas.microsoft.com/office/drawing/2014/main" id="{7646F153-A726-E31B-FB19-B42F6BC4C9E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7418" y="4312303"/>
              <a:ext cx="106458" cy="121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192E18DE-7103-E5C9-6609-65CEC8FFD735}"/>
              </a:ext>
            </a:extLst>
          </p:cNvPr>
          <p:cNvSpPr/>
          <p:nvPr/>
        </p:nvSpPr>
        <p:spPr>
          <a:xfrm>
            <a:off x="3859392" y="3301263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3" name="직사각형 162">
            <a:extLst>
              <a:ext uri="{FF2B5EF4-FFF2-40B4-BE49-F238E27FC236}">
                <a16:creationId xmlns:a16="http://schemas.microsoft.com/office/drawing/2014/main" id="{9203A63D-3339-23F0-E111-1B659B23A9B2}"/>
              </a:ext>
            </a:extLst>
          </p:cNvPr>
          <p:cNvSpPr/>
          <p:nvPr/>
        </p:nvSpPr>
        <p:spPr>
          <a:xfrm>
            <a:off x="3859392" y="3538549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1E7E429B-129C-A315-3FA1-A28F23049FD2}"/>
              </a:ext>
            </a:extLst>
          </p:cNvPr>
          <p:cNvSpPr/>
          <p:nvPr/>
        </p:nvSpPr>
        <p:spPr>
          <a:xfrm>
            <a:off x="3859392" y="3777808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5" name="직사각형 164">
            <a:extLst>
              <a:ext uri="{FF2B5EF4-FFF2-40B4-BE49-F238E27FC236}">
                <a16:creationId xmlns:a16="http://schemas.microsoft.com/office/drawing/2014/main" id="{FAA9D83C-5717-4B8E-BA13-54D8BB9ADC4E}"/>
              </a:ext>
            </a:extLst>
          </p:cNvPr>
          <p:cNvSpPr/>
          <p:nvPr/>
        </p:nvSpPr>
        <p:spPr>
          <a:xfrm>
            <a:off x="3859392" y="3996506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2F8871B9-6F17-3166-5A61-1BD201E34BD0}"/>
              </a:ext>
            </a:extLst>
          </p:cNvPr>
          <p:cNvSpPr/>
          <p:nvPr/>
        </p:nvSpPr>
        <p:spPr>
          <a:xfrm>
            <a:off x="3859392" y="4240398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9" name="직사각형 168">
            <a:extLst>
              <a:ext uri="{FF2B5EF4-FFF2-40B4-BE49-F238E27FC236}">
                <a16:creationId xmlns:a16="http://schemas.microsoft.com/office/drawing/2014/main" id="{265DA2F9-D02E-AF6C-EC4A-840C46DFE7F1}"/>
              </a:ext>
            </a:extLst>
          </p:cNvPr>
          <p:cNvSpPr/>
          <p:nvPr/>
        </p:nvSpPr>
        <p:spPr>
          <a:xfrm>
            <a:off x="165100" y="6023481"/>
            <a:ext cx="6732116" cy="46622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70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54BF3B66-E32F-33FA-DF46-4379717DB2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6165304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1" name="TextBox 170">
            <a:extLst>
              <a:ext uri="{FF2B5EF4-FFF2-40B4-BE49-F238E27FC236}">
                <a16:creationId xmlns:a16="http://schemas.microsoft.com/office/drawing/2014/main" id="{921F13B7-1E90-7324-F092-A547F9D7D6C0}"/>
              </a:ext>
            </a:extLst>
          </p:cNvPr>
          <p:cNvSpPr txBox="1"/>
          <p:nvPr/>
        </p:nvSpPr>
        <p:spPr>
          <a:xfrm>
            <a:off x="1172580" y="6077394"/>
            <a:ext cx="31242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경기 오산시 성호대로 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141 (</a:t>
            </a:r>
            <a:r>
              <a:rPr lang="ko-KR" altLang="en-US" sz="600" b="0" i="0" dirty="0" err="1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오산동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오산시청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오산교육재단</a:t>
            </a:r>
            <a:endParaRPr lang="en-US" altLang="ko-KR" sz="600" b="0" i="0" dirty="0">
              <a:solidFill>
                <a:srgbClr val="666666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>
              <a:buNone/>
            </a:pP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TEL. (031)8036-8905 FAX. (031)8036-8905</a:t>
            </a:r>
          </a:p>
          <a:p>
            <a:pPr algn="l">
              <a:buNone/>
            </a:pP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Copyright©2025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오산교육재단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 ALL RIGHTSRESERVED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FBA38E4-E936-4D7E-CF35-758BF74D61E9}"/>
              </a:ext>
            </a:extLst>
          </p:cNvPr>
          <p:cNvSpPr/>
          <p:nvPr/>
        </p:nvSpPr>
        <p:spPr>
          <a:xfrm>
            <a:off x="2724980" y="2618178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성적증빙자료</a:t>
            </a:r>
            <a:r>
              <a:rPr kumimoji="0" lang="en-US" altLang="ko-KR" sz="7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.zip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AF92729-8E29-9F09-B8C0-9831F19B4CD0}"/>
              </a:ext>
            </a:extLst>
          </p:cNvPr>
          <p:cNvSpPr/>
          <p:nvPr/>
        </p:nvSpPr>
        <p:spPr>
          <a:xfrm>
            <a:off x="4377978" y="2618170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1263998-A535-537C-D402-86E81D220B3A}"/>
              </a:ext>
            </a:extLst>
          </p:cNvPr>
          <p:cNvSpPr/>
          <p:nvPr/>
        </p:nvSpPr>
        <p:spPr>
          <a:xfrm>
            <a:off x="4686488" y="2618170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Rectangle 191">
            <a:extLst>
              <a:ext uri="{FF2B5EF4-FFF2-40B4-BE49-F238E27FC236}">
                <a16:creationId xmlns:a16="http://schemas.microsoft.com/office/drawing/2014/main" id="{7BEEF4AD-A07B-EED8-21D0-33EE714CF9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2356" y="2639536"/>
            <a:ext cx="17953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성적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BA2296D-A2F1-B83A-3767-23AD82AA2918}"/>
              </a:ext>
            </a:extLst>
          </p:cNvPr>
          <p:cNvSpPr/>
          <p:nvPr/>
        </p:nvSpPr>
        <p:spPr>
          <a:xfrm>
            <a:off x="2096990" y="2618178"/>
            <a:ext cx="36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4.5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Rectangle 191">
            <a:extLst>
              <a:ext uri="{FF2B5EF4-FFF2-40B4-BE49-F238E27FC236}">
                <a16:creationId xmlns:a16="http://schemas.microsoft.com/office/drawing/2014/main" id="{0963EC53-E293-844E-1025-A6D87689B3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525" y="2639536"/>
            <a:ext cx="17953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첨부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46FB406-655A-74AA-5BBE-48E7043510C9}"/>
              </a:ext>
            </a:extLst>
          </p:cNvPr>
          <p:cNvSpPr/>
          <p:nvPr/>
        </p:nvSpPr>
        <p:spPr>
          <a:xfrm>
            <a:off x="2897048" y="3087152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주민등록초본</a:t>
            </a:r>
            <a:r>
              <a:rPr kumimoji="0" lang="en-US" altLang="ko-KR" sz="7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B3063DD-2F98-9A49-CCB2-33F40A911322}"/>
              </a:ext>
            </a:extLst>
          </p:cNvPr>
          <p:cNvSpPr/>
          <p:nvPr/>
        </p:nvSpPr>
        <p:spPr>
          <a:xfrm>
            <a:off x="4550046" y="3087144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C765D14-3AA3-D2DD-B311-00E61351C84C}"/>
              </a:ext>
            </a:extLst>
          </p:cNvPr>
          <p:cNvSpPr/>
          <p:nvPr/>
        </p:nvSpPr>
        <p:spPr>
          <a:xfrm>
            <a:off x="4858556" y="3087144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Rectangle 191">
            <a:extLst>
              <a:ext uri="{FF2B5EF4-FFF2-40B4-BE49-F238E27FC236}">
                <a16:creationId xmlns:a16="http://schemas.microsoft.com/office/drawing/2014/main" id="{6A4F1068-4A45-6D46-F0A2-B2F19892E0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7593" y="3101690"/>
            <a:ext cx="17953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첨부</a:t>
            </a:r>
          </a:p>
        </p:txBody>
      </p:sp>
      <p:sp>
        <p:nvSpPr>
          <p:cNvPr id="18" name="Rectangle 191">
            <a:extLst>
              <a:ext uri="{FF2B5EF4-FFF2-40B4-BE49-F238E27FC236}">
                <a16:creationId xmlns:a16="http://schemas.microsoft.com/office/drawing/2014/main" id="{84D2E0F9-CE30-C582-7B6B-0681C3FC6C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2355" y="3110067"/>
            <a:ext cx="359073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거주기간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A2668CC-DB52-47FB-4EC7-578B34EFFD14}"/>
              </a:ext>
            </a:extLst>
          </p:cNvPr>
          <p:cNvSpPr/>
          <p:nvPr/>
        </p:nvSpPr>
        <p:spPr>
          <a:xfrm>
            <a:off x="2275687" y="3088709"/>
            <a:ext cx="36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년</a:t>
            </a: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E754343B-DCDB-0533-DDE6-5C1224AE3CED}"/>
              </a:ext>
            </a:extLst>
          </p:cNvPr>
          <p:cNvSpPr>
            <a:spLocks noChangeAspect="1"/>
          </p:cNvSpPr>
          <p:nvPr/>
        </p:nvSpPr>
        <p:spPr>
          <a:xfrm>
            <a:off x="200472" y="1550951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40CA2E85-4656-FB61-6F97-49819A268680}"/>
              </a:ext>
            </a:extLst>
          </p:cNvPr>
          <p:cNvSpPr>
            <a:spLocks noChangeAspect="1"/>
          </p:cNvSpPr>
          <p:nvPr/>
        </p:nvSpPr>
        <p:spPr>
          <a:xfrm>
            <a:off x="5773339" y="5076180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0A7F4A95-B474-7854-34E6-371E3551D7D8}"/>
              </a:ext>
            </a:extLst>
          </p:cNvPr>
          <p:cNvGrpSpPr/>
          <p:nvPr/>
        </p:nvGrpSpPr>
        <p:grpSpPr>
          <a:xfrm>
            <a:off x="1897884" y="2847629"/>
            <a:ext cx="2704513" cy="144016"/>
            <a:chOff x="1897884" y="2847629"/>
            <a:chExt cx="2704513" cy="144016"/>
          </a:xfrm>
        </p:grpSpPr>
        <p:sp>
          <p:nvSpPr>
            <p:cNvPr id="137" name="직사각형 136">
              <a:extLst>
                <a:ext uri="{FF2B5EF4-FFF2-40B4-BE49-F238E27FC236}">
                  <a16:creationId xmlns:a16="http://schemas.microsoft.com/office/drawing/2014/main" id="{631906EF-65AF-EEF4-A8F1-BD782991BE4F}"/>
                </a:ext>
              </a:extLst>
            </p:cNvPr>
            <p:cNvSpPr/>
            <p:nvPr/>
          </p:nvSpPr>
          <p:spPr>
            <a:xfrm>
              <a:off x="1897884" y="2847637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추천서</a:t>
              </a:r>
              <a:r>
                <a:rPr kumimoji="0" lang="en-US" altLang="ko-KR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38" name="직사각형 137">
              <a:extLst>
                <a:ext uri="{FF2B5EF4-FFF2-40B4-BE49-F238E27FC236}">
                  <a16:creationId xmlns:a16="http://schemas.microsoft.com/office/drawing/2014/main" id="{0163E1BD-E408-9595-9501-EB086E170638}"/>
                </a:ext>
              </a:extLst>
            </p:cNvPr>
            <p:cNvSpPr/>
            <p:nvPr/>
          </p:nvSpPr>
          <p:spPr>
            <a:xfrm>
              <a:off x="3550882" y="2847629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제출</a:t>
              </a:r>
            </a:p>
          </p:txBody>
        </p:sp>
        <p:sp>
          <p:nvSpPr>
            <p:cNvPr id="160" name="직사각형 159">
              <a:extLst>
                <a:ext uri="{FF2B5EF4-FFF2-40B4-BE49-F238E27FC236}">
                  <a16:creationId xmlns:a16="http://schemas.microsoft.com/office/drawing/2014/main" id="{84017857-8244-D96A-A7E8-5CDE6E8EC258}"/>
                </a:ext>
              </a:extLst>
            </p:cNvPr>
            <p:cNvSpPr/>
            <p:nvPr/>
          </p:nvSpPr>
          <p:spPr>
            <a:xfrm>
              <a:off x="3859392" y="2847629"/>
              <a:ext cx="264174" cy="144016"/>
            </a:xfrm>
            <a:prstGeom prst="rect">
              <a:avLst/>
            </a:prstGeom>
            <a:solidFill>
              <a:srgbClr val="66FF66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3A86E715-5BAA-2B8F-B697-2C957AE5F43D}"/>
                </a:ext>
              </a:extLst>
            </p:cNvPr>
            <p:cNvSpPr/>
            <p:nvPr/>
          </p:nvSpPr>
          <p:spPr>
            <a:xfrm>
              <a:off x="4176942" y="2847629"/>
              <a:ext cx="425455" cy="14401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양식받기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43605EF-B69E-37D2-18E8-4B380661E64C}"/>
              </a:ext>
            </a:extLst>
          </p:cNvPr>
          <p:cNvSpPr/>
          <p:nvPr/>
        </p:nvSpPr>
        <p:spPr>
          <a:xfrm>
            <a:off x="668524" y="2812709"/>
            <a:ext cx="6121214" cy="21600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6CF1D783-C538-77B6-8100-5BC6F2FEB48C}"/>
              </a:ext>
            </a:extLst>
          </p:cNvPr>
          <p:cNvGrpSpPr/>
          <p:nvPr/>
        </p:nvGrpSpPr>
        <p:grpSpPr>
          <a:xfrm>
            <a:off x="1897884" y="4484757"/>
            <a:ext cx="2386963" cy="144016"/>
            <a:chOff x="1897884" y="4476806"/>
            <a:chExt cx="2386963" cy="144016"/>
          </a:xfrm>
        </p:grpSpPr>
        <p:sp>
          <p:nvSpPr>
            <p:cNvPr id="151" name="직사각형 150">
              <a:extLst>
                <a:ext uri="{FF2B5EF4-FFF2-40B4-BE49-F238E27FC236}">
                  <a16:creationId xmlns:a16="http://schemas.microsoft.com/office/drawing/2014/main" id="{289211CC-8DD1-ACA0-0D50-5D7760853F10}"/>
                </a:ext>
              </a:extLst>
            </p:cNvPr>
            <p:cNvSpPr/>
            <p:nvPr/>
          </p:nvSpPr>
          <p:spPr>
            <a:xfrm>
              <a:off x="1897884" y="4476814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52" name="직사각형 151">
              <a:extLst>
                <a:ext uri="{FF2B5EF4-FFF2-40B4-BE49-F238E27FC236}">
                  <a16:creationId xmlns:a16="http://schemas.microsoft.com/office/drawing/2014/main" id="{C8B59C4A-5C3F-6B45-E66B-316048B40704}"/>
                </a:ext>
              </a:extLst>
            </p:cNvPr>
            <p:cNvSpPr/>
            <p:nvPr/>
          </p:nvSpPr>
          <p:spPr>
            <a:xfrm>
              <a:off x="3550882" y="4476806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추가</a:t>
              </a: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2036D18A-E033-9A0A-7743-88DBDB53FE85}"/>
                </a:ext>
              </a:extLst>
            </p:cNvPr>
            <p:cNvSpPr/>
            <p:nvPr/>
          </p:nvSpPr>
          <p:spPr>
            <a:xfrm>
              <a:off x="3859392" y="4476806"/>
              <a:ext cx="425455" cy="14401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양식받기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5F5A5A1-1C95-0864-1FCE-018CF6DE2D60}"/>
              </a:ext>
            </a:extLst>
          </p:cNvPr>
          <p:cNvSpPr/>
          <p:nvPr/>
        </p:nvSpPr>
        <p:spPr>
          <a:xfrm>
            <a:off x="668524" y="4449263"/>
            <a:ext cx="6121214" cy="21600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049583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517D0-BBC8-0A3E-6309-1C376F75A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9886BFB-92D6-B5D1-63E8-F8D27413A763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고등학생장학금 신청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B4A7474-BDE7-95F1-43A5-4526F28B2C3F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프로그램신청관리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고등학생장학금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장학금신청</a:t>
            </a: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87565DB0-E1AF-39AD-4BA7-E5B9190717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40700"/>
              </p:ext>
            </p:extLst>
          </p:nvPr>
        </p:nvGraphicFramePr>
        <p:xfrm>
          <a:off x="6969418" y="2548005"/>
          <a:ext cx="2772114" cy="2262360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주민등록초본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거주기간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신청 회원의 거주기간을 입력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첨부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제출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]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클릭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&gt;&gt;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제출 서류 파일 선택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&gt;&gt;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첨부완료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받기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] 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클릭 시 첨부된 제출 서류 파일 다운로드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첨부파일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추가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] : 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추가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파일 선택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첨부 설정완료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파일받기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파일명 클릭 시 첨부된 파일 다운로드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[x]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 첨부된 해당 파일 삭제 처리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양식받기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시 추천서 양식 파일을 다운 받는다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7628318"/>
                  </a:ext>
                </a:extLst>
              </a:tr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신청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]</a:t>
                      </a: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신청정보 설정 후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신청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클릭 시 등록이 완료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홈페이지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마이페이지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나의신청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고등학생장학금에 보이게 됨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사이트관리자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프로그램신청관리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고등학생장학금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설정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접수관리에 보이게 됨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목록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클릭 시 신청이 취소 되며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조회 화면으로 이동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CBADC8EB-50D4-8DBD-B8E6-5966D02BA6BC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pah_application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C8E7A78-4E80-EC91-FAAC-449D36701D18}"/>
              </a:ext>
            </a:extLst>
          </p:cNvPr>
          <p:cNvSpPr/>
          <p:nvPr/>
        </p:nvSpPr>
        <p:spPr>
          <a:xfrm>
            <a:off x="165100" y="1376363"/>
            <a:ext cx="6732116" cy="460414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D47F904-7EAD-B58A-2EA0-211F5A497D0B}"/>
              </a:ext>
            </a:extLst>
          </p:cNvPr>
          <p:cNvSpPr/>
          <p:nvPr/>
        </p:nvSpPr>
        <p:spPr>
          <a:xfrm>
            <a:off x="6397011" y="5049180"/>
            <a:ext cx="392727" cy="19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목록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6D670DA-37CC-2F6D-49B6-5A4F0AF9B1F9}"/>
              </a:ext>
            </a:extLst>
          </p:cNvPr>
          <p:cNvSpPr/>
          <p:nvPr/>
        </p:nvSpPr>
        <p:spPr>
          <a:xfrm>
            <a:off x="5936915" y="5049180"/>
            <a:ext cx="392727" cy="198000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신청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4FE4766-A48E-1F44-0425-071EFED7CEBD}"/>
              </a:ext>
            </a:extLst>
          </p:cNvPr>
          <p:cNvSpPr/>
          <p:nvPr/>
        </p:nvSpPr>
        <p:spPr>
          <a:xfrm>
            <a:off x="292846" y="1448780"/>
            <a:ext cx="1202252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800" b="1" dirty="0">
                <a:solidFill>
                  <a:prstClr val="black"/>
                </a:solidFill>
              </a:rPr>
              <a:t>고등학생 장학금 신청정보</a:t>
            </a: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4950764B-9AC3-69B9-5136-27B02B8683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7824653"/>
              </p:ext>
            </p:extLst>
          </p:nvPr>
        </p:nvGraphicFramePr>
        <p:xfrm>
          <a:off x="273050" y="1629971"/>
          <a:ext cx="6516688" cy="32862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54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484">
                  <a:extLst>
                    <a:ext uri="{9D8B030D-6E8A-4147-A177-3AD203B41FA5}">
                      <a16:colId xmlns:a16="http://schemas.microsoft.com/office/drawing/2014/main" val="3668863434"/>
                    </a:ext>
                  </a:extLst>
                </a:gridCol>
                <a:gridCol w="49207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구분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고등학생 장학금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894265"/>
                  </a:ext>
                </a:extLst>
              </a:tr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</a:t>
                      </a:r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하반기 고등학생 장학금 신청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접수기간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2025.09.20 10:00 </a:t>
                      </a:r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~ 2025.09.30 10:00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전형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4735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전형별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성적증빙자료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2230354"/>
                  </a:ext>
                </a:extLst>
              </a:tr>
              <a:tr h="234735">
                <a:tc rowSpan="9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공통 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추천서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주민등록초본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1958612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주민등록등본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164179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국민기초생활보장수급자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차상위계층확인서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9729432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한부모가족보호대상확인서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장애인증명서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첨부파일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8089092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8418894"/>
                  </a:ext>
                </a:extLst>
              </a:tr>
            </a:tbl>
          </a:graphicData>
        </a:graphic>
      </p:graphicFrame>
      <p:grpSp>
        <p:nvGrpSpPr>
          <p:cNvPr id="28" name="그룹 27">
            <a:extLst>
              <a:ext uri="{FF2B5EF4-FFF2-40B4-BE49-F238E27FC236}">
                <a16:creationId xmlns:a16="http://schemas.microsoft.com/office/drawing/2014/main" id="{7659C8E4-6E32-107B-6313-0FF0C132CB94}"/>
              </a:ext>
            </a:extLst>
          </p:cNvPr>
          <p:cNvGrpSpPr/>
          <p:nvPr/>
        </p:nvGrpSpPr>
        <p:grpSpPr>
          <a:xfrm>
            <a:off x="2474227" y="2381265"/>
            <a:ext cx="505750" cy="144462"/>
            <a:chOff x="2716253" y="2405617"/>
            <a:chExt cx="505750" cy="144462"/>
          </a:xfrm>
        </p:grpSpPr>
        <p:sp>
          <p:nvSpPr>
            <p:cNvPr id="29" name="Rectangle 191">
              <a:extLst>
                <a:ext uri="{FF2B5EF4-FFF2-40B4-BE49-F238E27FC236}">
                  <a16:creationId xmlns:a16="http://schemas.microsoft.com/office/drawing/2014/main" id="{EDB723DC-4D43-BC58-0D41-0BF84A788E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359073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희망인재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graphicFrame>
          <p:nvGraphicFramePr>
            <p:cNvPr id="30" name="개체 29">
              <a:extLst>
                <a:ext uri="{FF2B5EF4-FFF2-40B4-BE49-F238E27FC236}">
                  <a16:creationId xmlns:a16="http://schemas.microsoft.com/office/drawing/2014/main" id="{BBA61FE9-E418-BF42-6362-1894D63B705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2" imgW="145435" imgH="145435" progId="Visio.Drawing.11">
                    <p:embed/>
                  </p:oleObj>
                </mc:Choice>
                <mc:Fallback>
                  <p:oleObj name="Visio" r:id="rId2" imgW="145435" imgH="145435" progId="Visio.Drawing.11">
                    <p:embed/>
                    <p:pic>
                      <p:nvPicPr>
                        <p:cNvPr id="122" name="개체 121">
                          <a:extLst>
                            <a:ext uri="{FF2B5EF4-FFF2-40B4-BE49-F238E27FC236}">
                              <a16:creationId xmlns:a16="http://schemas.microsoft.com/office/drawing/2014/main" id="{763DB448-8F83-B8C7-4864-19BDF870FBA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BA59FE94-F3B3-9FC0-0BD7-4C4505547FCB}"/>
              </a:ext>
            </a:extLst>
          </p:cNvPr>
          <p:cNvGrpSpPr/>
          <p:nvPr/>
        </p:nvGrpSpPr>
        <p:grpSpPr>
          <a:xfrm>
            <a:off x="3051036" y="2381265"/>
            <a:ext cx="595518" cy="144462"/>
            <a:chOff x="2716253" y="2405617"/>
            <a:chExt cx="595518" cy="144462"/>
          </a:xfrm>
        </p:grpSpPr>
        <p:sp>
          <p:nvSpPr>
            <p:cNvPr id="32" name="Rectangle 191">
              <a:extLst>
                <a:ext uri="{FF2B5EF4-FFF2-40B4-BE49-F238E27FC236}">
                  <a16:creationId xmlns:a16="http://schemas.microsoft.com/office/drawing/2014/main" id="{E41854FB-2389-2217-A521-09E3BF1E42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448841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근로자자녀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graphicFrame>
          <p:nvGraphicFramePr>
            <p:cNvPr id="33" name="개체 32">
              <a:extLst>
                <a:ext uri="{FF2B5EF4-FFF2-40B4-BE49-F238E27FC236}">
                  <a16:creationId xmlns:a16="http://schemas.microsoft.com/office/drawing/2014/main" id="{7209BF68-25BB-327A-EFB4-6B760795125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2" imgW="145435" imgH="145435" progId="Visio.Drawing.11">
                    <p:embed/>
                  </p:oleObj>
                </mc:Choice>
                <mc:Fallback>
                  <p:oleObj name="Visio" r:id="rId2" imgW="145435" imgH="145435" progId="Visio.Drawing.11">
                    <p:embed/>
                    <p:pic>
                      <p:nvPicPr>
                        <p:cNvPr id="125" name="개체 124">
                          <a:extLst>
                            <a:ext uri="{FF2B5EF4-FFF2-40B4-BE49-F238E27FC236}">
                              <a16:creationId xmlns:a16="http://schemas.microsoft.com/office/drawing/2014/main" id="{3AEF0B8D-03CA-1E96-5808-8ECF1790BCF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04C72867-C09D-E098-D07A-E198D9C5BAB8}"/>
              </a:ext>
            </a:extLst>
          </p:cNvPr>
          <p:cNvGrpSpPr/>
          <p:nvPr/>
        </p:nvGrpSpPr>
        <p:grpSpPr>
          <a:xfrm>
            <a:off x="3701320" y="2381265"/>
            <a:ext cx="775054" cy="144462"/>
            <a:chOff x="2716253" y="2405617"/>
            <a:chExt cx="775054" cy="144462"/>
          </a:xfrm>
        </p:grpSpPr>
        <p:sp>
          <p:nvSpPr>
            <p:cNvPr id="35" name="Rectangle 191">
              <a:extLst>
                <a:ext uri="{FF2B5EF4-FFF2-40B4-BE49-F238E27FC236}">
                  <a16:creationId xmlns:a16="http://schemas.microsoft.com/office/drawing/2014/main" id="{F8176B74-9FCE-7B77-2AFA-830C1DFC4B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628377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다자녀가정자녀</a:t>
              </a:r>
            </a:p>
          </p:txBody>
        </p:sp>
        <p:graphicFrame>
          <p:nvGraphicFramePr>
            <p:cNvPr id="36" name="개체 35">
              <a:extLst>
                <a:ext uri="{FF2B5EF4-FFF2-40B4-BE49-F238E27FC236}">
                  <a16:creationId xmlns:a16="http://schemas.microsoft.com/office/drawing/2014/main" id="{873B523B-ABD9-8C5D-CFB3-5BB8911DA0E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2" imgW="145435" imgH="145435" progId="Visio.Drawing.11">
                    <p:embed/>
                  </p:oleObj>
                </mc:Choice>
                <mc:Fallback>
                  <p:oleObj name="Visio" r:id="rId2" imgW="145435" imgH="145435" progId="Visio.Drawing.11">
                    <p:embed/>
                    <p:pic>
                      <p:nvPicPr>
                        <p:cNvPr id="128" name="개체 127">
                          <a:extLst>
                            <a:ext uri="{FF2B5EF4-FFF2-40B4-BE49-F238E27FC236}">
                              <a16:creationId xmlns:a16="http://schemas.microsoft.com/office/drawing/2014/main" id="{B09B7FEE-BC2A-E771-9A17-1A66C4B730C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997D16AD-4C57-07B7-4007-BE1908272C3B}"/>
              </a:ext>
            </a:extLst>
          </p:cNvPr>
          <p:cNvGrpSpPr/>
          <p:nvPr/>
        </p:nvGrpSpPr>
        <p:grpSpPr>
          <a:xfrm>
            <a:off x="4531981" y="2381265"/>
            <a:ext cx="775054" cy="144462"/>
            <a:chOff x="2716253" y="2405617"/>
            <a:chExt cx="775054" cy="144462"/>
          </a:xfrm>
        </p:grpSpPr>
        <p:sp>
          <p:nvSpPr>
            <p:cNvPr id="38" name="Rectangle 191">
              <a:extLst>
                <a:ext uri="{FF2B5EF4-FFF2-40B4-BE49-F238E27FC236}">
                  <a16:creationId xmlns:a16="http://schemas.microsoft.com/office/drawing/2014/main" id="{B8298B63-2935-FDF3-D271-6E3D77BE98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628377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다문화가정자녀</a:t>
              </a:r>
            </a:p>
          </p:txBody>
        </p:sp>
        <p:graphicFrame>
          <p:nvGraphicFramePr>
            <p:cNvPr id="39" name="개체 38">
              <a:extLst>
                <a:ext uri="{FF2B5EF4-FFF2-40B4-BE49-F238E27FC236}">
                  <a16:creationId xmlns:a16="http://schemas.microsoft.com/office/drawing/2014/main" id="{A9BC7E0F-6357-7AAC-FEE9-A6A80DA1ED2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2" imgW="145435" imgH="145435" progId="Visio.Drawing.11">
                    <p:embed/>
                  </p:oleObj>
                </mc:Choice>
                <mc:Fallback>
                  <p:oleObj name="Visio" r:id="rId2" imgW="145435" imgH="145435" progId="Visio.Drawing.11">
                    <p:embed/>
                    <p:pic>
                      <p:nvPicPr>
                        <p:cNvPr id="131" name="개체 130">
                          <a:extLst>
                            <a:ext uri="{FF2B5EF4-FFF2-40B4-BE49-F238E27FC236}">
                              <a16:creationId xmlns:a16="http://schemas.microsoft.com/office/drawing/2014/main" id="{477CE4A3-21CA-FCA8-645E-7A679500A9C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AAD09BBB-70E6-8921-CF7A-B1614B397D70}"/>
              </a:ext>
            </a:extLst>
          </p:cNvPr>
          <p:cNvGrpSpPr/>
          <p:nvPr/>
        </p:nvGrpSpPr>
        <p:grpSpPr>
          <a:xfrm>
            <a:off x="1897884" y="2387151"/>
            <a:ext cx="506433" cy="144463"/>
            <a:chOff x="3327015" y="1527346"/>
            <a:chExt cx="506433" cy="144463"/>
          </a:xfrm>
        </p:grpSpPr>
        <p:sp>
          <p:nvSpPr>
            <p:cNvPr id="41" name="Rectangle 191">
              <a:extLst>
                <a:ext uri="{FF2B5EF4-FFF2-40B4-BE49-F238E27FC236}">
                  <a16:creationId xmlns:a16="http://schemas.microsoft.com/office/drawing/2014/main" id="{14408422-9CA3-79B6-E22C-21338F3DFB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4375" y="1539830"/>
              <a:ext cx="359073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우수인재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graphicFrame>
          <p:nvGraphicFramePr>
            <p:cNvPr id="42" name="개체 41">
              <a:extLst>
                <a:ext uri="{FF2B5EF4-FFF2-40B4-BE49-F238E27FC236}">
                  <a16:creationId xmlns:a16="http://schemas.microsoft.com/office/drawing/2014/main" id="{90B5D032-7DA2-2393-16D9-0F64D8D474F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11247101"/>
                </p:ext>
              </p:extLst>
            </p:nvPr>
          </p:nvGraphicFramePr>
          <p:xfrm>
            <a:off x="3327015" y="1527346"/>
            <a:ext cx="144462" cy="144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145435" imgH="145435" progId="Visio.Drawing.11">
                    <p:embed/>
                  </p:oleObj>
                </mc:Choice>
                <mc:Fallback>
                  <p:oleObj name="Visio" r:id="rId4" imgW="145435" imgH="145435" progId="Visio.Drawing.11">
                    <p:embed/>
                    <p:pic>
                      <p:nvPicPr>
                        <p:cNvPr id="134" name="개체 133">
                          <a:extLst>
                            <a:ext uri="{FF2B5EF4-FFF2-40B4-BE49-F238E27FC236}">
                              <a16:creationId xmlns:a16="http://schemas.microsoft.com/office/drawing/2014/main" id="{B18B0B88-5B8F-1FA9-BD45-8644EFCE40A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27015" y="1527346"/>
                          <a:ext cx="144462" cy="1444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65AFC06D-40C0-1405-5F34-5DB49D579D0B}"/>
              </a:ext>
            </a:extLst>
          </p:cNvPr>
          <p:cNvSpPr/>
          <p:nvPr/>
        </p:nvSpPr>
        <p:spPr>
          <a:xfrm>
            <a:off x="1897884" y="3302431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주민등록등본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8F39DE1B-B6A4-7347-B8CB-998A068182A5}"/>
              </a:ext>
            </a:extLst>
          </p:cNvPr>
          <p:cNvSpPr/>
          <p:nvPr/>
        </p:nvSpPr>
        <p:spPr>
          <a:xfrm>
            <a:off x="3550882" y="3302423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E49445CD-77EB-72AA-DA32-ADF79E794225}"/>
              </a:ext>
            </a:extLst>
          </p:cNvPr>
          <p:cNvSpPr/>
          <p:nvPr/>
        </p:nvSpPr>
        <p:spPr>
          <a:xfrm>
            <a:off x="1897884" y="3538516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국민기초생활보장수급자</a:t>
            </a:r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93508713-E25A-07F1-D629-A8087C88BA70}"/>
              </a:ext>
            </a:extLst>
          </p:cNvPr>
          <p:cNvSpPr/>
          <p:nvPr/>
        </p:nvSpPr>
        <p:spPr>
          <a:xfrm>
            <a:off x="3550882" y="3538508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789AF89D-B17B-C2E8-7B27-3078B3FD701A}"/>
              </a:ext>
            </a:extLst>
          </p:cNvPr>
          <p:cNvSpPr/>
          <p:nvPr/>
        </p:nvSpPr>
        <p:spPr>
          <a:xfrm>
            <a:off x="1897884" y="3778434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차상위계층확인서</a:t>
            </a:r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5A389075-76F4-E7D9-FD0A-9A0F41B1AE58}"/>
              </a:ext>
            </a:extLst>
          </p:cNvPr>
          <p:cNvSpPr/>
          <p:nvPr/>
        </p:nvSpPr>
        <p:spPr>
          <a:xfrm>
            <a:off x="3550882" y="3778426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9ABFD45F-C2DA-8382-7511-136FFC37521E}"/>
              </a:ext>
            </a:extLst>
          </p:cNvPr>
          <p:cNvSpPr/>
          <p:nvPr/>
        </p:nvSpPr>
        <p:spPr>
          <a:xfrm>
            <a:off x="1897884" y="4002409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D5BE678E-B742-D6C0-A84C-CC42D8087B5E}"/>
              </a:ext>
            </a:extLst>
          </p:cNvPr>
          <p:cNvSpPr/>
          <p:nvPr/>
        </p:nvSpPr>
        <p:spPr>
          <a:xfrm>
            <a:off x="3550882" y="4002401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38438CEF-8794-DDB9-AE5E-8F151FD8C4ED}"/>
              </a:ext>
            </a:extLst>
          </p:cNvPr>
          <p:cNvSpPr/>
          <p:nvPr/>
        </p:nvSpPr>
        <p:spPr>
          <a:xfrm>
            <a:off x="1897884" y="4238538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CF4B3B9C-3A73-2440-61B6-1C817BBDC92A}"/>
              </a:ext>
            </a:extLst>
          </p:cNvPr>
          <p:cNvSpPr/>
          <p:nvPr/>
        </p:nvSpPr>
        <p:spPr>
          <a:xfrm>
            <a:off x="3550882" y="4238530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F90D13D6-B6B8-7D1F-E52F-9F5DE7FDEA49}"/>
              </a:ext>
            </a:extLst>
          </p:cNvPr>
          <p:cNvGrpSpPr/>
          <p:nvPr/>
        </p:nvGrpSpPr>
        <p:grpSpPr>
          <a:xfrm>
            <a:off x="1933165" y="4744531"/>
            <a:ext cx="1105196" cy="128396"/>
            <a:chOff x="3438680" y="4305150"/>
            <a:chExt cx="1105196" cy="128396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35C1699F-B711-60D7-58AB-B6E25ED2925D}"/>
                </a:ext>
              </a:extLst>
            </p:cNvPr>
            <p:cNvSpPr txBox="1"/>
            <p:nvPr/>
          </p:nvSpPr>
          <p:spPr>
            <a:xfrm>
              <a:off x="3438680" y="4305150"/>
              <a:ext cx="971420" cy="10772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신청 관련 부가 서류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56" name="Picture 10">
              <a:extLst>
                <a:ext uri="{FF2B5EF4-FFF2-40B4-BE49-F238E27FC236}">
                  <a16:creationId xmlns:a16="http://schemas.microsoft.com/office/drawing/2014/main" id="{DEC11217-8774-3E2B-8499-67E38D37CF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7418" y="4312303"/>
              <a:ext cx="106458" cy="121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623DC676-5947-F58E-EB4B-1F24156E6726}"/>
              </a:ext>
            </a:extLst>
          </p:cNvPr>
          <p:cNvGrpSpPr/>
          <p:nvPr/>
        </p:nvGrpSpPr>
        <p:grpSpPr>
          <a:xfrm>
            <a:off x="3119578" y="4744531"/>
            <a:ext cx="1105196" cy="128396"/>
            <a:chOff x="3438680" y="4305150"/>
            <a:chExt cx="1105196" cy="128396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22B583A-2F83-907B-EE6E-8AA33A525CA7}"/>
                </a:ext>
              </a:extLst>
            </p:cNvPr>
            <p:cNvSpPr txBox="1"/>
            <p:nvPr/>
          </p:nvSpPr>
          <p:spPr>
            <a:xfrm>
              <a:off x="3438680" y="4305150"/>
              <a:ext cx="971420" cy="10772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신청 관련 부가 서류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59" name="Picture 10">
              <a:extLst>
                <a:ext uri="{FF2B5EF4-FFF2-40B4-BE49-F238E27FC236}">
                  <a16:creationId xmlns:a16="http://schemas.microsoft.com/office/drawing/2014/main" id="{0FAD480C-8DC7-108C-344B-299AF1A849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7418" y="4312303"/>
              <a:ext cx="106458" cy="121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4F70D910-1286-FB40-1F30-78DB8221FB60}"/>
              </a:ext>
            </a:extLst>
          </p:cNvPr>
          <p:cNvSpPr/>
          <p:nvPr/>
        </p:nvSpPr>
        <p:spPr>
          <a:xfrm>
            <a:off x="3859392" y="3301263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3E060EC8-CC74-62E4-0C36-19E9A38B738E}"/>
              </a:ext>
            </a:extLst>
          </p:cNvPr>
          <p:cNvSpPr/>
          <p:nvPr/>
        </p:nvSpPr>
        <p:spPr>
          <a:xfrm>
            <a:off x="3859392" y="3538549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79393845-9F1E-0590-3972-E0DD259B3723}"/>
              </a:ext>
            </a:extLst>
          </p:cNvPr>
          <p:cNvSpPr/>
          <p:nvPr/>
        </p:nvSpPr>
        <p:spPr>
          <a:xfrm>
            <a:off x="3859392" y="3777808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1D406A90-CC06-CDB5-19C0-365F05EF879E}"/>
              </a:ext>
            </a:extLst>
          </p:cNvPr>
          <p:cNvSpPr/>
          <p:nvPr/>
        </p:nvSpPr>
        <p:spPr>
          <a:xfrm>
            <a:off x="3859392" y="3996506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84CE39EF-A062-6117-CD8A-ADF28C453567}"/>
              </a:ext>
            </a:extLst>
          </p:cNvPr>
          <p:cNvSpPr/>
          <p:nvPr/>
        </p:nvSpPr>
        <p:spPr>
          <a:xfrm>
            <a:off x="3859392" y="4240398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FE70217F-F9EA-0D66-2625-CD7B1A8482F1}"/>
              </a:ext>
            </a:extLst>
          </p:cNvPr>
          <p:cNvSpPr/>
          <p:nvPr/>
        </p:nvSpPr>
        <p:spPr>
          <a:xfrm>
            <a:off x="165100" y="6023481"/>
            <a:ext cx="6732116" cy="46622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66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7486C3D8-451C-20B8-D4C2-360B4DB1E5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6165304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3AEEF36B-8279-C51D-5598-A68A989E9901}"/>
              </a:ext>
            </a:extLst>
          </p:cNvPr>
          <p:cNvSpPr txBox="1"/>
          <p:nvPr/>
        </p:nvSpPr>
        <p:spPr>
          <a:xfrm>
            <a:off x="1172580" y="6077394"/>
            <a:ext cx="31242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경기 오산시 성호대로 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141 (</a:t>
            </a:r>
            <a:r>
              <a:rPr lang="ko-KR" altLang="en-US" sz="600" b="0" i="0" dirty="0" err="1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오산동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오산시청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오산교육재단</a:t>
            </a:r>
            <a:endParaRPr lang="en-US" altLang="ko-KR" sz="600" b="0" i="0" dirty="0">
              <a:solidFill>
                <a:srgbClr val="666666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>
              <a:buNone/>
            </a:pP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TEL. (031)8036-8905 FAX. (031)8036-8905</a:t>
            </a:r>
          </a:p>
          <a:p>
            <a:pPr algn="l">
              <a:buNone/>
            </a:pP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Copyright©2025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오산교육재단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 ALL RIGHTSRESERVED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91D46C9B-591B-0252-158B-92E8DAF653EA}"/>
              </a:ext>
            </a:extLst>
          </p:cNvPr>
          <p:cNvSpPr/>
          <p:nvPr/>
        </p:nvSpPr>
        <p:spPr>
          <a:xfrm>
            <a:off x="2724980" y="2618178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성적증빙자료</a:t>
            </a:r>
            <a:r>
              <a:rPr kumimoji="0" lang="en-US" altLang="ko-KR" sz="7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.zip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8B15DEC1-FEE3-4D0B-7897-B468A5E1F627}"/>
              </a:ext>
            </a:extLst>
          </p:cNvPr>
          <p:cNvSpPr/>
          <p:nvPr/>
        </p:nvSpPr>
        <p:spPr>
          <a:xfrm>
            <a:off x="4377978" y="2618170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5497490B-852F-1A83-3B6E-74573E6C21E6}"/>
              </a:ext>
            </a:extLst>
          </p:cNvPr>
          <p:cNvSpPr/>
          <p:nvPr/>
        </p:nvSpPr>
        <p:spPr>
          <a:xfrm>
            <a:off x="4686488" y="2618170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1" name="Rectangle 191">
            <a:extLst>
              <a:ext uri="{FF2B5EF4-FFF2-40B4-BE49-F238E27FC236}">
                <a16:creationId xmlns:a16="http://schemas.microsoft.com/office/drawing/2014/main" id="{C73547A2-2FFD-5F45-CAB2-98D2F54B60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2356" y="2639536"/>
            <a:ext cx="17953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성적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AB232527-0DA9-927D-991F-2A0F62331B7B}"/>
              </a:ext>
            </a:extLst>
          </p:cNvPr>
          <p:cNvSpPr/>
          <p:nvPr/>
        </p:nvSpPr>
        <p:spPr>
          <a:xfrm>
            <a:off x="2096990" y="2618178"/>
            <a:ext cx="36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4.5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3" name="Rectangle 191">
            <a:extLst>
              <a:ext uri="{FF2B5EF4-FFF2-40B4-BE49-F238E27FC236}">
                <a16:creationId xmlns:a16="http://schemas.microsoft.com/office/drawing/2014/main" id="{44921C6F-E992-63FB-C973-D9246D0594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525" y="2639536"/>
            <a:ext cx="17953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첨부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205410E2-1F09-7AC3-F79D-50D077DBC1AA}"/>
              </a:ext>
            </a:extLst>
          </p:cNvPr>
          <p:cNvSpPr/>
          <p:nvPr/>
        </p:nvSpPr>
        <p:spPr>
          <a:xfrm>
            <a:off x="2897048" y="3087152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주민등록초본</a:t>
            </a:r>
            <a:r>
              <a:rPr kumimoji="0" lang="en-US" altLang="ko-KR" sz="7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7198B47E-E5E2-82D3-B3F9-F4CB60472F0E}"/>
              </a:ext>
            </a:extLst>
          </p:cNvPr>
          <p:cNvSpPr/>
          <p:nvPr/>
        </p:nvSpPr>
        <p:spPr>
          <a:xfrm>
            <a:off x="4550046" y="3087144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D396E131-FFDF-00F5-1682-BE5051AEEF43}"/>
              </a:ext>
            </a:extLst>
          </p:cNvPr>
          <p:cNvSpPr/>
          <p:nvPr/>
        </p:nvSpPr>
        <p:spPr>
          <a:xfrm>
            <a:off x="4858556" y="3087144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8" name="Rectangle 191">
            <a:extLst>
              <a:ext uri="{FF2B5EF4-FFF2-40B4-BE49-F238E27FC236}">
                <a16:creationId xmlns:a16="http://schemas.microsoft.com/office/drawing/2014/main" id="{371AB6B4-3895-D2AD-F6FA-33427AE9C4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7593" y="3101690"/>
            <a:ext cx="17953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첨부</a:t>
            </a:r>
          </a:p>
        </p:txBody>
      </p:sp>
      <p:sp>
        <p:nvSpPr>
          <p:cNvPr id="79" name="Rectangle 191">
            <a:extLst>
              <a:ext uri="{FF2B5EF4-FFF2-40B4-BE49-F238E27FC236}">
                <a16:creationId xmlns:a16="http://schemas.microsoft.com/office/drawing/2014/main" id="{67DA368E-ED12-5324-01DA-23B1B35EC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2355" y="3110067"/>
            <a:ext cx="359073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거주기간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7BECD1DD-1115-2A8D-44F0-22C82A11B821}"/>
              </a:ext>
            </a:extLst>
          </p:cNvPr>
          <p:cNvSpPr/>
          <p:nvPr/>
        </p:nvSpPr>
        <p:spPr>
          <a:xfrm>
            <a:off x="2275687" y="3088709"/>
            <a:ext cx="36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년</a:t>
            </a:r>
          </a:p>
        </p:txBody>
      </p:sp>
      <p:sp>
        <p:nvSpPr>
          <p:cNvPr id="81" name="타원 80">
            <a:extLst>
              <a:ext uri="{FF2B5EF4-FFF2-40B4-BE49-F238E27FC236}">
                <a16:creationId xmlns:a16="http://schemas.microsoft.com/office/drawing/2014/main" id="{D77343A0-33E8-6663-3650-D5DD5D5E0A7E}"/>
              </a:ext>
            </a:extLst>
          </p:cNvPr>
          <p:cNvSpPr>
            <a:spLocks noChangeAspect="1"/>
          </p:cNvSpPr>
          <p:nvPr/>
        </p:nvSpPr>
        <p:spPr>
          <a:xfrm>
            <a:off x="200472" y="1550951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9ADFC04E-BF5C-F6A5-660D-55C16E66DA82}"/>
              </a:ext>
            </a:extLst>
          </p:cNvPr>
          <p:cNvSpPr>
            <a:spLocks noChangeAspect="1"/>
          </p:cNvSpPr>
          <p:nvPr/>
        </p:nvSpPr>
        <p:spPr>
          <a:xfrm>
            <a:off x="5773339" y="5076180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6D861E88-05D3-4718-E378-ED495B7B6B91}"/>
              </a:ext>
            </a:extLst>
          </p:cNvPr>
          <p:cNvGrpSpPr/>
          <p:nvPr/>
        </p:nvGrpSpPr>
        <p:grpSpPr>
          <a:xfrm>
            <a:off x="1897884" y="2847629"/>
            <a:ext cx="2704513" cy="144016"/>
            <a:chOff x="1897884" y="2847629"/>
            <a:chExt cx="2704513" cy="144016"/>
          </a:xfrm>
        </p:grpSpPr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AFB008EE-B087-111E-659C-8748DFEBE8F2}"/>
                </a:ext>
              </a:extLst>
            </p:cNvPr>
            <p:cNvSpPr/>
            <p:nvPr/>
          </p:nvSpPr>
          <p:spPr>
            <a:xfrm>
              <a:off x="1897884" y="2847637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추천서</a:t>
              </a:r>
              <a:r>
                <a:rPr kumimoji="0" lang="en-US" altLang="ko-KR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429B00DE-E2AC-1946-05DA-7E7E2A9F784B}"/>
                </a:ext>
              </a:extLst>
            </p:cNvPr>
            <p:cNvSpPr/>
            <p:nvPr/>
          </p:nvSpPr>
          <p:spPr>
            <a:xfrm>
              <a:off x="3550882" y="2847629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제출</a:t>
              </a:r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ECD4BB99-CC2F-EA5A-0057-D7B5F72F1578}"/>
                </a:ext>
              </a:extLst>
            </p:cNvPr>
            <p:cNvSpPr/>
            <p:nvPr/>
          </p:nvSpPr>
          <p:spPr>
            <a:xfrm>
              <a:off x="3859392" y="2847629"/>
              <a:ext cx="264174" cy="144016"/>
            </a:xfrm>
            <a:prstGeom prst="rect">
              <a:avLst/>
            </a:prstGeom>
            <a:solidFill>
              <a:srgbClr val="66FF66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8575BADE-389D-A212-3508-A777DFAF6B95}"/>
                </a:ext>
              </a:extLst>
            </p:cNvPr>
            <p:cNvSpPr/>
            <p:nvPr/>
          </p:nvSpPr>
          <p:spPr>
            <a:xfrm>
              <a:off x="4176942" y="2847629"/>
              <a:ext cx="425455" cy="14401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양식받기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F57361AC-9D63-A42E-99D0-D2D1403202DB}"/>
              </a:ext>
            </a:extLst>
          </p:cNvPr>
          <p:cNvSpPr/>
          <p:nvPr/>
        </p:nvSpPr>
        <p:spPr>
          <a:xfrm>
            <a:off x="668524" y="2812709"/>
            <a:ext cx="6121214" cy="21600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27680C39-21FE-C530-CA3B-F20A54226FC0}"/>
              </a:ext>
            </a:extLst>
          </p:cNvPr>
          <p:cNvGrpSpPr/>
          <p:nvPr/>
        </p:nvGrpSpPr>
        <p:grpSpPr>
          <a:xfrm>
            <a:off x="1897884" y="4484757"/>
            <a:ext cx="2386963" cy="144016"/>
            <a:chOff x="1897884" y="4476806"/>
            <a:chExt cx="2386963" cy="144016"/>
          </a:xfrm>
        </p:grpSpPr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CB375965-F635-D1B8-4545-2F83BD66C4A3}"/>
                </a:ext>
              </a:extLst>
            </p:cNvPr>
            <p:cNvSpPr/>
            <p:nvPr/>
          </p:nvSpPr>
          <p:spPr>
            <a:xfrm>
              <a:off x="1897884" y="4476814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253AFA1C-089B-A4A3-0B4A-8A2571392B25}"/>
                </a:ext>
              </a:extLst>
            </p:cNvPr>
            <p:cNvSpPr/>
            <p:nvPr/>
          </p:nvSpPr>
          <p:spPr>
            <a:xfrm>
              <a:off x="3550882" y="4476806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추가</a:t>
              </a:r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93E437ED-4A9D-9629-A2FF-4B5F4991B313}"/>
                </a:ext>
              </a:extLst>
            </p:cNvPr>
            <p:cNvSpPr/>
            <p:nvPr/>
          </p:nvSpPr>
          <p:spPr>
            <a:xfrm>
              <a:off x="3859392" y="4476806"/>
              <a:ext cx="425455" cy="14401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양식받기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B8030AFA-06FC-2DF2-0DBC-7225A3989AD2}"/>
              </a:ext>
            </a:extLst>
          </p:cNvPr>
          <p:cNvSpPr/>
          <p:nvPr/>
        </p:nvSpPr>
        <p:spPr>
          <a:xfrm>
            <a:off x="668524" y="4449263"/>
            <a:ext cx="6121214" cy="21600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568163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E24E3-8F91-9FBE-F5BD-39CE38F52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FFFB9BE-5EA5-CFE1-A5B5-4515ACB32433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고등학생장학금 신청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471D3F1-2EA5-1A27-70BA-9E698620FD37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프로그램신청관리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고등학생장학금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장학금신청</a:t>
            </a: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BA9D7ECE-079B-D0F8-EB4C-6495C05465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8165513"/>
              </p:ext>
            </p:extLst>
          </p:nvPr>
        </p:nvGraphicFramePr>
        <p:xfrm>
          <a:off x="6969418" y="2548005"/>
          <a:ext cx="2772114" cy="3332019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프로그램신청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고등학생장학금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조회 화면 목록에서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신청하기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클릭 시 보이는 화면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전형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희망인재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전형별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보험료납입확인서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보험료납입확인서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납부액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부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모 합산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)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건강보험료 납부액을 직접 입력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첨부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제출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]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클릭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&gt;&gt;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제출 서류 파일 선택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&gt;&gt;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첨부완료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받기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] 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클릭 시 첨부된 제출 서류 파일 다운로드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추천서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첨부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제출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]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클릭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&gt;&gt;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제출 서류 파일 선택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&gt;&gt;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첨부완료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받기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] 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클릭 시 첨부된 제출 서류 파일 다운로드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양식받기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시 추천서 양식 파일을 다운 받는다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주민등록초본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거주기간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신청 회원의 거주기간을 입력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첨부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제출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제출 서류 파일 선택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첨부완료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받기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시 첨부된 제출 서류 파일 다운로드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첨부파일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성적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성적을 입력 한다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추가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] : 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추가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파일 선택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첨부 설정완료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파일받기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파일명 클릭 시 첨부된 파일 다운로드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[x]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 첨부된 해당 파일 삭제 처리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양식받기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시 추천서 양식 파일을 다운 받는다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46E462D5-9366-2D3E-1312-1201D3E3E6F0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pah_application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CFEA694-DFCC-BDBE-70D7-E6CE5DBAC2D3}"/>
              </a:ext>
            </a:extLst>
          </p:cNvPr>
          <p:cNvSpPr/>
          <p:nvPr/>
        </p:nvSpPr>
        <p:spPr>
          <a:xfrm>
            <a:off x="165100" y="1376363"/>
            <a:ext cx="6732116" cy="460414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2AC56C6-BED0-A3F0-B251-469C0E60C648}"/>
              </a:ext>
            </a:extLst>
          </p:cNvPr>
          <p:cNvSpPr/>
          <p:nvPr/>
        </p:nvSpPr>
        <p:spPr>
          <a:xfrm>
            <a:off x="6397011" y="5382637"/>
            <a:ext cx="392727" cy="19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목록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D67A5B9-1D9B-42EC-4343-1920C6D908CE}"/>
              </a:ext>
            </a:extLst>
          </p:cNvPr>
          <p:cNvSpPr/>
          <p:nvPr/>
        </p:nvSpPr>
        <p:spPr>
          <a:xfrm>
            <a:off x="5936915" y="5382637"/>
            <a:ext cx="392727" cy="198000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신청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43FD048-3B09-12AD-93E8-244ACDDFD82F}"/>
              </a:ext>
            </a:extLst>
          </p:cNvPr>
          <p:cNvSpPr/>
          <p:nvPr/>
        </p:nvSpPr>
        <p:spPr>
          <a:xfrm>
            <a:off x="292846" y="1448780"/>
            <a:ext cx="1202252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800" b="1" dirty="0">
                <a:solidFill>
                  <a:prstClr val="black"/>
                </a:solidFill>
              </a:rPr>
              <a:t>고등학생 장학금 신청정보</a:t>
            </a:r>
          </a:p>
        </p:txBody>
      </p:sp>
      <p:sp>
        <p:nvSpPr>
          <p:cNvPr id="169" name="직사각형 168">
            <a:extLst>
              <a:ext uri="{FF2B5EF4-FFF2-40B4-BE49-F238E27FC236}">
                <a16:creationId xmlns:a16="http://schemas.microsoft.com/office/drawing/2014/main" id="{7D6CCA1B-054C-B077-B351-546F74B565D9}"/>
              </a:ext>
            </a:extLst>
          </p:cNvPr>
          <p:cNvSpPr/>
          <p:nvPr/>
        </p:nvSpPr>
        <p:spPr>
          <a:xfrm>
            <a:off x="165100" y="6023481"/>
            <a:ext cx="6732116" cy="46622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70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82D6F0B3-33A4-F9FE-6C9E-DE1605E201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6165304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1" name="TextBox 170">
            <a:extLst>
              <a:ext uri="{FF2B5EF4-FFF2-40B4-BE49-F238E27FC236}">
                <a16:creationId xmlns:a16="http://schemas.microsoft.com/office/drawing/2014/main" id="{A6553F09-84AB-B846-9AD4-F6966CA17209}"/>
              </a:ext>
            </a:extLst>
          </p:cNvPr>
          <p:cNvSpPr txBox="1"/>
          <p:nvPr/>
        </p:nvSpPr>
        <p:spPr>
          <a:xfrm>
            <a:off x="1172580" y="6077394"/>
            <a:ext cx="31242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경기 오산시 성호대로 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141 (</a:t>
            </a:r>
            <a:r>
              <a:rPr lang="ko-KR" altLang="en-US" sz="600" b="0" i="0" dirty="0" err="1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오산동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오산시청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오산교육재단</a:t>
            </a:r>
            <a:endParaRPr lang="en-US" altLang="ko-KR" sz="600" b="0" i="0" dirty="0">
              <a:solidFill>
                <a:srgbClr val="666666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>
              <a:buNone/>
            </a:pP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TEL. (031)8036-8905 FAX. (031)8036-8905</a:t>
            </a:r>
          </a:p>
          <a:p>
            <a:pPr algn="l">
              <a:buNone/>
            </a:pP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Copyright©2025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오산교육재단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 ALL RIGHTSRESERVED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61B1F90-E4DB-529A-3002-F040DAD7DD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078935"/>
              </p:ext>
            </p:extLst>
          </p:nvPr>
        </p:nvGraphicFramePr>
        <p:xfrm>
          <a:off x="273050" y="1709042"/>
          <a:ext cx="6516688" cy="3521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54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3668863434"/>
                    </a:ext>
                  </a:extLst>
                </a:gridCol>
                <a:gridCol w="48250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구분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고등학생 장학금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894265"/>
                  </a:ext>
                </a:extLst>
              </a:tr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</a:t>
                      </a:r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하반기 고등학생 장학금 신청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접수기간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2025.09.20 10:00 </a:t>
                      </a:r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~ 2025.09.30 10:00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전형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4735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전형별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보험료납입확인서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2230354"/>
                  </a:ext>
                </a:extLst>
              </a:tr>
              <a:tr h="234735">
                <a:tc rowSpan="10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공통 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추천서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주민등록초본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1958612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주민등록등본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164179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성적증빙자료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2108985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국민기초생활보장수급자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차상위계층확인서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한부모가족보호대상확인서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장애인증명서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첨부파일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8089092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8418894"/>
                  </a:ext>
                </a:extLst>
              </a:tr>
            </a:tbl>
          </a:graphicData>
        </a:graphic>
      </p:graphicFrame>
      <p:grpSp>
        <p:nvGrpSpPr>
          <p:cNvPr id="3" name="그룹 2">
            <a:extLst>
              <a:ext uri="{FF2B5EF4-FFF2-40B4-BE49-F238E27FC236}">
                <a16:creationId xmlns:a16="http://schemas.microsoft.com/office/drawing/2014/main" id="{B833F009-3E19-7CA5-0B0B-1D9022A358C8}"/>
              </a:ext>
            </a:extLst>
          </p:cNvPr>
          <p:cNvGrpSpPr/>
          <p:nvPr/>
        </p:nvGrpSpPr>
        <p:grpSpPr>
          <a:xfrm>
            <a:off x="3149151" y="2460336"/>
            <a:ext cx="595518" cy="144462"/>
            <a:chOff x="2716253" y="2405617"/>
            <a:chExt cx="595518" cy="144462"/>
          </a:xfrm>
        </p:grpSpPr>
        <p:sp>
          <p:nvSpPr>
            <p:cNvPr id="4" name="Rectangle 191">
              <a:extLst>
                <a:ext uri="{FF2B5EF4-FFF2-40B4-BE49-F238E27FC236}">
                  <a16:creationId xmlns:a16="http://schemas.microsoft.com/office/drawing/2014/main" id="{6EA1F30D-5EAC-6FAE-D96D-3F85010B3D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448841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근로자자녀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graphicFrame>
          <p:nvGraphicFramePr>
            <p:cNvPr id="7" name="개체 6">
              <a:extLst>
                <a:ext uri="{FF2B5EF4-FFF2-40B4-BE49-F238E27FC236}">
                  <a16:creationId xmlns:a16="http://schemas.microsoft.com/office/drawing/2014/main" id="{42D65F00-FFD7-A3A3-D30D-9E6AC64E2B4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3" imgW="145435" imgH="145435" progId="Visio.Drawing.11">
                    <p:embed/>
                  </p:oleObj>
                </mc:Choice>
                <mc:Fallback>
                  <p:oleObj name="Visio" r:id="rId3" imgW="145435" imgH="145435" progId="Visio.Drawing.11">
                    <p:embed/>
                    <p:pic>
                      <p:nvPicPr>
                        <p:cNvPr id="1065" name="개체 1064">
                          <a:extLst>
                            <a:ext uri="{FF2B5EF4-FFF2-40B4-BE49-F238E27FC236}">
                              <a16:creationId xmlns:a16="http://schemas.microsoft.com/office/drawing/2014/main" id="{333D1F72-060C-2631-EC8E-87D4F24635F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2D275367-91CE-337B-55CF-FE91C2E93F60}"/>
              </a:ext>
            </a:extLst>
          </p:cNvPr>
          <p:cNvGrpSpPr/>
          <p:nvPr/>
        </p:nvGrpSpPr>
        <p:grpSpPr>
          <a:xfrm>
            <a:off x="3799435" y="2460336"/>
            <a:ext cx="775054" cy="144462"/>
            <a:chOff x="2716253" y="2405617"/>
            <a:chExt cx="775054" cy="144462"/>
          </a:xfrm>
        </p:grpSpPr>
        <p:sp>
          <p:nvSpPr>
            <p:cNvPr id="10" name="Rectangle 191">
              <a:extLst>
                <a:ext uri="{FF2B5EF4-FFF2-40B4-BE49-F238E27FC236}">
                  <a16:creationId xmlns:a16="http://schemas.microsoft.com/office/drawing/2014/main" id="{62C2ACA3-90B6-C416-8CEE-EEAC01ABC3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628377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다자녀가정자녀</a:t>
              </a:r>
            </a:p>
          </p:txBody>
        </p:sp>
        <p:graphicFrame>
          <p:nvGraphicFramePr>
            <p:cNvPr id="12" name="개체 11">
              <a:extLst>
                <a:ext uri="{FF2B5EF4-FFF2-40B4-BE49-F238E27FC236}">
                  <a16:creationId xmlns:a16="http://schemas.microsoft.com/office/drawing/2014/main" id="{F0D75DCC-B670-2721-DBE1-B863174EEBF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3" imgW="145435" imgH="145435" progId="Visio.Drawing.11">
                    <p:embed/>
                  </p:oleObj>
                </mc:Choice>
                <mc:Fallback>
                  <p:oleObj name="Visio" r:id="rId3" imgW="145435" imgH="145435" progId="Visio.Drawing.11">
                    <p:embed/>
                    <p:pic>
                      <p:nvPicPr>
                        <p:cNvPr id="1068" name="개체 1067">
                          <a:extLst>
                            <a:ext uri="{FF2B5EF4-FFF2-40B4-BE49-F238E27FC236}">
                              <a16:creationId xmlns:a16="http://schemas.microsoft.com/office/drawing/2014/main" id="{9A93E3F1-46D6-9AB6-B1AB-1B0F256017D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504B5ED0-307B-42E0-5CE0-8A8970F49E0C}"/>
              </a:ext>
            </a:extLst>
          </p:cNvPr>
          <p:cNvGrpSpPr/>
          <p:nvPr/>
        </p:nvGrpSpPr>
        <p:grpSpPr>
          <a:xfrm>
            <a:off x="4630096" y="2460336"/>
            <a:ext cx="775054" cy="144462"/>
            <a:chOff x="2716253" y="2405617"/>
            <a:chExt cx="775054" cy="144462"/>
          </a:xfrm>
        </p:grpSpPr>
        <p:sp>
          <p:nvSpPr>
            <p:cNvPr id="16" name="Rectangle 191">
              <a:extLst>
                <a:ext uri="{FF2B5EF4-FFF2-40B4-BE49-F238E27FC236}">
                  <a16:creationId xmlns:a16="http://schemas.microsoft.com/office/drawing/2014/main" id="{FCAE0A0B-32CC-A4D6-2B25-9007F8475B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628377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다문화가정자녀</a:t>
              </a:r>
            </a:p>
          </p:txBody>
        </p:sp>
        <p:graphicFrame>
          <p:nvGraphicFramePr>
            <p:cNvPr id="17" name="개체 16">
              <a:extLst>
                <a:ext uri="{FF2B5EF4-FFF2-40B4-BE49-F238E27FC236}">
                  <a16:creationId xmlns:a16="http://schemas.microsoft.com/office/drawing/2014/main" id="{B43666DC-5739-1BA6-8D64-AC343608E48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3" imgW="145435" imgH="145435" progId="Visio.Drawing.11">
                    <p:embed/>
                  </p:oleObj>
                </mc:Choice>
                <mc:Fallback>
                  <p:oleObj name="Visio" r:id="rId3" imgW="145435" imgH="145435" progId="Visio.Drawing.11">
                    <p:embed/>
                    <p:pic>
                      <p:nvPicPr>
                        <p:cNvPr id="1071" name="개체 1070">
                          <a:extLst>
                            <a:ext uri="{FF2B5EF4-FFF2-40B4-BE49-F238E27FC236}">
                              <a16:creationId xmlns:a16="http://schemas.microsoft.com/office/drawing/2014/main" id="{1D8EC5A0-B2EF-6E98-448E-50F48532B04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9333383-409F-17C2-3772-B0E4A657DBFE}"/>
              </a:ext>
            </a:extLst>
          </p:cNvPr>
          <p:cNvSpPr/>
          <p:nvPr/>
        </p:nvSpPr>
        <p:spPr>
          <a:xfrm>
            <a:off x="1995999" y="3393004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주민등록등본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5B8A6AC-43CF-F91E-B295-D2BD8C3F2D67}"/>
              </a:ext>
            </a:extLst>
          </p:cNvPr>
          <p:cNvSpPr/>
          <p:nvPr/>
        </p:nvSpPr>
        <p:spPr>
          <a:xfrm>
            <a:off x="3648997" y="3392996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0C2AF06-1501-B837-61F9-2E88A0211AC0}"/>
              </a:ext>
            </a:extLst>
          </p:cNvPr>
          <p:cNvSpPr/>
          <p:nvPr/>
        </p:nvSpPr>
        <p:spPr>
          <a:xfrm>
            <a:off x="1995999" y="3861056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CFAAEAD-B521-50CD-3154-C4E966704097}"/>
              </a:ext>
            </a:extLst>
          </p:cNvPr>
          <p:cNvSpPr/>
          <p:nvPr/>
        </p:nvSpPr>
        <p:spPr>
          <a:xfrm>
            <a:off x="3648997" y="3861048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52737D7-3225-48DF-B8D3-3ED27C7570B1}"/>
              </a:ext>
            </a:extLst>
          </p:cNvPr>
          <p:cNvSpPr/>
          <p:nvPr/>
        </p:nvSpPr>
        <p:spPr>
          <a:xfrm>
            <a:off x="1995999" y="4097182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A1EEEA7-E059-B90C-0833-684FBA3001D1}"/>
              </a:ext>
            </a:extLst>
          </p:cNvPr>
          <p:cNvSpPr/>
          <p:nvPr/>
        </p:nvSpPr>
        <p:spPr>
          <a:xfrm>
            <a:off x="3648997" y="4097174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70F9D81-2AD1-CCE9-4116-073DD3BC7DC4}"/>
              </a:ext>
            </a:extLst>
          </p:cNvPr>
          <p:cNvSpPr/>
          <p:nvPr/>
        </p:nvSpPr>
        <p:spPr>
          <a:xfrm>
            <a:off x="1995999" y="4337059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dirty="0" err="1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한부모가족보호대상확인서</a:t>
            </a:r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142AD35-241E-1593-7714-56BE45E8145F}"/>
              </a:ext>
            </a:extLst>
          </p:cNvPr>
          <p:cNvSpPr/>
          <p:nvPr/>
        </p:nvSpPr>
        <p:spPr>
          <a:xfrm>
            <a:off x="3648997" y="4337051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883CC34-C0FC-6476-0DB4-3F411BF81BE1}"/>
              </a:ext>
            </a:extLst>
          </p:cNvPr>
          <p:cNvSpPr/>
          <p:nvPr/>
        </p:nvSpPr>
        <p:spPr>
          <a:xfrm>
            <a:off x="1995999" y="4562416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장애인증명서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7A9A2BD-9060-05B8-FDF0-88F9A8C5E98D}"/>
              </a:ext>
            </a:extLst>
          </p:cNvPr>
          <p:cNvSpPr/>
          <p:nvPr/>
        </p:nvSpPr>
        <p:spPr>
          <a:xfrm>
            <a:off x="3648997" y="4562408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6CD3E493-E9DF-FB02-BE6F-919D52006996}"/>
              </a:ext>
            </a:extLst>
          </p:cNvPr>
          <p:cNvGrpSpPr/>
          <p:nvPr/>
        </p:nvGrpSpPr>
        <p:grpSpPr>
          <a:xfrm>
            <a:off x="2031280" y="5060458"/>
            <a:ext cx="1105196" cy="128396"/>
            <a:chOff x="3438680" y="4305150"/>
            <a:chExt cx="1105196" cy="128396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2BC22F3-F74E-0629-5E07-EC6133FBBAE6}"/>
                </a:ext>
              </a:extLst>
            </p:cNvPr>
            <p:cNvSpPr txBox="1"/>
            <p:nvPr/>
          </p:nvSpPr>
          <p:spPr>
            <a:xfrm>
              <a:off x="3438680" y="4305150"/>
              <a:ext cx="971420" cy="10772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신청 관련 부가 서류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39" name="Picture 10">
              <a:extLst>
                <a:ext uri="{FF2B5EF4-FFF2-40B4-BE49-F238E27FC236}">
                  <a16:creationId xmlns:a16="http://schemas.microsoft.com/office/drawing/2014/main" id="{1BB055A6-798B-556A-AB6E-7FBC0211E96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7418" y="4312303"/>
              <a:ext cx="106458" cy="121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03F1826D-8C2D-D9CB-D659-D8FCB5B72C16}"/>
              </a:ext>
            </a:extLst>
          </p:cNvPr>
          <p:cNvGrpSpPr/>
          <p:nvPr/>
        </p:nvGrpSpPr>
        <p:grpSpPr>
          <a:xfrm>
            <a:off x="3217693" y="5060458"/>
            <a:ext cx="1105196" cy="128396"/>
            <a:chOff x="3438680" y="4305150"/>
            <a:chExt cx="1105196" cy="128396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35E3859-F9E2-B7C3-2EA7-3F8455A7EDA7}"/>
                </a:ext>
              </a:extLst>
            </p:cNvPr>
            <p:cNvSpPr txBox="1"/>
            <p:nvPr/>
          </p:nvSpPr>
          <p:spPr>
            <a:xfrm>
              <a:off x="3438680" y="4305150"/>
              <a:ext cx="971420" cy="10772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신청 관련 부가 서류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42" name="Picture 10">
              <a:extLst>
                <a:ext uri="{FF2B5EF4-FFF2-40B4-BE49-F238E27FC236}">
                  <a16:creationId xmlns:a16="http://schemas.microsoft.com/office/drawing/2014/main" id="{323AE2B0-7CF4-385A-C848-695A57FA9D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7418" y="4312303"/>
              <a:ext cx="106458" cy="121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35CD7EA7-587A-D401-2048-363B006457D0}"/>
              </a:ext>
            </a:extLst>
          </p:cNvPr>
          <p:cNvGrpSpPr/>
          <p:nvPr/>
        </p:nvGrpSpPr>
        <p:grpSpPr>
          <a:xfrm>
            <a:off x="1990953" y="2460336"/>
            <a:ext cx="505750" cy="144462"/>
            <a:chOff x="2716253" y="2405617"/>
            <a:chExt cx="505750" cy="144462"/>
          </a:xfrm>
        </p:grpSpPr>
        <p:sp>
          <p:nvSpPr>
            <p:cNvPr id="44" name="Rectangle 191">
              <a:extLst>
                <a:ext uri="{FF2B5EF4-FFF2-40B4-BE49-F238E27FC236}">
                  <a16:creationId xmlns:a16="http://schemas.microsoft.com/office/drawing/2014/main" id="{6D7151F7-A93B-027E-D7A4-5DA54A1192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359073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우수인재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graphicFrame>
          <p:nvGraphicFramePr>
            <p:cNvPr id="46" name="개체 45">
              <a:extLst>
                <a:ext uri="{FF2B5EF4-FFF2-40B4-BE49-F238E27FC236}">
                  <a16:creationId xmlns:a16="http://schemas.microsoft.com/office/drawing/2014/main" id="{030D45C8-C4A7-0EE9-CD49-8B39B63ABC5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3" imgW="145435" imgH="145435" progId="Visio.Drawing.11">
                    <p:embed/>
                  </p:oleObj>
                </mc:Choice>
                <mc:Fallback>
                  <p:oleObj name="Visio" r:id="rId3" imgW="145435" imgH="145435" progId="Visio.Drawing.11">
                    <p:embed/>
                    <p:pic>
                      <p:nvPicPr>
                        <p:cNvPr id="11" name="개체 10">
                          <a:extLst>
                            <a:ext uri="{FF2B5EF4-FFF2-40B4-BE49-F238E27FC236}">
                              <a16:creationId xmlns:a16="http://schemas.microsoft.com/office/drawing/2014/main" id="{A272BC07-8AF9-15C5-EFA5-A3D5844971E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5F355B14-613B-F842-D46D-17118FBF60C7}"/>
              </a:ext>
            </a:extLst>
          </p:cNvPr>
          <p:cNvGrpSpPr/>
          <p:nvPr/>
        </p:nvGrpSpPr>
        <p:grpSpPr>
          <a:xfrm>
            <a:off x="2576170" y="2466222"/>
            <a:ext cx="506433" cy="144463"/>
            <a:chOff x="3327015" y="1527346"/>
            <a:chExt cx="506433" cy="144463"/>
          </a:xfrm>
        </p:grpSpPr>
        <p:sp>
          <p:nvSpPr>
            <p:cNvPr id="48" name="Rectangle 191">
              <a:extLst>
                <a:ext uri="{FF2B5EF4-FFF2-40B4-BE49-F238E27FC236}">
                  <a16:creationId xmlns:a16="http://schemas.microsoft.com/office/drawing/2014/main" id="{05A32259-18DF-C7AB-FD45-7D43FB0222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4375" y="1539830"/>
              <a:ext cx="359073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희망인재</a:t>
              </a:r>
            </a:p>
          </p:txBody>
        </p:sp>
        <p:graphicFrame>
          <p:nvGraphicFramePr>
            <p:cNvPr id="49" name="개체 48">
              <a:extLst>
                <a:ext uri="{FF2B5EF4-FFF2-40B4-BE49-F238E27FC236}">
                  <a16:creationId xmlns:a16="http://schemas.microsoft.com/office/drawing/2014/main" id="{59EBCB00-F7A4-2245-BBF1-C2C99CA9D24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27015" y="1527346"/>
            <a:ext cx="144462" cy="144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6" imgW="145435" imgH="145435" progId="Visio.Drawing.11">
                    <p:embed/>
                  </p:oleObj>
                </mc:Choice>
                <mc:Fallback>
                  <p:oleObj name="Visio" r:id="rId6" imgW="145435" imgH="145435" progId="Visio.Drawing.11">
                    <p:embed/>
                    <p:pic>
                      <p:nvPicPr>
                        <p:cNvPr id="14" name="개체 13">
                          <a:extLst>
                            <a:ext uri="{FF2B5EF4-FFF2-40B4-BE49-F238E27FC236}">
                              <a16:creationId xmlns:a16="http://schemas.microsoft.com/office/drawing/2014/main" id="{80947C2A-545F-3071-F3AE-4DF9C78E668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27015" y="1527346"/>
                          <a:ext cx="144462" cy="1444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A16968B8-73DA-A91A-D781-E297CEEAF1C6}"/>
              </a:ext>
            </a:extLst>
          </p:cNvPr>
          <p:cNvSpPr/>
          <p:nvPr/>
        </p:nvSpPr>
        <p:spPr>
          <a:xfrm>
            <a:off x="1995999" y="3629130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성적증빙자료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.zip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5B678467-BE91-968C-C6DE-CACCBAC521B0}"/>
              </a:ext>
            </a:extLst>
          </p:cNvPr>
          <p:cNvSpPr/>
          <p:nvPr/>
        </p:nvSpPr>
        <p:spPr>
          <a:xfrm>
            <a:off x="3648997" y="3629122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4052994A-5CD1-C306-918F-878CFB5930F2}"/>
              </a:ext>
            </a:extLst>
          </p:cNvPr>
          <p:cNvSpPr/>
          <p:nvPr/>
        </p:nvSpPr>
        <p:spPr>
          <a:xfrm>
            <a:off x="3957404" y="3389504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1A7CE632-EBA9-3FC4-FC1A-5EEA0F31167D}"/>
              </a:ext>
            </a:extLst>
          </p:cNvPr>
          <p:cNvSpPr/>
          <p:nvPr/>
        </p:nvSpPr>
        <p:spPr>
          <a:xfrm>
            <a:off x="3957404" y="3624002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418D21DE-DDD0-6237-5093-D0A038D31CAD}"/>
              </a:ext>
            </a:extLst>
          </p:cNvPr>
          <p:cNvSpPr/>
          <p:nvPr/>
        </p:nvSpPr>
        <p:spPr>
          <a:xfrm>
            <a:off x="3957404" y="3861048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0E5D67DD-4CE5-E0AE-ADC8-586237A8240E}"/>
              </a:ext>
            </a:extLst>
          </p:cNvPr>
          <p:cNvSpPr/>
          <p:nvPr/>
        </p:nvSpPr>
        <p:spPr>
          <a:xfrm>
            <a:off x="3957404" y="4097174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59B72A44-25AF-7EE9-D56A-12F50C8C24CE}"/>
              </a:ext>
            </a:extLst>
          </p:cNvPr>
          <p:cNvSpPr/>
          <p:nvPr/>
        </p:nvSpPr>
        <p:spPr>
          <a:xfrm>
            <a:off x="3957404" y="4334844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916A90D7-F882-0BE0-0BCE-921A8DF4F417}"/>
              </a:ext>
            </a:extLst>
          </p:cNvPr>
          <p:cNvSpPr/>
          <p:nvPr/>
        </p:nvSpPr>
        <p:spPr>
          <a:xfrm>
            <a:off x="3957404" y="4560528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1CE4E6E3-1435-5D74-EBDC-E41D7A942242}"/>
              </a:ext>
            </a:extLst>
          </p:cNvPr>
          <p:cNvSpPr/>
          <p:nvPr/>
        </p:nvSpPr>
        <p:spPr>
          <a:xfrm>
            <a:off x="3008403" y="3157917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주민등록초본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8614CFF6-7A1D-CA16-8C9A-7A4737B8338B}"/>
              </a:ext>
            </a:extLst>
          </p:cNvPr>
          <p:cNvSpPr/>
          <p:nvPr/>
        </p:nvSpPr>
        <p:spPr>
          <a:xfrm>
            <a:off x="4661401" y="3157909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522E9C8D-5642-1383-E83A-38657037F88D}"/>
              </a:ext>
            </a:extLst>
          </p:cNvPr>
          <p:cNvSpPr/>
          <p:nvPr/>
        </p:nvSpPr>
        <p:spPr>
          <a:xfrm>
            <a:off x="4969808" y="3157901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</a:p>
        </p:txBody>
      </p:sp>
      <p:sp>
        <p:nvSpPr>
          <p:cNvPr id="69" name="Rectangle 191">
            <a:extLst>
              <a:ext uri="{FF2B5EF4-FFF2-40B4-BE49-F238E27FC236}">
                <a16:creationId xmlns:a16="http://schemas.microsoft.com/office/drawing/2014/main" id="{3B33C1CF-4E82-D01D-3760-BB5F33C613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7049" y="3166873"/>
            <a:ext cx="17953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첨부</a:t>
            </a:r>
          </a:p>
        </p:txBody>
      </p:sp>
      <p:sp>
        <p:nvSpPr>
          <p:cNvPr id="70" name="Rectangle 191">
            <a:extLst>
              <a:ext uri="{FF2B5EF4-FFF2-40B4-BE49-F238E27FC236}">
                <a16:creationId xmlns:a16="http://schemas.microsoft.com/office/drawing/2014/main" id="{5E3B2143-891D-10DB-4DCB-12771B1C4F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1811" y="3175250"/>
            <a:ext cx="359073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거주기간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C2EF030C-F6D1-ECD0-1A92-50BC99E3574A}"/>
              </a:ext>
            </a:extLst>
          </p:cNvPr>
          <p:cNvSpPr/>
          <p:nvPr/>
        </p:nvSpPr>
        <p:spPr>
          <a:xfrm>
            <a:off x="2385143" y="3153892"/>
            <a:ext cx="36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년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37641B82-BC55-330E-E725-647C07067763}"/>
              </a:ext>
            </a:extLst>
          </p:cNvPr>
          <p:cNvSpPr>
            <a:spLocks noChangeAspect="1"/>
          </p:cNvSpPr>
          <p:nvPr/>
        </p:nvSpPr>
        <p:spPr>
          <a:xfrm>
            <a:off x="2823446" y="2315512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BA45F5A0-897E-ABC5-428E-40BD0BF3D6A3}"/>
              </a:ext>
            </a:extLst>
          </p:cNvPr>
          <p:cNvSpPr>
            <a:spLocks noChangeAspect="1"/>
          </p:cNvSpPr>
          <p:nvPr/>
        </p:nvSpPr>
        <p:spPr>
          <a:xfrm>
            <a:off x="512127" y="2689064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AC80C5DD-D258-2D44-C17F-F74038A1E6A9}"/>
              </a:ext>
            </a:extLst>
          </p:cNvPr>
          <p:cNvSpPr>
            <a:spLocks noChangeAspect="1"/>
          </p:cNvSpPr>
          <p:nvPr/>
        </p:nvSpPr>
        <p:spPr>
          <a:xfrm>
            <a:off x="512127" y="3148734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E40DD9CC-2575-3C25-02B4-A85CA59C1E32}"/>
              </a:ext>
            </a:extLst>
          </p:cNvPr>
          <p:cNvGrpSpPr/>
          <p:nvPr/>
        </p:nvGrpSpPr>
        <p:grpSpPr>
          <a:xfrm>
            <a:off x="1992268" y="2687952"/>
            <a:ext cx="3660710" cy="144016"/>
            <a:chOff x="2008170" y="2687952"/>
            <a:chExt cx="3660710" cy="144016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3DF72B45-8443-8D82-6054-E2610444C541}"/>
                </a:ext>
              </a:extLst>
            </p:cNvPr>
            <p:cNvSpPr/>
            <p:nvPr/>
          </p:nvSpPr>
          <p:spPr>
            <a:xfrm>
              <a:off x="3443301" y="2687960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보험료납입확인서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36EFA0AF-DB74-BA03-B123-1E85ED6B47CA}"/>
                </a:ext>
              </a:extLst>
            </p:cNvPr>
            <p:cNvSpPr/>
            <p:nvPr/>
          </p:nvSpPr>
          <p:spPr>
            <a:xfrm>
              <a:off x="5096299" y="2687952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제출</a:t>
              </a:r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20EF9DB7-FAD7-2412-C5A4-624789D8FF60}"/>
                </a:ext>
              </a:extLst>
            </p:cNvPr>
            <p:cNvSpPr/>
            <p:nvPr/>
          </p:nvSpPr>
          <p:spPr>
            <a:xfrm>
              <a:off x="5404706" y="2687952"/>
              <a:ext cx="264174" cy="144016"/>
            </a:xfrm>
            <a:prstGeom prst="rect">
              <a:avLst/>
            </a:prstGeom>
            <a:solidFill>
              <a:srgbClr val="66FF66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받기</a:t>
              </a:r>
            </a:p>
          </p:txBody>
        </p:sp>
        <p:sp>
          <p:nvSpPr>
            <p:cNvPr id="65" name="Rectangle 191">
              <a:extLst>
                <a:ext uri="{FF2B5EF4-FFF2-40B4-BE49-F238E27FC236}">
                  <a16:creationId xmlns:a16="http://schemas.microsoft.com/office/drawing/2014/main" id="{57283751-777D-512D-C078-CCF29FF8E4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1673" y="2706099"/>
              <a:ext cx="179536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첨부</a:t>
              </a:r>
            </a:p>
          </p:txBody>
        </p:sp>
        <p:sp>
          <p:nvSpPr>
            <p:cNvPr id="24" name="Rectangle 191">
              <a:extLst>
                <a:ext uri="{FF2B5EF4-FFF2-40B4-BE49-F238E27FC236}">
                  <a16:creationId xmlns:a16="http://schemas.microsoft.com/office/drawing/2014/main" id="{19A9EE20-6C82-9E73-E543-0EEA50DCD8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8170" y="2706099"/>
              <a:ext cx="750205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700" kern="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납부액</a:t>
              </a:r>
              <a:r>
                <a:rPr lang="en-US" altLang="ko-KR" sz="700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700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부</a:t>
              </a:r>
              <a:r>
                <a:rPr lang="en-US" altLang="ko-KR" sz="700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700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모 합산</a:t>
              </a:r>
              <a:r>
                <a:rPr lang="en-US" altLang="ko-KR" sz="700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D16B532B-3FF5-7CEA-4E68-43AE0A4A8ED6}"/>
                </a:ext>
              </a:extLst>
            </p:cNvPr>
            <p:cNvSpPr/>
            <p:nvPr/>
          </p:nvSpPr>
          <p:spPr>
            <a:xfrm>
              <a:off x="2784941" y="2687960"/>
              <a:ext cx="432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dirty="0">
                  <a:solidFill>
                    <a:prstClr val="black">
                      <a:lumMod val="95000"/>
                      <a:lumOff val="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30,000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BF9891DA-19C4-14C4-3CDA-850FF676D8BF}"/>
              </a:ext>
            </a:extLst>
          </p:cNvPr>
          <p:cNvSpPr/>
          <p:nvPr/>
        </p:nvSpPr>
        <p:spPr>
          <a:xfrm>
            <a:off x="668524" y="2652814"/>
            <a:ext cx="6121214" cy="471084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540CFD56-3DE5-562D-5DF4-4DCF27BD96E5}"/>
              </a:ext>
            </a:extLst>
          </p:cNvPr>
          <p:cNvGrpSpPr/>
          <p:nvPr/>
        </p:nvGrpSpPr>
        <p:grpSpPr>
          <a:xfrm>
            <a:off x="1992820" y="2928695"/>
            <a:ext cx="2704513" cy="144016"/>
            <a:chOff x="1897884" y="2847629"/>
            <a:chExt cx="2704513" cy="144016"/>
          </a:xfrm>
        </p:grpSpPr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1545F65B-5BE5-1A3E-377E-4BC8B8EEECAE}"/>
                </a:ext>
              </a:extLst>
            </p:cNvPr>
            <p:cNvSpPr/>
            <p:nvPr/>
          </p:nvSpPr>
          <p:spPr>
            <a:xfrm>
              <a:off x="1897884" y="2847637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추천서</a:t>
              </a:r>
              <a:r>
                <a:rPr kumimoji="0" lang="en-US" altLang="ko-KR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DB942D85-4D67-8FC9-C396-CF6DF38D9DD7}"/>
                </a:ext>
              </a:extLst>
            </p:cNvPr>
            <p:cNvSpPr/>
            <p:nvPr/>
          </p:nvSpPr>
          <p:spPr>
            <a:xfrm>
              <a:off x="3550882" y="2847629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제출</a:t>
              </a:r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C9988736-A267-BCB2-8520-EC2E31D7BF49}"/>
                </a:ext>
              </a:extLst>
            </p:cNvPr>
            <p:cNvSpPr/>
            <p:nvPr/>
          </p:nvSpPr>
          <p:spPr>
            <a:xfrm>
              <a:off x="3859392" y="2847629"/>
              <a:ext cx="264174" cy="144016"/>
            </a:xfrm>
            <a:prstGeom prst="rect">
              <a:avLst/>
            </a:prstGeom>
            <a:solidFill>
              <a:srgbClr val="66FF66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F72C15DF-86AC-3367-D16D-172B51E91089}"/>
                </a:ext>
              </a:extLst>
            </p:cNvPr>
            <p:cNvSpPr/>
            <p:nvPr/>
          </p:nvSpPr>
          <p:spPr>
            <a:xfrm>
              <a:off x="4176942" y="2847629"/>
              <a:ext cx="425455" cy="14401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양식받기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4B8D0159-CEFA-ECC4-99CC-2CE9F2E75FE1}"/>
              </a:ext>
            </a:extLst>
          </p:cNvPr>
          <p:cNvSpPr/>
          <p:nvPr/>
        </p:nvSpPr>
        <p:spPr>
          <a:xfrm>
            <a:off x="668524" y="4769123"/>
            <a:ext cx="6121214" cy="21600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3" name="타원 92">
            <a:extLst>
              <a:ext uri="{FF2B5EF4-FFF2-40B4-BE49-F238E27FC236}">
                <a16:creationId xmlns:a16="http://schemas.microsoft.com/office/drawing/2014/main" id="{AAE4DD57-7BD6-40A3-F326-B8D156A4224B}"/>
              </a:ext>
            </a:extLst>
          </p:cNvPr>
          <p:cNvSpPr>
            <a:spLocks noChangeAspect="1"/>
          </p:cNvSpPr>
          <p:nvPr/>
        </p:nvSpPr>
        <p:spPr>
          <a:xfrm>
            <a:off x="512127" y="4800927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82CC901F-3080-B7D3-01E9-D1CA248AF701}"/>
              </a:ext>
            </a:extLst>
          </p:cNvPr>
          <p:cNvSpPr>
            <a:spLocks noChangeAspect="1"/>
          </p:cNvSpPr>
          <p:nvPr/>
        </p:nvSpPr>
        <p:spPr>
          <a:xfrm>
            <a:off x="512127" y="2927306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29764DC3-7C3F-1C9C-4F55-E73F9B9A4A15}"/>
              </a:ext>
            </a:extLst>
          </p:cNvPr>
          <p:cNvGrpSpPr/>
          <p:nvPr/>
        </p:nvGrpSpPr>
        <p:grpSpPr>
          <a:xfrm>
            <a:off x="2011811" y="4800927"/>
            <a:ext cx="3233421" cy="147760"/>
            <a:chOff x="2011811" y="4800927"/>
            <a:chExt cx="3233421" cy="147760"/>
          </a:xfrm>
        </p:grpSpPr>
        <p:grpSp>
          <p:nvGrpSpPr>
            <p:cNvPr id="87" name="그룹 86">
              <a:extLst>
                <a:ext uri="{FF2B5EF4-FFF2-40B4-BE49-F238E27FC236}">
                  <a16:creationId xmlns:a16="http://schemas.microsoft.com/office/drawing/2014/main" id="{049C9915-98A0-000C-9691-E9D4D4915707}"/>
                </a:ext>
              </a:extLst>
            </p:cNvPr>
            <p:cNvGrpSpPr/>
            <p:nvPr/>
          </p:nvGrpSpPr>
          <p:grpSpPr>
            <a:xfrm>
              <a:off x="2858269" y="4804671"/>
              <a:ext cx="2386963" cy="144016"/>
              <a:chOff x="1897884" y="4476806"/>
              <a:chExt cx="2386963" cy="144016"/>
            </a:xfrm>
          </p:grpSpPr>
          <p:sp>
            <p:nvSpPr>
              <p:cNvPr id="88" name="직사각형 87">
                <a:extLst>
                  <a:ext uri="{FF2B5EF4-FFF2-40B4-BE49-F238E27FC236}">
                    <a16:creationId xmlns:a16="http://schemas.microsoft.com/office/drawing/2014/main" id="{8C6E9374-2EBF-37D9-0308-EFD2A28FB8BB}"/>
                  </a:ext>
                </a:extLst>
              </p:cNvPr>
              <p:cNvSpPr/>
              <p:nvPr/>
            </p:nvSpPr>
            <p:spPr>
              <a:xfrm>
                <a:off x="1897884" y="4476814"/>
                <a:ext cx="1620000" cy="144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36000" rIns="36000" rtlCol="0" anchor="ctr"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89" name="직사각형 88">
                <a:extLst>
                  <a:ext uri="{FF2B5EF4-FFF2-40B4-BE49-F238E27FC236}">
                    <a16:creationId xmlns:a16="http://schemas.microsoft.com/office/drawing/2014/main" id="{42446671-F51B-FEB7-8CF4-59E9F0F2733D}"/>
                  </a:ext>
                </a:extLst>
              </p:cNvPr>
              <p:cNvSpPr/>
              <p:nvPr/>
            </p:nvSpPr>
            <p:spPr>
              <a:xfrm>
                <a:off x="3550882" y="4476806"/>
                <a:ext cx="264174" cy="144016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추가</a:t>
                </a:r>
              </a:p>
            </p:txBody>
          </p:sp>
          <p:sp>
            <p:nvSpPr>
              <p:cNvPr id="90" name="직사각형 89">
                <a:extLst>
                  <a:ext uri="{FF2B5EF4-FFF2-40B4-BE49-F238E27FC236}">
                    <a16:creationId xmlns:a16="http://schemas.microsoft.com/office/drawing/2014/main" id="{D0D3AF88-65FB-92B4-2837-9CC7C6951667}"/>
                  </a:ext>
                </a:extLst>
              </p:cNvPr>
              <p:cNvSpPr/>
              <p:nvPr/>
            </p:nvSpPr>
            <p:spPr>
              <a:xfrm>
                <a:off x="3859392" y="4476806"/>
                <a:ext cx="425455" cy="144016"/>
              </a:xfrm>
              <a:prstGeom prst="rect">
                <a:avLst/>
              </a:prstGeom>
              <a:solidFill>
                <a:srgbClr val="FFFF00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7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양식받기</a:t>
                </a:r>
                <a:endPara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97" name="Rectangle 191">
              <a:extLst>
                <a:ext uri="{FF2B5EF4-FFF2-40B4-BE49-F238E27FC236}">
                  <a16:creationId xmlns:a16="http://schemas.microsoft.com/office/drawing/2014/main" id="{9C4FBCE5-5CDA-AB81-139D-9A1B4B8837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1811" y="4819066"/>
              <a:ext cx="179536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성적</a:t>
              </a:r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0CE8FE58-CBCC-16B3-C188-68A6C07E2C9F}"/>
                </a:ext>
              </a:extLst>
            </p:cNvPr>
            <p:cNvSpPr/>
            <p:nvPr/>
          </p:nvSpPr>
          <p:spPr>
            <a:xfrm>
              <a:off x="2216445" y="4800927"/>
              <a:ext cx="36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4.5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9" name="Rectangle 191">
              <a:extLst>
                <a:ext uri="{FF2B5EF4-FFF2-40B4-BE49-F238E27FC236}">
                  <a16:creationId xmlns:a16="http://schemas.microsoft.com/office/drawing/2014/main" id="{6277A96E-6011-E4AF-4903-A1B5E0A428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0882" y="4819066"/>
              <a:ext cx="179536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첨부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199726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C5706-6E4F-3A0E-D6B7-3BD830CF8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388EA89-88A8-7E15-81C4-462C86EBFDC3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고등학생장학금 신청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33DDBCC-193B-006E-480B-2DD697FEE50A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프로그램신청관리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고등학생장학금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장학금신청</a:t>
            </a: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F0CD79AB-B2C6-0A0A-5101-D4113FF9E3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7104899"/>
              </p:ext>
            </p:extLst>
          </p:nvPr>
        </p:nvGraphicFramePr>
        <p:xfrm>
          <a:off x="6969418" y="2548005"/>
          <a:ext cx="2772114" cy="3281219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프로그램신청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고등학생장학금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조회 화면 목록에서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신청하기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클릭 시 보이는 화면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전형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근로자자녀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전형별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기업체 재직 증명서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가족관계증명서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한국노총오산시지부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장학생 추천서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기업체 재직 증명서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재직기간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신청 회원 부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모의 재직기간을 입력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첨부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제출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제출 서류 파일 선택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첨부완료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받기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시 첨부된 제출 서류 파일 다운로드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가족관계증명서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가족인원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신청 회원의 가족인원 수를 입력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첨부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제출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제출 서류 파일 선택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첨부완료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받기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시 첨부된 제출 서류 파일 다운로드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추천서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첨부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제출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]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클릭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&gt;&gt;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제출 서류 파일 선택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&gt;&gt;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첨부완료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받기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] 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클릭 시 첨부된 제출 서류 파일 다운로드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양식받기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시 추천서 양식 파일을 다운 받는다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주민등록초본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거주기간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신청 회원의 거주기간을 입력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첨부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제출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제출 서류 파일 선택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첨부완료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받기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시 첨부된 제출 서류 파일 다운로드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CCD260ED-52C5-C7E4-E0E4-B1FA102B10D8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pah_application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8621071-DD7D-5277-B376-283777C4EAED}"/>
              </a:ext>
            </a:extLst>
          </p:cNvPr>
          <p:cNvSpPr/>
          <p:nvPr/>
        </p:nvSpPr>
        <p:spPr>
          <a:xfrm>
            <a:off x="165100" y="1376363"/>
            <a:ext cx="6732116" cy="460414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544B31E-17B6-B2E5-0F5F-D2067D6F2B84}"/>
              </a:ext>
            </a:extLst>
          </p:cNvPr>
          <p:cNvSpPr/>
          <p:nvPr/>
        </p:nvSpPr>
        <p:spPr>
          <a:xfrm>
            <a:off x="292846" y="1448780"/>
            <a:ext cx="1202252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800" b="1" dirty="0">
                <a:solidFill>
                  <a:prstClr val="black"/>
                </a:solidFill>
              </a:rPr>
              <a:t>고등학생 장학금 신청정보</a:t>
            </a:r>
          </a:p>
        </p:txBody>
      </p:sp>
      <p:sp>
        <p:nvSpPr>
          <p:cNvPr id="169" name="직사각형 168">
            <a:extLst>
              <a:ext uri="{FF2B5EF4-FFF2-40B4-BE49-F238E27FC236}">
                <a16:creationId xmlns:a16="http://schemas.microsoft.com/office/drawing/2014/main" id="{91F97D01-5FA5-76B1-22CB-9BADD6B09CA6}"/>
              </a:ext>
            </a:extLst>
          </p:cNvPr>
          <p:cNvSpPr/>
          <p:nvPr/>
        </p:nvSpPr>
        <p:spPr>
          <a:xfrm>
            <a:off x="165100" y="6023481"/>
            <a:ext cx="6732116" cy="46622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70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52469F82-C4FD-F865-C1A9-E70914248C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6165304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1" name="TextBox 170">
            <a:extLst>
              <a:ext uri="{FF2B5EF4-FFF2-40B4-BE49-F238E27FC236}">
                <a16:creationId xmlns:a16="http://schemas.microsoft.com/office/drawing/2014/main" id="{260F977A-C7A2-3A29-B672-A37E206E99F5}"/>
              </a:ext>
            </a:extLst>
          </p:cNvPr>
          <p:cNvSpPr txBox="1"/>
          <p:nvPr/>
        </p:nvSpPr>
        <p:spPr>
          <a:xfrm>
            <a:off x="1172580" y="6077394"/>
            <a:ext cx="31242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경기 오산시 성호대로 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141 (</a:t>
            </a:r>
            <a:r>
              <a:rPr lang="ko-KR" altLang="en-US" sz="600" b="0" i="0" dirty="0" err="1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오산동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오산시청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오산교육재단</a:t>
            </a:r>
            <a:endParaRPr lang="en-US" altLang="ko-KR" sz="600" b="0" i="0" dirty="0">
              <a:solidFill>
                <a:srgbClr val="666666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>
              <a:buNone/>
            </a:pP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TEL. (031)8036-8905 FAX. (031)8036-8905</a:t>
            </a:r>
          </a:p>
          <a:p>
            <a:pPr algn="l">
              <a:buNone/>
            </a:pP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Copyright©2025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오산교육재단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 ALL RIGHTSRESERVED</a:t>
            </a: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A24C364D-BF0B-D1B1-7B1B-DE971A619A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7899429"/>
              </p:ext>
            </p:extLst>
          </p:nvPr>
        </p:nvGraphicFramePr>
        <p:xfrm>
          <a:off x="275976" y="1644308"/>
          <a:ext cx="6513760" cy="39904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5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8172">
                  <a:extLst>
                    <a:ext uri="{9D8B030D-6E8A-4147-A177-3AD203B41FA5}">
                      <a16:colId xmlns:a16="http://schemas.microsoft.com/office/drawing/2014/main" val="3668863434"/>
                    </a:ext>
                  </a:extLst>
                </a:gridCol>
                <a:gridCol w="457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구분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고등학생 장학금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894265"/>
                  </a:ext>
                </a:extLst>
              </a:tr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</a:t>
                      </a:r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하반기 고등학생 장학금 신청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접수기간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2025.09.20 10:00 </a:t>
                      </a:r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~ 2025.09.30 10:00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전형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4735">
                <a:tc rowSpan="3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전형별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기업체 재직증명서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2230354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가족관계증명서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8191838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한국노총오산시지부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장학생추천서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4629346"/>
                  </a:ext>
                </a:extLst>
              </a:tr>
              <a:tr h="234735">
                <a:tc rowSpan="10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공통 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추천서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주민등록초본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1958612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주민등록등본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164179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성적증빙자료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2108985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국민기초생활보장수급자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차상위계층확인서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한부모가족보호대상확인서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장애인증명서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첨부파일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8089092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8418894"/>
                  </a:ext>
                </a:extLst>
              </a:tr>
            </a:tbl>
          </a:graphicData>
        </a:graphic>
      </p:graphicFrame>
      <p:grpSp>
        <p:nvGrpSpPr>
          <p:cNvPr id="182" name="그룹 181">
            <a:extLst>
              <a:ext uri="{FF2B5EF4-FFF2-40B4-BE49-F238E27FC236}">
                <a16:creationId xmlns:a16="http://schemas.microsoft.com/office/drawing/2014/main" id="{B62DE267-91D3-F9B2-CA0A-1AE49D9935F7}"/>
              </a:ext>
            </a:extLst>
          </p:cNvPr>
          <p:cNvGrpSpPr/>
          <p:nvPr/>
        </p:nvGrpSpPr>
        <p:grpSpPr>
          <a:xfrm>
            <a:off x="4043512" y="2395602"/>
            <a:ext cx="775054" cy="144462"/>
            <a:chOff x="2716253" y="2405617"/>
            <a:chExt cx="775054" cy="144462"/>
          </a:xfrm>
        </p:grpSpPr>
        <p:sp>
          <p:nvSpPr>
            <p:cNvPr id="183" name="Rectangle 191">
              <a:extLst>
                <a:ext uri="{FF2B5EF4-FFF2-40B4-BE49-F238E27FC236}">
                  <a16:creationId xmlns:a16="http://schemas.microsoft.com/office/drawing/2014/main" id="{F3F93341-BBE9-08EB-3AE3-244924E24D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628377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다자녀가정자녀</a:t>
              </a:r>
            </a:p>
          </p:txBody>
        </p:sp>
        <p:graphicFrame>
          <p:nvGraphicFramePr>
            <p:cNvPr id="184" name="개체 183">
              <a:extLst>
                <a:ext uri="{FF2B5EF4-FFF2-40B4-BE49-F238E27FC236}">
                  <a16:creationId xmlns:a16="http://schemas.microsoft.com/office/drawing/2014/main" id="{66790F31-8B51-9A0F-ECDF-D2710C2540D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3" imgW="145435" imgH="145435" progId="Visio.Drawing.11">
                    <p:embed/>
                  </p:oleObj>
                </mc:Choice>
                <mc:Fallback>
                  <p:oleObj name="Visio" r:id="rId3" imgW="145435" imgH="145435" progId="Visio.Drawing.11">
                    <p:embed/>
                    <p:pic>
                      <p:nvPicPr>
                        <p:cNvPr id="122" name="개체 121">
                          <a:extLst>
                            <a:ext uri="{FF2B5EF4-FFF2-40B4-BE49-F238E27FC236}">
                              <a16:creationId xmlns:a16="http://schemas.microsoft.com/office/drawing/2014/main" id="{66790F31-8B51-9A0F-ECDF-D2710C2540D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5" name="그룹 184">
            <a:extLst>
              <a:ext uri="{FF2B5EF4-FFF2-40B4-BE49-F238E27FC236}">
                <a16:creationId xmlns:a16="http://schemas.microsoft.com/office/drawing/2014/main" id="{29AF062D-E723-8A58-E7CC-BB1C40E64997}"/>
              </a:ext>
            </a:extLst>
          </p:cNvPr>
          <p:cNvGrpSpPr/>
          <p:nvPr/>
        </p:nvGrpSpPr>
        <p:grpSpPr>
          <a:xfrm>
            <a:off x="4874173" y="2395602"/>
            <a:ext cx="775054" cy="144462"/>
            <a:chOff x="2716253" y="2405617"/>
            <a:chExt cx="775054" cy="144462"/>
          </a:xfrm>
        </p:grpSpPr>
        <p:sp>
          <p:nvSpPr>
            <p:cNvPr id="186" name="Rectangle 191">
              <a:extLst>
                <a:ext uri="{FF2B5EF4-FFF2-40B4-BE49-F238E27FC236}">
                  <a16:creationId xmlns:a16="http://schemas.microsoft.com/office/drawing/2014/main" id="{FFE6C02C-3640-02A8-D4EA-0C8CAE7D4E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628377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다문화가정자녀</a:t>
              </a:r>
            </a:p>
          </p:txBody>
        </p:sp>
        <p:graphicFrame>
          <p:nvGraphicFramePr>
            <p:cNvPr id="187" name="개체 186">
              <a:extLst>
                <a:ext uri="{FF2B5EF4-FFF2-40B4-BE49-F238E27FC236}">
                  <a16:creationId xmlns:a16="http://schemas.microsoft.com/office/drawing/2014/main" id="{9A8EFF4B-E511-6C21-752D-F0C57F63149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3" imgW="145435" imgH="145435" progId="Visio.Drawing.11">
                    <p:embed/>
                  </p:oleObj>
                </mc:Choice>
                <mc:Fallback>
                  <p:oleObj name="Visio" r:id="rId3" imgW="145435" imgH="145435" progId="Visio.Drawing.11">
                    <p:embed/>
                    <p:pic>
                      <p:nvPicPr>
                        <p:cNvPr id="125" name="개체 124">
                          <a:extLst>
                            <a:ext uri="{FF2B5EF4-FFF2-40B4-BE49-F238E27FC236}">
                              <a16:creationId xmlns:a16="http://schemas.microsoft.com/office/drawing/2014/main" id="{9A8EFF4B-E511-6C21-752D-F0C57F63149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4" name="직사각형 193">
            <a:extLst>
              <a:ext uri="{FF2B5EF4-FFF2-40B4-BE49-F238E27FC236}">
                <a16:creationId xmlns:a16="http://schemas.microsoft.com/office/drawing/2014/main" id="{17E2EC1B-BD9F-B7BC-4254-E2F15C74A06E}"/>
              </a:ext>
            </a:extLst>
          </p:cNvPr>
          <p:cNvSpPr/>
          <p:nvPr/>
        </p:nvSpPr>
        <p:spPr>
          <a:xfrm>
            <a:off x="2240076" y="3796379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주민등록등본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5" name="직사각형 194">
            <a:extLst>
              <a:ext uri="{FF2B5EF4-FFF2-40B4-BE49-F238E27FC236}">
                <a16:creationId xmlns:a16="http://schemas.microsoft.com/office/drawing/2014/main" id="{5731E201-3383-4309-2EB9-F91B91B03DE1}"/>
              </a:ext>
            </a:extLst>
          </p:cNvPr>
          <p:cNvSpPr/>
          <p:nvPr/>
        </p:nvSpPr>
        <p:spPr>
          <a:xfrm>
            <a:off x="3893074" y="3796371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96" name="직사각형 195">
            <a:extLst>
              <a:ext uri="{FF2B5EF4-FFF2-40B4-BE49-F238E27FC236}">
                <a16:creationId xmlns:a16="http://schemas.microsoft.com/office/drawing/2014/main" id="{3EB40995-36EC-329C-B8F9-1AE2761982F3}"/>
              </a:ext>
            </a:extLst>
          </p:cNvPr>
          <p:cNvSpPr/>
          <p:nvPr/>
        </p:nvSpPr>
        <p:spPr>
          <a:xfrm>
            <a:off x="2240076" y="4273002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7" name="직사각형 196">
            <a:extLst>
              <a:ext uri="{FF2B5EF4-FFF2-40B4-BE49-F238E27FC236}">
                <a16:creationId xmlns:a16="http://schemas.microsoft.com/office/drawing/2014/main" id="{ADE67E3C-8DC0-FE7B-CDAC-4A361A1641FD}"/>
              </a:ext>
            </a:extLst>
          </p:cNvPr>
          <p:cNvSpPr/>
          <p:nvPr/>
        </p:nvSpPr>
        <p:spPr>
          <a:xfrm>
            <a:off x="3893074" y="4272994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98" name="직사각형 197">
            <a:extLst>
              <a:ext uri="{FF2B5EF4-FFF2-40B4-BE49-F238E27FC236}">
                <a16:creationId xmlns:a16="http://schemas.microsoft.com/office/drawing/2014/main" id="{958A55BA-22EC-01F3-9E0B-F23E4175ACE5}"/>
              </a:ext>
            </a:extLst>
          </p:cNvPr>
          <p:cNvSpPr/>
          <p:nvPr/>
        </p:nvSpPr>
        <p:spPr>
          <a:xfrm>
            <a:off x="2240076" y="4509128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49E52146-A554-A910-B30B-92366C2515F4}"/>
              </a:ext>
            </a:extLst>
          </p:cNvPr>
          <p:cNvSpPr/>
          <p:nvPr/>
        </p:nvSpPr>
        <p:spPr>
          <a:xfrm>
            <a:off x="3893074" y="4509120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200" name="직사각형 199">
            <a:extLst>
              <a:ext uri="{FF2B5EF4-FFF2-40B4-BE49-F238E27FC236}">
                <a16:creationId xmlns:a16="http://schemas.microsoft.com/office/drawing/2014/main" id="{8924C2CB-55A0-1E23-7E24-1B639613F3F5}"/>
              </a:ext>
            </a:extLst>
          </p:cNvPr>
          <p:cNvSpPr/>
          <p:nvPr/>
        </p:nvSpPr>
        <p:spPr>
          <a:xfrm>
            <a:off x="2240076" y="4739510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dirty="0" err="1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한부모가족보호대상확인서</a:t>
            </a:r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1" name="직사각형 200">
            <a:extLst>
              <a:ext uri="{FF2B5EF4-FFF2-40B4-BE49-F238E27FC236}">
                <a16:creationId xmlns:a16="http://schemas.microsoft.com/office/drawing/2014/main" id="{2E7BB664-6A1F-7881-BC95-2083DC29ED07}"/>
              </a:ext>
            </a:extLst>
          </p:cNvPr>
          <p:cNvSpPr/>
          <p:nvPr/>
        </p:nvSpPr>
        <p:spPr>
          <a:xfrm>
            <a:off x="3893074" y="4739502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202" name="직사각형 201">
            <a:extLst>
              <a:ext uri="{FF2B5EF4-FFF2-40B4-BE49-F238E27FC236}">
                <a16:creationId xmlns:a16="http://schemas.microsoft.com/office/drawing/2014/main" id="{6F7945A2-5C2F-B4A8-1A06-E283E6956727}"/>
              </a:ext>
            </a:extLst>
          </p:cNvPr>
          <p:cNvSpPr/>
          <p:nvPr/>
        </p:nvSpPr>
        <p:spPr>
          <a:xfrm>
            <a:off x="2240076" y="4979060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장애인증명서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3" name="직사각형 202">
            <a:extLst>
              <a:ext uri="{FF2B5EF4-FFF2-40B4-BE49-F238E27FC236}">
                <a16:creationId xmlns:a16="http://schemas.microsoft.com/office/drawing/2014/main" id="{10E03F23-724A-6854-E387-2487EB80895F}"/>
              </a:ext>
            </a:extLst>
          </p:cNvPr>
          <p:cNvSpPr/>
          <p:nvPr/>
        </p:nvSpPr>
        <p:spPr>
          <a:xfrm>
            <a:off x="3893074" y="4979052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grpSp>
        <p:nvGrpSpPr>
          <p:cNvPr id="206" name="그룹 205">
            <a:extLst>
              <a:ext uri="{FF2B5EF4-FFF2-40B4-BE49-F238E27FC236}">
                <a16:creationId xmlns:a16="http://schemas.microsoft.com/office/drawing/2014/main" id="{168D7D1A-BB82-DA2E-B575-6D02DEC6E4AC}"/>
              </a:ext>
            </a:extLst>
          </p:cNvPr>
          <p:cNvGrpSpPr/>
          <p:nvPr/>
        </p:nvGrpSpPr>
        <p:grpSpPr>
          <a:xfrm>
            <a:off x="2275357" y="5461347"/>
            <a:ext cx="1105196" cy="128396"/>
            <a:chOff x="3438680" y="4305150"/>
            <a:chExt cx="1105196" cy="128396"/>
          </a:xfrm>
        </p:grpSpPr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05B05F80-9540-3DF9-20DC-52430FFA6FB2}"/>
                </a:ext>
              </a:extLst>
            </p:cNvPr>
            <p:cNvSpPr txBox="1"/>
            <p:nvPr/>
          </p:nvSpPr>
          <p:spPr>
            <a:xfrm>
              <a:off x="3438680" y="4305150"/>
              <a:ext cx="971420" cy="10772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신청 관련 부가 서류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08" name="Picture 10">
              <a:extLst>
                <a:ext uri="{FF2B5EF4-FFF2-40B4-BE49-F238E27FC236}">
                  <a16:creationId xmlns:a16="http://schemas.microsoft.com/office/drawing/2014/main" id="{D38171FE-5C1D-3D71-EC1B-04600E4A3D7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7418" y="4312303"/>
              <a:ext cx="106458" cy="121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209" name="그룹 208">
            <a:extLst>
              <a:ext uri="{FF2B5EF4-FFF2-40B4-BE49-F238E27FC236}">
                <a16:creationId xmlns:a16="http://schemas.microsoft.com/office/drawing/2014/main" id="{96FD68C3-E676-D48C-80B6-07647A99D3A8}"/>
              </a:ext>
            </a:extLst>
          </p:cNvPr>
          <p:cNvGrpSpPr/>
          <p:nvPr/>
        </p:nvGrpSpPr>
        <p:grpSpPr>
          <a:xfrm>
            <a:off x="3461770" y="5461347"/>
            <a:ext cx="1105196" cy="128396"/>
            <a:chOff x="3438680" y="4305150"/>
            <a:chExt cx="1105196" cy="128396"/>
          </a:xfrm>
        </p:grpSpPr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CD1DDF24-6557-21F5-D148-491301785A9C}"/>
                </a:ext>
              </a:extLst>
            </p:cNvPr>
            <p:cNvSpPr txBox="1"/>
            <p:nvPr/>
          </p:nvSpPr>
          <p:spPr>
            <a:xfrm>
              <a:off x="3438680" y="4305150"/>
              <a:ext cx="971420" cy="10772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신청 관련 부가 서류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11" name="Picture 10">
              <a:extLst>
                <a:ext uri="{FF2B5EF4-FFF2-40B4-BE49-F238E27FC236}">
                  <a16:creationId xmlns:a16="http://schemas.microsoft.com/office/drawing/2014/main" id="{898DAA32-7436-EDA8-F217-CA23BDADAD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7418" y="4312303"/>
              <a:ext cx="106458" cy="121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212" name="그룹 211">
            <a:extLst>
              <a:ext uri="{FF2B5EF4-FFF2-40B4-BE49-F238E27FC236}">
                <a16:creationId xmlns:a16="http://schemas.microsoft.com/office/drawing/2014/main" id="{472E2237-1A5F-8BD7-5866-238C5478B7B0}"/>
              </a:ext>
            </a:extLst>
          </p:cNvPr>
          <p:cNvGrpSpPr/>
          <p:nvPr/>
        </p:nvGrpSpPr>
        <p:grpSpPr>
          <a:xfrm>
            <a:off x="2235030" y="2395602"/>
            <a:ext cx="505750" cy="144462"/>
            <a:chOff x="2716253" y="2405617"/>
            <a:chExt cx="505750" cy="144462"/>
          </a:xfrm>
        </p:grpSpPr>
        <p:sp>
          <p:nvSpPr>
            <p:cNvPr id="213" name="Rectangle 191">
              <a:extLst>
                <a:ext uri="{FF2B5EF4-FFF2-40B4-BE49-F238E27FC236}">
                  <a16:creationId xmlns:a16="http://schemas.microsoft.com/office/drawing/2014/main" id="{92C659D2-92F8-F06F-6DC8-7DFA38F6B7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359073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우수인재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graphicFrame>
          <p:nvGraphicFramePr>
            <p:cNvPr id="214" name="개체 213">
              <a:extLst>
                <a:ext uri="{FF2B5EF4-FFF2-40B4-BE49-F238E27FC236}">
                  <a16:creationId xmlns:a16="http://schemas.microsoft.com/office/drawing/2014/main" id="{22261ED3-03D0-9448-99AF-77AA0123507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3" imgW="145435" imgH="145435" progId="Visio.Drawing.11">
                    <p:embed/>
                  </p:oleObj>
                </mc:Choice>
                <mc:Fallback>
                  <p:oleObj name="Visio" r:id="rId3" imgW="145435" imgH="145435" progId="Visio.Drawing.11">
                    <p:embed/>
                    <p:pic>
                      <p:nvPicPr>
                        <p:cNvPr id="152" name="개체 151">
                          <a:extLst>
                            <a:ext uri="{FF2B5EF4-FFF2-40B4-BE49-F238E27FC236}">
                              <a16:creationId xmlns:a16="http://schemas.microsoft.com/office/drawing/2014/main" id="{22261ED3-03D0-9448-99AF-77AA0123507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5" name="직사각형 214">
            <a:extLst>
              <a:ext uri="{FF2B5EF4-FFF2-40B4-BE49-F238E27FC236}">
                <a16:creationId xmlns:a16="http://schemas.microsoft.com/office/drawing/2014/main" id="{4CAC754B-27F0-9165-E784-F1DCDC52657D}"/>
              </a:ext>
            </a:extLst>
          </p:cNvPr>
          <p:cNvSpPr/>
          <p:nvPr/>
        </p:nvSpPr>
        <p:spPr>
          <a:xfrm>
            <a:off x="2240076" y="4034303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성적증빙자료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.zip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AAF7D7B8-707A-15A8-D99B-F1C3F177FAF3}"/>
              </a:ext>
            </a:extLst>
          </p:cNvPr>
          <p:cNvSpPr/>
          <p:nvPr/>
        </p:nvSpPr>
        <p:spPr>
          <a:xfrm>
            <a:off x="3893074" y="4034295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220" name="직사각형 219">
            <a:extLst>
              <a:ext uri="{FF2B5EF4-FFF2-40B4-BE49-F238E27FC236}">
                <a16:creationId xmlns:a16="http://schemas.microsoft.com/office/drawing/2014/main" id="{FA2C9418-3428-77C9-04BA-10A2986CE736}"/>
              </a:ext>
            </a:extLst>
          </p:cNvPr>
          <p:cNvSpPr/>
          <p:nvPr/>
        </p:nvSpPr>
        <p:spPr>
          <a:xfrm>
            <a:off x="4201481" y="3793240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</a:p>
        </p:txBody>
      </p:sp>
      <p:sp>
        <p:nvSpPr>
          <p:cNvPr id="221" name="직사각형 220">
            <a:extLst>
              <a:ext uri="{FF2B5EF4-FFF2-40B4-BE49-F238E27FC236}">
                <a16:creationId xmlns:a16="http://schemas.microsoft.com/office/drawing/2014/main" id="{54B4CE6E-1852-20E3-F4E0-2139E816CCDF}"/>
              </a:ext>
            </a:extLst>
          </p:cNvPr>
          <p:cNvSpPr/>
          <p:nvPr/>
        </p:nvSpPr>
        <p:spPr>
          <a:xfrm>
            <a:off x="4201481" y="4028917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</a:p>
        </p:txBody>
      </p:sp>
      <p:sp>
        <p:nvSpPr>
          <p:cNvPr id="222" name="직사각형 221">
            <a:extLst>
              <a:ext uri="{FF2B5EF4-FFF2-40B4-BE49-F238E27FC236}">
                <a16:creationId xmlns:a16="http://schemas.microsoft.com/office/drawing/2014/main" id="{6A970F42-C1E8-7521-E1F3-6E00D6A7F9EB}"/>
              </a:ext>
            </a:extLst>
          </p:cNvPr>
          <p:cNvSpPr/>
          <p:nvPr/>
        </p:nvSpPr>
        <p:spPr>
          <a:xfrm>
            <a:off x="4201481" y="4272994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</a:p>
        </p:txBody>
      </p:sp>
      <p:sp>
        <p:nvSpPr>
          <p:cNvPr id="223" name="직사각형 222">
            <a:extLst>
              <a:ext uri="{FF2B5EF4-FFF2-40B4-BE49-F238E27FC236}">
                <a16:creationId xmlns:a16="http://schemas.microsoft.com/office/drawing/2014/main" id="{85443AE7-F241-75C1-77FB-1F5A88CADF69}"/>
              </a:ext>
            </a:extLst>
          </p:cNvPr>
          <p:cNvSpPr/>
          <p:nvPr/>
        </p:nvSpPr>
        <p:spPr>
          <a:xfrm>
            <a:off x="4201481" y="4509120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</a:p>
        </p:txBody>
      </p:sp>
      <p:sp>
        <p:nvSpPr>
          <p:cNvPr id="224" name="직사각형 223">
            <a:extLst>
              <a:ext uri="{FF2B5EF4-FFF2-40B4-BE49-F238E27FC236}">
                <a16:creationId xmlns:a16="http://schemas.microsoft.com/office/drawing/2014/main" id="{F1FCF834-C6C7-57C4-760A-1AD04CDD7C20}"/>
              </a:ext>
            </a:extLst>
          </p:cNvPr>
          <p:cNvSpPr/>
          <p:nvPr/>
        </p:nvSpPr>
        <p:spPr>
          <a:xfrm>
            <a:off x="4201481" y="4737295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</a:p>
        </p:txBody>
      </p:sp>
      <p:sp>
        <p:nvSpPr>
          <p:cNvPr id="225" name="직사각형 224">
            <a:extLst>
              <a:ext uri="{FF2B5EF4-FFF2-40B4-BE49-F238E27FC236}">
                <a16:creationId xmlns:a16="http://schemas.microsoft.com/office/drawing/2014/main" id="{1A080CF9-528A-85B5-AEF1-CE3384EBB8DE}"/>
              </a:ext>
            </a:extLst>
          </p:cNvPr>
          <p:cNvSpPr/>
          <p:nvPr/>
        </p:nvSpPr>
        <p:spPr>
          <a:xfrm>
            <a:off x="4201481" y="4977172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</a:p>
        </p:txBody>
      </p:sp>
      <p:grpSp>
        <p:nvGrpSpPr>
          <p:cNvPr id="226" name="그룹 225">
            <a:extLst>
              <a:ext uri="{FF2B5EF4-FFF2-40B4-BE49-F238E27FC236}">
                <a16:creationId xmlns:a16="http://schemas.microsoft.com/office/drawing/2014/main" id="{377F2FF0-612A-8CE5-2099-1CB3A6D10239}"/>
              </a:ext>
            </a:extLst>
          </p:cNvPr>
          <p:cNvGrpSpPr/>
          <p:nvPr/>
        </p:nvGrpSpPr>
        <p:grpSpPr>
          <a:xfrm>
            <a:off x="2819969" y="2395602"/>
            <a:ext cx="505750" cy="144462"/>
            <a:chOff x="2716253" y="2405617"/>
            <a:chExt cx="505750" cy="144462"/>
          </a:xfrm>
        </p:grpSpPr>
        <p:sp>
          <p:nvSpPr>
            <p:cNvPr id="227" name="Rectangle 191">
              <a:extLst>
                <a:ext uri="{FF2B5EF4-FFF2-40B4-BE49-F238E27FC236}">
                  <a16:creationId xmlns:a16="http://schemas.microsoft.com/office/drawing/2014/main" id="{1E67AF9C-1A19-8D58-F48B-88C3815F04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359073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희망인재</a:t>
              </a:r>
            </a:p>
          </p:txBody>
        </p:sp>
        <p:graphicFrame>
          <p:nvGraphicFramePr>
            <p:cNvPr id="228" name="개체 227">
              <a:extLst>
                <a:ext uri="{FF2B5EF4-FFF2-40B4-BE49-F238E27FC236}">
                  <a16:creationId xmlns:a16="http://schemas.microsoft.com/office/drawing/2014/main" id="{009F3A81-6D5E-57F5-A5EB-936C128B3F5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3" imgW="145435" imgH="145435" progId="Visio.Drawing.11">
                    <p:embed/>
                  </p:oleObj>
                </mc:Choice>
                <mc:Fallback>
                  <p:oleObj name="Visio" r:id="rId3" imgW="145435" imgH="145435" progId="Visio.Drawing.11">
                    <p:embed/>
                    <p:pic>
                      <p:nvPicPr>
                        <p:cNvPr id="166" name="개체 165">
                          <a:extLst>
                            <a:ext uri="{FF2B5EF4-FFF2-40B4-BE49-F238E27FC236}">
                              <a16:creationId xmlns:a16="http://schemas.microsoft.com/office/drawing/2014/main" id="{009F3A81-6D5E-57F5-A5EB-936C128B3F5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9" name="그룹 228">
            <a:extLst>
              <a:ext uri="{FF2B5EF4-FFF2-40B4-BE49-F238E27FC236}">
                <a16:creationId xmlns:a16="http://schemas.microsoft.com/office/drawing/2014/main" id="{F609982C-66BB-DDB6-7435-8BCB6CA49B6C}"/>
              </a:ext>
            </a:extLst>
          </p:cNvPr>
          <p:cNvGrpSpPr/>
          <p:nvPr/>
        </p:nvGrpSpPr>
        <p:grpSpPr>
          <a:xfrm>
            <a:off x="3391704" y="2401488"/>
            <a:ext cx="596201" cy="144463"/>
            <a:chOff x="3327015" y="1527346"/>
            <a:chExt cx="596201" cy="144463"/>
          </a:xfrm>
        </p:grpSpPr>
        <p:sp>
          <p:nvSpPr>
            <p:cNvPr id="230" name="Rectangle 191">
              <a:extLst>
                <a:ext uri="{FF2B5EF4-FFF2-40B4-BE49-F238E27FC236}">
                  <a16:creationId xmlns:a16="http://schemas.microsoft.com/office/drawing/2014/main" id="{DB1962E9-91F7-905C-F70C-85A6844C84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4375" y="1539830"/>
              <a:ext cx="448841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근로자자녀</a:t>
              </a:r>
            </a:p>
          </p:txBody>
        </p:sp>
        <p:graphicFrame>
          <p:nvGraphicFramePr>
            <p:cNvPr id="231" name="개체 230">
              <a:extLst>
                <a:ext uri="{FF2B5EF4-FFF2-40B4-BE49-F238E27FC236}">
                  <a16:creationId xmlns:a16="http://schemas.microsoft.com/office/drawing/2014/main" id="{25BF2C32-D9FA-2256-CE8A-02AF5387441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27015" y="1527346"/>
            <a:ext cx="144462" cy="144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6" imgW="145435" imgH="145435" progId="Visio.Drawing.11">
                    <p:embed/>
                  </p:oleObj>
                </mc:Choice>
                <mc:Fallback>
                  <p:oleObj name="Visio" r:id="rId6" imgW="145435" imgH="145435" progId="Visio.Drawing.11">
                    <p:embed/>
                    <p:pic>
                      <p:nvPicPr>
                        <p:cNvPr id="172" name="개체 171">
                          <a:extLst>
                            <a:ext uri="{FF2B5EF4-FFF2-40B4-BE49-F238E27FC236}">
                              <a16:creationId xmlns:a16="http://schemas.microsoft.com/office/drawing/2014/main" id="{25BF2C32-D9FA-2256-CE8A-02AF5387441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27015" y="1527346"/>
                          <a:ext cx="144462" cy="1444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5" name="직사각형 234">
            <a:extLst>
              <a:ext uri="{FF2B5EF4-FFF2-40B4-BE49-F238E27FC236}">
                <a16:creationId xmlns:a16="http://schemas.microsoft.com/office/drawing/2014/main" id="{C7857638-734C-6897-4A72-F15B18A4550F}"/>
              </a:ext>
            </a:extLst>
          </p:cNvPr>
          <p:cNvSpPr/>
          <p:nvPr/>
        </p:nvSpPr>
        <p:spPr>
          <a:xfrm>
            <a:off x="2240076" y="3092829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한국노총오산시지부장학생추천서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6" name="직사각형 235">
            <a:extLst>
              <a:ext uri="{FF2B5EF4-FFF2-40B4-BE49-F238E27FC236}">
                <a16:creationId xmlns:a16="http://schemas.microsoft.com/office/drawing/2014/main" id="{69677019-0D27-D1C1-DBE5-300C1AB35074}"/>
              </a:ext>
            </a:extLst>
          </p:cNvPr>
          <p:cNvSpPr/>
          <p:nvPr/>
        </p:nvSpPr>
        <p:spPr>
          <a:xfrm>
            <a:off x="3893074" y="3092821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237" name="직사각형 236">
            <a:extLst>
              <a:ext uri="{FF2B5EF4-FFF2-40B4-BE49-F238E27FC236}">
                <a16:creationId xmlns:a16="http://schemas.microsoft.com/office/drawing/2014/main" id="{357C8F5A-6B7D-0CEC-3BF3-C1BE2232E99B}"/>
              </a:ext>
            </a:extLst>
          </p:cNvPr>
          <p:cNvSpPr/>
          <p:nvPr/>
        </p:nvSpPr>
        <p:spPr>
          <a:xfrm>
            <a:off x="4201481" y="3092813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</a:p>
        </p:txBody>
      </p:sp>
      <p:sp>
        <p:nvSpPr>
          <p:cNvPr id="240" name="직사각형 239">
            <a:extLst>
              <a:ext uri="{FF2B5EF4-FFF2-40B4-BE49-F238E27FC236}">
                <a16:creationId xmlns:a16="http://schemas.microsoft.com/office/drawing/2014/main" id="{23B2A97E-116A-D1D0-42EA-905B77F144EB}"/>
              </a:ext>
            </a:extLst>
          </p:cNvPr>
          <p:cNvSpPr/>
          <p:nvPr/>
        </p:nvSpPr>
        <p:spPr>
          <a:xfrm>
            <a:off x="6397011" y="5715276"/>
            <a:ext cx="392727" cy="19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목록</a:t>
            </a:r>
          </a:p>
        </p:txBody>
      </p:sp>
      <p:sp>
        <p:nvSpPr>
          <p:cNvPr id="241" name="직사각형 240">
            <a:extLst>
              <a:ext uri="{FF2B5EF4-FFF2-40B4-BE49-F238E27FC236}">
                <a16:creationId xmlns:a16="http://schemas.microsoft.com/office/drawing/2014/main" id="{EA973D07-B5AB-C045-10B1-46DD85BDB433}"/>
              </a:ext>
            </a:extLst>
          </p:cNvPr>
          <p:cNvSpPr/>
          <p:nvPr/>
        </p:nvSpPr>
        <p:spPr>
          <a:xfrm>
            <a:off x="5936915" y="5715276"/>
            <a:ext cx="392727" cy="198000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신청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34E7BBC-9DE3-469E-CEF8-890E57DF412B}"/>
              </a:ext>
            </a:extLst>
          </p:cNvPr>
          <p:cNvSpPr/>
          <p:nvPr/>
        </p:nvSpPr>
        <p:spPr>
          <a:xfrm>
            <a:off x="3314733" y="2621855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기업체재직증명서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F503292-3938-130C-AA51-899AC912DE11}"/>
              </a:ext>
            </a:extLst>
          </p:cNvPr>
          <p:cNvSpPr/>
          <p:nvPr/>
        </p:nvSpPr>
        <p:spPr>
          <a:xfrm>
            <a:off x="4967731" y="2621847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3A03794-97BB-D119-7362-BB154C824E05}"/>
              </a:ext>
            </a:extLst>
          </p:cNvPr>
          <p:cNvSpPr/>
          <p:nvPr/>
        </p:nvSpPr>
        <p:spPr>
          <a:xfrm>
            <a:off x="5276138" y="2621839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</a:p>
        </p:txBody>
      </p:sp>
      <p:sp>
        <p:nvSpPr>
          <p:cNvPr id="15" name="Rectangle 191">
            <a:extLst>
              <a:ext uri="{FF2B5EF4-FFF2-40B4-BE49-F238E27FC236}">
                <a16:creationId xmlns:a16="http://schemas.microsoft.com/office/drawing/2014/main" id="{998196AF-943A-DD5A-BFB8-EA56A7AD07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2981" y="2644292"/>
            <a:ext cx="359073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재직기간</a:t>
            </a:r>
            <a:endParaRPr kumimoji="0" lang="ko-KR" altLang="en-US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A13B28F-7A2B-01BD-4F8E-9678C86FCD77}"/>
              </a:ext>
            </a:extLst>
          </p:cNvPr>
          <p:cNvSpPr/>
          <p:nvPr/>
        </p:nvSpPr>
        <p:spPr>
          <a:xfrm>
            <a:off x="2626874" y="2622934"/>
            <a:ext cx="432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Rectangle 191">
            <a:extLst>
              <a:ext uri="{FF2B5EF4-FFF2-40B4-BE49-F238E27FC236}">
                <a16:creationId xmlns:a16="http://schemas.microsoft.com/office/drawing/2014/main" id="{6FC6DBB4-79B2-80DA-1652-B1A51168CB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7077" y="2644292"/>
            <a:ext cx="17953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첨부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FD22CEA-85F1-4744-C032-7138134878EF}"/>
              </a:ext>
            </a:extLst>
          </p:cNvPr>
          <p:cNvSpPr/>
          <p:nvPr/>
        </p:nvSpPr>
        <p:spPr>
          <a:xfrm>
            <a:off x="3319181" y="2863572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가족관계증명서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F5AC065-5FA2-05B1-4AE1-C7AFB4B54BFB}"/>
              </a:ext>
            </a:extLst>
          </p:cNvPr>
          <p:cNvSpPr/>
          <p:nvPr/>
        </p:nvSpPr>
        <p:spPr>
          <a:xfrm>
            <a:off x="4972179" y="2863564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1F55E42-D965-C79B-EE28-2991B84DEC21}"/>
              </a:ext>
            </a:extLst>
          </p:cNvPr>
          <p:cNvSpPr/>
          <p:nvPr/>
        </p:nvSpPr>
        <p:spPr>
          <a:xfrm>
            <a:off x="5280586" y="2863556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</a:p>
        </p:txBody>
      </p:sp>
      <p:sp>
        <p:nvSpPr>
          <p:cNvPr id="22" name="Rectangle 191">
            <a:extLst>
              <a:ext uri="{FF2B5EF4-FFF2-40B4-BE49-F238E27FC236}">
                <a16:creationId xmlns:a16="http://schemas.microsoft.com/office/drawing/2014/main" id="{2C724511-623D-AF78-EDC2-456B6D8A7F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7429" y="2882245"/>
            <a:ext cx="359073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가족인원</a:t>
            </a:r>
            <a:endParaRPr kumimoji="0" lang="ko-KR" altLang="en-US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35F351A-2CD5-F556-3D14-6D3D8134FDC9}"/>
              </a:ext>
            </a:extLst>
          </p:cNvPr>
          <p:cNvSpPr/>
          <p:nvPr/>
        </p:nvSpPr>
        <p:spPr>
          <a:xfrm>
            <a:off x="2631322" y="2860887"/>
            <a:ext cx="432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명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" name="Rectangle 191">
            <a:extLst>
              <a:ext uri="{FF2B5EF4-FFF2-40B4-BE49-F238E27FC236}">
                <a16:creationId xmlns:a16="http://schemas.microsoft.com/office/drawing/2014/main" id="{183F030C-20FD-39DE-CB60-3B0212F427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1525" y="2882245"/>
            <a:ext cx="17953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첨부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E2F0040-DFC5-1628-902F-0C22EDB8E361}"/>
              </a:ext>
            </a:extLst>
          </p:cNvPr>
          <p:cNvSpPr/>
          <p:nvPr/>
        </p:nvSpPr>
        <p:spPr>
          <a:xfrm>
            <a:off x="3259961" y="3565714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주민등록초본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B6E7888-2A85-9225-17DA-34ABE8A2C137}"/>
              </a:ext>
            </a:extLst>
          </p:cNvPr>
          <p:cNvSpPr/>
          <p:nvPr/>
        </p:nvSpPr>
        <p:spPr>
          <a:xfrm>
            <a:off x="4912959" y="3565706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895CDBF-628F-B8E6-6BC5-3C4ECCB12256}"/>
              </a:ext>
            </a:extLst>
          </p:cNvPr>
          <p:cNvSpPr/>
          <p:nvPr/>
        </p:nvSpPr>
        <p:spPr>
          <a:xfrm>
            <a:off x="5221366" y="3565698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</a:p>
        </p:txBody>
      </p:sp>
      <p:sp>
        <p:nvSpPr>
          <p:cNvPr id="28" name="Rectangle 191">
            <a:extLst>
              <a:ext uri="{FF2B5EF4-FFF2-40B4-BE49-F238E27FC236}">
                <a16:creationId xmlns:a16="http://schemas.microsoft.com/office/drawing/2014/main" id="{F9BD66C8-907C-8016-F1F6-4323CE1589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5690" y="3580990"/>
            <a:ext cx="17953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첨부</a:t>
            </a:r>
          </a:p>
        </p:txBody>
      </p:sp>
      <p:sp>
        <p:nvSpPr>
          <p:cNvPr id="29" name="Rectangle 191">
            <a:extLst>
              <a:ext uri="{FF2B5EF4-FFF2-40B4-BE49-F238E27FC236}">
                <a16:creationId xmlns:a16="http://schemas.microsoft.com/office/drawing/2014/main" id="{15171FD7-C367-8930-53D6-356D82C4A2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0452" y="3581416"/>
            <a:ext cx="359073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거주기간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7131EBB-82F9-D52C-FC04-FD1E646F45E9}"/>
              </a:ext>
            </a:extLst>
          </p:cNvPr>
          <p:cNvSpPr/>
          <p:nvPr/>
        </p:nvSpPr>
        <p:spPr>
          <a:xfrm>
            <a:off x="2633784" y="3560058"/>
            <a:ext cx="36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년</a:t>
            </a: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83A4964E-E813-65B3-7AB7-D4091B9842B3}"/>
              </a:ext>
            </a:extLst>
          </p:cNvPr>
          <p:cNvSpPr>
            <a:spLocks noChangeAspect="1"/>
          </p:cNvSpPr>
          <p:nvPr/>
        </p:nvSpPr>
        <p:spPr>
          <a:xfrm>
            <a:off x="3725790" y="2251904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D98829DB-D727-4722-846E-FBBF60AE0430}"/>
              </a:ext>
            </a:extLst>
          </p:cNvPr>
          <p:cNvSpPr>
            <a:spLocks noChangeAspect="1"/>
          </p:cNvSpPr>
          <p:nvPr/>
        </p:nvSpPr>
        <p:spPr>
          <a:xfrm>
            <a:off x="512127" y="2613059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03D99430-739A-4DD8-712F-38F5EE8EA2BE}"/>
              </a:ext>
            </a:extLst>
          </p:cNvPr>
          <p:cNvSpPr>
            <a:spLocks noChangeAspect="1"/>
          </p:cNvSpPr>
          <p:nvPr/>
        </p:nvSpPr>
        <p:spPr>
          <a:xfrm>
            <a:off x="512127" y="2853658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0EF8D36E-81F4-158F-D8C5-49EF79CA968E}"/>
              </a:ext>
            </a:extLst>
          </p:cNvPr>
          <p:cNvSpPr>
            <a:spLocks noChangeAspect="1"/>
          </p:cNvSpPr>
          <p:nvPr/>
        </p:nvSpPr>
        <p:spPr>
          <a:xfrm>
            <a:off x="512127" y="3092829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5F84FA8F-7726-6783-A768-0B61C2FE0734}"/>
              </a:ext>
            </a:extLst>
          </p:cNvPr>
          <p:cNvSpPr>
            <a:spLocks noChangeAspect="1"/>
          </p:cNvSpPr>
          <p:nvPr/>
        </p:nvSpPr>
        <p:spPr>
          <a:xfrm>
            <a:off x="512127" y="3550776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7C7A275B-63C9-92C3-A79F-0AD791F20B1F}"/>
              </a:ext>
            </a:extLst>
          </p:cNvPr>
          <p:cNvGrpSpPr/>
          <p:nvPr/>
        </p:nvGrpSpPr>
        <p:grpSpPr>
          <a:xfrm>
            <a:off x="2248768" y="3328939"/>
            <a:ext cx="2704513" cy="144016"/>
            <a:chOff x="1897884" y="2847629"/>
            <a:chExt cx="2704513" cy="144016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FED0D0A5-78B7-E747-BF9B-67CC5E10F52F}"/>
                </a:ext>
              </a:extLst>
            </p:cNvPr>
            <p:cNvSpPr/>
            <p:nvPr/>
          </p:nvSpPr>
          <p:spPr>
            <a:xfrm>
              <a:off x="1897884" y="2847637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추천서</a:t>
              </a:r>
              <a:r>
                <a:rPr kumimoji="0" lang="en-US" altLang="ko-KR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94EF0850-BB28-7CD0-7688-CE032F1FEFBC}"/>
                </a:ext>
              </a:extLst>
            </p:cNvPr>
            <p:cNvSpPr/>
            <p:nvPr/>
          </p:nvSpPr>
          <p:spPr>
            <a:xfrm>
              <a:off x="3550882" y="2847629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제출</a:t>
              </a: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72E83502-30A9-EE94-178F-0E573A40BFE0}"/>
                </a:ext>
              </a:extLst>
            </p:cNvPr>
            <p:cNvSpPr/>
            <p:nvPr/>
          </p:nvSpPr>
          <p:spPr>
            <a:xfrm>
              <a:off x="3859392" y="2847629"/>
              <a:ext cx="264174" cy="144016"/>
            </a:xfrm>
            <a:prstGeom prst="rect">
              <a:avLst/>
            </a:prstGeom>
            <a:solidFill>
              <a:srgbClr val="66FF66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3B41989F-38AE-C68A-1C2F-EDFC639F8657}"/>
                </a:ext>
              </a:extLst>
            </p:cNvPr>
            <p:cNvSpPr/>
            <p:nvPr/>
          </p:nvSpPr>
          <p:spPr>
            <a:xfrm>
              <a:off x="4176942" y="2847629"/>
              <a:ext cx="425455" cy="14401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양식받기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1638327-92BC-9003-387E-8D3218B22F8E}"/>
              </a:ext>
            </a:extLst>
          </p:cNvPr>
          <p:cNvSpPr/>
          <p:nvPr/>
        </p:nvSpPr>
        <p:spPr>
          <a:xfrm>
            <a:off x="668524" y="3289293"/>
            <a:ext cx="6121214" cy="21600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2538EFB2-6D75-78CF-1394-41473DAB4000}"/>
              </a:ext>
            </a:extLst>
          </p:cNvPr>
          <p:cNvSpPr>
            <a:spLocks noChangeAspect="1"/>
          </p:cNvSpPr>
          <p:nvPr/>
        </p:nvSpPr>
        <p:spPr>
          <a:xfrm>
            <a:off x="512127" y="3335305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EF2AD98D-C39A-CF2B-A573-D9479FEBA4EF}"/>
              </a:ext>
            </a:extLst>
          </p:cNvPr>
          <p:cNvSpPr/>
          <p:nvPr/>
        </p:nvSpPr>
        <p:spPr>
          <a:xfrm>
            <a:off x="668524" y="5173118"/>
            <a:ext cx="6121214" cy="21600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8F38D1F5-3C58-651A-71CA-1DBE352CB431}"/>
              </a:ext>
            </a:extLst>
          </p:cNvPr>
          <p:cNvSpPr>
            <a:spLocks noChangeAspect="1"/>
          </p:cNvSpPr>
          <p:nvPr/>
        </p:nvSpPr>
        <p:spPr>
          <a:xfrm>
            <a:off x="512127" y="5219130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E5FFD6B8-7C34-B45F-6212-279AC61478F3}"/>
              </a:ext>
            </a:extLst>
          </p:cNvPr>
          <p:cNvGrpSpPr/>
          <p:nvPr/>
        </p:nvGrpSpPr>
        <p:grpSpPr>
          <a:xfrm>
            <a:off x="2243737" y="5205354"/>
            <a:ext cx="3233421" cy="147760"/>
            <a:chOff x="2011811" y="4800927"/>
            <a:chExt cx="3233421" cy="147760"/>
          </a:xfrm>
        </p:grpSpPr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B6E275ED-D014-7D86-8CFB-3FF44908117A}"/>
                </a:ext>
              </a:extLst>
            </p:cNvPr>
            <p:cNvGrpSpPr/>
            <p:nvPr/>
          </p:nvGrpSpPr>
          <p:grpSpPr>
            <a:xfrm>
              <a:off x="2858269" y="4804671"/>
              <a:ext cx="2386963" cy="144016"/>
              <a:chOff x="1897884" y="4476806"/>
              <a:chExt cx="2386963" cy="144016"/>
            </a:xfrm>
          </p:grpSpPr>
          <p:sp>
            <p:nvSpPr>
              <p:cNvPr id="51" name="직사각형 50">
                <a:extLst>
                  <a:ext uri="{FF2B5EF4-FFF2-40B4-BE49-F238E27FC236}">
                    <a16:creationId xmlns:a16="http://schemas.microsoft.com/office/drawing/2014/main" id="{BA0866A8-EF40-7792-DB53-C4F96DC006CB}"/>
                  </a:ext>
                </a:extLst>
              </p:cNvPr>
              <p:cNvSpPr/>
              <p:nvPr/>
            </p:nvSpPr>
            <p:spPr>
              <a:xfrm>
                <a:off x="1897884" y="4476814"/>
                <a:ext cx="1620000" cy="144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36000" rIns="36000" rtlCol="0" anchor="ctr"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52" name="직사각형 51">
                <a:extLst>
                  <a:ext uri="{FF2B5EF4-FFF2-40B4-BE49-F238E27FC236}">
                    <a16:creationId xmlns:a16="http://schemas.microsoft.com/office/drawing/2014/main" id="{BF7436CC-90AD-4A84-9F45-9C8A527626BF}"/>
                  </a:ext>
                </a:extLst>
              </p:cNvPr>
              <p:cNvSpPr/>
              <p:nvPr/>
            </p:nvSpPr>
            <p:spPr>
              <a:xfrm>
                <a:off x="3550882" y="4476806"/>
                <a:ext cx="264174" cy="144016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추가</a:t>
                </a:r>
              </a:p>
            </p:txBody>
          </p:sp>
          <p:sp>
            <p:nvSpPr>
              <p:cNvPr id="53" name="직사각형 52">
                <a:extLst>
                  <a:ext uri="{FF2B5EF4-FFF2-40B4-BE49-F238E27FC236}">
                    <a16:creationId xmlns:a16="http://schemas.microsoft.com/office/drawing/2014/main" id="{342A65F9-DE6D-4EF7-4F15-8FA959E1B370}"/>
                  </a:ext>
                </a:extLst>
              </p:cNvPr>
              <p:cNvSpPr/>
              <p:nvPr/>
            </p:nvSpPr>
            <p:spPr>
              <a:xfrm>
                <a:off x="3859392" y="4476806"/>
                <a:ext cx="425455" cy="144016"/>
              </a:xfrm>
              <a:prstGeom prst="rect">
                <a:avLst/>
              </a:prstGeom>
              <a:solidFill>
                <a:srgbClr val="FFFF00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7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양식받기</a:t>
                </a:r>
                <a:endPara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48" name="Rectangle 191">
              <a:extLst>
                <a:ext uri="{FF2B5EF4-FFF2-40B4-BE49-F238E27FC236}">
                  <a16:creationId xmlns:a16="http://schemas.microsoft.com/office/drawing/2014/main" id="{C4A55462-7D58-15F9-4E57-1C753399E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1811" y="4819066"/>
              <a:ext cx="179536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성적</a:t>
              </a: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0DAC164C-919F-EDF8-612F-343197FBBAF9}"/>
                </a:ext>
              </a:extLst>
            </p:cNvPr>
            <p:cNvSpPr/>
            <p:nvPr/>
          </p:nvSpPr>
          <p:spPr>
            <a:xfrm>
              <a:off x="2216445" y="4800927"/>
              <a:ext cx="36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4.5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0" name="Rectangle 191">
              <a:extLst>
                <a:ext uri="{FF2B5EF4-FFF2-40B4-BE49-F238E27FC236}">
                  <a16:creationId xmlns:a16="http://schemas.microsoft.com/office/drawing/2014/main" id="{BC727CFF-4366-F2B5-6365-3C2647F5A2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0882" y="4819066"/>
              <a:ext cx="179536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첨부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524442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6E92D-F2C3-119A-4A24-302A09953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D2C7A43-1E03-B25B-F69B-62E99B454235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고등학생장학금 신청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4FCDF5F-04F5-F97F-1172-CE3D2B9B1C16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프로그램신청관리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고등학생장학금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장학금신청</a:t>
            </a: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F3B5227E-3776-7032-0C7F-ABBE1D2153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4195218"/>
              </p:ext>
            </p:extLst>
          </p:nvPr>
        </p:nvGraphicFramePr>
        <p:xfrm>
          <a:off x="6969418" y="2548005"/>
          <a:ext cx="2772114" cy="1162859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프로그램신청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고등학생장학금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조회 화면 목록에서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신청하기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클릭 시 보이는 화면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첨부파일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성적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성적을 입력 한다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추가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] : 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추가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파일 선택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첨부 설정완료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파일받기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파일명 클릭 시 첨부된 파일 다운로드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[x]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 첨부된 해당 파일 삭제 처리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양식받기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시 추천서 양식 파일을 다운 받는다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1809D205-6DEB-4DBD-E42A-86498AF1CC1D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pah_application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EDE5D5E-A2F6-FCE9-DED4-9D25EE07B02B}"/>
              </a:ext>
            </a:extLst>
          </p:cNvPr>
          <p:cNvSpPr/>
          <p:nvPr/>
        </p:nvSpPr>
        <p:spPr>
          <a:xfrm>
            <a:off x="165100" y="1376363"/>
            <a:ext cx="6732116" cy="460414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1BE9005-F538-AF45-555F-002BA6A79D97}"/>
              </a:ext>
            </a:extLst>
          </p:cNvPr>
          <p:cNvSpPr/>
          <p:nvPr/>
        </p:nvSpPr>
        <p:spPr>
          <a:xfrm>
            <a:off x="292846" y="1448780"/>
            <a:ext cx="1202252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800" b="1" dirty="0">
                <a:solidFill>
                  <a:prstClr val="black"/>
                </a:solidFill>
              </a:rPr>
              <a:t>고등학생 장학금 신청정보</a:t>
            </a:r>
          </a:p>
        </p:txBody>
      </p:sp>
      <p:sp>
        <p:nvSpPr>
          <p:cNvPr id="169" name="직사각형 168">
            <a:extLst>
              <a:ext uri="{FF2B5EF4-FFF2-40B4-BE49-F238E27FC236}">
                <a16:creationId xmlns:a16="http://schemas.microsoft.com/office/drawing/2014/main" id="{9817D8CA-892D-3595-D96F-F26A857D0E48}"/>
              </a:ext>
            </a:extLst>
          </p:cNvPr>
          <p:cNvSpPr/>
          <p:nvPr/>
        </p:nvSpPr>
        <p:spPr>
          <a:xfrm>
            <a:off x="165100" y="6023481"/>
            <a:ext cx="6732116" cy="46622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70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561807EB-8BCD-0781-6187-9179B3BCA4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6165304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1" name="TextBox 170">
            <a:extLst>
              <a:ext uri="{FF2B5EF4-FFF2-40B4-BE49-F238E27FC236}">
                <a16:creationId xmlns:a16="http://schemas.microsoft.com/office/drawing/2014/main" id="{073D7A5D-1836-DF15-CAFD-28E45ED6B6F5}"/>
              </a:ext>
            </a:extLst>
          </p:cNvPr>
          <p:cNvSpPr txBox="1"/>
          <p:nvPr/>
        </p:nvSpPr>
        <p:spPr>
          <a:xfrm>
            <a:off x="1172580" y="6077394"/>
            <a:ext cx="31242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경기 오산시 성호대로 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141 (</a:t>
            </a:r>
            <a:r>
              <a:rPr lang="ko-KR" altLang="en-US" sz="600" b="0" i="0" dirty="0" err="1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오산동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오산시청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오산교육재단</a:t>
            </a:r>
            <a:endParaRPr lang="en-US" altLang="ko-KR" sz="600" b="0" i="0" dirty="0">
              <a:solidFill>
                <a:srgbClr val="666666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>
              <a:buNone/>
            </a:pP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TEL. (031)8036-8905 FAX. (031)8036-8905</a:t>
            </a:r>
          </a:p>
          <a:p>
            <a:pPr algn="l">
              <a:buNone/>
            </a:pP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Copyright©2025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오산교육재단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 ALL RIGHTSRESERVED</a:t>
            </a: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87DE391B-BBBB-90C8-5A56-86CE0B9BED2A}"/>
              </a:ext>
            </a:extLst>
          </p:cNvPr>
          <p:cNvGraphicFramePr>
            <a:graphicFrameLocks noGrp="1"/>
          </p:cNvGraphicFramePr>
          <p:nvPr/>
        </p:nvGraphicFramePr>
        <p:xfrm>
          <a:off x="275976" y="1644308"/>
          <a:ext cx="6513760" cy="39904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5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8172">
                  <a:extLst>
                    <a:ext uri="{9D8B030D-6E8A-4147-A177-3AD203B41FA5}">
                      <a16:colId xmlns:a16="http://schemas.microsoft.com/office/drawing/2014/main" val="3668863434"/>
                    </a:ext>
                  </a:extLst>
                </a:gridCol>
                <a:gridCol w="457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구분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고등학생 장학금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894265"/>
                  </a:ext>
                </a:extLst>
              </a:tr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</a:t>
                      </a:r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하반기 고등학생 장학금 신청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접수기간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2025.09.20 10:00 </a:t>
                      </a:r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~ 2025.09.30 10:00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전형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4735">
                <a:tc rowSpan="3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전형별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기업체 재직증명서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2230354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가족관계증명서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8191838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한국노총오산시지부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장학생추천서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4629346"/>
                  </a:ext>
                </a:extLst>
              </a:tr>
              <a:tr h="234735">
                <a:tc rowSpan="10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공통 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추천서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주민등록초본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1958612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주민등록등본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164179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성적증빙자료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2108985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국민기초생활보장수급자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차상위계층확인서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한부모가족보호대상확인서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장애인증명서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첨부파일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8089092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8418894"/>
                  </a:ext>
                </a:extLst>
              </a:tr>
            </a:tbl>
          </a:graphicData>
        </a:graphic>
      </p:graphicFrame>
      <p:grpSp>
        <p:nvGrpSpPr>
          <p:cNvPr id="182" name="그룹 181">
            <a:extLst>
              <a:ext uri="{FF2B5EF4-FFF2-40B4-BE49-F238E27FC236}">
                <a16:creationId xmlns:a16="http://schemas.microsoft.com/office/drawing/2014/main" id="{1A01237C-CF17-9CF1-1051-0FFA6029F742}"/>
              </a:ext>
            </a:extLst>
          </p:cNvPr>
          <p:cNvGrpSpPr/>
          <p:nvPr/>
        </p:nvGrpSpPr>
        <p:grpSpPr>
          <a:xfrm>
            <a:off x="4043512" y="2395602"/>
            <a:ext cx="775054" cy="144462"/>
            <a:chOff x="2716253" y="2405617"/>
            <a:chExt cx="775054" cy="144462"/>
          </a:xfrm>
        </p:grpSpPr>
        <p:sp>
          <p:nvSpPr>
            <p:cNvPr id="183" name="Rectangle 191">
              <a:extLst>
                <a:ext uri="{FF2B5EF4-FFF2-40B4-BE49-F238E27FC236}">
                  <a16:creationId xmlns:a16="http://schemas.microsoft.com/office/drawing/2014/main" id="{0705E0C8-DE67-440B-3B71-2F0BDD2476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628377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다자녀가정자녀</a:t>
              </a:r>
            </a:p>
          </p:txBody>
        </p:sp>
        <p:graphicFrame>
          <p:nvGraphicFramePr>
            <p:cNvPr id="184" name="개체 183">
              <a:extLst>
                <a:ext uri="{FF2B5EF4-FFF2-40B4-BE49-F238E27FC236}">
                  <a16:creationId xmlns:a16="http://schemas.microsoft.com/office/drawing/2014/main" id="{E59F2E3B-C161-D22B-3E59-E6A0530F348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3" imgW="145435" imgH="145435" progId="Visio.Drawing.11">
                    <p:embed/>
                  </p:oleObj>
                </mc:Choice>
                <mc:Fallback>
                  <p:oleObj name="Visio" r:id="rId3" imgW="145435" imgH="145435" progId="Visio.Drawing.11">
                    <p:embed/>
                    <p:pic>
                      <p:nvPicPr>
                        <p:cNvPr id="184" name="개체 183">
                          <a:extLst>
                            <a:ext uri="{FF2B5EF4-FFF2-40B4-BE49-F238E27FC236}">
                              <a16:creationId xmlns:a16="http://schemas.microsoft.com/office/drawing/2014/main" id="{66790F31-8B51-9A0F-ECDF-D2710C2540D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5" name="그룹 184">
            <a:extLst>
              <a:ext uri="{FF2B5EF4-FFF2-40B4-BE49-F238E27FC236}">
                <a16:creationId xmlns:a16="http://schemas.microsoft.com/office/drawing/2014/main" id="{282B291D-B354-93F3-5CC1-EE1FA9559D62}"/>
              </a:ext>
            </a:extLst>
          </p:cNvPr>
          <p:cNvGrpSpPr/>
          <p:nvPr/>
        </p:nvGrpSpPr>
        <p:grpSpPr>
          <a:xfrm>
            <a:off x="4874173" y="2395602"/>
            <a:ext cx="775054" cy="144462"/>
            <a:chOff x="2716253" y="2405617"/>
            <a:chExt cx="775054" cy="144462"/>
          </a:xfrm>
        </p:grpSpPr>
        <p:sp>
          <p:nvSpPr>
            <p:cNvPr id="186" name="Rectangle 191">
              <a:extLst>
                <a:ext uri="{FF2B5EF4-FFF2-40B4-BE49-F238E27FC236}">
                  <a16:creationId xmlns:a16="http://schemas.microsoft.com/office/drawing/2014/main" id="{86290DE7-1BE2-6242-5B09-961AE3CE7F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628377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다문화가정자녀</a:t>
              </a:r>
            </a:p>
          </p:txBody>
        </p:sp>
        <p:graphicFrame>
          <p:nvGraphicFramePr>
            <p:cNvPr id="187" name="개체 186">
              <a:extLst>
                <a:ext uri="{FF2B5EF4-FFF2-40B4-BE49-F238E27FC236}">
                  <a16:creationId xmlns:a16="http://schemas.microsoft.com/office/drawing/2014/main" id="{F5586634-E4F9-1AA8-A029-9A46DCCE6CE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3" imgW="145435" imgH="145435" progId="Visio.Drawing.11">
                    <p:embed/>
                  </p:oleObj>
                </mc:Choice>
                <mc:Fallback>
                  <p:oleObj name="Visio" r:id="rId3" imgW="145435" imgH="145435" progId="Visio.Drawing.11">
                    <p:embed/>
                    <p:pic>
                      <p:nvPicPr>
                        <p:cNvPr id="187" name="개체 186">
                          <a:extLst>
                            <a:ext uri="{FF2B5EF4-FFF2-40B4-BE49-F238E27FC236}">
                              <a16:creationId xmlns:a16="http://schemas.microsoft.com/office/drawing/2014/main" id="{9A8EFF4B-E511-6C21-752D-F0C57F63149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4" name="직사각형 193">
            <a:extLst>
              <a:ext uri="{FF2B5EF4-FFF2-40B4-BE49-F238E27FC236}">
                <a16:creationId xmlns:a16="http://schemas.microsoft.com/office/drawing/2014/main" id="{C3982D06-4C93-A65C-6A7F-7F23AB8B5730}"/>
              </a:ext>
            </a:extLst>
          </p:cNvPr>
          <p:cNvSpPr/>
          <p:nvPr/>
        </p:nvSpPr>
        <p:spPr>
          <a:xfrm>
            <a:off x="2240076" y="3796379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주민등록등본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5" name="직사각형 194">
            <a:extLst>
              <a:ext uri="{FF2B5EF4-FFF2-40B4-BE49-F238E27FC236}">
                <a16:creationId xmlns:a16="http://schemas.microsoft.com/office/drawing/2014/main" id="{D71E49FD-E91F-A149-8FDA-CB5F25484230}"/>
              </a:ext>
            </a:extLst>
          </p:cNvPr>
          <p:cNvSpPr/>
          <p:nvPr/>
        </p:nvSpPr>
        <p:spPr>
          <a:xfrm>
            <a:off x="3893074" y="3796371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96" name="직사각형 195">
            <a:extLst>
              <a:ext uri="{FF2B5EF4-FFF2-40B4-BE49-F238E27FC236}">
                <a16:creationId xmlns:a16="http://schemas.microsoft.com/office/drawing/2014/main" id="{C20FF1E1-402C-3BD2-E73C-9EE3C4DC3A2C}"/>
              </a:ext>
            </a:extLst>
          </p:cNvPr>
          <p:cNvSpPr/>
          <p:nvPr/>
        </p:nvSpPr>
        <p:spPr>
          <a:xfrm>
            <a:off x="2240076" y="4273002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7" name="직사각형 196">
            <a:extLst>
              <a:ext uri="{FF2B5EF4-FFF2-40B4-BE49-F238E27FC236}">
                <a16:creationId xmlns:a16="http://schemas.microsoft.com/office/drawing/2014/main" id="{BFC016F7-E7E0-60B0-B041-3FAEA7FB90B1}"/>
              </a:ext>
            </a:extLst>
          </p:cNvPr>
          <p:cNvSpPr/>
          <p:nvPr/>
        </p:nvSpPr>
        <p:spPr>
          <a:xfrm>
            <a:off x="3893074" y="4272994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98" name="직사각형 197">
            <a:extLst>
              <a:ext uri="{FF2B5EF4-FFF2-40B4-BE49-F238E27FC236}">
                <a16:creationId xmlns:a16="http://schemas.microsoft.com/office/drawing/2014/main" id="{AB7BDA47-F843-E2EA-03DC-85F3B751D1E0}"/>
              </a:ext>
            </a:extLst>
          </p:cNvPr>
          <p:cNvSpPr/>
          <p:nvPr/>
        </p:nvSpPr>
        <p:spPr>
          <a:xfrm>
            <a:off x="2240076" y="4509128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211BE225-F9D9-8136-B4C9-3E0F7016740E}"/>
              </a:ext>
            </a:extLst>
          </p:cNvPr>
          <p:cNvSpPr/>
          <p:nvPr/>
        </p:nvSpPr>
        <p:spPr>
          <a:xfrm>
            <a:off x="3893074" y="4509120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200" name="직사각형 199">
            <a:extLst>
              <a:ext uri="{FF2B5EF4-FFF2-40B4-BE49-F238E27FC236}">
                <a16:creationId xmlns:a16="http://schemas.microsoft.com/office/drawing/2014/main" id="{2938CD83-E9FF-AA8B-EBF0-206B32C1491A}"/>
              </a:ext>
            </a:extLst>
          </p:cNvPr>
          <p:cNvSpPr/>
          <p:nvPr/>
        </p:nvSpPr>
        <p:spPr>
          <a:xfrm>
            <a:off x="2240076" y="4739510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dirty="0" err="1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한부모가족보호대상확인서</a:t>
            </a:r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1" name="직사각형 200">
            <a:extLst>
              <a:ext uri="{FF2B5EF4-FFF2-40B4-BE49-F238E27FC236}">
                <a16:creationId xmlns:a16="http://schemas.microsoft.com/office/drawing/2014/main" id="{8694D650-15DE-479C-5DC9-680F9180CB2D}"/>
              </a:ext>
            </a:extLst>
          </p:cNvPr>
          <p:cNvSpPr/>
          <p:nvPr/>
        </p:nvSpPr>
        <p:spPr>
          <a:xfrm>
            <a:off x="3893074" y="4739502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202" name="직사각형 201">
            <a:extLst>
              <a:ext uri="{FF2B5EF4-FFF2-40B4-BE49-F238E27FC236}">
                <a16:creationId xmlns:a16="http://schemas.microsoft.com/office/drawing/2014/main" id="{A1F1423F-4E6E-94E4-B30A-C68F2692FEFD}"/>
              </a:ext>
            </a:extLst>
          </p:cNvPr>
          <p:cNvSpPr/>
          <p:nvPr/>
        </p:nvSpPr>
        <p:spPr>
          <a:xfrm>
            <a:off x="2240076" y="4979060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장애인증명서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3" name="직사각형 202">
            <a:extLst>
              <a:ext uri="{FF2B5EF4-FFF2-40B4-BE49-F238E27FC236}">
                <a16:creationId xmlns:a16="http://schemas.microsoft.com/office/drawing/2014/main" id="{40BCE166-8129-D8DC-8722-5436D9D7126C}"/>
              </a:ext>
            </a:extLst>
          </p:cNvPr>
          <p:cNvSpPr/>
          <p:nvPr/>
        </p:nvSpPr>
        <p:spPr>
          <a:xfrm>
            <a:off x="3893074" y="4979052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grpSp>
        <p:nvGrpSpPr>
          <p:cNvPr id="206" name="그룹 205">
            <a:extLst>
              <a:ext uri="{FF2B5EF4-FFF2-40B4-BE49-F238E27FC236}">
                <a16:creationId xmlns:a16="http://schemas.microsoft.com/office/drawing/2014/main" id="{ADA4178D-49B1-4BED-CC28-9AB081F934C3}"/>
              </a:ext>
            </a:extLst>
          </p:cNvPr>
          <p:cNvGrpSpPr/>
          <p:nvPr/>
        </p:nvGrpSpPr>
        <p:grpSpPr>
          <a:xfrm>
            <a:off x="2275357" y="5461347"/>
            <a:ext cx="1105196" cy="128396"/>
            <a:chOff x="3438680" y="4305150"/>
            <a:chExt cx="1105196" cy="128396"/>
          </a:xfrm>
        </p:grpSpPr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D17B0DC5-8D13-6983-8AEF-9FB883D8D82B}"/>
                </a:ext>
              </a:extLst>
            </p:cNvPr>
            <p:cNvSpPr txBox="1"/>
            <p:nvPr/>
          </p:nvSpPr>
          <p:spPr>
            <a:xfrm>
              <a:off x="3438680" y="4305150"/>
              <a:ext cx="971420" cy="10772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신청 관련 부가 서류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08" name="Picture 10">
              <a:extLst>
                <a:ext uri="{FF2B5EF4-FFF2-40B4-BE49-F238E27FC236}">
                  <a16:creationId xmlns:a16="http://schemas.microsoft.com/office/drawing/2014/main" id="{E53EBC5A-DF72-7F55-70A2-4B828A4933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7418" y="4312303"/>
              <a:ext cx="106458" cy="121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209" name="그룹 208">
            <a:extLst>
              <a:ext uri="{FF2B5EF4-FFF2-40B4-BE49-F238E27FC236}">
                <a16:creationId xmlns:a16="http://schemas.microsoft.com/office/drawing/2014/main" id="{13FC158D-BAC8-4B7B-99A0-189620D79072}"/>
              </a:ext>
            </a:extLst>
          </p:cNvPr>
          <p:cNvGrpSpPr/>
          <p:nvPr/>
        </p:nvGrpSpPr>
        <p:grpSpPr>
          <a:xfrm>
            <a:off x="3461770" y="5461347"/>
            <a:ext cx="1105196" cy="128396"/>
            <a:chOff x="3438680" y="4305150"/>
            <a:chExt cx="1105196" cy="128396"/>
          </a:xfrm>
        </p:grpSpPr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0973A648-60AF-869B-E220-149FA48448B4}"/>
                </a:ext>
              </a:extLst>
            </p:cNvPr>
            <p:cNvSpPr txBox="1"/>
            <p:nvPr/>
          </p:nvSpPr>
          <p:spPr>
            <a:xfrm>
              <a:off x="3438680" y="4305150"/>
              <a:ext cx="971420" cy="10772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신청 관련 부가 서류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11" name="Picture 10">
              <a:extLst>
                <a:ext uri="{FF2B5EF4-FFF2-40B4-BE49-F238E27FC236}">
                  <a16:creationId xmlns:a16="http://schemas.microsoft.com/office/drawing/2014/main" id="{161847CC-63A3-A4E4-EA10-923A9223ED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7418" y="4312303"/>
              <a:ext cx="106458" cy="121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212" name="그룹 211">
            <a:extLst>
              <a:ext uri="{FF2B5EF4-FFF2-40B4-BE49-F238E27FC236}">
                <a16:creationId xmlns:a16="http://schemas.microsoft.com/office/drawing/2014/main" id="{3C1B9866-4A13-70C9-B90D-F99390A80693}"/>
              </a:ext>
            </a:extLst>
          </p:cNvPr>
          <p:cNvGrpSpPr/>
          <p:nvPr/>
        </p:nvGrpSpPr>
        <p:grpSpPr>
          <a:xfrm>
            <a:off x="2235030" y="2395602"/>
            <a:ext cx="505750" cy="144462"/>
            <a:chOff x="2716253" y="2405617"/>
            <a:chExt cx="505750" cy="144462"/>
          </a:xfrm>
        </p:grpSpPr>
        <p:sp>
          <p:nvSpPr>
            <p:cNvPr id="213" name="Rectangle 191">
              <a:extLst>
                <a:ext uri="{FF2B5EF4-FFF2-40B4-BE49-F238E27FC236}">
                  <a16:creationId xmlns:a16="http://schemas.microsoft.com/office/drawing/2014/main" id="{DFC3BA44-B9FB-7B88-B2FB-B6ACF48338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359073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우수인재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graphicFrame>
          <p:nvGraphicFramePr>
            <p:cNvPr id="214" name="개체 213">
              <a:extLst>
                <a:ext uri="{FF2B5EF4-FFF2-40B4-BE49-F238E27FC236}">
                  <a16:creationId xmlns:a16="http://schemas.microsoft.com/office/drawing/2014/main" id="{45CAC7E2-B533-A25E-E023-AE33705897E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3" imgW="145435" imgH="145435" progId="Visio.Drawing.11">
                    <p:embed/>
                  </p:oleObj>
                </mc:Choice>
                <mc:Fallback>
                  <p:oleObj name="Visio" r:id="rId3" imgW="145435" imgH="145435" progId="Visio.Drawing.11">
                    <p:embed/>
                    <p:pic>
                      <p:nvPicPr>
                        <p:cNvPr id="214" name="개체 213">
                          <a:extLst>
                            <a:ext uri="{FF2B5EF4-FFF2-40B4-BE49-F238E27FC236}">
                              <a16:creationId xmlns:a16="http://schemas.microsoft.com/office/drawing/2014/main" id="{22261ED3-03D0-9448-99AF-77AA0123507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5" name="직사각형 214">
            <a:extLst>
              <a:ext uri="{FF2B5EF4-FFF2-40B4-BE49-F238E27FC236}">
                <a16:creationId xmlns:a16="http://schemas.microsoft.com/office/drawing/2014/main" id="{0CC821C6-6CDE-D5F5-B03C-0F804BBC557C}"/>
              </a:ext>
            </a:extLst>
          </p:cNvPr>
          <p:cNvSpPr/>
          <p:nvPr/>
        </p:nvSpPr>
        <p:spPr>
          <a:xfrm>
            <a:off x="2240076" y="4034303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성적증빙자료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.zip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0A63BC4C-5184-175A-39C8-6F52E0994E39}"/>
              </a:ext>
            </a:extLst>
          </p:cNvPr>
          <p:cNvSpPr/>
          <p:nvPr/>
        </p:nvSpPr>
        <p:spPr>
          <a:xfrm>
            <a:off x="3893074" y="4034295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220" name="직사각형 219">
            <a:extLst>
              <a:ext uri="{FF2B5EF4-FFF2-40B4-BE49-F238E27FC236}">
                <a16:creationId xmlns:a16="http://schemas.microsoft.com/office/drawing/2014/main" id="{FCF7AFAC-588D-F215-FC19-C18E886B24F6}"/>
              </a:ext>
            </a:extLst>
          </p:cNvPr>
          <p:cNvSpPr/>
          <p:nvPr/>
        </p:nvSpPr>
        <p:spPr>
          <a:xfrm>
            <a:off x="4201481" y="3793240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</a:p>
        </p:txBody>
      </p:sp>
      <p:sp>
        <p:nvSpPr>
          <p:cNvPr id="221" name="직사각형 220">
            <a:extLst>
              <a:ext uri="{FF2B5EF4-FFF2-40B4-BE49-F238E27FC236}">
                <a16:creationId xmlns:a16="http://schemas.microsoft.com/office/drawing/2014/main" id="{4EDE04CC-0325-5391-74E5-41891764C983}"/>
              </a:ext>
            </a:extLst>
          </p:cNvPr>
          <p:cNvSpPr/>
          <p:nvPr/>
        </p:nvSpPr>
        <p:spPr>
          <a:xfrm>
            <a:off x="4201481" y="4028917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</a:p>
        </p:txBody>
      </p:sp>
      <p:sp>
        <p:nvSpPr>
          <p:cNvPr id="222" name="직사각형 221">
            <a:extLst>
              <a:ext uri="{FF2B5EF4-FFF2-40B4-BE49-F238E27FC236}">
                <a16:creationId xmlns:a16="http://schemas.microsoft.com/office/drawing/2014/main" id="{68F06046-0AD8-6D29-8DB1-A62A2CC91E01}"/>
              </a:ext>
            </a:extLst>
          </p:cNvPr>
          <p:cNvSpPr/>
          <p:nvPr/>
        </p:nvSpPr>
        <p:spPr>
          <a:xfrm>
            <a:off x="4201481" y="4272994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</a:p>
        </p:txBody>
      </p:sp>
      <p:sp>
        <p:nvSpPr>
          <p:cNvPr id="223" name="직사각형 222">
            <a:extLst>
              <a:ext uri="{FF2B5EF4-FFF2-40B4-BE49-F238E27FC236}">
                <a16:creationId xmlns:a16="http://schemas.microsoft.com/office/drawing/2014/main" id="{F0E0BE2D-EB18-FC53-962E-9500349BBF78}"/>
              </a:ext>
            </a:extLst>
          </p:cNvPr>
          <p:cNvSpPr/>
          <p:nvPr/>
        </p:nvSpPr>
        <p:spPr>
          <a:xfrm>
            <a:off x="4201481" y="4509120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</a:p>
        </p:txBody>
      </p:sp>
      <p:sp>
        <p:nvSpPr>
          <p:cNvPr id="224" name="직사각형 223">
            <a:extLst>
              <a:ext uri="{FF2B5EF4-FFF2-40B4-BE49-F238E27FC236}">
                <a16:creationId xmlns:a16="http://schemas.microsoft.com/office/drawing/2014/main" id="{A473C0BE-2538-E218-E4D4-790464D60E8F}"/>
              </a:ext>
            </a:extLst>
          </p:cNvPr>
          <p:cNvSpPr/>
          <p:nvPr/>
        </p:nvSpPr>
        <p:spPr>
          <a:xfrm>
            <a:off x="4201481" y="4737295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</a:p>
        </p:txBody>
      </p:sp>
      <p:sp>
        <p:nvSpPr>
          <p:cNvPr id="225" name="직사각형 224">
            <a:extLst>
              <a:ext uri="{FF2B5EF4-FFF2-40B4-BE49-F238E27FC236}">
                <a16:creationId xmlns:a16="http://schemas.microsoft.com/office/drawing/2014/main" id="{111EBD4D-F2EC-1D9D-E237-BD6FE4E47F19}"/>
              </a:ext>
            </a:extLst>
          </p:cNvPr>
          <p:cNvSpPr/>
          <p:nvPr/>
        </p:nvSpPr>
        <p:spPr>
          <a:xfrm>
            <a:off x="4201481" y="4977172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</a:p>
        </p:txBody>
      </p:sp>
      <p:grpSp>
        <p:nvGrpSpPr>
          <p:cNvPr id="226" name="그룹 225">
            <a:extLst>
              <a:ext uri="{FF2B5EF4-FFF2-40B4-BE49-F238E27FC236}">
                <a16:creationId xmlns:a16="http://schemas.microsoft.com/office/drawing/2014/main" id="{0EE4B0B2-4DD3-9AB1-8125-B4C2477CC768}"/>
              </a:ext>
            </a:extLst>
          </p:cNvPr>
          <p:cNvGrpSpPr/>
          <p:nvPr/>
        </p:nvGrpSpPr>
        <p:grpSpPr>
          <a:xfrm>
            <a:off x="2819969" y="2395602"/>
            <a:ext cx="505750" cy="144462"/>
            <a:chOff x="2716253" y="2405617"/>
            <a:chExt cx="505750" cy="144462"/>
          </a:xfrm>
        </p:grpSpPr>
        <p:sp>
          <p:nvSpPr>
            <p:cNvPr id="227" name="Rectangle 191">
              <a:extLst>
                <a:ext uri="{FF2B5EF4-FFF2-40B4-BE49-F238E27FC236}">
                  <a16:creationId xmlns:a16="http://schemas.microsoft.com/office/drawing/2014/main" id="{71034286-0B35-FA38-0615-84C2AE118C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359073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희망인재</a:t>
              </a:r>
            </a:p>
          </p:txBody>
        </p:sp>
        <p:graphicFrame>
          <p:nvGraphicFramePr>
            <p:cNvPr id="228" name="개체 227">
              <a:extLst>
                <a:ext uri="{FF2B5EF4-FFF2-40B4-BE49-F238E27FC236}">
                  <a16:creationId xmlns:a16="http://schemas.microsoft.com/office/drawing/2014/main" id="{DC477A72-37FC-4D14-5059-E7B50876CDF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3" imgW="145435" imgH="145435" progId="Visio.Drawing.11">
                    <p:embed/>
                  </p:oleObj>
                </mc:Choice>
                <mc:Fallback>
                  <p:oleObj name="Visio" r:id="rId3" imgW="145435" imgH="145435" progId="Visio.Drawing.11">
                    <p:embed/>
                    <p:pic>
                      <p:nvPicPr>
                        <p:cNvPr id="228" name="개체 227">
                          <a:extLst>
                            <a:ext uri="{FF2B5EF4-FFF2-40B4-BE49-F238E27FC236}">
                              <a16:creationId xmlns:a16="http://schemas.microsoft.com/office/drawing/2014/main" id="{009F3A81-6D5E-57F5-A5EB-936C128B3F5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9" name="그룹 228">
            <a:extLst>
              <a:ext uri="{FF2B5EF4-FFF2-40B4-BE49-F238E27FC236}">
                <a16:creationId xmlns:a16="http://schemas.microsoft.com/office/drawing/2014/main" id="{E2D32BCD-D4EC-928E-1FA5-F00BA12A7ABA}"/>
              </a:ext>
            </a:extLst>
          </p:cNvPr>
          <p:cNvGrpSpPr/>
          <p:nvPr/>
        </p:nvGrpSpPr>
        <p:grpSpPr>
          <a:xfrm>
            <a:off x="3391704" y="2401488"/>
            <a:ext cx="596201" cy="144463"/>
            <a:chOff x="3327015" y="1527346"/>
            <a:chExt cx="596201" cy="144463"/>
          </a:xfrm>
        </p:grpSpPr>
        <p:sp>
          <p:nvSpPr>
            <p:cNvPr id="230" name="Rectangle 191">
              <a:extLst>
                <a:ext uri="{FF2B5EF4-FFF2-40B4-BE49-F238E27FC236}">
                  <a16:creationId xmlns:a16="http://schemas.microsoft.com/office/drawing/2014/main" id="{83AA0C0C-2901-A7C0-044F-95A14A049D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4375" y="1539830"/>
              <a:ext cx="448841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근로자자녀</a:t>
              </a:r>
            </a:p>
          </p:txBody>
        </p:sp>
        <p:graphicFrame>
          <p:nvGraphicFramePr>
            <p:cNvPr id="231" name="개체 230">
              <a:extLst>
                <a:ext uri="{FF2B5EF4-FFF2-40B4-BE49-F238E27FC236}">
                  <a16:creationId xmlns:a16="http://schemas.microsoft.com/office/drawing/2014/main" id="{FB62397B-0A35-3E55-2240-59D064F58AB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27015" y="1527346"/>
            <a:ext cx="144462" cy="144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6" imgW="145435" imgH="145435" progId="Visio.Drawing.11">
                    <p:embed/>
                  </p:oleObj>
                </mc:Choice>
                <mc:Fallback>
                  <p:oleObj name="Visio" r:id="rId6" imgW="145435" imgH="145435" progId="Visio.Drawing.11">
                    <p:embed/>
                    <p:pic>
                      <p:nvPicPr>
                        <p:cNvPr id="231" name="개체 230">
                          <a:extLst>
                            <a:ext uri="{FF2B5EF4-FFF2-40B4-BE49-F238E27FC236}">
                              <a16:creationId xmlns:a16="http://schemas.microsoft.com/office/drawing/2014/main" id="{25BF2C32-D9FA-2256-CE8A-02AF5387441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27015" y="1527346"/>
                          <a:ext cx="144462" cy="1444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5" name="직사각형 234">
            <a:extLst>
              <a:ext uri="{FF2B5EF4-FFF2-40B4-BE49-F238E27FC236}">
                <a16:creationId xmlns:a16="http://schemas.microsoft.com/office/drawing/2014/main" id="{86DC3A7F-6D69-A298-2D06-4E68B8CA1B11}"/>
              </a:ext>
            </a:extLst>
          </p:cNvPr>
          <p:cNvSpPr/>
          <p:nvPr/>
        </p:nvSpPr>
        <p:spPr>
          <a:xfrm>
            <a:off x="2240076" y="3092829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한국노총오산시지부장학생추천서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6" name="직사각형 235">
            <a:extLst>
              <a:ext uri="{FF2B5EF4-FFF2-40B4-BE49-F238E27FC236}">
                <a16:creationId xmlns:a16="http://schemas.microsoft.com/office/drawing/2014/main" id="{6CADEEDB-75CB-AEC4-99FF-E3A02E1046FE}"/>
              </a:ext>
            </a:extLst>
          </p:cNvPr>
          <p:cNvSpPr/>
          <p:nvPr/>
        </p:nvSpPr>
        <p:spPr>
          <a:xfrm>
            <a:off x="3893074" y="3092821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237" name="직사각형 236">
            <a:extLst>
              <a:ext uri="{FF2B5EF4-FFF2-40B4-BE49-F238E27FC236}">
                <a16:creationId xmlns:a16="http://schemas.microsoft.com/office/drawing/2014/main" id="{532EC7CF-192B-59ED-38B2-4445E2016C7D}"/>
              </a:ext>
            </a:extLst>
          </p:cNvPr>
          <p:cNvSpPr/>
          <p:nvPr/>
        </p:nvSpPr>
        <p:spPr>
          <a:xfrm>
            <a:off x="4201481" y="3092813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</a:p>
        </p:txBody>
      </p:sp>
      <p:sp>
        <p:nvSpPr>
          <p:cNvPr id="240" name="직사각형 239">
            <a:extLst>
              <a:ext uri="{FF2B5EF4-FFF2-40B4-BE49-F238E27FC236}">
                <a16:creationId xmlns:a16="http://schemas.microsoft.com/office/drawing/2014/main" id="{CCB4DDDA-E5DF-C889-2327-79A517C74C5C}"/>
              </a:ext>
            </a:extLst>
          </p:cNvPr>
          <p:cNvSpPr/>
          <p:nvPr/>
        </p:nvSpPr>
        <p:spPr>
          <a:xfrm>
            <a:off x="6397011" y="5715276"/>
            <a:ext cx="392727" cy="19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목록</a:t>
            </a:r>
          </a:p>
        </p:txBody>
      </p:sp>
      <p:sp>
        <p:nvSpPr>
          <p:cNvPr id="241" name="직사각형 240">
            <a:extLst>
              <a:ext uri="{FF2B5EF4-FFF2-40B4-BE49-F238E27FC236}">
                <a16:creationId xmlns:a16="http://schemas.microsoft.com/office/drawing/2014/main" id="{39BD2CDC-3ABB-E838-C4B8-EF6C201B9987}"/>
              </a:ext>
            </a:extLst>
          </p:cNvPr>
          <p:cNvSpPr/>
          <p:nvPr/>
        </p:nvSpPr>
        <p:spPr>
          <a:xfrm>
            <a:off x="5936915" y="5715276"/>
            <a:ext cx="392727" cy="198000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신청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95F1495-2362-8912-0E3E-025FCFF6AAEF}"/>
              </a:ext>
            </a:extLst>
          </p:cNvPr>
          <p:cNvSpPr/>
          <p:nvPr/>
        </p:nvSpPr>
        <p:spPr>
          <a:xfrm>
            <a:off x="3314733" y="2621855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기업체재직증명서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9AB6ED8-F62C-12B2-1531-BE95DC0BDAEB}"/>
              </a:ext>
            </a:extLst>
          </p:cNvPr>
          <p:cNvSpPr/>
          <p:nvPr/>
        </p:nvSpPr>
        <p:spPr>
          <a:xfrm>
            <a:off x="4967731" y="2621847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09416A3-EB41-E039-225F-6F7B4F959FF7}"/>
              </a:ext>
            </a:extLst>
          </p:cNvPr>
          <p:cNvSpPr/>
          <p:nvPr/>
        </p:nvSpPr>
        <p:spPr>
          <a:xfrm>
            <a:off x="5276138" y="2621839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</a:p>
        </p:txBody>
      </p:sp>
      <p:sp>
        <p:nvSpPr>
          <p:cNvPr id="15" name="Rectangle 191">
            <a:extLst>
              <a:ext uri="{FF2B5EF4-FFF2-40B4-BE49-F238E27FC236}">
                <a16:creationId xmlns:a16="http://schemas.microsoft.com/office/drawing/2014/main" id="{2DCC9491-3676-7551-85DB-AC46367613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2981" y="2644292"/>
            <a:ext cx="359073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재직기간</a:t>
            </a:r>
            <a:endParaRPr kumimoji="0" lang="ko-KR" altLang="en-US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15F8BAF-D4D0-DEFA-F7D5-0F1E3FC64C27}"/>
              </a:ext>
            </a:extLst>
          </p:cNvPr>
          <p:cNvSpPr/>
          <p:nvPr/>
        </p:nvSpPr>
        <p:spPr>
          <a:xfrm>
            <a:off x="2626874" y="2622934"/>
            <a:ext cx="432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Rectangle 191">
            <a:extLst>
              <a:ext uri="{FF2B5EF4-FFF2-40B4-BE49-F238E27FC236}">
                <a16:creationId xmlns:a16="http://schemas.microsoft.com/office/drawing/2014/main" id="{8A433E42-A824-84FC-5EEC-C2993939AA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7077" y="2644292"/>
            <a:ext cx="17953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첨부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A3152E1-A5A8-519C-B64F-CDE05E03CF99}"/>
              </a:ext>
            </a:extLst>
          </p:cNvPr>
          <p:cNvSpPr/>
          <p:nvPr/>
        </p:nvSpPr>
        <p:spPr>
          <a:xfrm>
            <a:off x="3319181" y="2863572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가족관계증명서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6FC2135-052D-7A14-25B2-336D015C7B63}"/>
              </a:ext>
            </a:extLst>
          </p:cNvPr>
          <p:cNvSpPr/>
          <p:nvPr/>
        </p:nvSpPr>
        <p:spPr>
          <a:xfrm>
            <a:off x="4972179" y="2863564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525D350-8685-3C98-51EA-A3F594C733E9}"/>
              </a:ext>
            </a:extLst>
          </p:cNvPr>
          <p:cNvSpPr/>
          <p:nvPr/>
        </p:nvSpPr>
        <p:spPr>
          <a:xfrm>
            <a:off x="5280586" y="2863556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</a:p>
        </p:txBody>
      </p:sp>
      <p:sp>
        <p:nvSpPr>
          <p:cNvPr id="22" name="Rectangle 191">
            <a:extLst>
              <a:ext uri="{FF2B5EF4-FFF2-40B4-BE49-F238E27FC236}">
                <a16:creationId xmlns:a16="http://schemas.microsoft.com/office/drawing/2014/main" id="{F013EA60-9C54-EA84-50C9-98A54AE758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7429" y="2882245"/>
            <a:ext cx="359073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가족인원</a:t>
            </a:r>
            <a:endParaRPr kumimoji="0" lang="ko-KR" altLang="en-US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70B36FC-EE48-D55F-8A36-DB7693BF72C0}"/>
              </a:ext>
            </a:extLst>
          </p:cNvPr>
          <p:cNvSpPr/>
          <p:nvPr/>
        </p:nvSpPr>
        <p:spPr>
          <a:xfrm>
            <a:off x="2631322" y="2860887"/>
            <a:ext cx="432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명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" name="Rectangle 191">
            <a:extLst>
              <a:ext uri="{FF2B5EF4-FFF2-40B4-BE49-F238E27FC236}">
                <a16:creationId xmlns:a16="http://schemas.microsoft.com/office/drawing/2014/main" id="{53125E58-1B83-B002-6FF1-152327D2EF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1525" y="2882245"/>
            <a:ext cx="17953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첨부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DF6AF25-E602-BC78-CA91-69D4351BD751}"/>
              </a:ext>
            </a:extLst>
          </p:cNvPr>
          <p:cNvSpPr/>
          <p:nvPr/>
        </p:nvSpPr>
        <p:spPr>
          <a:xfrm>
            <a:off x="3259961" y="3565714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주민등록초본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B208DE6-7043-1C1C-922F-3A0A4C75BCA7}"/>
              </a:ext>
            </a:extLst>
          </p:cNvPr>
          <p:cNvSpPr/>
          <p:nvPr/>
        </p:nvSpPr>
        <p:spPr>
          <a:xfrm>
            <a:off x="4912959" y="3565706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1562625-EECD-8E65-E3BE-C9E9F7716293}"/>
              </a:ext>
            </a:extLst>
          </p:cNvPr>
          <p:cNvSpPr/>
          <p:nvPr/>
        </p:nvSpPr>
        <p:spPr>
          <a:xfrm>
            <a:off x="5221366" y="3565698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</a:p>
        </p:txBody>
      </p:sp>
      <p:sp>
        <p:nvSpPr>
          <p:cNvPr id="28" name="Rectangle 191">
            <a:extLst>
              <a:ext uri="{FF2B5EF4-FFF2-40B4-BE49-F238E27FC236}">
                <a16:creationId xmlns:a16="http://schemas.microsoft.com/office/drawing/2014/main" id="{7E59BA34-515D-EBC9-E648-92E9F04D83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5690" y="3580990"/>
            <a:ext cx="17953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첨부</a:t>
            </a:r>
          </a:p>
        </p:txBody>
      </p:sp>
      <p:sp>
        <p:nvSpPr>
          <p:cNvPr id="29" name="Rectangle 191">
            <a:extLst>
              <a:ext uri="{FF2B5EF4-FFF2-40B4-BE49-F238E27FC236}">
                <a16:creationId xmlns:a16="http://schemas.microsoft.com/office/drawing/2014/main" id="{CFCDCE05-EFE2-EC4F-88DC-B45BC27335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0452" y="3581416"/>
            <a:ext cx="359073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거주기간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9D52A35-BB68-1A5E-EE8F-910B678E6D09}"/>
              </a:ext>
            </a:extLst>
          </p:cNvPr>
          <p:cNvSpPr/>
          <p:nvPr/>
        </p:nvSpPr>
        <p:spPr>
          <a:xfrm>
            <a:off x="2633784" y="3560058"/>
            <a:ext cx="36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년</a:t>
            </a: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B685395C-8B89-7179-E380-1B7034877D01}"/>
              </a:ext>
            </a:extLst>
          </p:cNvPr>
          <p:cNvSpPr>
            <a:spLocks noChangeAspect="1"/>
          </p:cNvSpPr>
          <p:nvPr/>
        </p:nvSpPr>
        <p:spPr>
          <a:xfrm>
            <a:off x="3725790" y="2251904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3CE262E8-D64C-3A39-B7D9-0F42C936E453}"/>
              </a:ext>
            </a:extLst>
          </p:cNvPr>
          <p:cNvSpPr>
            <a:spLocks noChangeAspect="1"/>
          </p:cNvSpPr>
          <p:nvPr/>
        </p:nvSpPr>
        <p:spPr>
          <a:xfrm>
            <a:off x="512127" y="2613059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325EFAAF-F6A3-B7C2-9708-39D94DD255C4}"/>
              </a:ext>
            </a:extLst>
          </p:cNvPr>
          <p:cNvSpPr>
            <a:spLocks noChangeAspect="1"/>
          </p:cNvSpPr>
          <p:nvPr/>
        </p:nvSpPr>
        <p:spPr>
          <a:xfrm>
            <a:off x="512127" y="2853658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3502B756-B038-4B0D-1D32-22F19E314FCD}"/>
              </a:ext>
            </a:extLst>
          </p:cNvPr>
          <p:cNvSpPr>
            <a:spLocks noChangeAspect="1"/>
          </p:cNvSpPr>
          <p:nvPr/>
        </p:nvSpPr>
        <p:spPr>
          <a:xfrm>
            <a:off x="512127" y="3092829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C9CB1079-0412-B0A9-1829-A4645CF99430}"/>
              </a:ext>
            </a:extLst>
          </p:cNvPr>
          <p:cNvSpPr>
            <a:spLocks noChangeAspect="1"/>
          </p:cNvSpPr>
          <p:nvPr/>
        </p:nvSpPr>
        <p:spPr>
          <a:xfrm>
            <a:off x="512127" y="3550776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5EE44461-0205-4906-AFD0-624D5B11D23E}"/>
              </a:ext>
            </a:extLst>
          </p:cNvPr>
          <p:cNvGrpSpPr/>
          <p:nvPr/>
        </p:nvGrpSpPr>
        <p:grpSpPr>
          <a:xfrm>
            <a:off x="2248768" y="3328939"/>
            <a:ext cx="2704513" cy="144016"/>
            <a:chOff x="1897884" y="2847629"/>
            <a:chExt cx="2704513" cy="144016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0877FAC4-3B9F-1974-54D7-B114EA394A4E}"/>
                </a:ext>
              </a:extLst>
            </p:cNvPr>
            <p:cNvSpPr/>
            <p:nvPr/>
          </p:nvSpPr>
          <p:spPr>
            <a:xfrm>
              <a:off x="1897884" y="2847637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추천서</a:t>
              </a:r>
              <a:r>
                <a:rPr kumimoji="0" lang="en-US" altLang="ko-KR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325754CC-3EAA-3E54-01CF-978D5372DF5F}"/>
                </a:ext>
              </a:extLst>
            </p:cNvPr>
            <p:cNvSpPr/>
            <p:nvPr/>
          </p:nvSpPr>
          <p:spPr>
            <a:xfrm>
              <a:off x="3550882" y="2847629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제출</a:t>
              </a: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3F71CBCA-F880-7E78-C171-815CC005985C}"/>
                </a:ext>
              </a:extLst>
            </p:cNvPr>
            <p:cNvSpPr/>
            <p:nvPr/>
          </p:nvSpPr>
          <p:spPr>
            <a:xfrm>
              <a:off x="3859392" y="2847629"/>
              <a:ext cx="264174" cy="144016"/>
            </a:xfrm>
            <a:prstGeom prst="rect">
              <a:avLst/>
            </a:prstGeom>
            <a:solidFill>
              <a:srgbClr val="66FF66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A8249FFA-70C0-01F8-3455-B57B4713B398}"/>
                </a:ext>
              </a:extLst>
            </p:cNvPr>
            <p:cNvSpPr/>
            <p:nvPr/>
          </p:nvSpPr>
          <p:spPr>
            <a:xfrm>
              <a:off x="4176942" y="2847629"/>
              <a:ext cx="425455" cy="14401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양식받기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90DA505C-13D1-D846-46C7-1EBA5D068CC1}"/>
              </a:ext>
            </a:extLst>
          </p:cNvPr>
          <p:cNvSpPr/>
          <p:nvPr/>
        </p:nvSpPr>
        <p:spPr>
          <a:xfrm>
            <a:off x="668524" y="3289293"/>
            <a:ext cx="6121214" cy="21600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17A9457D-0071-BBE5-C881-7DA37104AF92}"/>
              </a:ext>
            </a:extLst>
          </p:cNvPr>
          <p:cNvSpPr>
            <a:spLocks noChangeAspect="1"/>
          </p:cNvSpPr>
          <p:nvPr/>
        </p:nvSpPr>
        <p:spPr>
          <a:xfrm>
            <a:off x="512127" y="3335305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EFCB28A4-2EF5-2FF7-5CF7-8D633167A793}"/>
              </a:ext>
            </a:extLst>
          </p:cNvPr>
          <p:cNvSpPr/>
          <p:nvPr/>
        </p:nvSpPr>
        <p:spPr>
          <a:xfrm>
            <a:off x="668524" y="5173118"/>
            <a:ext cx="6121214" cy="21600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F569B67F-8D85-9926-398A-851B4C8C7ADF}"/>
              </a:ext>
            </a:extLst>
          </p:cNvPr>
          <p:cNvSpPr>
            <a:spLocks noChangeAspect="1"/>
          </p:cNvSpPr>
          <p:nvPr/>
        </p:nvSpPr>
        <p:spPr>
          <a:xfrm>
            <a:off x="512127" y="5219130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266E737D-4089-F8A2-86F3-A129CCB1C1F6}"/>
              </a:ext>
            </a:extLst>
          </p:cNvPr>
          <p:cNvGrpSpPr/>
          <p:nvPr/>
        </p:nvGrpSpPr>
        <p:grpSpPr>
          <a:xfrm>
            <a:off x="2243737" y="5205354"/>
            <a:ext cx="3233421" cy="147760"/>
            <a:chOff x="2011811" y="4800927"/>
            <a:chExt cx="3233421" cy="147760"/>
          </a:xfrm>
        </p:grpSpPr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D1E37928-EE21-036D-79FE-178DE9B6BE6C}"/>
                </a:ext>
              </a:extLst>
            </p:cNvPr>
            <p:cNvGrpSpPr/>
            <p:nvPr/>
          </p:nvGrpSpPr>
          <p:grpSpPr>
            <a:xfrm>
              <a:off x="2858269" y="4804671"/>
              <a:ext cx="2386963" cy="144016"/>
              <a:chOff x="1897884" y="4476806"/>
              <a:chExt cx="2386963" cy="144016"/>
            </a:xfrm>
          </p:grpSpPr>
          <p:sp>
            <p:nvSpPr>
              <p:cNvPr id="51" name="직사각형 50">
                <a:extLst>
                  <a:ext uri="{FF2B5EF4-FFF2-40B4-BE49-F238E27FC236}">
                    <a16:creationId xmlns:a16="http://schemas.microsoft.com/office/drawing/2014/main" id="{304391BF-C315-1B1C-150D-6FFB1F527DA6}"/>
                  </a:ext>
                </a:extLst>
              </p:cNvPr>
              <p:cNvSpPr/>
              <p:nvPr/>
            </p:nvSpPr>
            <p:spPr>
              <a:xfrm>
                <a:off x="1897884" y="4476814"/>
                <a:ext cx="1620000" cy="144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36000" rIns="36000" rtlCol="0" anchor="ctr"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52" name="직사각형 51">
                <a:extLst>
                  <a:ext uri="{FF2B5EF4-FFF2-40B4-BE49-F238E27FC236}">
                    <a16:creationId xmlns:a16="http://schemas.microsoft.com/office/drawing/2014/main" id="{EFCB4D38-5F1E-FB16-C833-F1AB0FC90279}"/>
                  </a:ext>
                </a:extLst>
              </p:cNvPr>
              <p:cNvSpPr/>
              <p:nvPr/>
            </p:nvSpPr>
            <p:spPr>
              <a:xfrm>
                <a:off x="3550882" y="4476806"/>
                <a:ext cx="264174" cy="144016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추가</a:t>
                </a:r>
              </a:p>
            </p:txBody>
          </p:sp>
          <p:sp>
            <p:nvSpPr>
              <p:cNvPr id="53" name="직사각형 52">
                <a:extLst>
                  <a:ext uri="{FF2B5EF4-FFF2-40B4-BE49-F238E27FC236}">
                    <a16:creationId xmlns:a16="http://schemas.microsoft.com/office/drawing/2014/main" id="{E62557BF-7C8C-E45E-E6B9-A7D09903AFEC}"/>
                  </a:ext>
                </a:extLst>
              </p:cNvPr>
              <p:cNvSpPr/>
              <p:nvPr/>
            </p:nvSpPr>
            <p:spPr>
              <a:xfrm>
                <a:off x="3859392" y="4476806"/>
                <a:ext cx="425455" cy="144016"/>
              </a:xfrm>
              <a:prstGeom prst="rect">
                <a:avLst/>
              </a:prstGeom>
              <a:solidFill>
                <a:srgbClr val="FFFF00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7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양식받기</a:t>
                </a:r>
                <a:endPara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48" name="Rectangle 191">
              <a:extLst>
                <a:ext uri="{FF2B5EF4-FFF2-40B4-BE49-F238E27FC236}">
                  <a16:creationId xmlns:a16="http://schemas.microsoft.com/office/drawing/2014/main" id="{AFBCB357-F24C-20EB-DE95-C97C852A8F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1811" y="4819066"/>
              <a:ext cx="179536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성적</a:t>
              </a: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518B9617-77BF-4AE9-8E8D-D2119D461115}"/>
                </a:ext>
              </a:extLst>
            </p:cNvPr>
            <p:cNvSpPr/>
            <p:nvPr/>
          </p:nvSpPr>
          <p:spPr>
            <a:xfrm>
              <a:off x="2216445" y="4800927"/>
              <a:ext cx="36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4.5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0" name="Rectangle 191">
              <a:extLst>
                <a:ext uri="{FF2B5EF4-FFF2-40B4-BE49-F238E27FC236}">
                  <a16:creationId xmlns:a16="http://schemas.microsoft.com/office/drawing/2014/main" id="{6E2D0DE0-BB26-B525-4992-8AF292E701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0882" y="4819066"/>
              <a:ext cx="179536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첨부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353775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9C1E9-D77D-E184-3555-8983F1779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3B70742-F80A-9169-8CAE-5C434DC60FF7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고등학생장학금 신청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788E701-55D2-C670-51F1-F767E8B46D74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프로그램신청관리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고등학생장학금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장학금신청</a:t>
            </a: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1A34AA56-681F-834E-4189-4C8B2AA305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4985811"/>
              </p:ext>
            </p:extLst>
          </p:nvPr>
        </p:nvGraphicFramePr>
        <p:xfrm>
          <a:off x="6969418" y="2548005"/>
          <a:ext cx="2772114" cy="3387899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프로그램신청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고등학생장학금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조회 화면 목록에서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신청하기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클릭 시 보이는 화면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전형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다자녀가정자녀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전형별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지방세 세목별 과세증명서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보험료 납입확인서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가족관계증명서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지방세 세목별 과세증명서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재산세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부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모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학생 합산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)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과제증명서 기반 재산세를 입력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첨부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제출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제출 서류 파일 선택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첨부완료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받기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시 첨부된 제출 서류 파일 다운로드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보험료 납입확인서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납부액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부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모 합산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)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건강보험료 납부액을 입력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첨부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제출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제출 서류 파일 선택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첨부완료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받기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시 첨부된 제출 서류 파일 다운로드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가족관계증명서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가족인원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신청 회원의 가족인원 수를 입력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첨부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제출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제출 서류 파일 선택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첨부완료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받기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시 첨부된 제출 서류 파일 다운로드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추천서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첨부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제출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제출 서류 파일 선택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첨부완료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받기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시 첨부된 제출 서류 파일 다운로드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양식받기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시 추천서 양식 파일을 다운 받는다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FF1A4249-BF4D-412D-F6AF-556FF7D3C00E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pah_application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4ADE14C-B378-F1E3-D8DE-57B33EB2ED82}"/>
              </a:ext>
            </a:extLst>
          </p:cNvPr>
          <p:cNvSpPr/>
          <p:nvPr/>
        </p:nvSpPr>
        <p:spPr>
          <a:xfrm>
            <a:off x="165100" y="1376363"/>
            <a:ext cx="6732116" cy="460414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7C29C40-FCAD-2E43-3C29-DA7AAAC109AA}"/>
              </a:ext>
            </a:extLst>
          </p:cNvPr>
          <p:cNvSpPr/>
          <p:nvPr/>
        </p:nvSpPr>
        <p:spPr>
          <a:xfrm>
            <a:off x="292846" y="1448780"/>
            <a:ext cx="1202252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800" b="1" dirty="0">
                <a:solidFill>
                  <a:prstClr val="black"/>
                </a:solidFill>
              </a:rPr>
              <a:t>고등학생 장학금 신청정보</a:t>
            </a:r>
          </a:p>
        </p:txBody>
      </p:sp>
      <p:sp>
        <p:nvSpPr>
          <p:cNvPr id="169" name="직사각형 168">
            <a:extLst>
              <a:ext uri="{FF2B5EF4-FFF2-40B4-BE49-F238E27FC236}">
                <a16:creationId xmlns:a16="http://schemas.microsoft.com/office/drawing/2014/main" id="{A5070147-E2C1-339A-01F8-5EAE514529C7}"/>
              </a:ext>
            </a:extLst>
          </p:cNvPr>
          <p:cNvSpPr/>
          <p:nvPr/>
        </p:nvSpPr>
        <p:spPr>
          <a:xfrm>
            <a:off x="165100" y="6023481"/>
            <a:ext cx="6732116" cy="46622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70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498A32F9-0F3E-2162-E3F3-D31CFEEF21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6165304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1" name="TextBox 170">
            <a:extLst>
              <a:ext uri="{FF2B5EF4-FFF2-40B4-BE49-F238E27FC236}">
                <a16:creationId xmlns:a16="http://schemas.microsoft.com/office/drawing/2014/main" id="{B18B22AA-E9A6-215C-3DD6-10FAEC17E904}"/>
              </a:ext>
            </a:extLst>
          </p:cNvPr>
          <p:cNvSpPr txBox="1"/>
          <p:nvPr/>
        </p:nvSpPr>
        <p:spPr>
          <a:xfrm>
            <a:off x="1172580" y="6077394"/>
            <a:ext cx="31242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경기 오산시 성호대로 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141 (</a:t>
            </a:r>
            <a:r>
              <a:rPr lang="ko-KR" altLang="en-US" sz="600" b="0" i="0" dirty="0" err="1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오산동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오산시청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오산교육재단</a:t>
            </a:r>
            <a:endParaRPr lang="en-US" altLang="ko-KR" sz="600" b="0" i="0" dirty="0">
              <a:solidFill>
                <a:srgbClr val="666666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>
              <a:buNone/>
            </a:pP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TEL. (031)8036-8905 FAX. (031)8036-8905</a:t>
            </a:r>
          </a:p>
          <a:p>
            <a:pPr algn="l">
              <a:buNone/>
            </a:pP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Copyright©2025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오산교육재단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 ALL RIGHTSRESERVED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8958E24-E230-5F59-85F5-9BAA79EC6B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6055750"/>
              </p:ext>
            </p:extLst>
          </p:nvPr>
        </p:nvGraphicFramePr>
        <p:xfrm>
          <a:off x="278978" y="1628800"/>
          <a:ext cx="6510760" cy="39904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5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3668863434"/>
                    </a:ext>
                  </a:extLst>
                </a:gridCol>
                <a:gridCol w="47530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구분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고등학생 장학금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894265"/>
                  </a:ext>
                </a:extLst>
              </a:tr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</a:t>
                      </a:r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하반기 고등학생 장학금 신청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접수기간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2025.09.20 10:00 </a:t>
                      </a:r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~ 2025.09.30 10:00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전형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4735">
                <a:tc rowSpan="3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전형별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지방세 세목별 과세증명서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2230354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보험료 납입확인서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8191838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가족관계증명서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4629346"/>
                  </a:ext>
                </a:extLst>
              </a:tr>
              <a:tr h="234735">
                <a:tc rowSpan="10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공통 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추천서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주민등록초본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1958612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주민등록등본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164179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성적증빙자료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2108985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국민기초생활보장수급자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차상위계층확인서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한부모가족보호대상확인서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장애인증명서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첨부파일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8089092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8418894"/>
                  </a:ext>
                </a:extLst>
              </a:tr>
            </a:tbl>
          </a:graphicData>
        </a:graphic>
      </p:graphicFrame>
      <p:grpSp>
        <p:nvGrpSpPr>
          <p:cNvPr id="70" name="그룹 69">
            <a:extLst>
              <a:ext uri="{FF2B5EF4-FFF2-40B4-BE49-F238E27FC236}">
                <a16:creationId xmlns:a16="http://schemas.microsoft.com/office/drawing/2014/main" id="{A6AE9221-33D7-54D5-AAAF-953CFE27FEF9}"/>
              </a:ext>
            </a:extLst>
          </p:cNvPr>
          <p:cNvGrpSpPr/>
          <p:nvPr/>
        </p:nvGrpSpPr>
        <p:grpSpPr>
          <a:xfrm>
            <a:off x="4703872" y="2374632"/>
            <a:ext cx="775054" cy="144462"/>
            <a:chOff x="2716253" y="2405617"/>
            <a:chExt cx="775054" cy="144462"/>
          </a:xfrm>
        </p:grpSpPr>
        <p:sp>
          <p:nvSpPr>
            <p:cNvPr id="71" name="Rectangle 191">
              <a:extLst>
                <a:ext uri="{FF2B5EF4-FFF2-40B4-BE49-F238E27FC236}">
                  <a16:creationId xmlns:a16="http://schemas.microsoft.com/office/drawing/2014/main" id="{282C597C-9C06-ED4A-1249-199C2396B9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628377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다문화가정자녀</a:t>
              </a:r>
            </a:p>
          </p:txBody>
        </p:sp>
        <p:graphicFrame>
          <p:nvGraphicFramePr>
            <p:cNvPr id="72" name="개체 71">
              <a:extLst>
                <a:ext uri="{FF2B5EF4-FFF2-40B4-BE49-F238E27FC236}">
                  <a16:creationId xmlns:a16="http://schemas.microsoft.com/office/drawing/2014/main" id="{D9337260-63EC-A882-3588-3FCF1E438CB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3" imgW="145435" imgH="145435" progId="Visio.Drawing.11">
                    <p:embed/>
                  </p:oleObj>
                </mc:Choice>
                <mc:Fallback>
                  <p:oleObj name="Visio" r:id="rId3" imgW="145435" imgH="145435" progId="Visio.Drawing.11">
                    <p:embed/>
                    <p:pic>
                      <p:nvPicPr>
                        <p:cNvPr id="1071" name="개체 1070">
                          <a:extLst>
                            <a:ext uri="{FF2B5EF4-FFF2-40B4-BE49-F238E27FC236}">
                              <a16:creationId xmlns:a16="http://schemas.microsoft.com/office/drawing/2014/main" id="{C49FDE2C-BFE2-360B-FB56-F254D69E2C7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0305A816-599D-2665-07C0-67B220CBB021}"/>
              </a:ext>
            </a:extLst>
          </p:cNvPr>
          <p:cNvSpPr/>
          <p:nvPr/>
        </p:nvSpPr>
        <p:spPr>
          <a:xfrm>
            <a:off x="2069775" y="3781097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주민등록등본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B9F0604A-F49D-B7EF-9153-C229C72C14BA}"/>
              </a:ext>
            </a:extLst>
          </p:cNvPr>
          <p:cNvSpPr/>
          <p:nvPr/>
        </p:nvSpPr>
        <p:spPr>
          <a:xfrm>
            <a:off x="3722773" y="3781089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036198CA-5E20-8C1B-354F-17CFC6348CAC}"/>
              </a:ext>
            </a:extLst>
          </p:cNvPr>
          <p:cNvSpPr/>
          <p:nvPr/>
        </p:nvSpPr>
        <p:spPr>
          <a:xfrm>
            <a:off x="2069775" y="4257100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68722F92-DF2D-B9C1-882C-6B0ED570E0BF}"/>
              </a:ext>
            </a:extLst>
          </p:cNvPr>
          <p:cNvSpPr/>
          <p:nvPr/>
        </p:nvSpPr>
        <p:spPr>
          <a:xfrm>
            <a:off x="3722773" y="4257092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E7E704A7-FBA2-2E89-F002-46A8B071738F}"/>
              </a:ext>
            </a:extLst>
          </p:cNvPr>
          <p:cNvSpPr/>
          <p:nvPr/>
        </p:nvSpPr>
        <p:spPr>
          <a:xfrm>
            <a:off x="2069775" y="4485275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62CB45D4-1F0E-C314-EC4D-DDDCC04CAF1D}"/>
              </a:ext>
            </a:extLst>
          </p:cNvPr>
          <p:cNvSpPr/>
          <p:nvPr/>
        </p:nvSpPr>
        <p:spPr>
          <a:xfrm>
            <a:off x="3722773" y="4485267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6EF5B893-4941-FFD9-A1F8-854756E2328E}"/>
              </a:ext>
            </a:extLst>
          </p:cNvPr>
          <p:cNvSpPr/>
          <p:nvPr/>
        </p:nvSpPr>
        <p:spPr>
          <a:xfrm>
            <a:off x="2069775" y="4727359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dirty="0" err="1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한부모가족보호대상확인서</a:t>
            </a:r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8A3273F5-8E55-06B6-AD44-1B215E33C204}"/>
              </a:ext>
            </a:extLst>
          </p:cNvPr>
          <p:cNvSpPr/>
          <p:nvPr/>
        </p:nvSpPr>
        <p:spPr>
          <a:xfrm>
            <a:off x="3722773" y="4727351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ABBDD1F3-AFDC-484D-92CB-110F50E5C35D}"/>
              </a:ext>
            </a:extLst>
          </p:cNvPr>
          <p:cNvSpPr/>
          <p:nvPr/>
        </p:nvSpPr>
        <p:spPr>
          <a:xfrm>
            <a:off x="2069775" y="4963158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장애인증명서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F543C20C-7517-80A0-2088-58AC79DE1425}"/>
              </a:ext>
            </a:extLst>
          </p:cNvPr>
          <p:cNvSpPr/>
          <p:nvPr/>
        </p:nvSpPr>
        <p:spPr>
          <a:xfrm>
            <a:off x="3722773" y="4963150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2997FFD4-11D2-4985-00A1-D3D8A29E7513}"/>
              </a:ext>
            </a:extLst>
          </p:cNvPr>
          <p:cNvGrpSpPr/>
          <p:nvPr/>
        </p:nvGrpSpPr>
        <p:grpSpPr>
          <a:xfrm>
            <a:off x="2105056" y="5453396"/>
            <a:ext cx="1105196" cy="128396"/>
            <a:chOff x="3438680" y="4305150"/>
            <a:chExt cx="1105196" cy="128396"/>
          </a:xfrm>
        </p:grpSpPr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2482A731-CE52-987A-A999-B40BBBF91530}"/>
                </a:ext>
              </a:extLst>
            </p:cNvPr>
            <p:cNvSpPr txBox="1"/>
            <p:nvPr/>
          </p:nvSpPr>
          <p:spPr>
            <a:xfrm>
              <a:off x="3438680" y="4305150"/>
              <a:ext cx="971420" cy="10772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신청 관련 부가 서류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94" name="Picture 10">
              <a:extLst>
                <a:ext uri="{FF2B5EF4-FFF2-40B4-BE49-F238E27FC236}">
                  <a16:creationId xmlns:a16="http://schemas.microsoft.com/office/drawing/2014/main" id="{EF417AAF-68B4-1580-9C92-F6FA1348F4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7418" y="4312303"/>
              <a:ext cx="106458" cy="121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C631039E-1F40-9C15-7DF9-112FA47B5CD0}"/>
              </a:ext>
            </a:extLst>
          </p:cNvPr>
          <p:cNvGrpSpPr/>
          <p:nvPr/>
        </p:nvGrpSpPr>
        <p:grpSpPr>
          <a:xfrm>
            <a:off x="3291469" y="5453396"/>
            <a:ext cx="1105196" cy="128396"/>
            <a:chOff x="3438680" y="4305150"/>
            <a:chExt cx="1105196" cy="128396"/>
          </a:xfrm>
        </p:grpSpPr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9C8139A7-D5EF-F89E-56CC-F35D09B0B733}"/>
                </a:ext>
              </a:extLst>
            </p:cNvPr>
            <p:cNvSpPr txBox="1"/>
            <p:nvPr/>
          </p:nvSpPr>
          <p:spPr>
            <a:xfrm>
              <a:off x="3438680" y="4305150"/>
              <a:ext cx="971420" cy="10772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신청 관련 부가 서류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97" name="Picture 10">
              <a:extLst>
                <a:ext uri="{FF2B5EF4-FFF2-40B4-BE49-F238E27FC236}">
                  <a16:creationId xmlns:a16="http://schemas.microsoft.com/office/drawing/2014/main" id="{FF1314F4-EEDB-F7F6-1D1A-0177925F11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7418" y="4312303"/>
              <a:ext cx="106458" cy="121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8D5B5531-46CA-53C3-F602-189D6BD24F0D}"/>
              </a:ext>
            </a:extLst>
          </p:cNvPr>
          <p:cNvGrpSpPr/>
          <p:nvPr/>
        </p:nvGrpSpPr>
        <p:grpSpPr>
          <a:xfrm>
            <a:off x="2064729" y="2374632"/>
            <a:ext cx="505750" cy="144462"/>
            <a:chOff x="2716253" y="2405617"/>
            <a:chExt cx="505750" cy="144462"/>
          </a:xfrm>
        </p:grpSpPr>
        <p:sp>
          <p:nvSpPr>
            <p:cNvPr id="99" name="Rectangle 191">
              <a:extLst>
                <a:ext uri="{FF2B5EF4-FFF2-40B4-BE49-F238E27FC236}">
                  <a16:creationId xmlns:a16="http://schemas.microsoft.com/office/drawing/2014/main" id="{FF7BD9ED-54F2-EDA0-E18F-E81D6C9D31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359073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우수인재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graphicFrame>
          <p:nvGraphicFramePr>
            <p:cNvPr id="100" name="개체 99">
              <a:extLst>
                <a:ext uri="{FF2B5EF4-FFF2-40B4-BE49-F238E27FC236}">
                  <a16:creationId xmlns:a16="http://schemas.microsoft.com/office/drawing/2014/main" id="{1B66DF98-816D-1F6F-7753-4FE6478BD32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3" imgW="145435" imgH="145435" progId="Visio.Drawing.11">
                    <p:embed/>
                  </p:oleObj>
                </mc:Choice>
                <mc:Fallback>
                  <p:oleObj name="Visio" r:id="rId3" imgW="145435" imgH="145435" progId="Visio.Drawing.11">
                    <p:embed/>
                    <p:pic>
                      <p:nvPicPr>
                        <p:cNvPr id="11" name="개체 10">
                          <a:extLst>
                            <a:ext uri="{FF2B5EF4-FFF2-40B4-BE49-F238E27FC236}">
                              <a16:creationId xmlns:a16="http://schemas.microsoft.com/office/drawing/2014/main" id="{2989860E-E470-12E9-AC36-4E6556084B9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9219891A-C121-8587-C891-5B49C06B07B1}"/>
              </a:ext>
            </a:extLst>
          </p:cNvPr>
          <p:cNvSpPr/>
          <p:nvPr/>
        </p:nvSpPr>
        <p:spPr>
          <a:xfrm>
            <a:off x="2069775" y="4014392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성적증빙자료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.zip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0D11AD0A-E61F-3931-99ED-440702819465}"/>
              </a:ext>
            </a:extLst>
          </p:cNvPr>
          <p:cNvSpPr/>
          <p:nvPr/>
        </p:nvSpPr>
        <p:spPr>
          <a:xfrm>
            <a:off x="3722773" y="4014384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B02475C9-D648-1655-716C-764A3C72C614}"/>
              </a:ext>
            </a:extLst>
          </p:cNvPr>
          <p:cNvSpPr/>
          <p:nvPr/>
        </p:nvSpPr>
        <p:spPr>
          <a:xfrm>
            <a:off x="4031180" y="3786181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6D82EA7C-96BD-118E-63AA-115D2714C86B}"/>
              </a:ext>
            </a:extLst>
          </p:cNvPr>
          <p:cNvSpPr/>
          <p:nvPr/>
        </p:nvSpPr>
        <p:spPr>
          <a:xfrm>
            <a:off x="4031180" y="4009264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C5B14BD1-34DE-CAE6-15A9-D8B86DBEC95A}"/>
              </a:ext>
            </a:extLst>
          </p:cNvPr>
          <p:cNvSpPr/>
          <p:nvPr/>
        </p:nvSpPr>
        <p:spPr>
          <a:xfrm>
            <a:off x="4031180" y="4257092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3D381A87-FD9A-42B4-C1B5-B923FC01DCE0}"/>
              </a:ext>
            </a:extLst>
          </p:cNvPr>
          <p:cNvSpPr/>
          <p:nvPr/>
        </p:nvSpPr>
        <p:spPr>
          <a:xfrm>
            <a:off x="4031180" y="4485267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BA56F40B-F2E6-8371-4F84-B5F9CE0B46FF}"/>
              </a:ext>
            </a:extLst>
          </p:cNvPr>
          <p:cNvSpPr/>
          <p:nvPr/>
        </p:nvSpPr>
        <p:spPr>
          <a:xfrm>
            <a:off x="4031180" y="4725144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1B1E7BCB-9CD8-B492-00E6-3F691B67FF9D}"/>
              </a:ext>
            </a:extLst>
          </p:cNvPr>
          <p:cNvSpPr/>
          <p:nvPr/>
        </p:nvSpPr>
        <p:spPr>
          <a:xfrm>
            <a:off x="4031180" y="4961270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</a:p>
        </p:txBody>
      </p:sp>
      <p:grpSp>
        <p:nvGrpSpPr>
          <p:cNvPr id="112" name="그룹 111">
            <a:extLst>
              <a:ext uri="{FF2B5EF4-FFF2-40B4-BE49-F238E27FC236}">
                <a16:creationId xmlns:a16="http://schemas.microsoft.com/office/drawing/2014/main" id="{E16E5551-0175-7486-83B2-FEF143C89CB9}"/>
              </a:ext>
            </a:extLst>
          </p:cNvPr>
          <p:cNvGrpSpPr/>
          <p:nvPr/>
        </p:nvGrpSpPr>
        <p:grpSpPr>
          <a:xfrm>
            <a:off x="2649668" y="2374632"/>
            <a:ext cx="505750" cy="144462"/>
            <a:chOff x="2716253" y="2405617"/>
            <a:chExt cx="505750" cy="144462"/>
          </a:xfrm>
        </p:grpSpPr>
        <p:sp>
          <p:nvSpPr>
            <p:cNvPr id="113" name="Rectangle 191">
              <a:extLst>
                <a:ext uri="{FF2B5EF4-FFF2-40B4-BE49-F238E27FC236}">
                  <a16:creationId xmlns:a16="http://schemas.microsoft.com/office/drawing/2014/main" id="{14FDF433-C4E7-D400-28A5-6876E34874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359073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희망인재</a:t>
              </a:r>
            </a:p>
          </p:txBody>
        </p:sp>
        <p:graphicFrame>
          <p:nvGraphicFramePr>
            <p:cNvPr id="114" name="개체 113">
              <a:extLst>
                <a:ext uri="{FF2B5EF4-FFF2-40B4-BE49-F238E27FC236}">
                  <a16:creationId xmlns:a16="http://schemas.microsoft.com/office/drawing/2014/main" id="{AE570883-F794-80D5-E0ED-4C9A806EA7B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3" imgW="145435" imgH="145435" progId="Visio.Drawing.11">
                    <p:embed/>
                  </p:oleObj>
                </mc:Choice>
                <mc:Fallback>
                  <p:oleObj name="Visio" r:id="rId3" imgW="145435" imgH="145435" progId="Visio.Drawing.11">
                    <p:embed/>
                    <p:pic>
                      <p:nvPicPr>
                        <p:cNvPr id="31" name="개체 30">
                          <a:extLst>
                            <a:ext uri="{FF2B5EF4-FFF2-40B4-BE49-F238E27FC236}">
                              <a16:creationId xmlns:a16="http://schemas.microsoft.com/office/drawing/2014/main" id="{02F145A2-57B7-98A8-E270-3D9D36CF0A9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1" name="그룹 120">
            <a:extLst>
              <a:ext uri="{FF2B5EF4-FFF2-40B4-BE49-F238E27FC236}">
                <a16:creationId xmlns:a16="http://schemas.microsoft.com/office/drawing/2014/main" id="{94EFF66F-F9DE-B4CC-2BCA-1E78B94645DF}"/>
              </a:ext>
            </a:extLst>
          </p:cNvPr>
          <p:cNvGrpSpPr/>
          <p:nvPr/>
        </p:nvGrpSpPr>
        <p:grpSpPr>
          <a:xfrm>
            <a:off x="3217980" y="2374632"/>
            <a:ext cx="595518" cy="144462"/>
            <a:chOff x="2716253" y="2405617"/>
            <a:chExt cx="595518" cy="144462"/>
          </a:xfrm>
        </p:grpSpPr>
        <p:sp>
          <p:nvSpPr>
            <p:cNvPr id="122" name="Rectangle 191">
              <a:extLst>
                <a:ext uri="{FF2B5EF4-FFF2-40B4-BE49-F238E27FC236}">
                  <a16:creationId xmlns:a16="http://schemas.microsoft.com/office/drawing/2014/main" id="{A3DDF494-5042-65B2-E6BE-F2F349F3BC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448841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근로자자녀</a:t>
              </a:r>
            </a:p>
          </p:txBody>
        </p:sp>
        <p:graphicFrame>
          <p:nvGraphicFramePr>
            <p:cNvPr id="123" name="개체 122">
              <a:extLst>
                <a:ext uri="{FF2B5EF4-FFF2-40B4-BE49-F238E27FC236}">
                  <a16:creationId xmlns:a16="http://schemas.microsoft.com/office/drawing/2014/main" id="{64367A9D-159E-D5AF-5395-52623AE6D35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3" imgW="145435" imgH="145435" progId="Visio.Drawing.11">
                    <p:embed/>
                  </p:oleObj>
                </mc:Choice>
                <mc:Fallback>
                  <p:oleObj name="Visio" r:id="rId3" imgW="145435" imgH="145435" progId="Visio.Drawing.11">
                    <p:embed/>
                    <p:pic>
                      <p:nvPicPr>
                        <p:cNvPr id="14" name="개체 13">
                          <a:extLst>
                            <a:ext uri="{FF2B5EF4-FFF2-40B4-BE49-F238E27FC236}">
                              <a16:creationId xmlns:a16="http://schemas.microsoft.com/office/drawing/2014/main" id="{7A9517CE-72FA-F44A-121C-A7871A24EFD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4" name="그룹 123">
            <a:extLst>
              <a:ext uri="{FF2B5EF4-FFF2-40B4-BE49-F238E27FC236}">
                <a16:creationId xmlns:a16="http://schemas.microsoft.com/office/drawing/2014/main" id="{F97BCAAB-CDD8-68C0-29D4-FC894DD1F937}"/>
              </a:ext>
            </a:extLst>
          </p:cNvPr>
          <p:cNvGrpSpPr/>
          <p:nvPr/>
        </p:nvGrpSpPr>
        <p:grpSpPr>
          <a:xfrm>
            <a:off x="3869105" y="2380518"/>
            <a:ext cx="775737" cy="144463"/>
            <a:chOff x="3327015" y="1527346"/>
            <a:chExt cx="775737" cy="144463"/>
          </a:xfrm>
        </p:grpSpPr>
        <p:sp>
          <p:nvSpPr>
            <p:cNvPr id="125" name="Rectangle 191">
              <a:extLst>
                <a:ext uri="{FF2B5EF4-FFF2-40B4-BE49-F238E27FC236}">
                  <a16:creationId xmlns:a16="http://schemas.microsoft.com/office/drawing/2014/main" id="{27A504E9-B58F-D1D8-943A-00C0E9958C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4375" y="1539830"/>
              <a:ext cx="628377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다자녀가정자녀</a:t>
              </a:r>
            </a:p>
          </p:txBody>
        </p:sp>
        <p:graphicFrame>
          <p:nvGraphicFramePr>
            <p:cNvPr id="126" name="개체 125">
              <a:extLst>
                <a:ext uri="{FF2B5EF4-FFF2-40B4-BE49-F238E27FC236}">
                  <a16:creationId xmlns:a16="http://schemas.microsoft.com/office/drawing/2014/main" id="{3672D664-A8E9-0109-4579-2222DC49FA5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27015" y="1527346"/>
            <a:ext cx="144462" cy="144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6" imgW="145435" imgH="145435" progId="Visio.Drawing.11">
                    <p:embed/>
                  </p:oleObj>
                </mc:Choice>
                <mc:Fallback>
                  <p:oleObj name="Visio" r:id="rId6" imgW="145435" imgH="145435" progId="Visio.Drawing.11">
                    <p:embed/>
                    <p:pic>
                      <p:nvPicPr>
                        <p:cNvPr id="72" name="개체 71">
                          <a:extLst>
                            <a:ext uri="{FF2B5EF4-FFF2-40B4-BE49-F238E27FC236}">
                              <a16:creationId xmlns:a16="http://schemas.microsoft.com/office/drawing/2014/main" id="{9E999436-4A58-E7D0-F5E4-16B8DB0A670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27015" y="1527346"/>
                          <a:ext cx="144462" cy="1444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96CEE82F-B2EC-AD53-5CC8-AC01D4FED12A}"/>
              </a:ext>
            </a:extLst>
          </p:cNvPr>
          <p:cNvSpPr/>
          <p:nvPr/>
        </p:nvSpPr>
        <p:spPr>
          <a:xfrm>
            <a:off x="6397011" y="5715276"/>
            <a:ext cx="392727" cy="19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목록</a:t>
            </a: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82D84F65-9CAD-6241-5E70-8811DB41C325}"/>
              </a:ext>
            </a:extLst>
          </p:cNvPr>
          <p:cNvSpPr/>
          <p:nvPr/>
        </p:nvSpPr>
        <p:spPr>
          <a:xfrm>
            <a:off x="5936915" y="5715276"/>
            <a:ext cx="392727" cy="198000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신청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921E150-6E3A-3672-9A7E-7D144DCDFD66}"/>
              </a:ext>
            </a:extLst>
          </p:cNvPr>
          <p:cNvSpPr/>
          <p:nvPr/>
        </p:nvSpPr>
        <p:spPr>
          <a:xfrm>
            <a:off x="3023273" y="3072369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가족관계증명서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E3D9860-C759-CB8E-69AD-C8905FD0F1F7}"/>
              </a:ext>
            </a:extLst>
          </p:cNvPr>
          <p:cNvSpPr/>
          <p:nvPr/>
        </p:nvSpPr>
        <p:spPr>
          <a:xfrm>
            <a:off x="4676271" y="3072361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E15BA33-4A6C-C803-1760-CAFCC5D5B124}"/>
              </a:ext>
            </a:extLst>
          </p:cNvPr>
          <p:cNvSpPr/>
          <p:nvPr/>
        </p:nvSpPr>
        <p:spPr>
          <a:xfrm>
            <a:off x="4984678" y="3072353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</a:p>
        </p:txBody>
      </p:sp>
      <p:sp>
        <p:nvSpPr>
          <p:cNvPr id="22" name="Rectangle 191">
            <a:extLst>
              <a:ext uri="{FF2B5EF4-FFF2-40B4-BE49-F238E27FC236}">
                <a16:creationId xmlns:a16="http://schemas.microsoft.com/office/drawing/2014/main" id="{729F851E-C2BD-9388-4036-CC897F9961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0343" y="3094937"/>
            <a:ext cx="269304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자녀수</a:t>
            </a:r>
            <a:endParaRPr kumimoji="0" lang="ko-KR" altLang="en-US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1326E3B-48D0-D3F4-3636-7E30E30FB26E}"/>
              </a:ext>
            </a:extLst>
          </p:cNvPr>
          <p:cNvSpPr/>
          <p:nvPr/>
        </p:nvSpPr>
        <p:spPr>
          <a:xfrm>
            <a:off x="2368375" y="3073579"/>
            <a:ext cx="36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명</a:t>
            </a:r>
          </a:p>
        </p:txBody>
      </p:sp>
      <p:sp>
        <p:nvSpPr>
          <p:cNvPr id="24" name="Rectangle 191">
            <a:extLst>
              <a:ext uri="{FF2B5EF4-FFF2-40B4-BE49-F238E27FC236}">
                <a16:creationId xmlns:a16="http://schemas.microsoft.com/office/drawing/2014/main" id="{FCCFB020-D800-6829-0C06-41B75CF59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2472" y="3085136"/>
            <a:ext cx="17953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첨부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566C388-ED5C-5E58-1573-FBEC33FF21CB}"/>
              </a:ext>
            </a:extLst>
          </p:cNvPr>
          <p:cNvSpPr/>
          <p:nvPr/>
        </p:nvSpPr>
        <p:spPr>
          <a:xfrm>
            <a:off x="3088653" y="3549837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주민등록초본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5234264-9F3C-CE08-3FD5-64D5F12EA7F2}"/>
              </a:ext>
            </a:extLst>
          </p:cNvPr>
          <p:cNvSpPr/>
          <p:nvPr/>
        </p:nvSpPr>
        <p:spPr>
          <a:xfrm>
            <a:off x="4741651" y="3549829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15AF416-8485-FC46-784E-801FD4241130}"/>
              </a:ext>
            </a:extLst>
          </p:cNvPr>
          <p:cNvSpPr/>
          <p:nvPr/>
        </p:nvSpPr>
        <p:spPr>
          <a:xfrm>
            <a:off x="5050058" y="3549821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</a:p>
        </p:txBody>
      </p:sp>
      <p:sp>
        <p:nvSpPr>
          <p:cNvPr id="28" name="Rectangle 191">
            <a:extLst>
              <a:ext uri="{FF2B5EF4-FFF2-40B4-BE49-F238E27FC236}">
                <a16:creationId xmlns:a16="http://schemas.microsoft.com/office/drawing/2014/main" id="{0C4800AE-D8A2-0244-3A5C-303B6B87FD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4382" y="3565113"/>
            <a:ext cx="17953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첨부</a:t>
            </a:r>
          </a:p>
        </p:txBody>
      </p:sp>
      <p:sp>
        <p:nvSpPr>
          <p:cNvPr id="29" name="Rectangle 191">
            <a:extLst>
              <a:ext uri="{FF2B5EF4-FFF2-40B4-BE49-F238E27FC236}">
                <a16:creationId xmlns:a16="http://schemas.microsoft.com/office/drawing/2014/main" id="{EB847AB8-DE92-D5DA-CBDC-7DB9378FC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9144" y="3565539"/>
            <a:ext cx="359073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거주기간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06F3118-8B4C-9428-A884-77E61EBFD579}"/>
              </a:ext>
            </a:extLst>
          </p:cNvPr>
          <p:cNvSpPr/>
          <p:nvPr/>
        </p:nvSpPr>
        <p:spPr>
          <a:xfrm>
            <a:off x="2462476" y="3544181"/>
            <a:ext cx="36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년</a:t>
            </a: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075373D8-7293-31B7-A224-3C983F9A0A55}"/>
              </a:ext>
            </a:extLst>
          </p:cNvPr>
          <p:cNvSpPr>
            <a:spLocks noChangeAspect="1"/>
          </p:cNvSpPr>
          <p:nvPr/>
        </p:nvSpPr>
        <p:spPr>
          <a:xfrm>
            <a:off x="4252665" y="2228051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08E2D5C8-2899-4CAF-73D7-14AEC541A0C5}"/>
              </a:ext>
            </a:extLst>
          </p:cNvPr>
          <p:cNvSpPr>
            <a:spLocks noChangeAspect="1"/>
          </p:cNvSpPr>
          <p:nvPr/>
        </p:nvSpPr>
        <p:spPr>
          <a:xfrm>
            <a:off x="512127" y="2613059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F5E1FCEE-2BFA-3512-95DB-76C305AE6F39}"/>
              </a:ext>
            </a:extLst>
          </p:cNvPr>
          <p:cNvSpPr>
            <a:spLocks noChangeAspect="1"/>
          </p:cNvSpPr>
          <p:nvPr/>
        </p:nvSpPr>
        <p:spPr>
          <a:xfrm>
            <a:off x="512127" y="2835156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2C4723AF-EE81-A343-C0E0-6EAE04841D7A}"/>
              </a:ext>
            </a:extLst>
          </p:cNvPr>
          <p:cNvSpPr>
            <a:spLocks noChangeAspect="1"/>
          </p:cNvSpPr>
          <p:nvPr/>
        </p:nvSpPr>
        <p:spPr>
          <a:xfrm>
            <a:off x="512127" y="3069169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E48A27D4-33BD-B8AB-6980-55217A6EF7F6}"/>
              </a:ext>
            </a:extLst>
          </p:cNvPr>
          <p:cNvSpPr>
            <a:spLocks noChangeAspect="1"/>
          </p:cNvSpPr>
          <p:nvPr/>
        </p:nvSpPr>
        <p:spPr>
          <a:xfrm>
            <a:off x="512127" y="3544096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8D13BAAF-C847-7687-17BB-422D62C6BB64}"/>
              </a:ext>
            </a:extLst>
          </p:cNvPr>
          <p:cNvGrpSpPr/>
          <p:nvPr/>
        </p:nvGrpSpPr>
        <p:grpSpPr>
          <a:xfrm>
            <a:off x="2072680" y="2609825"/>
            <a:ext cx="3933984" cy="144016"/>
            <a:chOff x="1394306" y="2609825"/>
            <a:chExt cx="3933984" cy="144016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6F4D3CEC-5B3F-E0D7-E3C3-F46F77BFD517}"/>
                </a:ext>
              </a:extLst>
            </p:cNvPr>
            <p:cNvSpPr/>
            <p:nvPr/>
          </p:nvSpPr>
          <p:spPr>
            <a:xfrm>
              <a:off x="3102711" y="2609833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지방세세목별과세증명서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.zip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7885AB8D-9BA9-282D-0F9B-63336E7BB02E}"/>
                </a:ext>
              </a:extLst>
            </p:cNvPr>
            <p:cNvSpPr/>
            <p:nvPr/>
          </p:nvSpPr>
          <p:spPr>
            <a:xfrm>
              <a:off x="4755709" y="2609825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제출</a:t>
              </a: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57BC5F9A-AAEF-6041-30BD-F9664ACA0320}"/>
                </a:ext>
              </a:extLst>
            </p:cNvPr>
            <p:cNvSpPr/>
            <p:nvPr/>
          </p:nvSpPr>
          <p:spPr>
            <a:xfrm>
              <a:off x="5064116" y="2609825"/>
              <a:ext cx="264174" cy="144016"/>
            </a:xfrm>
            <a:prstGeom prst="rect">
              <a:avLst/>
            </a:prstGeom>
            <a:solidFill>
              <a:srgbClr val="66FF66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받기</a:t>
              </a:r>
            </a:p>
          </p:txBody>
        </p:sp>
        <p:sp>
          <p:nvSpPr>
            <p:cNvPr id="9" name="Rectangle 191">
              <a:extLst>
                <a:ext uri="{FF2B5EF4-FFF2-40B4-BE49-F238E27FC236}">
                  <a16:creationId xmlns:a16="http://schemas.microsoft.com/office/drawing/2014/main" id="{9AEE0DA5-F877-613A-D167-F93EA3B9F1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0850" y="2627972"/>
              <a:ext cx="179536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첨부</a:t>
              </a:r>
            </a:p>
          </p:txBody>
        </p:sp>
        <p:sp>
          <p:nvSpPr>
            <p:cNvPr id="36" name="Rectangle 191">
              <a:extLst>
                <a:ext uri="{FF2B5EF4-FFF2-40B4-BE49-F238E27FC236}">
                  <a16:creationId xmlns:a16="http://schemas.microsoft.com/office/drawing/2014/main" id="{BB306E95-8C92-F0D1-F947-3C5DBC3ABE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4306" y="2627972"/>
              <a:ext cx="965008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700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재산세</a:t>
              </a:r>
              <a:r>
                <a:rPr lang="en-US" altLang="ko-KR" sz="700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700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부</a:t>
              </a:r>
              <a:r>
                <a:rPr lang="en-US" altLang="ko-KR" sz="700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700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모</a:t>
              </a:r>
              <a:r>
                <a:rPr lang="en-US" altLang="ko-KR" sz="700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700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학생 합산</a:t>
              </a:r>
              <a:r>
                <a:rPr lang="en-US" altLang="ko-KR" sz="700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BA17DEAE-5A94-9D25-CBD6-6AE477238E94}"/>
                </a:ext>
              </a:extLst>
            </p:cNvPr>
            <p:cNvSpPr/>
            <p:nvPr/>
          </p:nvSpPr>
          <p:spPr>
            <a:xfrm>
              <a:off x="2371417" y="2609833"/>
              <a:ext cx="4752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dirty="0">
                  <a:solidFill>
                    <a:prstClr val="black">
                      <a:lumMod val="95000"/>
                      <a:lumOff val="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200,000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0B4EB709-2A54-C1FA-F6E9-352D21288DF5}"/>
              </a:ext>
            </a:extLst>
          </p:cNvPr>
          <p:cNvGrpSpPr/>
          <p:nvPr/>
        </p:nvGrpSpPr>
        <p:grpSpPr>
          <a:xfrm>
            <a:off x="2079144" y="2847084"/>
            <a:ext cx="3660710" cy="144016"/>
            <a:chOff x="2008170" y="2687952"/>
            <a:chExt cx="3660710" cy="144016"/>
          </a:xfrm>
        </p:grpSpPr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AB230CA5-0BF4-00A1-B253-03CE14863E43}"/>
                </a:ext>
              </a:extLst>
            </p:cNvPr>
            <p:cNvSpPr/>
            <p:nvPr/>
          </p:nvSpPr>
          <p:spPr>
            <a:xfrm>
              <a:off x="3443301" y="2687960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보험료납입확인서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5AC43D96-1D0C-345C-3E6C-98624F4CEB66}"/>
                </a:ext>
              </a:extLst>
            </p:cNvPr>
            <p:cNvSpPr/>
            <p:nvPr/>
          </p:nvSpPr>
          <p:spPr>
            <a:xfrm>
              <a:off x="5096299" y="2687952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제출</a:t>
              </a: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736F401D-BE7C-64CB-8AA5-B1AD0498DA04}"/>
                </a:ext>
              </a:extLst>
            </p:cNvPr>
            <p:cNvSpPr/>
            <p:nvPr/>
          </p:nvSpPr>
          <p:spPr>
            <a:xfrm>
              <a:off x="5404706" y="2687952"/>
              <a:ext cx="264174" cy="144016"/>
            </a:xfrm>
            <a:prstGeom prst="rect">
              <a:avLst/>
            </a:prstGeom>
            <a:solidFill>
              <a:srgbClr val="66FF66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받기</a:t>
              </a:r>
            </a:p>
          </p:txBody>
        </p:sp>
        <p:sp>
          <p:nvSpPr>
            <p:cNvPr id="43" name="Rectangle 191">
              <a:extLst>
                <a:ext uri="{FF2B5EF4-FFF2-40B4-BE49-F238E27FC236}">
                  <a16:creationId xmlns:a16="http://schemas.microsoft.com/office/drawing/2014/main" id="{60772AE9-8C3D-0915-B16B-F5C1F85E67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1673" y="2706099"/>
              <a:ext cx="179536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첨부</a:t>
              </a:r>
            </a:p>
          </p:txBody>
        </p:sp>
        <p:sp>
          <p:nvSpPr>
            <p:cNvPr id="44" name="Rectangle 191">
              <a:extLst>
                <a:ext uri="{FF2B5EF4-FFF2-40B4-BE49-F238E27FC236}">
                  <a16:creationId xmlns:a16="http://schemas.microsoft.com/office/drawing/2014/main" id="{97B8A19B-7927-52E7-C222-A3BD1A9439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8170" y="2706099"/>
              <a:ext cx="750205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700" kern="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납부액</a:t>
              </a:r>
              <a:r>
                <a:rPr lang="en-US" altLang="ko-KR" sz="700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700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부</a:t>
              </a:r>
              <a:r>
                <a:rPr lang="en-US" altLang="ko-KR" sz="700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700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모 합산</a:t>
              </a:r>
              <a:r>
                <a:rPr lang="en-US" altLang="ko-KR" sz="700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C91CB52A-48A0-98A1-A4C1-17393085D1FE}"/>
                </a:ext>
              </a:extLst>
            </p:cNvPr>
            <p:cNvSpPr/>
            <p:nvPr/>
          </p:nvSpPr>
          <p:spPr>
            <a:xfrm>
              <a:off x="2784941" y="2687960"/>
              <a:ext cx="432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dirty="0">
                  <a:solidFill>
                    <a:prstClr val="black">
                      <a:lumMod val="95000"/>
                      <a:lumOff val="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30,000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6809FD0B-9566-47DA-EBFB-B042CAF7D21B}"/>
              </a:ext>
            </a:extLst>
          </p:cNvPr>
          <p:cNvGrpSpPr/>
          <p:nvPr/>
        </p:nvGrpSpPr>
        <p:grpSpPr>
          <a:xfrm>
            <a:off x="2064729" y="3318135"/>
            <a:ext cx="2704513" cy="144016"/>
            <a:chOff x="1897884" y="2847629"/>
            <a:chExt cx="2704513" cy="144016"/>
          </a:xfrm>
        </p:grpSpPr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96FD1A3B-8CF2-DBA4-A056-B97C521F1941}"/>
                </a:ext>
              </a:extLst>
            </p:cNvPr>
            <p:cNvSpPr/>
            <p:nvPr/>
          </p:nvSpPr>
          <p:spPr>
            <a:xfrm>
              <a:off x="1897884" y="2847637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추천서</a:t>
              </a:r>
              <a:r>
                <a:rPr kumimoji="0" lang="en-US" altLang="ko-KR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CD68C4C9-9EBC-5157-DB5F-7FCE43AD1616}"/>
                </a:ext>
              </a:extLst>
            </p:cNvPr>
            <p:cNvSpPr/>
            <p:nvPr/>
          </p:nvSpPr>
          <p:spPr>
            <a:xfrm>
              <a:off x="3550882" y="2847629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제출</a:t>
              </a: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F318F82B-E132-43D2-AA29-F5B38DCE9073}"/>
                </a:ext>
              </a:extLst>
            </p:cNvPr>
            <p:cNvSpPr/>
            <p:nvPr/>
          </p:nvSpPr>
          <p:spPr>
            <a:xfrm>
              <a:off x="3859392" y="2847629"/>
              <a:ext cx="264174" cy="144016"/>
            </a:xfrm>
            <a:prstGeom prst="rect">
              <a:avLst/>
            </a:prstGeom>
            <a:solidFill>
              <a:srgbClr val="66FF66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2D5A28FC-4E98-4519-83CC-C155A628A772}"/>
                </a:ext>
              </a:extLst>
            </p:cNvPr>
            <p:cNvSpPr/>
            <p:nvPr/>
          </p:nvSpPr>
          <p:spPr>
            <a:xfrm>
              <a:off x="4176942" y="2847629"/>
              <a:ext cx="425455" cy="14401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양식받기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E7C8B65D-E96A-9FF4-59A3-5D5162CA683B}"/>
              </a:ext>
            </a:extLst>
          </p:cNvPr>
          <p:cNvSpPr/>
          <p:nvPr/>
        </p:nvSpPr>
        <p:spPr>
          <a:xfrm>
            <a:off x="668524" y="5157216"/>
            <a:ext cx="6121214" cy="21600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FF44EDA5-EA54-01B6-4AD3-E7C2CD04A4CE}"/>
              </a:ext>
            </a:extLst>
          </p:cNvPr>
          <p:cNvSpPr>
            <a:spLocks noChangeAspect="1"/>
          </p:cNvSpPr>
          <p:nvPr/>
        </p:nvSpPr>
        <p:spPr>
          <a:xfrm>
            <a:off x="512127" y="5203228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DF385BDF-7000-9B59-4A76-AA8FF97B9D47}"/>
              </a:ext>
            </a:extLst>
          </p:cNvPr>
          <p:cNvSpPr/>
          <p:nvPr/>
        </p:nvSpPr>
        <p:spPr>
          <a:xfrm>
            <a:off x="668524" y="3279514"/>
            <a:ext cx="6121214" cy="21600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36C155C4-1415-A3D6-458A-99676D2B6A73}"/>
              </a:ext>
            </a:extLst>
          </p:cNvPr>
          <p:cNvSpPr>
            <a:spLocks noChangeAspect="1"/>
          </p:cNvSpPr>
          <p:nvPr/>
        </p:nvSpPr>
        <p:spPr>
          <a:xfrm>
            <a:off x="512127" y="3325526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4979FFE0-4551-19B4-8A02-E31B5536B210}"/>
              </a:ext>
            </a:extLst>
          </p:cNvPr>
          <p:cNvSpPr/>
          <p:nvPr/>
        </p:nvSpPr>
        <p:spPr>
          <a:xfrm>
            <a:off x="668524" y="2564808"/>
            <a:ext cx="6121214" cy="468398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5D83953A-A67A-BD0D-9FB3-024AC206F4B2}"/>
              </a:ext>
            </a:extLst>
          </p:cNvPr>
          <p:cNvGrpSpPr/>
          <p:nvPr/>
        </p:nvGrpSpPr>
        <p:grpSpPr>
          <a:xfrm>
            <a:off x="2072680" y="5189452"/>
            <a:ext cx="3233421" cy="147760"/>
            <a:chOff x="2011811" y="4800927"/>
            <a:chExt cx="3233421" cy="147760"/>
          </a:xfrm>
        </p:grpSpPr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329AE3D1-8D34-C06C-7F03-D85ACD0C56F0}"/>
                </a:ext>
              </a:extLst>
            </p:cNvPr>
            <p:cNvGrpSpPr/>
            <p:nvPr/>
          </p:nvGrpSpPr>
          <p:grpSpPr>
            <a:xfrm>
              <a:off x="2858269" y="4804671"/>
              <a:ext cx="2386963" cy="144016"/>
              <a:chOff x="1897884" y="4476806"/>
              <a:chExt cx="2386963" cy="144016"/>
            </a:xfrm>
          </p:grpSpPr>
          <p:sp>
            <p:nvSpPr>
              <p:cNvPr id="68" name="직사각형 67">
                <a:extLst>
                  <a:ext uri="{FF2B5EF4-FFF2-40B4-BE49-F238E27FC236}">
                    <a16:creationId xmlns:a16="http://schemas.microsoft.com/office/drawing/2014/main" id="{59B79AC6-5BCD-FA02-57C1-9C9C0C38A311}"/>
                  </a:ext>
                </a:extLst>
              </p:cNvPr>
              <p:cNvSpPr/>
              <p:nvPr/>
            </p:nvSpPr>
            <p:spPr>
              <a:xfrm>
                <a:off x="1897884" y="4476814"/>
                <a:ext cx="1620000" cy="144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36000" rIns="36000" rtlCol="0" anchor="ctr"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69" name="직사각형 68">
                <a:extLst>
                  <a:ext uri="{FF2B5EF4-FFF2-40B4-BE49-F238E27FC236}">
                    <a16:creationId xmlns:a16="http://schemas.microsoft.com/office/drawing/2014/main" id="{A83360D3-99CC-13B4-A5BD-83C0A4647C76}"/>
                  </a:ext>
                </a:extLst>
              </p:cNvPr>
              <p:cNvSpPr/>
              <p:nvPr/>
            </p:nvSpPr>
            <p:spPr>
              <a:xfrm>
                <a:off x="3550882" y="4476806"/>
                <a:ext cx="264174" cy="144016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추가</a:t>
                </a:r>
              </a:p>
            </p:txBody>
          </p:sp>
          <p:sp>
            <p:nvSpPr>
              <p:cNvPr id="73" name="직사각형 72">
                <a:extLst>
                  <a:ext uri="{FF2B5EF4-FFF2-40B4-BE49-F238E27FC236}">
                    <a16:creationId xmlns:a16="http://schemas.microsoft.com/office/drawing/2014/main" id="{E225D562-2974-CA80-62E0-4B508A6B44F6}"/>
                  </a:ext>
                </a:extLst>
              </p:cNvPr>
              <p:cNvSpPr/>
              <p:nvPr/>
            </p:nvSpPr>
            <p:spPr>
              <a:xfrm>
                <a:off x="3859392" y="4476806"/>
                <a:ext cx="425455" cy="144016"/>
              </a:xfrm>
              <a:prstGeom prst="rect">
                <a:avLst/>
              </a:prstGeom>
              <a:solidFill>
                <a:srgbClr val="FFFF00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7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양식받기</a:t>
                </a:r>
                <a:endPara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65" name="Rectangle 191">
              <a:extLst>
                <a:ext uri="{FF2B5EF4-FFF2-40B4-BE49-F238E27FC236}">
                  <a16:creationId xmlns:a16="http://schemas.microsoft.com/office/drawing/2014/main" id="{E586B49D-B712-2D4E-7DD0-DA33165EF9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1811" y="4819066"/>
              <a:ext cx="179536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성적</a:t>
              </a:r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4252EEEB-0498-937C-6BC9-2B9C5F46FDC6}"/>
                </a:ext>
              </a:extLst>
            </p:cNvPr>
            <p:cNvSpPr/>
            <p:nvPr/>
          </p:nvSpPr>
          <p:spPr>
            <a:xfrm>
              <a:off x="2216445" y="4800927"/>
              <a:ext cx="36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4.5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7" name="Rectangle 191">
              <a:extLst>
                <a:ext uri="{FF2B5EF4-FFF2-40B4-BE49-F238E27FC236}">
                  <a16:creationId xmlns:a16="http://schemas.microsoft.com/office/drawing/2014/main" id="{760D4073-CFC4-8DB5-15E7-F27F651FD0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0882" y="4819066"/>
              <a:ext cx="179536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첨부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819519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FDB49-5C45-3047-67BC-8370F23F8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035D294-46EC-D59D-CFB7-C899B4F651A2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고등학생장학금 신청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6C9EFF5-0229-1FC6-350B-CD2BD606C707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프로그램신청관리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고등학생장학금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장학금신청</a:t>
            </a: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CF3FFFAE-F5DE-689A-94CB-0E99333C4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6582490"/>
              </p:ext>
            </p:extLst>
          </p:nvPr>
        </p:nvGraphicFramePr>
        <p:xfrm>
          <a:off x="6969418" y="2548005"/>
          <a:ext cx="2772114" cy="1797859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프로그램신청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고등학생장학금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조회 화면 목록에서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신청하기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클릭 시 보이는 화면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주민등록초본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거주기간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신청 회원의 거주기간을 입력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첨부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제출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제출 서류 파일 선택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첨부완료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받기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시 첨부된 제출 서류 파일 다운로드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첨부파일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성적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성적을 입력 한다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추가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] : 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추가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파일 선택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첨부 설정완료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파일받기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파일명 클릭 시 첨부된 파일 다운로드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[x]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 첨부된 해당 파일 삭제 처리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양식받기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시 추천서 양식 파일을 다운 받는다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5A0E1543-711C-C012-7B77-E7677D86B188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pah_application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770E26A-3FAF-D491-7383-5BE06DAB4410}"/>
              </a:ext>
            </a:extLst>
          </p:cNvPr>
          <p:cNvSpPr/>
          <p:nvPr/>
        </p:nvSpPr>
        <p:spPr>
          <a:xfrm>
            <a:off x="165100" y="1376363"/>
            <a:ext cx="6732116" cy="460414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0BB4500-F30E-DA40-4AF9-E85ED3C346A2}"/>
              </a:ext>
            </a:extLst>
          </p:cNvPr>
          <p:cNvSpPr/>
          <p:nvPr/>
        </p:nvSpPr>
        <p:spPr>
          <a:xfrm>
            <a:off x="292846" y="1448780"/>
            <a:ext cx="1202252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800" b="1" dirty="0">
                <a:solidFill>
                  <a:prstClr val="black"/>
                </a:solidFill>
              </a:rPr>
              <a:t>고등학생 장학금 신청정보</a:t>
            </a:r>
          </a:p>
        </p:txBody>
      </p:sp>
      <p:sp>
        <p:nvSpPr>
          <p:cNvPr id="169" name="직사각형 168">
            <a:extLst>
              <a:ext uri="{FF2B5EF4-FFF2-40B4-BE49-F238E27FC236}">
                <a16:creationId xmlns:a16="http://schemas.microsoft.com/office/drawing/2014/main" id="{2755F32F-346C-67EF-3F09-DB38C2EBA598}"/>
              </a:ext>
            </a:extLst>
          </p:cNvPr>
          <p:cNvSpPr/>
          <p:nvPr/>
        </p:nvSpPr>
        <p:spPr>
          <a:xfrm>
            <a:off x="165100" y="6023481"/>
            <a:ext cx="6732116" cy="46622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70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2944D3FD-B965-1A26-B0C5-6B1A3C9D64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6165304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1" name="TextBox 170">
            <a:extLst>
              <a:ext uri="{FF2B5EF4-FFF2-40B4-BE49-F238E27FC236}">
                <a16:creationId xmlns:a16="http://schemas.microsoft.com/office/drawing/2014/main" id="{D35C7411-44B3-DA77-A545-77CC5AC0858A}"/>
              </a:ext>
            </a:extLst>
          </p:cNvPr>
          <p:cNvSpPr txBox="1"/>
          <p:nvPr/>
        </p:nvSpPr>
        <p:spPr>
          <a:xfrm>
            <a:off x="1172580" y="6077394"/>
            <a:ext cx="31242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경기 오산시 성호대로 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141 (</a:t>
            </a:r>
            <a:r>
              <a:rPr lang="ko-KR" altLang="en-US" sz="600" b="0" i="0" dirty="0" err="1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오산동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오산시청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오산교육재단</a:t>
            </a:r>
            <a:endParaRPr lang="en-US" altLang="ko-KR" sz="600" b="0" i="0" dirty="0">
              <a:solidFill>
                <a:srgbClr val="666666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>
              <a:buNone/>
            </a:pP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TEL. (031)8036-8905 FAX. (031)8036-8905</a:t>
            </a:r>
          </a:p>
          <a:p>
            <a:pPr algn="l">
              <a:buNone/>
            </a:pP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Copyright©2025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오산교육재단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 ALL RIGHTSRESERVED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C379767-19D9-82E6-D5B5-4264AEA62AA1}"/>
              </a:ext>
            </a:extLst>
          </p:cNvPr>
          <p:cNvGraphicFramePr>
            <a:graphicFrameLocks noGrp="1"/>
          </p:cNvGraphicFramePr>
          <p:nvPr/>
        </p:nvGraphicFramePr>
        <p:xfrm>
          <a:off x="278978" y="1628800"/>
          <a:ext cx="6510760" cy="39904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5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3668863434"/>
                    </a:ext>
                  </a:extLst>
                </a:gridCol>
                <a:gridCol w="47530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구분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고등학생 장학금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894265"/>
                  </a:ext>
                </a:extLst>
              </a:tr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</a:t>
                      </a:r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하반기 고등학생 장학금 신청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접수기간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2025.09.20 10:00 </a:t>
                      </a:r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~ 2025.09.30 10:00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전형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4735">
                <a:tc rowSpan="3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전형별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지방세 세목별 과세증명서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2230354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보험료 납입확인서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8191838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가족관계증명서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4629346"/>
                  </a:ext>
                </a:extLst>
              </a:tr>
              <a:tr h="234735">
                <a:tc rowSpan="10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공통 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추천서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주민등록초본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1958612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주민등록등본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164179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성적증빙자료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2108985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국민기초생활보장수급자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차상위계층확인서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한부모가족보호대상확인서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장애인증명서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첨부파일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8089092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8418894"/>
                  </a:ext>
                </a:extLst>
              </a:tr>
            </a:tbl>
          </a:graphicData>
        </a:graphic>
      </p:graphicFrame>
      <p:grpSp>
        <p:nvGrpSpPr>
          <p:cNvPr id="70" name="그룹 69">
            <a:extLst>
              <a:ext uri="{FF2B5EF4-FFF2-40B4-BE49-F238E27FC236}">
                <a16:creationId xmlns:a16="http://schemas.microsoft.com/office/drawing/2014/main" id="{E3190067-954E-6913-B37C-72573430C0F8}"/>
              </a:ext>
            </a:extLst>
          </p:cNvPr>
          <p:cNvGrpSpPr/>
          <p:nvPr/>
        </p:nvGrpSpPr>
        <p:grpSpPr>
          <a:xfrm>
            <a:off x="4703872" y="2374632"/>
            <a:ext cx="775054" cy="144462"/>
            <a:chOff x="2716253" y="2405617"/>
            <a:chExt cx="775054" cy="144462"/>
          </a:xfrm>
        </p:grpSpPr>
        <p:sp>
          <p:nvSpPr>
            <p:cNvPr id="71" name="Rectangle 191">
              <a:extLst>
                <a:ext uri="{FF2B5EF4-FFF2-40B4-BE49-F238E27FC236}">
                  <a16:creationId xmlns:a16="http://schemas.microsoft.com/office/drawing/2014/main" id="{F2177494-16BE-933C-B6B0-4C26407DA2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628377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다문화가정자녀</a:t>
              </a:r>
            </a:p>
          </p:txBody>
        </p:sp>
        <p:graphicFrame>
          <p:nvGraphicFramePr>
            <p:cNvPr id="72" name="개체 71">
              <a:extLst>
                <a:ext uri="{FF2B5EF4-FFF2-40B4-BE49-F238E27FC236}">
                  <a16:creationId xmlns:a16="http://schemas.microsoft.com/office/drawing/2014/main" id="{21792D73-D2AA-7F86-1712-0F6C6445C0B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3" imgW="145435" imgH="145435" progId="Visio.Drawing.11">
                    <p:embed/>
                  </p:oleObj>
                </mc:Choice>
                <mc:Fallback>
                  <p:oleObj name="Visio" r:id="rId3" imgW="145435" imgH="145435" progId="Visio.Drawing.11">
                    <p:embed/>
                    <p:pic>
                      <p:nvPicPr>
                        <p:cNvPr id="72" name="개체 71">
                          <a:extLst>
                            <a:ext uri="{FF2B5EF4-FFF2-40B4-BE49-F238E27FC236}">
                              <a16:creationId xmlns:a16="http://schemas.microsoft.com/office/drawing/2014/main" id="{D9337260-63EC-A882-3588-3FCF1E438CB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3E744512-1CD3-31E3-2529-78F61D346895}"/>
              </a:ext>
            </a:extLst>
          </p:cNvPr>
          <p:cNvSpPr/>
          <p:nvPr/>
        </p:nvSpPr>
        <p:spPr>
          <a:xfrm>
            <a:off x="2069775" y="3781097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주민등록등본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08CA38A9-6534-7328-42E5-9EE310FD8E3D}"/>
              </a:ext>
            </a:extLst>
          </p:cNvPr>
          <p:cNvSpPr/>
          <p:nvPr/>
        </p:nvSpPr>
        <p:spPr>
          <a:xfrm>
            <a:off x="3722773" y="3781089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4CD91595-77E5-1A23-A1EA-906CD157B31A}"/>
              </a:ext>
            </a:extLst>
          </p:cNvPr>
          <p:cNvSpPr/>
          <p:nvPr/>
        </p:nvSpPr>
        <p:spPr>
          <a:xfrm>
            <a:off x="2069775" y="4257100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50902913-080B-9724-012E-4E5E3AE7B847}"/>
              </a:ext>
            </a:extLst>
          </p:cNvPr>
          <p:cNvSpPr/>
          <p:nvPr/>
        </p:nvSpPr>
        <p:spPr>
          <a:xfrm>
            <a:off x="3722773" y="4257092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792FB08B-1F1C-8044-05E3-343CD3D91A4E}"/>
              </a:ext>
            </a:extLst>
          </p:cNvPr>
          <p:cNvSpPr/>
          <p:nvPr/>
        </p:nvSpPr>
        <p:spPr>
          <a:xfrm>
            <a:off x="2069775" y="4485275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2CF0567C-8503-DE3B-D1E6-59F126E9CD02}"/>
              </a:ext>
            </a:extLst>
          </p:cNvPr>
          <p:cNvSpPr/>
          <p:nvPr/>
        </p:nvSpPr>
        <p:spPr>
          <a:xfrm>
            <a:off x="3722773" y="4485267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7D60DF27-A847-15DA-9CB3-9444CDAFCEC2}"/>
              </a:ext>
            </a:extLst>
          </p:cNvPr>
          <p:cNvSpPr/>
          <p:nvPr/>
        </p:nvSpPr>
        <p:spPr>
          <a:xfrm>
            <a:off x="2069775" y="4727359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dirty="0" err="1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한부모가족보호대상확인서</a:t>
            </a:r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E8F36CDE-3D33-5B43-2C00-F14360C2647B}"/>
              </a:ext>
            </a:extLst>
          </p:cNvPr>
          <p:cNvSpPr/>
          <p:nvPr/>
        </p:nvSpPr>
        <p:spPr>
          <a:xfrm>
            <a:off x="3722773" y="4727351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9470DA78-1E61-D0FD-20F2-327BE80BB3B3}"/>
              </a:ext>
            </a:extLst>
          </p:cNvPr>
          <p:cNvSpPr/>
          <p:nvPr/>
        </p:nvSpPr>
        <p:spPr>
          <a:xfrm>
            <a:off x="2069775" y="4963158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장애인증명서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DE4B3A20-9CD6-C362-69C7-833978F340FA}"/>
              </a:ext>
            </a:extLst>
          </p:cNvPr>
          <p:cNvSpPr/>
          <p:nvPr/>
        </p:nvSpPr>
        <p:spPr>
          <a:xfrm>
            <a:off x="3722773" y="4963150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EE4F4B01-221E-76FC-814B-308E34C9D123}"/>
              </a:ext>
            </a:extLst>
          </p:cNvPr>
          <p:cNvGrpSpPr/>
          <p:nvPr/>
        </p:nvGrpSpPr>
        <p:grpSpPr>
          <a:xfrm>
            <a:off x="2105056" y="5453396"/>
            <a:ext cx="1105196" cy="128396"/>
            <a:chOff x="3438680" y="4305150"/>
            <a:chExt cx="1105196" cy="128396"/>
          </a:xfrm>
        </p:grpSpPr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352F1256-5F04-D51B-8A69-A8CACD8672C6}"/>
                </a:ext>
              </a:extLst>
            </p:cNvPr>
            <p:cNvSpPr txBox="1"/>
            <p:nvPr/>
          </p:nvSpPr>
          <p:spPr>
            <a:xfrm>
              <a:off x="3438680" y="4305150"/>
              <a:ext cx="971420" cy="10772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신청 관련 부가 서류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94" name="Picture 10">
              <a:extLst>
                <a:ext uri="{FF2B5EF4-FFF2-40B4-BE49-F238E27FC236}">
                  <a16:creationId xmlns:a16="http://schemas.microsoft.com/office/drawing/2014/main" id="{31D8430D-0B81-A9FE-87B0-4969AE83D0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7418" y="4312303"/>
              <a:ext cx="106458" cy="121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C906652C-9E85-4D7F-1420-109DF2C5785B}"/>
              </a:ext>
            </a:extLst>
          </p:cNvPr>
          <p:cNvGrpSpPr/>
          <p:nvPr/>
        </p:nvGrpSpPr>
        <p:grpSpPr>
          <a:xfrm>
            <a:off x="3291469" y="5453396"/>
            <a:ext cx="1105196" cy="128396"/>
            <a:chOff x="3438680" y="4305150"/>
            <a:chExt cx="1105196" cy="128396"/>
          </a:xfrm>
        </p:grpSpPr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EF5B1762-9A2B-91AA-4A06-72CAE66C4DAA}"/>
                </a:ext>
              </a:extLst>
            </p:cNvPr>
            <p:cNvSpPr txBox="1"/>
            <p:nvPr/>
          </p:nvSpPr>
          <p:spPr>
            <a:xfrm>
              <a:off x="3438680" y="4305150"/>
              <a:ext cx="971420" cy="10772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신청 관련 부가 서류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97" name="Picture 10">
              <a:extLst>
                <a:ext uri="{FF2B5EF4-FFF2-40B4-BE49-F238E27FC236}">
                  <a16:creationId xmlns:a16="http://schemas.microsoft.com/office/drawing/2014/main" id="{9791FF25-B368-8C44-161C-3AAF650EEC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7418" y="4312303"/>
              <a:ext cx="106458" cy="121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D145B892-453A-49BF-E6BF-2DEAEE5D6C21}"/>
              </a:ext>
            </a:extLst>
          </p:cNvPr>
          <p:cNvGrpSpPr/>
          <p:nvPr/>
        </p:nvGrpSpPr>
        <p:grpSpPr>
          <a:xfrm>
            <a:off x="2064729" y="2374632"/>
            <a:ext cx="505750" cy="144462"/>
            <a:chOff x="2716253" y="2405617"/>
            <a:chExt cx="505750" cy="144462"/>
          </a:xfrm>
        </p:grpSpPr>
        <p:sp>
          <p:nvSpPr>
            <p:cNvPr id="99" name="Rectangle 191">
              <a:extLst>
                <a:ext uri="{FF2B5EF4-FFF2-40B4-BE49-F238E27FC236}">
                  <a16:creationId xmlns:a16="http://schemas.microsoft.com/office/drawing/2014/main" id="{7417E457-DC98-D17C-50E4-A8EA5A2977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359073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우수인재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graphicFrame>
          <p:nvGraphicFramePr>
            <p:cNvPr id="100" name="개체 99">
              <a:extLst>
                <a:ext uri="{FF2B5EF4-FFF2-40B4-BE49-F238E27FC236}">
                  <a16:creationId xmlns:a16="http://schemas.microsoft.com/office/drawing/2014/main" id="{1DD0EC92-7FD8-61F3-9FCD-B37C4C0C16E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3" imgW="145435" imgH="145435" progId="Visio.Drawing.11">
                    <p:embed/>
                  </p:oleObj>
                </mc:Choice>
                <mc:Fallback>
                  <p:oleObj name="Visio" r:id="rId3" imgW="145435" imgH="145435" progId="Visio.Drawing.11">
                    <p:embed/>
                    <p:pic>
                      <p:nvPicPr>
                        <p:cNvPr id="100" name="개체 99">
                          <a:extLst>
                            <a:ext uri="{FF2B5EF4-FFF2-40B4-BE49-F238E27FC236}">
                              <a16:creationId xmlns:a16="http://schemas.microsoft.com/office/drawing/2014/main" id="{1B66DF98-816D-1F6F-7753-4FE6478BD32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1EDFBAF2-C1D7-7BE0-E252-1DC8B0A09067}"/>
              </a:ext>
            </a:extLst>
          </p:cNvPr>
          <p:cNvSpPr/>
          <p:nvPr/>
        </p:nvSpPr>
        <p:spPr>
          <a:xfrm>
            <a:off x="2069775" y="4014392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성적증빙자료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.zip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EC7176D6-3CCC-DF71-4C1D-B408EDDC51DB}"/>
              </a:ext>
            </a:extLst>
          </p:cNvPr>
          <p:cNvSpPr/>
          <p:nvPr/>
        </p:nvSpPr>
        <p:spPr>
          <a:xfrm>
            <a:off x="3722773" y="4014384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6F1ED3E8-9004-9D61-5E00-6E41266BB99E}"/>
              </a:ext>
            </a:extLst>
          </p:cNvPr>
          <p:cNvSpPr/>
          <p:nvPr/>
        </p:nvSpPr>
        <p:spPr>
          <a:xfrm>
            <a:off x="4031180" y="3786181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B611F68E-BFF0-1C22-3D7C-C22D03B2B450}"/>
              </a:ext>
            </a:extLst>
          </p:cNvPr>
          <p:cNvSpPr/>
          <p:nvPr/>
        </p:nvSpPr>
        <p:spPr>
          <a:xfrm>
            <a:off x="4031180" y="4009264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2B05ECF1-D01C-FC70-BB34-E10D35295281}"/>
              </a:ext>
            </a:extLst>
          </p:cNvPr>
          <p:cNvSpPr/>
          <p:nvPr/>
        </p:nvSpPr>
        <p:spPr>
          <a:xfrm>
            <a:off x="4031180" y="4257092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12CADFED-562A-C39F-5A8F-5179EBABE043}"/>
              </a:ext>
            </a:extLst>
          </p:cNvPr>
          <p:cNvSpPr/>
          <p:nvPr/>
        </p:nvSpPr>
        <p:spPr>
          <a:xfrm>
            <a:off x="4031180" y="4485267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E5A1E8A1-5C5E-012E-5B2C-EE6664B0DC9D}"/>
              </a:ext>
            </a:extLst>
          </p:cNvPr>
          <p:cNvSpPr/>
          <p:nvPr/>
        </p:nvSpPr>
        <p:spPr>
          <a:xfrm>
            <a:off x="4031180" y="4725144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7EFD2C1A-BAAD-8FBD-E8F5-5740DAC60A41}"/>
              </a:ext>
            </a:extLst>
          </p:cNvPr>
          <p:cNvSpPr/>
          <p:nvPr/>
        </p:nvSpPr>
        <p:spPr>
          <a:xfrm>
            <a:off x="4031180" y="4961270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</a:p>
        </p:txBody>
      </p:sp>
      <p:grpSp>
        <p:nvGrpSpPr>
          <p:cNvPr id="112" name="그룹 111">
            <a:extLst>
              <a:ext uri="{FF2B5EF4-FFF2-40B4-BE49-F238E27FC236}">
                <a16:creationId xmlns:a16="http://schemas.microsoft.com/office/drawing/2014/main" id="{2FCD341D-9B42-4EEE-5C28-1AA9915F53BF}"/>
              </a:ext>
            </a:extLst>
          </p:cNvPr>
          <p:cNvGrpSpPr/>
          <p:nvPr/>
        </p:nvGrpSpPr>
        <p:grpSpPr>
          <a:xfrm>
            <a:off x="2649668" y="2374632"/>
            <a:ext cx="505750" cy="144462"/>
            <a:chOff x="2716253" y="2405617"/>
            <a:chExt cx="505750" cy="144462"/>
          </a:xfrm>
        </p:grpSpPr>
        <p:sp>
          <p:nvSpPr>
            <p:cNvPr id="113" name="Rectangle 191">
              <a:extLst>
                <a:ext uri="{FF2B5EF4-FFF2-40B4-BE49-F238E27FC236}">
                  <a16:creationId xmlns:a16="http://schemas.microsoft.com/office/drawing/2014/main" id="{DB36F6AE-0F3D-086D-DC14-F04BA9EA13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359073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희망인재</a:t>
              </a:r>
            </a:p>
          </p:txBody>
        </p:sp>
        <p:graphicFrame>
          <p:nvGraphicFramePr>
            <p:cNvPr id="114" name="개체 113">
              <a:extLst>
                <a:ext uri="{FF2B5EF4-FFF2-40B4-BE49-F238E27FC236}">
                  <a16:creationId xmlns:a16="http://schemas.microsoft.com/office/drawing/2014/main" id="{BDC46687-28B5-94E1-0936-C0057D1A8D9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3" imgW="145435" imgH="145435" progId="Visio.Drawing.11">
                    <p:embed/>
                  </p:oleObj>
                </mc:Choice>
                <mc:Fallback>
                  <p:oleObj name="Visio" r:id="rId3" imgW="145435" imgH="145435" progId="Visio.Drawing.11">
                    <p:embed/>
                    <p:pic>
                      <p:nvPicPr>
                        <p:cNvPr id="114" name="개체 113">
                          <a:extLst>
                            <a:ext uri="{FF2B5EF4-FFF2-40B4-BE49-F238E27FC236}">
                              <a16:creationId xmlns:a16="http://schemas.microsoft.com/office/drawing/2014/main" id="{AE570883-F794-80D5-E0ED-4C9A806EA7B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1" name="그룹 120">
            <a:extLst>
              <a:ext uri="{FF2B5EF4-FFF2-40B4-BE49-F238E27FC236}">
                <a16:creationId xmlns:a16="http://schemas.microsoft.com/office/drawing/2014/main" id="{60292C2A-B906-ED74-35D3-15C7B6D8EE59}"/>
              </a:ext>
            </a:extLst>
          </p:cNvPr>
          <p:cNvGrpSpPr/>
          <p:nvPr/>
        </p:nvGrpSpPr>
        <p:grpSpPr>
          <a:xfrm>
            <a:off x="3217980" y="2374632"/>
            <a:ext cx="595518" cy="144462"/>
            <a:chOff x="2716253" y="2405617"/>
            <a:chExt cx="595518" cy="144462"/>
          </a:xfrm>
        </p:grpSpPr>
        <p:sp>
          <p:nvSpPr>
            <p:cNvPr id="122" name="Rectangle 191">
              <a:extLst>
                <a:ext uri="{FF2B5EF4-FFF2-40B4-BE49-F238E27FC236}">
                  <a16:creationId xmlns:a16="http://schemas.microsoft.com/office/drawing/2014/main" id="{80E8E471-A659-3E55-450C-5B082A0010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448841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근로자자녀</a:t>
              </a:r>
            </a:p>
          </p:txBody>
        </p:sp>
        <p:graphicFrame>
          <p:nvGraphicFramePr>
            <p:cNvPr id="123" name="개체 122">
              <a:extLst>
                <a:ext uri="{FF2B5EF4-FFF2-40B4-BE49-F238E27FC236}">
                  <a16:creationId xmlns:a16="http://schemas.microsoft.com/office/drawing/2014/main" id="{61DBC394-605B-C548-70F4-79D0FF142BF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3" imgW="145435" imgH="145435" progId="Visio.Drawing.11">
                    <p:embed/>
                  </p:oleObj>
                </mc:Choice>
                <mc:Fallback>
                  <p:oleObj name="Visio" r:id="rId3" imgW="145435" imgH="145435" progId="Visio.Drawing.11">
                    <p:embed/>
                    <p:pic>
                      <p:nvPicPr>
                        <p:cNvPr id="123" name="개체 122">
                          <a:extLst>
                            <a:ext uri="{FF2B5EF4-FFF2-40B4-BE49-F238E27FC236}">
                              <a16:creationId xmlns:a16="http://schemas.microsoft.com/office/drawing/2014/main" id="{64367A9D-159E-D5AF-5395-52623AE6D35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4" name="그룹 123">
            <a:extLst>
              <a:ext uri="{FF2B5EF4-FFF2-40B4-BE49-F238E27FC236}">
                <a16:creationId xmlns:a16="http://schemas.microsoft.com/office/drawing/2014/main" id="{910515F9-2450-4684-2B5C-5101D476A4B9}"/>
              </a:ext>
            </a:extLst>
          </p:cNvPr>
          <p:cNvGrpSpPr/>
          <p:nvPr/>
        </p:nvGrpSpPr>
        <p:grpSpPr>
          <a:xfrm>
            <a:off x="3869105" y="2380518"/>
            <a:ext cx="775737" cy="144463"/>
            <a:chOff x="3327015" y="1527346"/>
            <a:chExt cx="775737" cy="144463"/>
          </a:xfrm>
        </p:grpSpPr>
        <p:sp>
          <p:nvSpPr>
            <p:cNvPr id="125" name="Rectangle 191">
              <a:extLst>
                <a:ext uri="{FF2B5EF4-FFF2-40B4-BE49-F238E27FC236}">
                  <a16:creationId xmlns:a16="http://schemas.microsoft.com/office/drawing/2014/main" id="{200CBBCE-FF3F-B68B-08C0-DA5A431526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4375" y="1539830"/>
              <a:ext cx="628377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다자녀가정자녀</a:t>
              </a:r>
            </a:p>
          </p:txBody>
        </p:sp>
        <p:graphicFrame>
          <p:nvGraphicFramePr>
            <p:cNvPr id="126" name="개체 125">
              <a:extLst>
                <a:ext uri="{FF2B5EF4-FFF2-40B4-BE49-F238E27FC236}">
                  <a16:creationId xmlns:a16="http://schemas.microsoft.com/office/drawing/2014/main" id="{62A72ACD-3DBB-4F5B-CE19-A73BF104C11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27015" y="1527346"/>
            <a:ext cx="144462" cy="144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6" imgW="145435" imgH="145435" progId="Visio.Drawing.11">
                    <p:embed/>
                  </p:oleObj>
                </mc:Choice>
                <mc:Fallback>
                  <p:oleObj name="Visio" r:id="rId6" imgW="145435" imgH="145435" progId="Visio.Drawing.11">
                    <p:embed/>
                    <p:pic>
                      <p:nvPicPr>
                        <p:cNvPr id="126" name="개체 125">
                          <a:extLst>
                            <a:ext uri="{FF2B5EF4-FFF2-40B4-BE49-F238E27FC236}">
                              <a16:creationId xmlns:a16="http://schemas.microsoft.com/office/drawing/2014/main" id="{3672D664-A8E9-0109-4579-2222DC49FA5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27015" y="1527346"/>
                          <a:ext cx="144462" cy="1444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1A201D34-EA49-A520-BD37-7E9ED465E522}"/>
              </a:ext>
            </a:extLst>
          </p:cNvPr>
          <p:cNvSpPr/>
          <p:nvPr/>
        </p:nvSpPr>
        <p:spPr>
          <a:xfrm>
            <a:off x="6397011" y="5715276"/>
            <a:ext cx="392727" cy="19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목록</a:t>
            </a: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D99A9FC1-E3A0-2B24-578E-97495DFF53A9}"/>
              </a:ext>
            </a:extLst>
          </p:cNvPr>
          <p:cNvSpPr/>
          <p:nvPr/>
        </p:nvSpPr>
        <p:spPr>
          <a:xfrm>
            <a:off x="5936915" y="5715276"/>
            <a:ext cx="392727" cy="198000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신청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2FD3AC2-9AB0-B561-BE4B-469ED550DCC2}"/>
              </a:ext>
            </a:extLst>
          </p:cNvPr>
          <p:cNvSpPr/>
          <p:nvPr/>
        </p:nvSpPr>
        <p:spPr>
          <a:xfrm>
            <a:off x="3023273" y="3072369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가족관계증명서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32BD19E-684A-41F4-B99D-3A365C60642C}"/>
              </a:ext>
            </a:extLst>
          </p:cNvPr>
          <p:cNvSpPr/>
          <p:nvPr/>
        </p:nvSpPr>
        <p:spPr>
          <a:xfrm>
            <a:off x="4676271" y="3072361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FDADF22-344E-14EB-D40B-29C0A810A6D4}"/>
              </a:ext>
            </a:extLst>
          </p:cNvPr>
          <p:cNvSpPr/>
          <p:nvPr/>
        </p:nvSpPr>
        <p:spPr>
          <a:xfrm>
            <a:off x="4984678" y="3072353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</a:p>
        </p:txBody>
      </p:sp>
      <p:sp>
        <p:nvSpPr>
          <p:cNvPr id="22" name="Rectangle 191">
            <a:extLst>
              <a:ext uri="{FF2B5EF4-FFF2-40B4-BE49-F238E27FC236}">
                <a16:creationId xmlns:a16="http://schemas.microsoft.com/office/drawing/2014/main" id="{666D5405-5458-F264-EBCA-0662B3733E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0343" y="3094937"/>
            <a:ext cx="269304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자녀수</a:t>
            </a:r>
            <a:endParaRPr kumimoji="0" lang="ko-KR" altLang="en-US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BC40E77-B43E-E1F2-3A16-2C877A8A9E88}"/>
              </a:ext>
            </a:extLst>
          </p:cNvPr>
          <p:cNvSpPr/>
          <p:nvPr/>
        </p:nvSpPr>
        <p:spPr>
          <a:xfrm>
            <a:off x="2368375" y="3073579"/>
            <a:ext cx="36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명</a:t>
            </a:r>
          </a:p>
        </p:txBody>
      </p:sp>
      <p:sp>
        <p:nvSpPr>
          <p:cNvPr id="24" name="Rectangle 191">
            <a:extLst>
              <a:ext uri="{FF2B5EF4-FFF2-40B4-BE49-F238E27FC236}">
                <a16:creationId xmlns:a16="http://schemas.microsoft.com/office/drawing/2014/main" id="{CA5BF018-EF9D-18C7-3174-7B00F65696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2472" y="3085136"/>
            <a:ext cx="17953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첨부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1182FF1-0C9C-2AB3-4249-F57E9E38A19F}"/>
              </a:ext>
            </a:extLst>
          </p:cNvPr>
          <p:cNvSpPr/>
          <p:nvPr/>
        </p:nvSpPr>
        <p:spPr>
          <a:xfrm>
            <a:off x="3088653" y="3549837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주민등록초본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7173376-64D5-E640-6F2F-B5F7FD27F15C}"/>
              </a:ext>
            </a:extLst>
          </p:cNvPr>
          <p:cNvSpPr/>
          <p:nvPr/>
        </p:nvSpPr>
        <p:spPr>
          <a:xfrm>
            <a:off x="4741651" y="3549829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BD9B49B-3BCC-6804-9591-EDD3219613CA}"/>
              </a:ext>
            </a:extLst>
          </p:cNvPr>
          <p:cNvSpPr/>
          <p:nvPr/>
        </p:nvSpPr>
        <p:spPr>
          <a:xfrm>
            <a:off x="5050058" y="3549821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</a:p>
        </p:txBody>
      </p:sp>
      <p:sp>
        <p:nvSpPr>
          <p:cNvPr id="28" name="Rectangle 191">
            <a:extLst>
              <a:ext uri="{FF2B5EF4-FFF2-40B4-BE49-F238E27FC236}">
                <a16:creationId xmlns:a16="http://schemas.microsoft.com/office/drawing/2014/main" id="{527AA2F7-D01E-2838-7CD4-25560781F8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4382" y="3565113"/>
            <a:ext cx="17953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첨부</a:t>
            </a:r>
          </a:p>
        </p:txBody>
      </p:sp>
      <p:sp>
        <p:nvSpPr>
          <p:cNvPr id="29" name="Rectangle 191">
            <a:extLst>
              <a:ext uri="{FF2B5EF4-FFF2-40B4-BE49-F238E27FC236}">
                <a16:creationId xmlns:a16="http://schemas.microsoft.com/office/drawing/2014/main" id="{6E409E11-118F-03F4-972E-2320EB5171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9144" y="3565539"/>
            <a:ext cx="359073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거주기간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16C0A8C-FD4F-E0D5-DED4-43FF70611965}"/>
              </a:ext>
            </a:extLst>
          </p:cNvPr>
          <p:cNvSpPr/>
          <p:nvPr/>
        </p:nvSpPr>
        <p:spPr>
          <a:xfrm>
            <a:off x="2462476" y="3544181"/>
            <a:ext cx="36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년</a:t>
            </a: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F2FE82EE-81EE-1837-726C-1C12BC5669B7}"/>
              </a:ext>
            </a:extLst>
          </p:cNvPr>
          <p:cNvSpPr>
            <a:spLocks noChangeAspect="1"/>
          </p:cNvSpPr>
          <p:nvPr/>
        </p:nvSpPr>
        <p:spPr>
          <a:xfrm>
            <a:off x="4252665" y="2228051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C994D7FE-98F1-9B53-7020-97B1B462F054}"/>
              </a:ext>
            </a:extLst>
          </p:cNvPr>
          <p:cNvSpPr>
            <a:spLocks noChangeAspect="1"/>
          </p:cNvSpPr>
          <p:nvPr/>
        </p:nvSpPr>
        <p:spPr>
          <a:xfrm>
            <a:off x="512127" y="2613059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702D30C5-CED7-2629-E1DB-2039F37700AD}"/>
              </a:ext>
            </a:extLst>
          </p:cNvPr>
          <p:cNvSpPr>
            <a:spLocks noChangeAspect="1"/>
          </p:cNvSpPr>
          <p:nvPr/>
        </p:nvSpPr>
        <p:spPr>
          <a:xfrm>
            <a:off x="512127" y="2835156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A107BAA3-D2BB-9603-7302-3C76A943E5E2}"/>
              </a:ext>
            </a:extLst>
          </p:cNvPr>
          <p:cNvSpPr>
            <a:spLocks noChangeAspect="1"/>
          </p:cNvSpPr>
          <p:nvPr/>
        </p:nvSpPr>
        <p:spPr>
          <a:xfrm>
            <a:off x="512127" y="3069169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6304D4D0-EC0A-EE38-70DA-BCC7147E9B8C}"/>
              </a:ext>
            </a:extLst>
          </p:cNvPr>
          <p:cNvSpPr>
            <a:spLocks noChangeAspect="1"/>
          </p:cNvSpPr>
          <p:nvPr/>
        </p:nvSpPr>
        <p:spPr>
          <a:xfrm>
            <a:off x="512127" y="3544096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22F8E611-3AC2-A1AB-51EA-B94F73CCD282}"/>
              </a:ext>
            </a:extLst>
          </p:cNvPr>
          <p:cNvGrpSpPr/>
          <p:nvPr/>
        </p:nvGrpSpPr>
        <p:grpSpPr>
          <a:xfrm>
            <a:off x="2072680" y="2609825"/>
            <a:ext cx="3933984" cy="144016"/>
            <a:chOff x="1394306" y="2609825"/>
            <a:chExt cx="3933984" cy="144016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50F214E2-09E5-C8B3-3B6D-903A46B1A816}"/>
                </a:ext>
              </a:extLst>
            </p:cNvPr>
            <p:cNvSpPr/>
            <p:nvPr/>
          </p:nvSpPr>
          <p:spPr>
            <a:xfrm>
              <a:off x="3102711" y="2609833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지방세세목별과세증명서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.zip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04BE09BE-BB63-C441-029B-5B2A17AD7ED8}"/>
                </a:ext>
              </a:extLst>
            </p:cNvPr>
            <p:cNvSpPr/>
            <p:nvPr/>
          </p:nvSpPr>
          <p:spPr>
            <a:xfrm>
              <a:off x="4755709" y="2609825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제출</a:t>
              </a: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1FE34CB-BACE-8080-5EEC-DA3872460D48}"/>
                </a:ext>
              </a:extLst>
            </p:cNvPr>
            <p:cNvSpPr/>
            <p:nvPr/>
          </p:nvSpPr>
          <p:spPr>
            <a:xfrm>
              <a:off x="5064116" y="2609825"/>
              <a:ext cx="264174" cy="144016"/>
            </a:xfrm>
            <a:prstGeom prst="rect">
              <a:avLst/>
            </a:prstGeom>
            <a:solidFill>
              <a:srgbClr val="66FF66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받기</a:t>
              </a:r>
            </a:p>
          </p:txBody>
        </p:sp>
        <p:sp>
          <p:nvSpPr>
            <p:cNvPr id="9" name="Rectangle 191">
              <a:extLst>
                <a:ext uri="{FF2B5EF4-FFF2-40B4-BE49-F238E27FC236}">
                  <a16:creationId xmlns:a16="http://schemas.microsoft.com/office/drawing/2014/main" id="{B9EC0C5F-9576-113F-2508-BAE0C0715B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0850" y="2627972"/>
              <a:ext cx="179536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첨부</a:t>
              </a:r>
            </a:p>
          </p:txBody>
        </p:sp>
        <p:sp>
          <p:nvSpPr>
            <p:cNvPr id="36" name="Rectangle 191">
              <a:extLst>
                <a:ext uri="{FF2B5EF4-FFF2-40B4-BE49-F238E27FC236}">
                  <a16:creationId xmlns:a16="http://schemas.microsoft.com/office/drawing/2014/main" id="{8D476BA9-191C-5DD5-7FFE-F6DC71E9D5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4306" y="2627972"/>
              <a:ext cx="965008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700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재산세</a:t>
              </a:r>
              <a:r>
                <a:rPr lang="en-US" altLang="ko-KR" sz="700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700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부</a:t>
              </a:r>
              <a:r>
                <a:rPr lang="en-US" altLang="ko-KR" sz="700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700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모</a:t>
              </a:r>
              <a:r>
                <a:rPr lang="en-US" altLang="ko-KR" sz="700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700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학생 합산</a:t>
              </a:r>
              <a:r>
                <a:rPr lang="en-US" altLang="ko-KR" sz="700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E60C050A-7AED-DEBE-9838-4EE1E8437797}"/>
                </a:ext>
              </a:extLst>
            </p:cNvPr>
            <p:cNvSpPr/>
            <p:nvPr/>
          </p:nvSpPr>
          <p:spPr>
            <a:xfrm>
              <a:off x="2371417" y="2609833"/>
              <a:ext cx="4752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dirty="0">
                  <a:solidFill>
                    <a:prstClr val="black">
                      <a:lumMod val="95000"/>
                      <a:lumOff val="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200,000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D50D3325-2BD8-50A5-55E6-9ADB2476CDFF}"/>
              </a:ext>
            </a:extLst>
          </p:cNvPr>
          <p:cNvGrpSpPr/>
          <p:nvPr/>
        </p:nvGrpSpPr>
        <p:grpSpPr>
          <a:xfrm>
            <a:off x="2079144" y="2847084"/>
            <a:ext cx="3660710" cy="144016"/>
            <a:chOff x="2008170" y="2687952"/>
            <a:chExt cx="3660710" cy="144016"/>
          </a:xfrm>
        </p:grpSpPr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B343F9BB-F74E-2D08-DA3C-67A294C94C0A}"/>
                </a:ext>
              </a:extLst>
            </p:cNvPr>
            <p:cNvSpPr/>
            <p:nvPr/>
          </p:nvSpPr>
          <p:spPr>
            <a:xfrm>
              <a:off x="3443301" y="2687960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보험료납입확인서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F5D50989-5B5D-B8FB-842A-74550A7DBF99}"/>
                </a:ext>
              </a:extLst>
            </p:cNvPr>
            <p:cNvSpPr/>
            <p:nvPr/>
          </p:nvSpPr>
          <p:spPr>
            <a:xfrm>
              <a:off x="5096299" y="2687952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제출</a:t>
              </a: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C327CA16-936C-ED9E-DF85-8B173090D8E6}"/>
                </a:ext>
              </a:extLst>
            </p:cNvPr>
            <p:cNvSpPr/>
            <p:nvPr/>
          </p:nvSpPr>
          <p:spPr>
            <a:xfrm>
              <a:off x="5404706" y="2687952"/>
              <a:ext cx="264174" cy="144016"/>
            </a:xfrm>
            <a:prstGeom prst="rect">
              <a:avLst/>
            </a:prstGeom>
            <a:solidFill>
              <a:srgbClr val="66FF66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받기</a:t>
              </a:r>
            </a:p>
          </p:txBody>
        </p:sp>
        <p:sp>
          <p:nvSpPr>
            <p:cNvPr id="43" name="Rectangle 191">
              <a:extLst>
                <a:ext uri="{FF2B5EF4-FFF2-40B4-BE49-F238E27FC236}">
                  <a16:creationId xmlns:a16="http://schemas.microsoft.com/office/drawing/2014/main" id="{A3D8D5FE-5CC5-1AAD-CF48-67F86446AB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1673" y="2706099"/>
              <a:ext cx="179536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첨부</a:t>
              </a:r>
            </a:p>
          </p:txBody>
        </p:sp>
        <p:sp>
          <p:nvSpPr>
            <p:cNvPr id="44" name="Rectangle 191">
              <a:extLst>
                <a:ext uri="{FF2B5EF4-FFF2-40B4-BE49-F238E27FC236}">
                  <a16:creationId xmlns:a16="http://schemas.microsoft.com/office/drawing/2014/main" id="{4772503B-47B8-60EE-FF2B-E7D6133A87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8170" y="2706099"/>
              <a:ext cx="750205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700" kern="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납부액</a:t>
              </a:r>
              <a:r>
                <a:rPr lang="en-US" altLang="ko-KR" sz="700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700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부</a:t>
              </a:r>
              <a:r>
                <a:rPr lang="en-US" altLang="ko-KR" sz="700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700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모 합산</a:t>
              </a:r>
              <a:r>
                <a:rPr lang="en-US" altLang="ko-KR" sz="700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77EABE87-C4F8-C7CF-CDAA-22989B5638E5}"/>
                </a:ext>
              </a:extLst>
            </p:cNvPr>
            <p:cNvSpPr/>
            <p:nvPr/>
          </p:nvSpPr>
          <p:spPr>
            <a:xfrm>
              <a:off x="2784941" y="2687960"/>
              <a:ext cx="432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dirty="0">
                  <a:solidFill>
                    <a:prstClr val="black">
                      <a:lumMod val="95000"/>
                      <a:lumOff val="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30,000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340495DD-CDE4-F25D-BA9A-F3B6540CD14F}"/>
              </a:ext>
            </a:extLst>
          </p:cNvPr>
          <p:cNvGrpSpPr/>
          <p:nvPr/>
        </p:nvGrpSpPr>
        <p:grpSpPr>
          <a:xfrm>
            <a:off x="2064729" y="3318135"/>
            <a:ext cx="2704513" cy="144016"/>
            <a:chOff x="1897884" y="2847629"/>
            <a:chExt cx="2704513" cy="144016"/>
          </a:xfrm>
        </p:grpSpPr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13E40DAA-B8BE-80C7-0AFC-C59FE26F9FE9}"/>
                </a:ext>
              </a:extLst>
            </p:cNvPr>
            <p:cNvSpPr/>
            <p:nvPr/>
          </p:nvSpPr>
          <p:spPr>
            <a:xfrm>
              <a:off x="1897884" y="2847637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추천서</a:t>
              </a:r>
              <a:r>
                <a:rPr kumimoji="0" lang="en-US" altLang="ko-KR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46DEE267-9CBB-C855-9729-2DED5030C79F}"/>
                </a:ext>
              </a:extLst>
            </p:cNvPr>
            <p:cNvSpPr/>
            <p:nvPr/>
          </p:nvSpPr>
          <p:spPr>
            <a:xfrm>
              <a:off x="3550882" y="2847629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제출</a:t>
              </a: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367FD02E-1D88-8885-1D44-4A41EBD440DF}"/>
                </a:ext>
              </a:extLst>
            </p:cNvPr>
            <p:cNvSpPr/>
            <p:nvPr/>
          </p:nvSpPr>
          <p:spPr>
            <a:xfrm>
              <a:off x="3859392" y="2847629"/>
              <a:ext cx="264174" cy="144016"/>
            </a:xfrm>
            <a:prstGeom prst="rect">
              <a:avLst/>
            </a:prstGeom>
            <a:solidFill>
              <a:srgbClr val="66FF66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12F7F51A-567D-DBFB-A75B-5C535E1C71CD}"/>
                </a:ext>
              </a:extLst>
            </p:cNvPr>
            <p:cNvSpPr/>
            <p:nvPr/>
          </p:nvSpPr>
          <p:spPr>
            <a:xfrm>
              <a:off x="4176942" y="2847629"/>
              <a:ext cx="425455" cy="14401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양식받기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86D1CD11-D8E3-53BF-5555-93F20996201F}"/>
              </a:ext>
            </a:extLst>
          </p:cNvPr>
          <p:cNvSpPr/>
          <p:nvPr/>
        </p:nvSpPr>
        <p:spPr>
          <a:xfrm>
            <a:off x="668524" y="5157216"/>
            <a:ext cx="6121214" cy="21600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78006D14-2194-FDD2-8D65-26D342F78B3F}"/>
              </a:ext>
            </a:extLst>
          </p:cNvPr>
          <p:cNvSpPr>
            <a:spLocks noChangeAspect="1"/>
          </p:cNvSpPr>
          <p:nvPr/>
        </p:nvSpPr>
        <p:spPr>
          <a:xfrm>
            <a:off x="512127" y="5203228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71053979-DD83-DADA-0C0D-3822BF957686}"/>
              </a:ext>
            </a:extLst>
          </p:cNvPr>
          <p:cNvSpPr/>
          <p:nvPr/>
        </p:nvSpPr>
        <p:spPr>
          <a:xfrm>
            <a:off x="668524" y="3279514"/>
            <a:ext cx="6121214" cy="21600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4AFE2E22-2939-FE26-19B0-6EB6B34E2325}"/>
              </a:ext>
            </a:extLst>
          </p:cNvPr>
          <p:cNvSpPr>
            <a:spLocks noChangeAspect="1"/>
          </p:cNvSpPr>
          <p:nvPr/>
        </p:nvSpPr>
        <p:spPr>
          <a:xfrm>
            <a:off x="512127" y="3325526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311C5D90-3661-A13E-06F5-8292E20E5D7B}"/>
              </a:ext>
            </a:extLst>
          </p:cNvPr>
          <p:cNvSpPr/>
          <p:nvPr/>
        </p:nvSpPr>
        <p:spPr>
          <a:xfrm>
            <a:off x="668524" y="2564808"/>
            <a:ext cx="6121214" cy="468398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CBEE4E3F-5D1A-C962-B627-9DA657458260}"/>
              </a:ext>
            </a:extLst>
          </p:cNvPr>
          <p:cNvGrpSpPr/>
          <p:nvPr/>
        </p:nvGrpSpPr>
        <p:grpSpPr>
          <a:xfrm>
            <a:off x="2072680" y="5189452"/>
            <a:ext cx="3233421" cy="147760"/>
            <a:chOff x="2011811" y="4800927"/>
            <a:chExt cx="3233421" cy="147760"/>
          </a:xfrm>
        </p:grpSpPr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67D80587-E4A0-0D48-6FA6-81C1AE648261}"/>
                </a:ext>
              </a:extLst>
            </p:cNvPr>
            <p:cNvGrpSpPr/>
            <p:nvPr/>
          </p:nvGrpSpPr>
          <p:grpSpPr>
            <a:xfrm>
              <a:off x="2858269" y="4804671"/>
              <a:ext cx="2386963" cy="144016"/>
              <a:chOff x="1897884" y="4476806"/>
              <a:chExt cx="2386963" cy="144016"/>
            </a:xfrm>
          </p:grpSpPr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AA7A933F-4896-1654-43D0-EE4F74E44107}"/>
                  </a:ext>
                </a:extLst>
              </p:cNvPr>
              <p:cNvSpPr/>
              <p:nvPr/>
            </p:nvSpPr>
            <p:spPr>
              <a:xfrm>
                <a:off x="1897884" y="4476814"/>
                <a:ext cx="1620000" cy="144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36000" rIns="36000" rtlCol="0" anchor="ctr"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6" name="직사각형 15">
                <a:extLst>
                  <a:ext uri="{FF2B5EF4-FFF2-40B4-BE49-F238E27FC236}">
                    <a16:creationId xmlns:a16="http://schemas.microsoft.com/office/drawing/2014/main" id="{DC2A750E-25DA-319C-5452-2F1BAF5AD381}"/>
                  </a:ext>
                </a:extLst>
              </p:cNvPr>
              <p:cNvSpPr/>
              <p:nvPr/>
            </p:nvSpPr>
            <p:spPr>
              <a:xfrm>
                <a:off x="3550882" y="4476806"/>
                <a:ext cx="264174" cy="144016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추가</a:t>
                </a:r>
              </a:p>
            </p:txBody>
          </p:sp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C8264235-4C0A-4B35-6269-5F6B6F4E384E}"/>
                  </a:ext>
                </a:extLst>
              </p:cNvPr>
              <p:cNvSpPr/>
              <p:nvPr/>
            </p:nvSpPr>
            <p:spPr>
              <a:xfrm>
                <a:off x="3859392" y="4476806"/>
                <a:ext cx="425455" cy="144016"/>
              </a:xfrm>
              <a:prstGeom prst="rect">
                <a:avLst/>
              </a:prstGeom>
              <a:solidFill>
                <a:srgbClr val="FFFF00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7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양식받기</a:t>
                </a:r>
                <a:endPara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10" name="Rectangle 191">
              <a:extLst>
                <a:ext uri="{FF2B5EF4-FFF2-40B4-BE49-F238E27FC236}">
                  <a16:creationId xmlns:a16="http://schemas.microsoft.com/office/drawing/2014/main" id="{6E888D2B-95F1-FBE0-056C-07200798F5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1811" y="4819066"/>
              <a:ext cx="179536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성적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9D9BECE8-0DF8-C81B-63A4-53ABDBD418A9}"/>
                </a:ext>
              </a:extLst>
            </p:cNvPr>
            <p:cNvSpPr/>
            <p:nvPr/>
          </p:nvSpPr>
          <p:spPr>
            <a:xfrm>
              <a:off x="2216445" y="4800927"/>
              <a:ext cx="36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4.5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4" name="Rectangle 191">
              <a:extLst>
                <a:ext uri="{FF2B5EF4-FFF2-40B4-BE49-F238E27FC236}">
                  <a16:creationId xmlns:a16="http://schemas.microsoft.com/office/drawing/2014/main" id="{399F2259-B9F1-C2D6-E1B5-7D61B26DAD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0882" y="4819066"/>
              <a:ext cx="179536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첨부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496998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ACB4D-8615-52C2-FE74-F6C699C1A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32E4E83-3C4D-22D0-7368-DE1A013E6A05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고등학생장학금 신청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BDD9023-EB2B-8C9F-D41A-721B20813E1B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프로그램신청관리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고등학생장학금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장학금신청</a:t>
            </a: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42DBB477-6BDE-05B4-9607-A6495897A5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6502532"/>
              </p:ext>
            </p:extLst>
          </p:nvPr>
        </p:nvGraphicFramePr>
        <p:xfrm>
          <a:off x="6969418" y="2548005"/>
          <a:ext cx="2772114" cy="2697019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프로그램신청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고등학생장학금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조회 화면 목록에서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신청하기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클릭 시 보이는 화면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전형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다문화가정자녀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전형별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가족관계증명서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기본증명서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추천서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첨부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제출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제출 서류 파일 선택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첨부완료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받기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시 첨부된 제출 서류 파일 다운로드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양식받기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시 추천서 양식 파일을 다운 받는다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주민등록초본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거주기간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신청 회원의 거주기간을 입력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첨부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제출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제출 서류 파일 선택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첨부완료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받기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시 첨부된 제출 서류 파일 다운로드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첨부파일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성적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성적을 입력 한다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추가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] : 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추가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파일 선택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첨부 설정완료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파일받기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파일명 클릭 시 첨부된 파일 다운로드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[x]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 첨부된 해당 파일 삭제 처리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양식받기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시 추천서 양식 파일을 다운 받는다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45240657-032B-5CD5-95B4-F961B483E169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pah_application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D2B51CF-68A9-7FB5-331F-FBDD9801C620}"/>
              </a:ext>
            </a:extLst>
          </p:cNvPr>
          <p:cNvSpPr/>
          <p:nvPr/>
        </p:nvSpPr>
        <p:spPr>
          <a:xfrm>
            <a:off x="165100" y="1376363"/>
            <a:ext cx="6732116" cy="460414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46AE406-83EB-C7DC-E5DF-6735B09752C1}"/>
              </a:ext>
            </a:extLst>
          </p:cNvPr>
          <p:cNvSpPr/>
          <p:nvPr/>
        </p:nvSpPr>
        <p:spPr>
          <a:xfrm>
            <a:off x="292846" y="1448780"/>
            <a:ext cx="1202252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800" b="1" dirty="0">
                <a:solidFill>
                  <a:prstClr val="black"/>
                </a:solidFill>
              </a:rPr>
              <a:t>고등학생 장학금 신청정보</a:t>
            </a:r>
          </a:p>
        </p:txBody>
      </p:sp>
      <p:sp>
        <p:nvSpPr>
          <p:cNvPr id="169" name="직사각형 168">
            <a:extLst>
              <a:ext uri="{FF2B5EF4-FFF2-40B4-BE49-F238E27FC236}">
                <a16:creationId xmlns:a16="http://schemas.microsoft.com/office/drawing/2014/main" id="{974CB036-67AF-854B-AAA0-3B3B280AD8CC}"/>
              </a:ext>
            </a:extLst>
          </p:cNvPr>
          <p:cNvSpPr/>
          <p:nvPr/>
        </p:nvSpPr>
        <p:spPr>
          <a:xfrm>
            <a:off x="165100" y="6023481"/>
            <a:ext cx="6732116" cy="46622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70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A3414128-8E89-A854-9DC6-E505E0994A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6165304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1" name="TextBox 170">
            <a:extLst>
              <a:ext uri="{FF2B5EF4-FFF2-40B4-BE49-F238E27FC236}">
                <a16:creationId xmlns:a16="http://schemas.microsoft.com/office/drawing/2014/main" id="{3BBE43A5-EB5F-C02B-EFEE-3ECC6B9FD6A0}"/>
              </a:ext>
            </a:extLst>
          </p:cNvPr>
          <p:cNvSpPr txBox="1"/>
          <p:nvPr/>
        </p:nvSpPr>
        <p:spPr>
          <a:xfrm>
            <a:off x="1172580" y="6077394"/>
            <a:ext cx="31242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경기 오산시 성호대로 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141 (</a:t>
            </a:r>
            <a:r>
              <a:rPr lang="ko-KR" altLang="en-US" sz="600" b="0" i="0" dirty="0" err="1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오산동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오산시청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오산교육재단</a:t>
            </a:r>
            <a:endParaRPr lang="en-US" altLang="ko-KR" sz="600" b="0" i="0" dirty="0">
              <a:solidFill>
                <a:srgbClr val="666666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>
              <a:buNone/>
            </a:pP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TEL. (031)8036-8905 FAX. (031)8036-8905</a:t>
            </a:r>
          </a:p>
          <a:p>
            <a:pPr algn="l">
              <a:buNone/>
            </a:pP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Copyright©2025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오산교육재단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 ALL RIGHTSRESERVED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5D2BCB47-73C9-CE3E-7EF0-9EF7BBB622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9018448"/>
              </p:ext>
            </p:extLst>
          </p:nvPr>
        </p:nvGraphicFramePr>
        <p:xfrm>
          <a:off x="292846" y="1628800"/>
          <a:ext cx="6496892" cy="375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6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5432">
                  <a:extLst>
                    <a:ext uri="{9D8B030D-6E8A-4147-A177-3AD203B41FA5}">
                      <a16:colId xmlns:a16="http://schemas.microsoft.com/office/drawing/2014/main" val="3668863434"/>
                    </a:ext>
                  </a:extLst>
                </a:gridCol>
                <a:gridCol w="49057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구분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고등학생 장학금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894265"/>
                  </a:ext>
                </a:extLst>
              </a:tr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</a:t>
                      </a:r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하반기 고등학생 장학금 신청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접수기간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2025.09.20 10:00 </a:t>
                      </a:r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~ 2025.09.30 10:00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전형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4735">
                <a:tc row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전형별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가족관계증명서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2230354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기본증명서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4629346"/>
                  </a:ext>
                </a:extLst>
              </a:tr>
              <a:tr h="234735">
                <a:tc rowSpan="10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공통 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추천서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주민등록초본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1958612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주민등록등본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164179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성적증빙자료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2108985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국민기초생활보장수급자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차상위계층확인서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한부모가족보호대상확인서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장애인증명서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첨부파일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8089092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8418894"/>
                  </a:ext>
                </a:extLst>
              </a:tr>
            </a:tbl>
          </a:graphicData>
        </a:graphic>
      </p:graphicFrame>
      <p:sp>
        <p:nvSpPr>
          <p:cNvPr id="69" name="직사각형 68">
            <a:extLst>
              <a:ext uri="{FF2B5EF4-FFF2-40B4-BE49-F238E27FC236}">
                <a16:creationId xmlns:a16="http://schemas.microsoft.com/office/drawing/2014/main" id="{6A03FACD-D227-7158-D4D0-55207E15B14D}"/>
              </a:ext>
            </a:extLst>
          </p:cNvPr>
          <p:cNvSpPr/>
          <p:nvPr/>
        </p:nvSpPr>
        <p:spPr>
          <a:xfrm>
            <a:off x="1927742" y="3555640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주민등록등본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7A975535-3D4B-0F58-6F55-8C63B7EC8F2A}"/>
              </a:ext>
            </a:extLst>
          </p:cNvPr>
          <p:cNvSpPr/>
          <p:nvPr/>
        </p:nvSpPr>
        <p:spPr>
          <a:xfrm>
            <a:off x="3580740" y="3555632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B850DD6E-0CF3-DFD8-2704-4A5799B51C97}"/>
              </a:ext>
            </a:extLst>
          </p:cNvPr>
          <p:cNvSpPr/>
          <p:nvPr/>
        </p:nvSpPr>
        <p:spPr>
          <a:xfrm>
            <a:off x="1927742" y="4025174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5029A344-2B64-C543-8D06-E2D31CD785FF}"/>
              </a:ext>
            </a:extLst>
          </p:cNvPr>
          <p:cNvSpPr/>
          <p:nvPr/>
        </p:nvSpPr>
        <p:spPr>
          <a:xfrm>
            <a:off x="3580740" y="4025166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8A20958F-6051-5C9D-7EA7-5A9E26527DD7}"/>
              </a:ext>
            </a:extLst>
          </p:cNvPr>
          <p:cNvSpPr/>
          <p:nvPr/>
        </p:nvSpPr>
        <p:spPr>
          <a:xfrm>
            <a:off x="1927742" y="4257100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B905BFDF-FE31-0819-0E7A-7F05F2338183}"/>
              </a:ext>
            </a:extLst>
          </p:cNvPr>
          <p:cNvSpPr/>
          <p:nvPr/>
        </p:nvSpPr>
        <p:spPr>
          <a:xfrm>
            <a:off x="3580740" y="4257092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F7CA8A86-B617-66E4-ADEF-E35A617183F8}"/>
              </a:ext>
            </a:extLst>
          </p:cNvPr>
          <p:cNvSpPr/>
          <p:nvPr/>
        </p:nvSpPr>
        <p:spPr>
          <a:xfrm>
            <a:off x="1927742" y="4487482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dirty="0" err="1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한부모가족보호대상확인서</a:t>
            </a:r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2EB2B9AB-9941-DA6F-B42E-75CE6D66412B}"/>
              </a:ext>
            </a:extLst>
          </p:cNvPr>
          <p:cNvSpPr/>
          <p:nvPr/>
        </p:nvSpPr>
        <p:spPr>
          <a:xfrm>
            <a:off x="3580740" y="4487474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B0D116F0-E08E-C751-6EBF-CCD076916F0F}"/>
              </a:ext>
            </a:extLst>
          </p:cNvPr>
          <p:cNvSpPr/>
          <p:nvPr/>
        </p:nvSpPr>
        <p:spPr>
          <a:xfrm>
            <a:off x="1927742" y="4727032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장애인증명서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D5AF0FC0-01E6-8423-A1B1-96F14060A17B}"/>
              </a:ext>
            </a:extLst>
          </p:cNvPr>
          <p:cNvSpPr/>
          <p:nvPr/>
        </p:nvSpPr>
        <p:spPr>
          <a:xfrm>
            <a:off x="3580740" y="4727024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2B0E033F-290A-26EF-0B5B-B62C2C64EE29}"/>
              </a:ext>
            </a:extLst>
          </p:cNvPr>
          <p:cNvGrpSpPr/>
          <p:nvPr/>
        </p:nvGrpSpPr>
        <p:grpSpPr>
          <a:xfrm>
            <a:off x="1963023" y="5217270"/>
            <a:ext cx="1105196" cy="128396"/>
            <a:chOff x="3438680" y="4305150"/>
            <a:chExt cx="1105196" cy="128396"/>
          </a:xfrm>
        </p:grpSpPr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A20FE9CD-9E8B-3AD9-9131-31FD143F4FE8}"/>
                </a:ext>
              </a:extLst>
            </p:cNvPr>
            <p:cNvSpPr txBox="1"/>
            <p:nvPr/>
          </p:nvSpPr>
          <p:spPr>
            <a:xfrm>
              <a:off x="3438680" y="4305150"/>
              <a:ext cx="971420" cy="10772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신청 관련 부가 서류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42" name="Picture 10">
              <a:extLst>
                <a:ext uri="{FF2B5EF4-FFF2-40B4-BE49-F238E27FC236}">
                  <a16:creationId xmlns:a16="http://schemas.microsoft.com/office/drawing/2014/main" id="{539282C8-AA68-307F-1F39-2EAA383D91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7418" y="4312303"/>
              <a:ext cx="106458" cy="121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A820E748-8CF7-1E49-F79F-5C3E2A8A063B}"/>
              </a:ext>
            </a:extLst>
          </p:cNvPr>
          <p:cNvGrpSpPr/>
          <p:nvPr/>
        </p:nvGrpSpPr>
        <p:grpSpPr>
          <a:xfrm>
            <a:off x="3149436" y="5217270"/>
            <a:ext cx="1105196" cy="128396"/>
            <a:chOff x="3438680" y="4305150"/>
            <a:chExt cx="1105196" cy="128396"/>
          </a:xfrm>
        </p:grpSpPr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2EB79F70-0F12-49B6-1111-9D1DD04CAFFE}"/>
                </a:ext>
              </a:extLst>
            </p:cNvPr>
            <p:cNvSpPr txBox="1"/>
            <p:nvPr/>
          </p:nvSpPr>
          <p:spPr>
            <a:xfrm>
              <a:off x="3438680" y="4305150"/>
              <a:ext cx="971420" cy="10772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신청 관련 부가 서류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45" name="Picture 10">
              <a:extLst>
                <a:ext uri="{FF2B5EF4-FFF2-40B4-BE49-F238E27FC236}">
                  <a16:creationId xmlns:a16="http://schemas.microsoft.com/office/drawing/2014/main" id="{EC98C071-3B71-5127-A40E-73884F69B3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7418" y="4312303"/>
              <a:ext cx="106458" cy="121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93F7AE64-40DC-3B84-22F7-D62EA1FAA301}"/>
              </a:ext>
            </a:extLst>
          </p:cNvPr>
          <p:cNvGrpSpPr/>
          <p:nvPr/>
        </p:nvGrpSpPr>
        <p:grpSpPr>
          <a:xfrm>
            <a:off x="1922696" y="2380094"/>
            <a:ext cx="505750" cy="144462"/>
            <a:chOff x="2716253" y="2405617"/>
            <a:chExt cx="505750" cy="144462"/>
          </a:xfrm>
        </p:grpSpPr>
        <p:sp>
          <p:nvSpPr>
            <p:cNvPr id="147" name="Rectangle 191">
              <a:extLst>
                <a:ext uri="{FF2B5EF4-FFF2-40B4-BE49-F238E27FC236}">
                  <a16:creationId xmlns:a16="http://schemas.microsoft.com/office/drawing/2014/main" id="{930BBABC-CB39-45E6-676D-4C35A40969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359073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우수인재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graphicFrame>
          <p:nvGraphicFramePr>
            <p:cNvPr id="148" name="개체 147">
              <a:extLst>
                <a:ext uri="{FF2B5EF4-FFF2-40B4-BE49-F238E27FC236}">
                  <a16:creationId xmlns:a16="http://schemas.microsoft.com/office/drawing/2014/main" id="{52731109-8165-4D5A-7E0B-7AE925B9EA8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145435" imgH="145435" progId="Visio.Drawing.11">
                    <p:embed/>
                  </p:oleObj>
                </mc:Choice>
                <mc:Fallback>
                  <p:oleObj name="Visio" r:id="rId4" imgW="145435" imgH="145435" progId="Visio.Drawing.11">
                    <p:embed/>
                    <p:pic>
                      <p:nvPicPr>
                        <p:cNvPr id="32" name="개체 31">
                          <a:extLst>
                            <a:ext uri="{FF2B5EF4-FFF2-40B4-BE49-F238E27FC236}">
                              <a16:creationId xmlns:a16="http://schemas.microsoft.com/office/drawing/2014/main" id="{52731109-8165-4D5A-7E0B-7AE925B9EA8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5C549919-2CE2-51F9-FCF9-7F70BB248AC8}"/>
              </a:ext>
            </a:extLst>
          </p:cNvPr>
          <p:cNvSpPr/>
          <p:nvPr/>
        </p:nvSpPr>
        <p:spPr>
          <a:xfrm>
            <a:off x="1927742" y="3787345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성적증빙자료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.zip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EE46DEC8-9EF5-C218-AD59-1AB96441A41C}"/>
              </a:ext>
            </a:extLst>
          </p:cNvPr>
          <p:cNvSpPr/>
          <p:nvPr/>
        </p:nvSpPr>
        <p:spPr>
          <a:xfrm>
            <a:off x="3580740" y="3787337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D153A1F3-DC55-5B02-730A-7359C2D28DFC}"/>
              </a:ext>
            </a:extLst>
          </p:cNvPr>
          <p:cNvSpPr/>
          <p:nvPr/>
        </p:nvSpPr>
        <p:spPr>
          <a:xfrm>
            <a:off x="3889147" y="3576626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</a:p>
        </p:txBody>
      </p: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72A03065-8A81-BAD9-405F-D832FF12BDA7}"/>
              </a:ext>
            </a:extLst>
          </p:cNvPr>
          <p:cNvSpPr/>
          <p:nvPr/>
        </p:nvSpPr>
        <p:spPr>
          <a:xfrm>
            <a:off x="3889147" y="3782217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F92B3C7C-70F3-964A-EE2D-FB29CDE59FE8}"/>
              </a:ext>
            </a:extLst>
          </p:cNvPr>
          <p:cNvSpPr/>
          <p:nvPr/>
        </p:nvSpPr>
        <p:spPr>
          <a:xfrm>
            <a:off x="3889147" y="4025166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id="{F55F6BA6-C006-4337-ED59-82291F2E26C9}"/>
              </a:ext>
            </a:extLst>
          </p:cNvPr>
          <p:cNvSpPr/>
          <p:nvPr/>
        </p:nvSpPr>
        <p:spPr>
          <a:xfrm>
            <a:off x="3889147" y="4257092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</a:p>
        </p:txBody>
      </p:sp>
      <p:sp>
        <p:nvSpPr>
          <p:cNvPr id="157" name="직사각형 156">
            <a:extLst>
              <a:ext uri="{FF2B5EF4-FFF2-40B4-BE49-F238E27FC236}">
                <a16:creationId xmlns:a16="http://schemas.microsoft.com/office/drawing/2014/main" id="{6DC4D5F8-C808-1128-B60F-A2EDA7286425}"/>
              </a:ext>
            </a:extLst>
          </p:cNvPr>
          <p:cNvSpPr/>
          <p:nvPr/>
        </p:nvSpPr>
        <p:spPr>
          <a:xfrm>
            <a:off x="3889147" y="4485267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</a:p>
        </p:txBody>
      </p:sp>
      <p:sp>
        <p:nvSpPr>
          <p:cNvPr id="158" name="직사각형 157">
            <a:extLst>
              <a:ext uri="{FF2B5EF4-FFF2-40B4-BE49-F238E27FC236}">
                <a16:creationId xmlns:a16="http://schemas.microsoft.com/office/drawing/2014/main" id="{5DC94E36-DCDA-04FE-F6AB-5E4910542AD7}"/>
              </a:ext>
            </a:extLst>
          </p:cNvPr>
          <p:cNvSpPr/>
          <p:nvPr/>
        </p:nvSpPr>
        <p:spPr>
          <a:xfrm>
            <a:off x="3889147" y="4725144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</a:p>
        </p:txBody>
      </p:sp>
      <p:grpSp>
        <p:nvGrpSpPr>
          <p:cNvPr id="159" name="그룹 158">
            <a:extLst>
              <a:ext uri="{FF2B5EF4-FFF2-40B4-BE49-F238E27FC236}">
                <a16:creationId xmlns:a16="http://schemas.microsoft.com/office/drawing/2014/main" id="{6B0A9705-5692-A92C-C5CC-7F3E57819B81}"/>
              </a:ext>
            </a:extLst>
          </p:cNvPr>
          <p:cNvGrpSpPr/>
          <p:nvPr/>
        </p:nvGrpSpPr>
        <p:grpSpPr>
          <a:xfrm>
            <a:off x="2507635" y="2380094"/>
            <a:ext cx="505750" cy="144462"/>
            <a:chOff x="2716253" y="2405617"/>
            <a:chExt cx="505750" cy="144462"/>
          </a:xfrm>
        </p:grpSpPr>
        <p:sp>
          <p:nvSpPr>
            <p:cNvPr id="160" name="Rectangle 191">
              <a:extLst>
                <a:ext uri="{FF2B5EF4-FFF2-40B4-BE49-F238E27FC236}">
                  <a16:creationId xmlns:a16="http://schemas.microsoft.com/office/drawing/2014/main" id="{E8B3CFAB-3905-B1BC-EB72-655F36026E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359073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희망인재</a:t>
              </a:r>
            </a:p>
          </p:txBody>
        </p:sp>
        <p:graphicFrame>
          <p:nvGraphicFramePr>
            <p:cNvPr id="161" name="개체 160">
              <a:extLst>
                <a:ext uri="{FF2B5EF4-FFF2-40B4-BE49-F238E27FC236}">
                  <a16:creationId xmlns:a16="http://schemas.microsoft.com/office/drawing/2014/main" id="{60FB4BCC-2A9D-FFFE-4CCE-34C7A75D484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145435" imgH="145435" progId="Visio.Drawing.11">
                    <p:embed/>
                  </p:oleObj>
                </mc:Choice>
                <mc:Fallback>
                  <p:oleObj name="Visio" r:id="rId4" imgW="145435" imgH="145435" progId="Visio.Drawing.11">
                    <p:embed/>
                    <p:pic>
                      <p:nvPicPr>
                        <p:cNvPr id="46" name="개체 45">
                          <a:extLst>
                            <a:ext uri="{FF2B5EF4-FFF2-40B4-BE49-F238E27FC236}">
                              <a16:creationId xmlns:a16="http://schemas.microsoft.com/office/drawing/2014/main" id="{60FB4BCC-2A9D-FFFE-4CCE-34C7A75D484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9D37868B-D6A8-D7B6-99C1-9F6A752326E7}"/>
              </a:ext>
            </a:extLst>
          </p:cNvPr>
          <p:cNvSpPr/>
          <p:nvPr/>
        </p:nvSpPr>
        <p:spPr>
          <a:xfrm>
            <a:off x="1927742" y="2611356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가족관계증명서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zip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3" name="직사각형 162">
            <a:extLst>
              <a:ext uri="{FF2B5EF4-FFF2-40B4-BE49-F238E27FC236}">
                <a16:creationId xmlns:a16="http://schemas.microsoft.com/office/drawing/2014/main" id="{92DD4606-FCA7-3A31-F2C0-D637675E00D2}"/>
              </a:ext>
            </a:extLst>
          </p:cNvPr>
          <p:cNvSpPr/>
          <p:nvPr/>
        </p:nvSpPr>
        <p:spPr>
          <a:xfrm>
            <a:off x="3580740" y="2611348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1C5BA33C-756B-AE9F-1E87-0DD832659F6C}"/>
              </a:ext>
            </a:extLst>
          </p:cNvPr>
          <p:cNvSpPr/>
          <p:nvPr/>
        </p:nvSpPr>
        <p:spPr>
          <a:xfrm>
            <a:off x="3889147" y="2611340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</a:p>
        </p:txBody>
      </p:sp>
      <p:sp>
        <p:nvSpPr>
          <p:cNvPr id="165" name="직사각형 164">
            <a:extLst>
              <a:ext uri="{FF2B5EF4-FFF2-40B4-BE49-F238E27FC236}">
                <a16:creationId xmlns:a16="http://schemas.microsoft.com/office/drawing/2014/main" id="{A59E6733-2CB4-E03F-5A24-0351071328A0}"/>
              </a:ext>
            </a:extLst>
          </p:cNvPr>
          <p:cNvSpPr/>
          <p:nvPr/>
        </p:nvSpPr>
        <p:spPr>
          <a:xfrm>
            <a:off x="1927742" y="2843290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기본증명서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DA697C31-BC19-1832-939A-A436197F0054}"/>
              </a:ext>
            </a:extLst>
          </p:cNvPr>
          <p:cNvSpPr/>
          <p:nvPr/>
        </p:nvSpPr>
        <p:spPr>
          <a:xfrm>
            <a:off x="3580740" y="2843282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67" name="직사각형 166">
            <a:extLst>
              <a:ext uri="{FF2B5EF4-FFF2-40B4-BE49-F238E27FC236}">
                <a16:creationId xmlns:a16="http://schemas.microsoft.com/office/drawing/2014/main" id="{CA63CB78-8559-1F3E-8B28-6945F2B3DA90}"/>
              </a:ext>
            </a:extLst>
          </p:cNvPr>
          <p:cNvSpPr/>
          <p:nvPr/>
        </p:nvSpPr>
        <p:spPr>
          <a:xfrm>
            <a:off x="3889147" y="2843274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</a:p>
        </p:txBody>
      </p:sp>
      <p:grpSp>
        <p:nvGrpSpPr>
          <p:cNvPr id="168" name="그룹 167">
            <a:extLst>
              <a:ext uri="{FF2B5EF4-FFF2-40B4-BE49-F238E27FC236}">
                <a16:creationId xmlns:a16="http://schemas.microsoft.com/office/drawing/2014/main" id="{84C18FA8-84B4-11B8-627D-B5D1C94E382A}"/>
              </a:ext>
            </a:extLst>
          </p:cNvPr>
          <p:cNvGrpSpPr/>
          <p:nvPr/>
        </p:nvGrpSpPr>
        <p:grpSpPr>
          <a:xfrm>
            <a:off x="3075947" y="2380094"/>
            <a:ext cx="595518" cy="144462"/>
            <a:chOff x="2716253" y="2405617"/>
            <a:chExt cx="595518" cy="144462"/>
          </a:xfrm>
        </p:grpSpPr>
        <p:sp>
          <p:nvSpPr>
            <p:cNvPr id="172" name="Rectangle 191">
              <a:extLst>
                <a:ext uri="{FF2B5EF4-FFF2-40B4-BE49-F238E27FC236}">
                  <a16:creationId xmlns:a16="http://schemas.microsoft.com/office/drawing/2014/main" id="{2A68212C-10AF-52BB-DD50-5C5B75690A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448841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근로자자녀</a:t>
              </a:r>
            </a:p>
          </p:txBody>
        </p:sp>
        <p:graphicFrame>
          <p:nvGraphicFramePr>
            <p:cNvPr id="173" name="개체 172">
              <a:extLst>
                <a:ext uri="{FF2B5EF4-FFF2-40B4-BE49-F238E27FC236}">
                  <a16:creationId xmlns:a16="http://schemas.microsoft.com/office/drawing/2014/main" id="{F1016AF0-70FC-9A42-88A0-10ADFA7EA08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145435" imgH="145435" progId="Visio.Drawing.11">
                    <p:embed/>
                  </p:oleObj>
                </mc:Choice>
                <mc:Fallback>
                  <p:oleObj name="Visio" r:id="rId4" imgW="145435" imgH="145435" progId="Visio.Drawing.11">
                    <p:embed/>
                    <p:pic>
                      <p:nvPicPr>
                        <p:cNvPr id="55" name="개체 54">
                          <a:extLst>
                            <a:ext uri="{FF2B5EF4-FFF2-40B4-BE49-F238E27FC236}">
                              <a16:creationId xmlns:a16="http://schemas.microsoft.com/office/drawing/2014/main" id="{F1016AF0-70FC-9A42-88A0-10ADFA7EA08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4" name="그룹 173">
            <a:extLst>
              <a:ext uri="{FF2B5EF4-FFF2-40B4-BE49-F238E27FC236}">
                <a16:creationId xmlns:a16="http://schemas.microsoft.com/office/drawing/2014/main" id="{9E32DE84-823F-D0E5-45BF-4931D4B70F7A}"/>
              </a:ext>
            </a:extLst>
          </p:cNvPr>
          <p:cNvGrpSpPr/>
          <p:nvPr/>
        </p:nvGrpSpPr>
        <p:grpSpPr>
          <a:xfrm>
            <a:off x="3730528" y="2380094"/>
            <a:ext cx="775054" cy="144462"/>
            <a:chOff x="2716253" y="2405617"/>
            <a:chExt cx="775054" cy="144462"/>
          </a:xfrm>
        </p:grpSpPr>
        <p:sp>
          <p:nvSpPr>
            <p:cNvPr id="175" name="Rectangle 191">
              <a:extLst>
                <a:ext uri="{FF2B5EF4-FFF2-40B4-BE49-F238E27FC236}">
                  <a16:creationId xmlns:a16="http://schemas.microsoft.com/office/drawing/2014/main" id="{EC19F5C1-4280-2A18-305A-842DB71949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628377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다자녀가정자녀</a:t>
              </a:r>
            </a:p>
          </p:txBody>
        </p:sp>
        <p:graphicFrame>
          <p:nvGraphicFramePr>
            <p:cNvPr id="176" name="개체 175">
              <a:extLst>
                <a:ext uri="{FF2B5EF4-FFF2-40B4-BE49-F238E27FC236}">
                  <a16:creationId xmlns:a16="http://schemas.microsoft.com/office/drawing/2014/main" id="{C35A4503-1578-B3F1-78F0-1D10A0FF217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145435" imgH="145435" progId="Visio.Drawing.11">
                    <p:embed/>
                  </p:oleObj>
                </mc:Choice>
                <mc:Fallback>
                  <p:oleObj name="Visio" r:id="rId4" imgW="145435" imgH="145435" progId="Visio.Drawing.11">
                    <p:embed/>
                    <p:pic>
                      <p:nvPicPr>
                        <p:cNvPr id="58" name="개체 57">
                          <a:extLst>
                            <a:ext uri="{FF2B5EF4-FFF2-40B4-BE49-F238E27FC236}">
                              <a16:creationId xmlns:a16="http://schemas.microsoft.com/office/drawing/2014/main" id="{C35A4503-1578-B3F1-78F0-1D10A0FF217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7" name="그룹 176">
            <a:extLst>
              <a:ext uri="{FF2B5EF4-FFF2-40B4-BE49-F238E27FC236}">
                <a16:creationId xmlns:a16="http://schemas.microsoft.com/office/drawing/2014/main" id="{4B9F5BED-E033-CFD3-6F2A-F37153DB603F}"/>
              </a:ext>
            </a:extLst>
          </p:cNvPr>
          <p:cNvGrpSpPr/>
          <p:nvPr/>
        </p:nvGrpSpPr>
        <p:grpSpPr>
          <a:xfrm>
            <a:off x="4561156" y="2385980"/>
            <a:ext cx="775737" cy="144463"/>
            <a:chOff x="3327015" y="1527346"/>
            <a:chExt cx="775737" cy="144463"/>
          </a:xfrm>
        </p:grpSpPr>
        <p:sp>
          <p:nvSpPr>
            <p:cNvPr id="178" name="Rectangle 191">
              <a:extLst>
                <a:ext uri="{FF2B5EF4-FFF2-40B4-BE49-F238E27FC236}">
                  <a16:creationId xmlns:a16="http://schemas.microsoft.com/office/drawing/2014/main" id="{62CE7360-7C08-437B-5CA1-13DEE6EBAE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4375" y="1539830"/>
              <a:ext cx="628377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다문화가정자녀</a:t>
              </a:r>
            </a:p>
          </p:txBody>
        </p:sp>
        <p:graphicFrame>
          <p:nvGraphicFramePr>
            <p:cNvPr id="179" name="개체 178">
              <a:extLst>
                <a:ext uri="{FF2B5EF4-FFF2-40B4-BE49-F238E27FC236}">
                  <a16:creationId xmlns:a16="http://schemas.microsoft.com/office/drawing/2014/main" id="{53ECB896-A2BF-40E7-3BA5-BE112D9E91E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27015" y="1527346"/>
            <a:ext cx="144462" cy="144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6" imgW="145435" imgH="145435" progId="Visio.Drawing.11">
                    <p:embed/>
                  </p:oleObj>
                </mc:Choice>
                <mc:Fallback>
                  <p:oleObj name="Visio" r:id="rId6" imgW="145435" imgH="145435" progId="Visio.Drawing.11">
                    <p:embed/>
                    <p:pic>
                      <p:nvPicPr>
                        <p:cNvPr id="61" name="개체 60">
                          <a:extLst>
                            <a:ext uri="{FF2B5EF4-FFF2-40B4-BE49-F238E27FC236}">
                              <a16:creationId xmlns:a16="http://schemas.microsoft.com/office/drawing/2014/main" id="{53ECB896-A2BF-40E7-3BA5-BE112D9E91E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27015" y="1527346"/>
                          <a:ext cx="144462" cy="1444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CB43B210-2E18-837F-E915-FA06A0F3C06F}"/>
              </a:ext>
            </a:extLst>
          </p:cNvPr>
          <p:cNvSpPr/>
          <p:nvPr/>
        </p:nvSpPr>
        <p:spPr>
          <a:xfrm>
            <a:off x="6397011" y="5517232"/>
            <a:ext cx="392727" cy="19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목록</a:t>
            </a:r>
          </a:p>
        </p:txBody>
      </p:sp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779E42D9-FBBB-F720-F55A-5E20DCC82EA2}"/>
              </a:ext>
            </a:extLst>
          </p:cNvPr>
          <p:cNvSpPr/>
          <p:nvPr/>
        </p:nvSpPr>
        <p:spPr>
          <a:xfrm>
            <a:off x="5936915" y="5517232"/>
            <a:ext cx="392727" cy="198000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신청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B67E408-FB79-35A3-95DE-EFF6D6D260EA}"/>
              </a:ext>
            </a:extLst>
          </p:cNvPr>
          <p:cNvSpPr/>
          <p:nvPr/>
        </p:nvSpPr>
        <p:spPr>
          <a:xfrm>
            <a:off x="2932205" y="3312478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주민등록초본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AA104A2-79D0-B4B2-8D63-78BF35FCE6A6}"/>
              </a:ext>
            </a:extLst>
          </p:cNvPr>
          <p:cNvSpPr/>
          <p:nvPr/>
        </p:nvSpPr>
        <p:spPr>
          <a:xfrm>
            <a:off x="4585203" y="3312470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8653090-A419-EFFA-5F60-5A68B26809A5}"/>
              </a:ext>
            </a:extLst>
          </p:cNvPr>
          <p:cNvSpPr/>
          <p:nvPr/>
        </p:nvSpPr>
        <p:spPr>
          <a:xfrm>
            <a:off x="4893610" y="3312462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</a:p>
        </p:txBody>
      </p:sp>
      <p:sp>
        <p:nvSpPr>
          <p:cNvPr id="7" name="Rectangle 191">
            <a:extLst>
              <a:ext uri="{FF2B5EF4-FFF2-40B4-BE49-F238E27FC236}">
                <a16:creationId xmlns:a16="http://schemas.microsoft.com/office/drawing/2014/main" id="{1D0724A7-BFB5-B7E7-08B8-23A6E8F98C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7934" y="3327754"/>
            <a:ext cx="17953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첨부</a:t>
            </a:r>
          </a:p>
        </p:txBody>
      </p:sp>
      <p:sp>
        <p:nvSpPr>
          <p:cNvPr id="8" name="Rectangle 191">
            <a:extLst>
              <a:ext uri="{FF2B5EF4-FFF2-40B4-BE49-F238E27FC236}">
                <a16:creationId xmlns:a16="http://schemas.microsoft.com/office/drawing/2014/main" id="{F18BB269-6327-98DC-C4E4-37B4BEC7F5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2696" y="3328180"/>
            <a:ext cx="359073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거주기간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27BABE2-0E85-001C-A743-71EA436AE75D}"/>
              </a:ext>
            </a:extLst>
          </p:cNvPr>
          <p:cNvSpPr/>
          <p:nvPr/>
        </p:nvSpPr>
        <p:spPr>
          <a:xfrm>
            <a:off x="2306028" y="3306822"/>
            <a:ext cx="36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년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64614BDD-5C34-177F-FE73-3CCA8AD8B47E}"/>
              </a:ext>
            </a:extLst>
          </p:cNvPr>
          <p:cNvSpPr>
            <a:spLocks noChangeAspect="1"/>
          </p:cNvSpPr>
          <p:nvPr/>
        </p:nvSpPr>
        <p:spPr>
          <a:xfrm>
            <a:off x="4950704" y="2228051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CFAE73F1-3E96-6D1B-C647-D8E8CA1A733E}"/>
              </a:ext>
            </a:extLst>
          </p:cNvPr>
          <p:cNvSpPr>
            <a:spLocks noChangeAspect="1"/>
          </p:cNvSpPr>
          <p:nvPr/>
        </p:nvSpPr>
        <p:spPr>
          <a:xfrm>
            <a:off x="512127" y="2613059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AB9E58D7-DF20-31B1-030F-632DB11FBB6C}"/>
              </a:ext>
            </a:extLst>
          </p:cNvPr>
          <p:cNvSpPr>
            <a:spLocks noChangeAspect="1"/>
          </p:cNvSpPr>
          <p:nvPr/>
        </p:nvSpPr>
        <p:spPr>
          <a:xfrm>
            <a:off x="512127" y="2837494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DBAD073D-1BCE-E122-AC51-7A693095CFAB}"/>
              </a:ext>
            </a:extLst>
          </p:cNvPr>
          <p:cNvSpPr>
            <a:spLocks noChangeAspect="1"/>
          </p:cNvSpPr>
          <p:nvPr/>
        </p:nvSpPr>
        <p:spPr>
          <a:xfrm>
            <a:off x="512127" y="3315329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5CC1D93-D511-170F-0A38-DB54656A2800}"/>
              </a:ext>
            </a:extLst>
          </p:cNvPr>
          <p:cNvSpPr/>
          <p:nvPr/>
        </p:nvSpPr>
        <p:spPr>
          <a:xfrm>
            <a:off x="668524" y="4921066"/>
            <a:ext cx="6121214" cy="21600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895C4982-D7E5-F249-79AA-830F76862C7D}"/>
              </a:ext>
            </a:extLst>
          </p:cNvPr>
          <p:cNvSpPr>
            <a:spLocks noChangeAspect="1"/>
          </p:cNvSpPr>
          <p:nvPr/>
        </p:nvSpPr>
        <p:spPr>
          <a:xfrm>
            <a:off x="512127" y="4967078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5F63A581-320E-2CC0-92DE-BC5BAE6C0FD2}"/>
              </a:ext>
            </a:extLst>
          </p:cNvPr>
          <p:cNvGrpSpPr/>
          <p:nvPr/>
        </p:nvGrpSpPr>
        <p:grpSpPr>
          <a:xfrm>
            <a:off x="1928664" y="4949119"/>
            <a:ext cx="3233421" cy="147760"/>
            <a:chOff x="2011811" y="4800927"/>
            <a:chExt cx="3233421" cy="147760"/>
          </a:xfrm>
        </p:grpSpPr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C7B88DBA-CBE8-08D5-E790-56DF2AD2FF7D}"/>
                </a:ext>
              </a:extLst>
            </p:cNvPr>
            <p:cNvGrpSpPr/>
            <p:nvPr/>
          </p:nvGrpSpPr>
          <p:grpSpPr>
            <a:xfrm>
              <a:off x="2858269" y="4804671"/>
              <a:ext cx="2386963" cy="144016"/>
              <a:chOff x="1897884" y="4476806"/>
              <a:chExt cx="2386963" cy="144016"/>
            </a:xfrm>
          </p:grpSpPr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BED00443-C7A8-4798-D39C-34C0017938CA}"/>
                  </a:ext>
                </a:extLst>
              </p:cNvPr>
              <p:cNvSpPr/>
              <p:nvPr/>
            </p:nvSpPr>
            <p:spPr>
              <a:xfrm>
                <a:off x="1897884" y="4476814"/>
                <a:ext cx="1620000" cy="144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36000" rIns="36000" rtlCol="0" anchor="ctr"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C8FA47F0-E864-8CB5-38AB-A85A88F9B206}"/>
                  </a:ext>
                </a:extLst>
              </p:cNvPr>
              <p:cNvSpPr/>
              <p:nvPr/>
            </p:nvSpPr>
            <p:spPr>
              <a:xfrm>
                <a:off x="3550882" y="4476806"/>
                <a:ext cx="264174" cy="144016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추가</a:t>
                </a:r>
              </a:p>
            </p:txBody>
          </p:sp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8F4E15E6-A518-29DC-EE81-D3C3A8B5CE9D}"/>
                  </a:ext>
                </a:extLst>
              </p:cNvPr>
              <p:cNvSpPr/>
              <p:nvPr/>
            </p:nvSpPr>
            <p:spPr>
              <a:xfrm>
                <a:off x="3859392" y="4476806"/>
                <a:ext cx="425455" cy="144016"/>
              </a:xfrm>
              <a:prstGeom prst="rect">
                <a:avLst/>
              </a:prstGeom>
              <a:solidFill>
                <a:srgbClr val="FFFF00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7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양식받기</a:t>
                </a:r>
                <a:endPara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26" name="Rectangle 191">
              <a:extLst>
                <a:ext uri="{FF2B5EF4-FFF2-40B4-BE49-F238E27FC236}">
                  <a16:creationId xmlns:a16="http://schemas.microsoft.com/office/drawing/2014/main" id="{B9F90A72-95AD-4838-7654-EF2F1B07F2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1811" y="4819066"/>
              <a:ext cx="179536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성적</a:t>
              </a: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8CE4361D-2B54-4AF6-5FE9-3CC7CB88E6C8}"/>
                </a:ext>
              </a:extLst>
            </p:cNvPr>
            <p:cNvSpPr/>
            <p:nvPr/>
          </p:nvSpPr>
          <p:spPr>
            <a:xfrm>
              <a:off x="2216445" y="4800927"/>
              <a:ext cx="36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4.5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8" name="Rectangle 191">
              <a:extLst>
                <a:ext uri="{FF2B5EF4-FFF2-40B4-BE49-F238E27FC236}">
                  <a16:creationId xmlns:a16="http://schemas.microsoft.com/office/drawing/2014/main" id="{E83590EE-3C62-DD3F-740C-E30B3D8947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0882" y="4819066"/>
              <a:ext cx="179536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첨부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53FAEC46-79A1-4A1E-3226-1D495A63281D}"/>
              </a:ext>
            </a:extLst>
          </p:cNvPr>
          <p:cNvGrpSpPr/>
          <p:nvPr/>
        </p:nvGrpSpPr>
        <p:grpSpPr>
          <a:xfrm>
            <a:off x="1922696" y="3076911"/>
            <a:ext cx="2704513" cy="144016"/>
            <a:chOff x="1897884" y="2847629"/>
            <a:chExt cx="2704513" cy="144016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B683060D-C284-DD8A-50D9-5657119F2AFB}"/>
                </a:ext>
              </a:extLst>
            </p:cNvPr>
            <p:cNvSpPr/>
            <p:nvPr/>
          </p:nvSpPr>
          <p:spPr>
            <a:xfrm>
              <a:off x="1897884" y="2847637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추천서</a:t>
              </a:r>
              <a:r>
                <a:rPr kumimoji="0" lang="en-US" altLang="ko-KR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7FC87B48-B760-295D-B074-D78EAB7BC8C5}"/>
                </a:ext>
              </a:extLst>
            </p:cNvPr>
            <p:cNvSpPr/>
            <p:nvPr/>
          </p:nvSpPr>
          <p:spPr>
            <a:xfrm>
              <a:off x="3550882" y="2847629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제출</a:t>
              </a: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42F63CCC-B220-8659-E8E5-8713D02E1E3B}"/>
                </a:ext>
              </a:extLst>
            </p:cNvPr>
            <p:cNvSpPr/>
            <p:nvPr/>
          </p:nvSpPr>
          <p:spPr>
            <a:xfrm>
              <a:off x="3859392" y="2847629"/>
              <a:ext cx="264174" cy="144016"/>
            </a:xfrm>
            <a:prstGeom prst="rect">
              <a:avLst/>
            </a:prstGeom>
            <a:solidFill>
              <a:srgbClr val="66FF66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04C8A5AB-6595-9E97-DAC9-96B16E926D46}"/>
                </a:ext>
              </a:extLst>
            </p:cNvPr>
            <p:cNvSpPr/>
            <p:nvPr/>
          </p:nvSpPr>
          <p:spPr>
            <a:xfrm>
              <a:off x="4176942" y="2847629"/>
              <a:ext cx="425455" cy="14401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양식받기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5C0E9A5-D949-3893-F5BF-B5659C07AF22}"/>
              </a:ext>
            </a:extLst>
          </p:cNvPr>
          <p:cNvSpPr/>
          <p:nvPr/>
        </p:nvSpPr>
        <p:spPr>
          <a:xfrm>
            <a:off x="668524" y="3043045"/>
            <a:ext cx="6121214" cy="21600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0D4DB5D3-4C2A-F9A8-CA1D-6E747C6C67E6}"/>
              </a:ext>
            </a:extLst>
          </p:cNvPr>
          <p:cNvSpPr>
            <a:spLocks noChangeAspect="1"/>
          </p:cNvSpPr>
          <p:nvPr/>
        </p:nvSpPr>
        <p:spPr>
          <a:xfrm>
            <a:off x="512127" y="3076565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223423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5DCF2-90A4-2C58-8CF0-E62790C24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44">
            <a:extLst>
              <a:ext uri="{FF2B5EF4-FFF2-40B4-BE49-F238E27FC236}">
                <a16:creationId xmlns:a16="http://schemas.microsoft.com/office/drawing/2014/main" id="{DB17D11D-683E-9EB2-5E6E-C8989163071C}"/>
              </a:ext>
            </a:extLst>
          </p:cNvPr>
          <p:cNvSpPr txBox="1"/>
          <p:nvPr/>
        </p:nvSpPr>
        <p:spPr>
          <a:xfrm rot="16200000">
            <a:off x="-432110" y="1197338"/>
            <a:ext cx="23066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Noto Sans" panose="020B0502040504020204" pitchFamily="34" charset="0"/>
                <a:ea typeface="맑은 고딕" panose="020B0503020000020004" pitchFamily="50" charset="-127"/>
                <a:cs typeface="+mn-cs"/>
              </a:rPr>
              <a:t>C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D7D7D7"/>
                </a:solidFill>
                <a:effectLst/>
                <a:uLnTx/>
                <a:uFillTx/>
                <a:latin typeface="Noto Sans" panose="020B0502040504020204" pitchFamily="34" charset="0"/>
                <a:ea typeface="맑은 고딕" panose="020B0503020000020004" pitchFamily="50" charset="-127"/>
                <a:cs typeface="+mn-cs"/>
              </a:rPr>
              <a:t>O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Noto Sans" panose="020B0502040504020204" pitchFamily="34" charset="0"/>
                <a:ea typeface="맑은 고딕" panose="020B0503020000020004" pitchFamily="50" charset="-127"/>
                <a:cs typeface="+mn-cs"/>
              </a:rPr>
              <a:t>NTENT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Noto Sans" panose="020B0502040504020204" pitchFamily="34" charset="0"/>
                <a:ea typeface="맑은 고딕" panose="020B0503020000020004" pitchFamily="50" charset="-127"/>
                <a:cs typeface="+mn-cs"/>
              </a:rPr>
              <a:t>S</a:t>
            </a:r>
            <a:endParaRPr kumimoji="0" lang="ko-KR" altLang="en-US" sz="3000" b="1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Noto Sans" panose="020B050204050402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0" name="Text Box 11">
            <a:extLst>
              <a:ext uri="{FF2B5EF4-FFF2-40B4-BE49-F238E27FC236}">
                <a16:creationId xmlns:a16="http://schemas.microsoft.com/office/drawing/2014/main" id="{7385B0A5-7F39-2A0E-60D7-2D20003C43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5436" y="2140622"/>
            <a:ext cx="4765463" cy="677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굴림" pitchFamily="50" charset="-127"/>
              </a:rPr>
              <a:t>대학생 대상 장학금 신청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굴림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굴림" pitchFamily="50" charset="-127"/>
              </a:rPr>
              <a:t>● 대학생 장학금 프로그램 조회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굴림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굴림" pitchFamily="50" charset="-127"/>
              </a:rPr>
              <a:t>● 장학금 신청 등록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굴림" pitchFamily="50" charset="-127"/>
            </a:endParaRPr>
          </a:p>
        </p:txBody>
      </p:sp>
      <p:sp>
        <p:nvSpPr>
          <p:cNvPr id="31" name="Text Box 5">
            <a:extLst>
              <a:ext uri="{FF2B5EF4-FFF2-40B4-BE49-F238E27FC236}">
                <a16:creationId xmlns:a16="http://schemas.microsoft.com/office/drawing/2014/main" id="{FBC44510-CBE6-B32C-D6B2-071F35FB50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6305" y="1477454"/>
            <a:ext cx="3703099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Noto Sans" panose="020B0502040504020204" pitchFamily="34" charset="0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Noto Sans" panose="020B0502040504020204" pitchFamily="34" charset="0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Noto Sans" panose="020B0502040504020204" pitchFamily="34" charset="0"/>
                <a:ea typeface="맑은 고딕" panose="020B0503020000020004" pitchFamily="50" charset="-127"/>
                <a:cs typeface="+mn-cs"/>
              </a:rPr>
              <a:t>프로그램신청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Noto Sans" panose="020B0502040504020204" pitchFamily="34" charset="0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Noto Sans" panose="020B0502040504020204" pitchFamily="34" charset="0"/>
                <a:ea typeface="맑은 고딕" panose="020B0503020000020004" pitchFamily="50" charset="-127"/>
                <a:cs typeface="+mn-cs"/>
              </a:rPr>
              <a:t>대학생장학금</a:t>
            </a: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Noto Sans" panose="020B050204050402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TextBox 13">
            <a:extLst>
              <a:ext uri="{FF2B5EF4-FFF2-40B4-BE49-F238E27FC236}">
                <a16:creationId xmlns:a16="http://schemas.microsoft.com/office/drawing/2014/main" id="{81F8BB3F-B361-1190-8826-A4CBE4AC72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0483" y="1369732"/>
            <a:ext cx="764953" cy="55399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02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98527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CCB21-FEF9-A2F3-6075-EDD27AADB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Group 1091">
            <a:extLst>
              <a:ext uri="{FF2B5EF4-FFF2-40B4-BE49-F238E27FC236}">
                <a16:creationId xmlns:a16="http://schemas.microsoft.com/office/drawing/2014/main" id="{EDA2CE32-FB7D-26E6-5B57-CEE52059DC56}"/>
              </a:ext>
            </a:extLst>
          </p:cNvPr>
          <p:cNvGraphicFramePr>
            <a:graphicFrameLocks/>
          </p:cNvGraphicFramePr>
          <p:nvPr/>
        </p:nvGraphicFramePr>
        <p:xfrm>
          <a:off x="165100" y="1175295"/>
          <a:ext cx="9575800" cy="237482"/>
        </p:xfrm>
        <a:graphic>
          <a:graphicData uri="http://schemas.openxmlformats.org/drawingml/2006/table">
            <a:tbl>
              <a:tblPr/>
              <a:tblGrid>
                <a:gridCol w="957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9436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홈페이지 메뉴 구조</a:t>
                      </a: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5" name="모서리가 둥근 직사각형 74">
            <a:extLst>
              <a:ext uri="{FF2B5EF4-FFF2-40B4-BE49-F238E27FC236}">
                <a16:creationId xmlns:a16="http://schemas.microsoft.com/office/drawing/2014/main" id="{D7C84125-AEFE-61CA-AADF-8BD377FBE8C4}"/>
              </a:ext>
            </a:extLst>
          </p:cNvPr>
          <p:cNvSpPr/>
          <p:nvPr/>
        </p:nvSpPr>
        <p:spPr>
          <a:xfrm>
            <a:off x="4064743" y="1520788"/>
            <a:ext cx="1931636" cy="229116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tx1">
                <a:lumMod val="95000"/>
                <a:lumOff val="5000"/>
              </a:schemeClr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오산교육재단 홈페이지</a:t>
            </a:r>
          </a:p>
        </p:txBody>
      </p:sp>
      <p:sp>
        <p:nvSpPr>
          <p:cNvPr id="76" name="모서리가 둥근 직사각형 75">
            <a:extLst>
              <a:ext uri="{FF2B5EF4-FFF2-40B4-BE49-F238E27FC236}">
                <a16:creationId xmlns:a16="http://schemas.microsoft.com/office/drawing/2014/main" id="{77064D30-C3EE-0C4D-F4CD-ABEFDF52989C}"/>
              </a:ext>
            </a:extLst>
          </p:cNvPr>
          <p:cNvSpPr/>
          <p:nvPr/>
        </p:nvSpPr>
        <p:spPr>
          <a:xfrm>
            <a:off x="164468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메인</a:t>
            </a:r>
          </a:p>
        </p:txBody>
      </p:sp>
      <p:sp>
        <p:nvSpPr>
          <p:cNvPr id="81" name="모서리가 둥근 직사각형 80">
            <a:extLst>
              <a:ext uri="{FF2B5EF4-FFF2-40B4-BE49-F238E27FC236}">
                <a16:creationId xmlns:a16="http://schemas.microsoft.com/office/drawing/2014/main" id="{B06BB4DB-D1A5-9008-47E2-EBF67F640045}"/>
              </a:ext>
            </a:extLst>
          </p:cNvPr>
          <p:cNvSpPr/>
          <p:nvPr/>
        </p:nvSpPr>
        <p:spPr>
          <a:xfrm>
            <a:off x="1068205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로그인</a:t>
            </a:r>
          </a:p>
        </p:txBody>
      </p:sp>
      <p:sp>
        <p:nvSpPr>
          <p:cNvPr id="82" name="모서리가 둥근 직사각형 81">
            <a:extLst>
              <a:ext uri="{FF2B5EF4-FFF2-40B4-BE49-F238E27FC236}">
                <a16:creationId xmlns:a16="http://schemas.microsoft.com/office/drawing/2014/main" id="{899E175F-875D-E0FB-B5D5-D14BAF8EFD74}"/>
              </a:ext>
            </a:extLst>
          </p:cNvPr>
          <p:cNvSpPr/>
          <p:nvPr/>
        </p:nvSpPr>
        <p:spPr>
          <a:xfrm>
            <a:off x="1976252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회원가입</a:t>
            </a:r>
          </a:p>
        </p:txBody>
      </p:sp>
      <p:sp>
        <p:nvSpPr>
          <p:cNvPr id="83" name="모서리가 둥근 직사각형 82">
            <a:extLst>
              <a:ext uri="{FF2B5EF4-FFF2-40B4-BE49-F238E27FC236}">
                <a16:creationId xmlns:a16="http://schemas.microsoft.com/office/drawing/2014/main" id="{06DB8D48-5947-1079-C1F9-48A16BA1680E}"/>
              </a:ext>
            </a:extLst>
          </p:cNvPr>
          <p:cNvSpPr/>
          <p:nvPr/>
        </p:nvSpPr>
        <p:spPr>
          <a:xfrm>
            <a:off x="2919280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ID/PW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찾기</a:t>
            </a:r>
          </a:p>
        </p:txBody>
      </p:sp>
      <p:sp>
        <p:nvSpPr>
          <p:cNvPr id="84" name="모서리가 둥근 직사각형 83">
            <a:extLst>
              <a:ext uri="{FF2B5EF4-FFF2-40B4-BE49-F238E27FC236}">
                <a16:creationId xmlns:a16="http://schemas.microsoft.com/office/drawing/2014/main" id="{6C67C270-DC31-BD3B-C303-5A915AA51019}"/>
              </a:ext>
            </a:extLst>
          </p:cNvPr>
          <p:cNvSpPr/>
          <p:nvPr/>
        </p:nvSpPr>
        <p:spPr>
          <a:xfrm>
            <a:off x="3859353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재단소개</a:t>
            </a:r>
          </a:p>
        </p:txBody>
      </p:sp>
      <p:sp>
        <p:nvSpPr>
          <p:cNvPr id="85" name="모서리가 둥근 직사각형 84">
            <a:extLst>
              <a:ext uri="{FF2B5EF4-FFF2-40B4-BE49-F238E27FC236}">
                <a16:creationId xmlns:a16="http://schemas.microsoft.com/office/drawing/2014/main" id="{94B31885-D0ED-1F6F-C1D2-621B5D61806E}"/>
              </a:ext>
            </a:extLst>
          </p:cNvPr>
          <p:cNvSpPr/>
          <p:nvPr/>
        </p:nvSpPr>
        <p:spPr>
          <a:xfrm>
            <a:off x="4772461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열린경영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5" name="모서리가 둥근 직사각형 94">
            <a:extLst>
              <a:ext uri="{FF2B5EF4-FFF2-40B4-BE49-F238E27FC236}">
                <a16:creationId xmlns:a16="http://schemas.microsoft.com/office/drawing/2014/main" id="{3BDE5AE8-0B72-29F5-4F9A-4734A85315B0}"/>
              </a:ext>
            </a:extLst>
          </p:cNvPr>
          <p:cNvSpPr/>
          <p:nvPr/>
        </p:nvSpPr>
        <p:spPr>
          <a:xfrm>
            <a:off x="8876900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마이페이지</a:t>
            </a:r>
          </a:p>
        </p:txBody>
      </p:sp>
      <p:cxnSp>
        <p:nvCxnSpPr>
          <p:cNvPr id="104" name="꺾인 연결선 103">
            <a:extLst>
              <a:ext uri="{FF2B5EF4-FFF2-40B4-BE49-F238E27FC236}">
                <a16:creationId xmlns:a16="http://schemas.microsoft.com/office/drawing/2014/main" id="{9A5F57E0-8F68-4162-AE45-D08083D83BE2}"/>
              </a:ext>
            </a:extLst>
          </p:cNvPr>
          <p:cNvCxnSpPr>
            <a:stCxn id="76" idx="0"/>
            <a:endCxn id="75" idx="2"/>
          </p:cNvCxnSpPr>
          <p:nvPr/>
        </p:nvCxnSpPr>
        <p:spPr>
          <a:xfrm rot="5400000" flipH="1" flipV="1">
            <a:off x="2641771" y="-295398"/>
            <a:ext cx="343487" cy="4434093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꺾인 연결선 105">
            <a:extLst>
              <a:ext uri="{FF2B5EF4-FFF2-40B4-BE49-F238E27FC236}">
                <a16:creationId xmlns:a16="http://schemas.microsoft.com/office/drawing/2014/main" id="{F7487787-ECD5-9FEA-45DE-3DA853A02CAF}"/>
              </a:ext>
            </a:extLst>
          </p:cNvPr>
          <p:cNvCxnSpPr>
            <a:stCxn id="81" idx="0"/>
            <a:endCxn id="75" idx="2"/>
          </p:cNvCxnSpPr>
          <p:nvPr/>
        </p:nvCxnSpPr>
        <p:spPr>
          <a:xfrm rot="5400000" flipH="1" flipV="1">
            <a:off x="3093640" y="156470"/>
            <a:ext cx="343487" cy="3530356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꺾인 연결선 106">
            <a:extLst>
              <a:ext uri="{FF2B5EF4-FFF2-40B4-BE49-F238E27FC236}">
                <a16:creationId xmlns:a16="http://schemas.microsoft.com/office/drawing/2014/main" id="{D0189E40-A443-8819-C8A1-ACD874A2D915}"/>
              </a:ext>
            </a:extLst>
          </p:cNvPr>
          <p:cNvCxnSpPr>
            <a:stCxn id="82" idx="0"/>
            <a:endCxn id="75" idx="2"/>
          </p:cNvCxnSpPr>
          <p:nvPr/>
        </p:nvCxnSpPr>
        <p:spPr>
          <a:xfrm rot="5400000" flipH="1" flipV="1">
            <a:off x="3547663" y="610494"/>
            <a:ext cx="343487" cy="2622309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꺾인 연결선 108">
            <a:extLst>
              <a:ext uri="{FF2B5EF4-FFF2-40B4-BE49-F238E27FC236}">
                <a16:creationId xmlns:a16="http://schemas.microsoft.com/office/drawing/2014/main" id="{458B00F4-1CD1-6218-879A-F95654D54D65}"/>
              </a:ext>
            </a:extLst>
          </p:cNvPr>
          <p:cNvCxnSpPr>
            <a:cxnSpLocks/>
            <a:stCxn id="83" idx="0"/>
            <a:endCxn id="75" idx="2"/>
          </p:cNvCxnSpPr>
          <p:nvPr/>
        </p:nvCxnSpPr>
        <p:spPr>
          <a:xfrm rot="5400000" flipH="1" flipV="1">
            <a:off x="4019177" y="1082008"/>
            <a:ext cx="343487" cy="1679281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꺾인 연결선 109">
            <a:extLst>
              <a:ext uri="{FF2B5EF4-FFF2-40B4-BE49-F238E27FC236}">
                <a16:creationId xmlns:a16="http://schemas.microsoft.com/office/drawing/2014/main" id="{C1A0921F-5D4D-1F32-7057-CA0F8F71B7B6}"/>
              </a:ext>
            </a:extLst>
          </p:cNvPr>
          <p:cNvCxnSpPr>
            <a:stCxn id="84" idx="0"/>
            <a:endCxn id="75" idx="2"/>
          </p:cNvCxnSpPr>
          <p:nvPr/>
        </p:nvCxnSpPr>
        <p:spPr>
          <a:xfrm rot="5400000" flipH="1" flipV="1">
            <a:off x="4489214" y="1552044"/>
            <a:ext cx="343487" cy="739208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꺾인 연결선 111">
            <a:extLst>
              <a:ext uri="{FF2B5EF4-FFF2-40B4-BE49-F238E27FC236}">
                <a16:creationId xmlns:a16="http://schemas.microsoft.com/office/drawing/2014/main" id="{C02643A3-DF07-B6B2-7FC5-A94CCE97CE5A}"/>
              </a:ext>
            </a:extLst>
          </p:cNvPr>
          <p:cNvCxnSpPr>
            <a:stCxn id="85" idx="0"/>
            <a:endCxn id="75" idx="2"/>
          </p:cNvCxnSpPr>
          <p:nvPr/>
        </p:nvCxnSpPr>
        <p:spPr>
          <a:xfrm rot="16200000" flipV="1">
            <a:off x="4945768" y="1834698"/>
            <a:ext cx="343487" cy="173900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꺾인 연결선 116">
            <a:extLst>
              <a:ext uri="{FF2B5EF4-FFF2-40B4-BE49-F238E27FC236}">
                <a16:creationId xmlns:a16="http://schemas.microsoft.com/office/drawing/2014/main" id="{D7F997F9-192B-1937-88EC-C179A30DC1B0}"/>
              </a:ext>
            </a:extLst>
          </p:cNvPr>
          <p:cNvCxnSpPr>
            <a:cxnSpLocks/>
            <a:stCxn id="14" idx="0"/>
            <a:endCxn id="75" idx="2"/>
          </p:cNvCxnSpPr>
          <p:nvPr/>
        </p:nvCxnSpPr>
        <p:spPr>
          <a:xfrm rot="16200000" flipV="1">
            <a:off x="5854079" y="926387"/>
            <a:ext cx="343487" cy="1990521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꺾인 연결선 145">
            <a:extLst>
              <a:ext uri="{FF2B5EF4-FFF2-40B4-BE49-F238E27FC236}">
                <a16:creationId xmlns:a16="http://schemas.microsoft.com/office/drawing/2014/main" id="{490401AB-CCBE-5275-7DA4-B3683D794F98}"/>
              </a:ext>
            </a:extLst>
          </p:cNvPr>
          <p:cNvCxnSpPr>
            <a:cxnSpLocks/>
            <a:stCxn id="95" idx="0"/>
            <a:endCxn id="75" idx="2"/>
          </p:cNvCxnSpPr>
          <p:nvPr/>
        </p:nvCxnSpPr>
        <p:spPr>
          <a:xfrm rot="16200000" flipV="1">
            <a:off x="6997988" y="-217522"/>
            <a:ext cx="343487" cy="4278339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모서리가 둥근 직사각형 84">
            <a:extLst>
              <a:ext uri="{FF2B5EF4-FFF2-40B4-BE49-F238E27FC236}">
                <a16:creationId xmlns:a16="http://schemas.microsoft.com/office/drawing/2014/main" id="{5C42C290-4BAB-4E9D-3B7E-615670023B1E}"/>
              </a:ext>
            </a:extLst>
          </p:cNvPr>
          <p:cNvSpPr/>
          <p:nvPr/>
        </p:nvSpPr>
        <p:spPr>
          <a:xfrm>
            <a:off x="6589082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</a:t>
            </a:r>
          </a:p>
        </p:txBody>
      </p:sp>
      <p:sp>
        <p:nvSpPr>
          <p:cNvPr id="164" name="모서리가 둥근 직사각형 84">
            <a:extLst>
              <a:ext uri="{FF2B5EF4-FFF2-40B4-BE49-F238E27FC236}">
                <a16:creationId xmlns:a16="http://schemas.microsoft.com/office/drawing/2014/main" id="{66697DC6-071E-5B04-9211-19727FF5DE3F}"/>
              </a:ext>
            </a:extLst>
          </p:cNvPr>
          <p:cNvSpPr/>
          <p:nvPr/>
        </p:nvSpPr>
        <p:spPr>
          <a:xfrm>
            <a:off x="5685569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재단소식</a:t>
            </a:r>
          </a:p>
        </p:txBody>
      </p:sp>
      <p:cxnSp>
        <p:nvCxnSpPr>
          <p:cNvPr id="165" name="꺾인 연결선 111">
            <a:extLst>
              <a:ext uri="{FF2B5EF4-FFF2-40B4-BE49-F238E27FC236}">
                <a16:creationId xmlns:a16="http://schemas.microsoft.com/office/drawing/2014/main" id="{88B9B625-5949-615D-EB49-DF3571880F2F}"/>
              </a:ext>
            </a:extLst>
          </p:cNvPr>
          <p:cNvCxnSpPr>
            <a:cxnSpLocks/>
            <a:stCxn id="164" idx="0"/>
            <a:endCxn id="75" idx="2"/>
          </p:cNvCxnSpPr>
          <p:nvPr/>
        </p:nvCxnSpPr>
        <p:spPr>
          <a:xfrm rot="16200000" flipV="1">
            <a:off x="5402322" y="1378144"/>
            <a:ext cx="343487" cy="1087008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모서리가 둥근 직사각형 83">
            <a:extLst>
              <a:ext uri="{FF2B5EF4-FFF2-40B4-BE49-F238E27FC236}">
                <a16:creationId xmlns:a16="http://schemas.microsoft.com/office/drawing/2014/main" id="{476F6C62-756A-6681-7BB7-33AD14C5EC7B}"/>
              </a:ext>
            </a:extLst>
          </p:cNvPr>
          <p:cNvSpPr/>
          <p:nvPr/>
        </p:nvSpPr>
        <p:spPr>
          <a:xfrm>
            <a:off x="7120246" y="2344450"/>
            <a:ext cx="935392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고등학생 장학금</a:t>
            </a:r>
          </a:p>
        </p:txBody>
      </p:sp>
      <p:cxnSp>
        <p:nvCxnSpPr>
          <p:cNvPr id="40" name="꺾인 연결선 111">
            <a:extLst>
              <a:ext uri="{FF2B5EF4-FFF2-40B4-BE49-F238E27FC236}">
                <a16:creationId xmlns:a16="http://schemas.microsoft.com/office/drawing/2014/main" id="{61088A6C-C46C-B54A-41AA-A00D7315CA43}"/>
              </a:ext>
            </a:extLst>
          </p:cNvPr>
          <p:cNvCxnSpPr>
            <a:cxnSpLocks/>
            <a:stCxn id="39" idx="1"/>
            <a:endCxn id="14" idx="2"/>
          </p:cNvCxnSpPr>
          <p:nvPr/>
        </p:nvCxnSpPr>
        <p:spPr>
          <a:xfrm rot="10800000">
            <a:off x="7021082" y="2282743"/>
            <a:ext cx="99164" cy="147776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모서리가 둥근 직사각형 83">
            <a:extLst>
              <a:ext uri="{FF2B5EF4-FFF2-40B4-BE49-F238E27FC236}">
                <a16:creationId xmlns:a16="http://schemas.microsoft.com/office/drawing/2014/main" id="{4A89156A-4199-77A9-FA3D-DB1140D51F7F}"/>
              </a:ext>
            </a:extLst>
          </p:cNvPr>
          <p:cNvSpPr/>
          <p:nvPr/>
        </p:nvSpPr>
        <p:spPr>
          <a:xfrm>
            <a:off x="7120246" y="2558046"/>
            <a:ext cx="935392" cy="172138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대학생 장학금</a:t>
            </a:r>
          </a:p>
        </p:txBody>
      </p:sp>
      <p:sp>
        <p:nvSpPr>
          <p:cNvPr id="46" name="모서리가 둥근 직사각형 83">
            <a:extLst>
              <a:ext uri="{FF2B5EF4-FFF2-40B4-BE49-F238E27FC236}">
                <a16:creationId xmlns:a16="http://schemas.microsoft.com/office/drawing/2014/main" id="{56E6A2C9-C8C4-73D1-6A5F-BEABC8CE42B8}"/>
              </a:ext>
            </a:extLst>
          </p:cNvPr>
          <p:cNvSpPr/>
          <p:nvPr/>
        </p:nvSpPr>
        <p:spPr>
          <a:xfrm>
            <a:off x="7120246" y="3029850"/>
            <a:ext cx="935392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특기생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장학금</a:t>
            </a:r>
          </a:p>
        </p:txBody>
      </p:sp>
      <p:sp>
        <p:nvSpPr>
          <p:cNvPr id="50" name="모서리가 둥근 직사각형 83">
            <a:extLst>
              <a:ext uri="{FF2B5EF4-FFF2-40B4-BE49-F238E27FC236}">
                <a16:creationId xmlns:a16="http://schemas.microsoft.com/office/drawing/2014/main" id="{0062EC5F-87C2-1062-D5A0-D67308CE1370}"/>
              </a:ext>
            </a:extLst>
          </p:cNvPr>
          <p:cNvSpPr/>
          <p:nvPr/>
        </p:nvSpPr>
        <p:spPr>
          <a:xfrm>
            <a:off x="7120246" y="3231891"/>
            <a:ext cx="935392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행복기숙사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입사비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3" name="모서리가 둥근 직사각형 83">
            <a:extLst>
              <a:ext uri="{FF2B5EF4-FFF2-40B4-BE49-F238E27FC236}">
                <a16:creationId xmlns:a16="http://schemas.microsoft.com/office/drawing/2014/main" id="{F1B9737F-7223-5E3C-6FF9-EB705151ABC4}"/>
              </a:ext>
            </a:extLst>
          </p:cNvPr>
          <p:cNvSpPr/>
          <p:nvPr/>
        </p:nvSpPr>
        <p:spPr>
          <a:xfrm>
            <a:off x="7120246" y="3433932"/>
            <a:ext cx="935392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평생교육장려금</a:t>
            </a:r>
          </a:p>
        </p:txBody>
      </p:sp>
      <p:cxnSp>
        <p:nvCxnSpPr>
          <p:cNvPr id="54" name="꺾인 연결선 111">
            <a:extLst>
              <a:ext uri="{FF2B5EF4-FFF2-40B4-BE49-F238E27FC236}">
                <a16:creationId xmlns:a16="http://schemas.microsoft.com/office/drawing/2014/main" id="{9F01DEDB-8F76-60D7-01C0-A1E27B414747}"/>
              </a:ext>
            </a:extLst>
          </p:cNvPr>
          <p:cNvCxnSpPr>
            <a:cxnSpLocks/>
            <a:stCxn id="45" idx="1"/>
            <a:endCxn id="14" idx="2"/>
          </p:cNvCxnSpPr>
          <p:nvPr/>
        </p:nvCxnSpPr>
        <p:spPr>
          <a:xfrm rot="10800000">
            <a:off x="7021082" y="2282743"/>
            <a:ext cx="99164" cy="361372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꺾인 연결선 111">
            <a:extLst>
              <a:ext uri="{FF2B5EF4-FFF2-40B4-BE49-F238E27FC236}">
                <a16:creationId xmlns:a16="http://schemas.microsoft.com/office/drawing/2014/main" id="{8385DE4F-491C-E870-FD4F-046BA6351A7F}"/>
              </a:ext>
            </a:extLst>
          </p:cNvPr>
          <p:cNvCxnSpPr>
            <a:cxnSpLocks/>
            <a:stCxn id="46" idx="1"/>
            <a:endCxn id="14" idx="2"/>
          </p:cNvCxnSpPr>
          <p:nvPr/>
        </p:nvCxnSpPr>
        <p:spPr>
          <a:xfrm rot="10800000">
            <a:off x="7021082" y="2282743"/>
            <a:ext cx="99164" cy="833176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꺾인 연결선 111">
            <a:extLst>
              <a:ext uri="{FF2B5EF4-FFF2-40B4-BE49-F238E27FC236}">
                <a16:creationId xmlns:a16="http://schemas.microsoft.com/office/drawing/2014/main" id="{2C24F6E4-171D-F4EB-69C7-8C1C6F7D1A1A}"/>
              </a:ext>
            </a:extLst>
          </p:cNvPr>
          <p:cNvCxnSpPr>
            <a:cxnSpLocks/>
            <a:stCxn id="50" idx="1"/>
            <a:endCxn id="14" idx="2"/>
          </p:cNvCxnSpPr>
          <p:nvPr/>
        </p:nvCxnSpPr>
        <p:spPr>
          <a:xfrm rot="10800000">
            <a:off x="7021082" y="2282744"/>
            <a:ext cx="99164" cy="1035217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꺾인 연결선 111">
            <a:extLst>
              <a:ext uri="{FF2B5EF4-FFF2-40B4-BE49-F238E27FC236}">
                <a16:creationId xmlns:a16="http://schemas.microsoft.com/office/drawing/2014/main" id="{FA02FA3B-3DA1-ACD4-03BC-5578B1FE5D8B}"/>
              </a:ext>
            </a:extLst>
          </p:cNvPr>
          <p:cNvCxnSpPr>
            <a:cxnSpLocks/>
            <a:stCxn id="53" idx="1"/>
            <a:endCxn id="14" idx="2"/>
          </p:cNvCxnSpPr>
          <p:nvPr/>
        </p:nvCxnSpPr>
        <p:spPr>
          <a:xfrm rot="10800000">
            <a:off x="7021082" y="2282743"/>
            <a:ext cx="99164" cy="1237258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모서리가 둥근 직사각형 83">
            <a:extLst>
              <a:ext uri="{FF2B5EF4-FFF2-40B4-BE49-F238E27FC236}">
                <a16:creationId xmlns:a16="http://schemas.microsoft.com/office/drawing/2014/main" id="{C20D9692-FDAD-8287-1F50-B8331127BDDE}"/>
              </a:ext>
            </a:extLst>
          </p:cNvPr>
          <p:cNvSpPr/>
          <p:nvPr/>
        </p:nvSpPr>
        <p:spPr>
          <a:xfrm>
            <a:off x="7120246" y="3652906"/>
            <a:ext cx="935392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교육사업 신청</a:t>
            </a:r>
          </a:p>
        </p:txBody>
      </p:sp>
      <p:cxnSp>
        <p:nvCxnSpPr>
          <p:cNvPr id="62" name="꺾인 연결선 111">
            <a:extLst>
              <a:ext uri="{FF2B5EF4-FFF2-40B4-BE49-F238E27FC236}">
                <a16:creationId xmlns:a16="http://schemas.microsoft.com/office/drawing/2014/main" id="{0C4645A6-7C1D-6A9E-BBD0-776BC8417A50}"/>
              </a:ext>
            </a:extLst>
          </p:cNvPr>
          <p:cNvCxnSpPr>
            <a:cxnSpLocks/>
            <a:stCxn id="60" idx="1"/>
            <a:endCxn id="14" idx="2"/>
          </p:cNvCxnSpPr>
          <p:nvPr/>
        </p:nvCxnSpPr>
        <p:spPr>
          <a:xfrm rot="10800000">
            <a:off x="7021082" y="2282743"/>
            <a:ext cx="99164" cy="1456232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모서리가 둥근 직사각형 84">
            <a:extLst>
              <a:ext uri="{FF2B5EF4-FFF2-40B4-BE49-F238E27FC236}">
                <a16:creationId xmlns:a16="http://schemas.microsoft.com/office/drawing/2014/main" id="{EDBE3D65-205C-669E-1D21-B31D7F3B3023}"/>
              </a:ext>
            </a:extLst>
          </p:cNvPr>
          <p:cNvSpPr/>
          <p:nvPr/>
        </p:nvSpPr>
        <p:spPr>
          <a:xfrm>
            <a:off x="7532495" y="2093391"/>
            <a:ext cx="1264982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오산시민평생교육장려금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9" name="꺾인 연결선 145">
            <a:extLst>
              <a:ext uri="{FF2B5EF4-FFF2-40B4-BE49-F238E27FC236}">
                <a16:creationId xmlns:a16="http://schemas.microsoft.com/office/drawing/2014/main" id="{01354B56-AF68-F20D-FB16-E6EDF7BE6AE1}"/>
              </a:ext>
            </a:extLst>
          </p:cNvPr>
          <p:cNvCxnSpPr>
            <a:cxnSpLocks/>
            <a:stCxn id="17" idx="0"/>
            <a:endCxn id="75" idx="2"/>
          </p:cNvCxnSpPr>
          <p:nvPr/>
        </p:nvCxnSpPr>
        <p:spPr>
          <a:xfrm rot="16200000" flipV="1">
            <a:off x="6426031" y="354435"/>
            <a:ext cx="343487" cy="3134425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모서리가 둥근 직사각형 83">
            <a:extLst>
              <a:ext uri="{FF2B5EF4-FFF2-40B4-BE49-F238E27FC236}">
                <a16:creationId xmlns:a16="http://schemas.microsoft.com/office/drawing/2014/main" id="{7175B6B8-2B1F-0F25-E980-9DA3258E0E74}"/>
              </a:ext>
            </a:extLst>
          </p:cNvPr>
          <p:cNvSpPr/>
          <p:nvPr/>
        </p:nvSpPr>
        <p:spPr>
          <a:xfrm>
            <a:off x="7687106" y="2774719"/>
            <a:ext cx="935392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 조회</a:t>
            </a:r>
          </a:p>
        </p:txBody>
      </p:sp>
      <p:cxnSp>
        <p:nvCxnSpPr>
          <p:cNvPr id="6" name="꺾인 연결선 111">
            <a:extLst>
              <a:ext uri="{FF2B5EF4-FFF2-40B4-BE49-F238E27FC236}">
                <a16:creationId xmlns:a16="http://schemas.microsoft.com/office/drawing/2014/main" id="{B8672B86-6269-1360-CD1C-B82563E6F556}"/>
              </a:ext>
            </a:extLst>
          </p:cNvPr>
          <p:cNvCxnSpPr>
            <a:cxnSpLocks/>
            <a:stCxn id="5" idx="1"/>
            <a:endCxn id="45" idx="2"/>
          </p:cNvCxnSpPr>
          <p:nvPr/>
        </p:nvCxnSpPr>
        <p:spPr>
          <a:xfrm rot="10800000">
            <a:off x="7587942" y="2730184"/>
            <a:ext cx="99164" cy="130604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모서리가 둥근 직사각형 83">
            <a:extLst>
              <a:ext uri="{FF2B5EF4-FFF2-40B4-BE49-F238E27FC236}">
                <a16:creationId xmlns:a16="http://schemas.microsoft.com/office/drawing/2014/main" id="{AD92F2BF-E6D5-13E3-314B-CE2056FBB0FB}"/>
              </a:ext>
            </a:extLst>
          </p:cNvPr>
          <p:cNvSpPr/>
          <p:nvPr/>
        </p:nvSpPr>
        <p:spPr>
          <a:xfrm>
            <a:off x="8646351" y="2774719"/>
            <a:ext cx="935392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장학금 신청</a:t>
            </a:r>
          </a:p>
        </p:txBody>
      </p:sp>
    </p:spTree>
    <p:extLst>
      <p:ext uri="{BB962C8B-B14F-4D97-AF65-F5344CB8AC3E}">
        <p14:creationId xmlns:p14="http://schemas.microsoft.com/office/powerpoint/2010/main" val="37169289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BFF50-AABD-7347-2B4E-932169306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33DA248-A8CC-69C8-3B7F-3A6A15C98EAE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대학생장학금 조회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E5A0120-24D0-3BE2-C4F0-5E44001D2B4A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프로그램신청관리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대학생장학금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조회</a:t>
            </a: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DBD36B4D-D3D3-FCA6-17E4-80033AE168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315472"/>
              </p:ext>
            </p:extLst>
          </p:nvPr>
        </p:nvGraphicFramePr>
        <p:xfrm>
          <a:off x="6969418" y="2548005"/>
          <a:ext cx="2772114" cy="3459899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프로그램신청 메뉴 중 대학생 장학금 클릭 시 보이는 화면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전체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선택 후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검색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시 등록된 모든 공고를 목록에 표시 한다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.</a:t>
                      </a: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준비중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조회일 기준 접수기간 이전일 경우의 상태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선택 후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검색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시 준비중 상태의 공고를 목록에 표시 한다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접수중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조회일 기준 접수기간일 경우의 상태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선택 후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검색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시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접수중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상태의 공고를 목록에 표시 한다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마감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조회일 기준 접수기간이 지난 경우의 상태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선택 후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검색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시 마감 상태의 공고를 목록에 표시 한다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검색조건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제목 고정 표시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공고의 제목 입력 후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검색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시 해당 조건에 맞는 공고가 목록에 보인다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.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제목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공고 등록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수정 시 설정된 제목을 표시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접수기간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공고 등록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수정 시 설정된 접수기간을 표시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상태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준비중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/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접수중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/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마감 중 표시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준비중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조회일 기준 접수기간 이전일 경우의 상태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접수중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조회일 기준 접수기간일 경우의 상태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FA438038-2D85-DA85-EE0D-98654A798E37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pau_hit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5B277384-663E-8298-00DD-6FDCFD31DB9C}"/>
              </a:ext>
            </a:extLst>
          </p:cNvPr>
          <p:cNvSpPr/>
          <p:nvPr/>
        </p:nvSpPr>
        <p:spPr>
          <a:xfrm>
            <a:off x="165100" y="1376772"/>
            <a:ext cx="6732116" cy="36877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C12D7E6E-83CE-525F-F922-74CF3FF7E6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1468700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2F9CF9F0-D607-DBAF-5264-6A290B103FBC}"/>
              </a:ext>
            </a:extLst>
          </p:cNvPr>
          <p:cNvSpPr/>
          <p:nvPr/>
        </p:nvSpPr>
        <p:spPr>
          <a:xfrm>
            <a:off x="5680946" y="1586865"/>
            <a:ext cx="1165384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오산시민 평생교육장려금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063B31D-EE07-BFB5-8D1B-39D88462B408}"/>
              </a:ext>
            </a:extLst>
          </p:cNvPr>
          <p:cNvSpPr/>
          <p:nvPr/>
        </p:nvSpPr>
        <p:spPr>
          <a:xfrm>
            <a:off x="4831365" y="1586865"/>
            <a:ext cx="652423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 신청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B81D6DD-A930-ED23-DE4E-4542B45F9B91}"/>
              </a:ext>
            </a:extLst>
          </p:cNvPr>
          <p:cNvSpPr/>
          <p:nvPr/>
        </p:nvSpPr>
        <p:spPr>
          <a:xfrm>
            <a:off x="4223838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재단소식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4A4F4C2-F06C-7F4B-A835-45B84C1368EC}"/>
              </a:ext>
            </a:extLst>
          </p:cNvPr>
          <p:cNvSpPr/>
          <p:nvPr/>
        </p:nvSpPr>
        <p:spPr>
          <a:xfrm>
            <a:off x="3616311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열린경영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CCD2FA9-7326-3770-DC4D-977C980E81E4}"/>
              </a:ext>
            </a:extLst>
          </p:cNvPr>
          <p:cNvSpPr/>
          <p:nvPr/>
        </p:nvSpPr>
        <p:spPr>
          <a:xfrm>
            <a:off x="3008784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A06C36B-2F5E-79A8-20E6-7ED6337FAC43}"/>
              </a:ext>
            </a:extLst>
          </p:cNvPr>
          <p:cNvSpPr/>
          <p:nvPr/>
        </p:nvSpPr>
        <p:spPr>
          <a:xfrm>
            <a:off x="165100" y="1790190"/>
            <a:ext cx="6732116" cy="469951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D718B9F-AC0C-4CF4-B303-64900A7CF055}"/>
              </a:ext>
            </a:extLst>
          </p:cNvPr>
          <p:cNvSpPr/>
          <p:nvPr/>
        </p:nvSpPr>
        <p:spPr>
          <a:xfrm>
            <a:off x="5543100" y="1879740"/>
            <a:ext cx="1235916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lang="ko-KR" altLang="en-US" sz="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대학생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장학금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7061C59-3C9C-CD04-2FC8-46CA0FD01612}"/>
              </a:ext>
            </a:extLst>
          </p:cNvPr>
          <p:cNvSpPr/>
          <p:nvPr/>
        </p:nvSpPr>
        <p:spPr>
          <a:xfrm>
            <a:off x="236476" y="1844824"/>
            <a:ext cx="732573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대학생 장학금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7AB9E88-1D8D-4340-4D40-2FB362E4D442}"/>
              </a:ext>
            </a:extLst>
          </p:cNvPr>
          <p:cNvSpPr/>
          <p:nvPr/>
        </p:nvSpPr>
        <p:spPr>
          <a:xfrm>
            <a:off x="3824511" y="2248048"/>
            <a:ext cx="277591" cy="144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검색</a:t>
            </a: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ADDA8BB-E2D0-E6DA-746E-012165BC470F}"/>
              </a:ext>
            </a:extLst>
          </p:cNvPr>
          <p:cNvSpPr/>
          <p:nvPr/>
        </p:nvSpPr>
        <p:spPr>
          <a:xfrm>
            <a:off x="2610475" y="2248048"/>
            <a:ext cx="1193641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검색어를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입력하세요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3" name="Picture 13">
            <a:extLst>
              <a:ext uri="{FF2B5EF4-FFF2-40B4-BE49-F238E27FC236}">
                <a16:creationId xmlns:a16="http://schemas.microsoft.com/office/drawing/2014/main" id="{E08B85AE-0186-DFBE-777F-04FD4020CD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2534" y="2246398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187A7036-2C98-D9A5-A7F9-C4B55A86A2BB}"/>
              </a:ext>
            </a:extLst>
          </p:cNvPr>
          <p:cNvSpPr/>
          <p:nvPr/>
        </p:nvSpPr>
        <p:spPr>
          <a:xfrm>
            <a:off x="2025221" y="2248048"/>
            <a:ext cx="393415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제목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538196C2-BE0F-9948-23D9-F78D29108B75}"/>
              </a:ext>
            </a:extLst>
          </p:cNvPr>
          <p:cNvGrpSpPr/>
          <p:nvPr/>
        </p:nvGrpSpPr>
        <p:grpSpPr>
          <a:xfrm>
            <a:off x="1169162" y="2246542"/>
            <a:ext cx="408361" cy="144462"/>
            <a:chOff x="2403014" y="4597515"/>
            <a:chExt cx="408361" cy="144462"/>
          </a:xfrm>
        </p:grpSpPr>
        <p:sp>
          <p:nvSpPr>
            <p:cNvPr id="30" name="Rectangle 191">
              <a:extLst>
                <a:ext uri="{FF2B5EF4-FFF2-40B4-BE49-F238E27FC236}">
                  <a16:creationId xmlns:a16="http://schemas.microsoft.com/office/drawing/2014/main" id="{0E6577DB-6201-2F96-5B1F-D55ACE571A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2071" y="4615885"/>
              <a:ext cx="269304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접수중</a:t>
              </a:r>
            </a:p>
          </p:txBody>
        </p:sp>
        <p:graphicFrame>
          <p:nvGraphicFramePr>
            <p:cNvPr id="31" name="개체 30">
              <a:extLst>
                <a:ext uri="{FF2B5EF4-FFF2-40B4-BE49-F238E27FC236}">
                  <a16:creationId xmlns:a16="http://schemas.microsoft.com/office/drawing/2014/main" id="{22042850-0254-14A6-5BD3-2DAF463D347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03014" y="4597515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145435" imgH="145435" progId="Visio.Drawing.11">
                    <p:embed/>
                  </p:oleObj>
                </mc:Choice>
                <mc:Fallback>
                  <p:oleObj name="Visio" r:id="rId4" imgW="145435" imgH="145435" progId="Visio.Drawing.11">
                    <p:embed/>
                    <p:pic>
                      <p:nvPicPr>
                        <p:cNvPr id="31" name="개체 30">
                          <a:extLst>
                            <a:ext uri="{FF2B5EF4-FFF2-40B4-BE49-F238E27FC236}">
                              <a16:creationId xmlns:a16="http://schemas.microsoft.com/office/drawing/2014/main" id="{9A9EC7E9-F80C-6228-30A0-557206E3019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3014" y="4597515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1FFCD3E6-0725-FF4B-5566-D46D8CC39283}"/>
              </a:ext>
            </a:extLst>
          </p:cNvPr>
          <p:cNvGrpSpPr/>
          <p:nvPr/>
        </p:nvGrpSpPr>
        <p:grpSpPr>
          <a:xfrm>
            <a:off x="266961" y="2246398"/>
            <a:ext cx="316600" cy="144462"/>
            <a:chOff x="2145750" y="2807609"/>
            <a:chExt cx="316600" cy="144462"/>
          </a:xfrm>
        </p:grpSpPr>
        <p:sp>
          <p:nvSpPr>
            <p:cNvPr id="33" name="Rectangle 191">
              <a:extLst>
                <a:ext uri="{FF2B5EF4-FFF2-40B4-BE49-F238E27FC236}">
                  <a16:creationId xmlns:a16="http://schemas.microsoft.com/office/drawing/2014/main" id="{E46F73BB-F102-9C7D-4988-8F51AEEBA3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2814" y="2826123"/>
              <a:ext cx="179536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전체</a:t>
              </a:r>
            </a:p>
          </p:txBody>
        </p:sp>
        <p:graphicFrame>
          <p:nvGraphicFramePr>
            <p:cNvPr id="34" name="개체 33">
              <a:extLst>
                <a:ext uri="{FF2B5EF4-FFF2-40B4-BE49-F238E27FC236}">
                  <a16:creationId xmlns:a16="http://schemas.microsoft.com/office/drawing/2014/main" id="{4A55188A-9056-EDF6-FBA4-B793F31C1D2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45750" y="2807609"/>
            <a:ext cx="144463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6" imgW="145435" imgH="145435" progId="Visio.Drawing.11">
                    <p:embed/>
                  </p:oleObj>
                </mc:Choice>
                <mc:Fallback>
                  <p:oleObj name="Visio" r:id="rId6" imgW="145435" imgH="145435" progId="Visio.Drawing.11">
                    <p:embed/>
                    <p:pic>
                      <p:nvPicPr>
                        <p:cNvPr id="34" name="개체 33">
                          <a:extLst>
                            <a:ext uri="{FF2B5EF4-FFF2-40B4-BE49-F238E27FC236}">
                              <a16:creationId xmlns:a16="http://schemas.microsoft.com/office/drawing/2014/main" id="{A173AA21-C552-2D92-D180-AB6604EA001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45750" y="2807609"/>
                          <a:ext cx="144463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60BCAE36-0CAA-A900-A411-94E1C8ECE0A5}"/>
              </a:ext>
            </a:extLst>
          </p:cNvPr>
          <p:cNvGrpSpPr/>
          <p:nvPr/>
        </p:nvGrpSpPr>
        <p:grpSpPr>
          <a:xfrm>
            <a:off x="1666143" y="2246542"/>
            <a:ext cx="318593" cy="144462"/>
            <a:chOff x="2403014" y="4597515"/>
            <a:chExt cx="318593" cy="144462"/>
          </a:xfrm>
        </p:grpSpPr>
        <p:sp>
          <p:nvSpPr>
            <p:cNvPr id="36" name="Rectangle 191">
              <a:extLst>
                <a:ext uri="{FF2B5EF4-FFF2-40B4-BE49-F238E27FC236}">
                  <a16:creationId xmlns:a16="http://schemas.microsoft.com/office/drawing/2014/main" id="{D76429BB-85F0-15DD-AC15-44CF53905E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2071" y="4615885"/>
              <a:ext cx="179536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마감</a:t>
              </a:r>
            </a:p>
          </p:txBody>
        </p:sp>
        <p:graphicFrame>
          <p:nvGraphicFramePr>
            <p:cNvPr id="37" name="개체 36">
              <a:extLst>
                <a:ext uri="{FF2B5EF4-FFF2-40B4-BE49-F238E27FC236}">
                  <a16:creationId xmlns:a16="http://schemas.microsoft.com/office/drawing/2014/main" id="{80319FE4-A00F-A6CB-1B7A-E08370C65DA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03014" y="4597515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145435" imgH="145435" progId="Visio.Drawing.11">
                    <p:embed/>
                  </p:oleObj>
                </mc:Choice>
                <mc:Fallback>
                  <p:oleObj name="Visio" r:id="rId4" imgW="145435" imgH="145435" progId="Visio.Drawing.11">
                    <p:embed/>
                    <p:pic>
                      <p:nvPicPr>
                        <p:cNvPr id="37" name="개체 36">
                          <a:extLst>
                            <a:ext uri="{FF2B5EF4-FFF2-40B4-BE49-F238E27FC236}">
                              <a16:creationId xmlns:a16="http://schemas.microsoft.com/office/drawing/2014/main" id="{16B60233-81E8-E99E-ECB7-BA0C11EAF16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3014" y="4597515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693566DC-5CF9-2D74-05C4-589D21FBC6C8}"/>
              </a:ext>
            </a:extLst>
          </p:cNvPr>
          <p:cNvGrpSpPr/>
          <p:nvPr/>
        </p:nvGrpSpPr>
        <p:grpSpPr>
          <a:xfrm>
            <a:off x="672181" y="2246542"/>
            <a:ext cx="408361" cy="144462"/>
            <a:chOff x="2403014" y="4597515"/>
            <a:chExt cx="408361" cy="144462"/>
          </a:xfrm>
        </p:grpSpPr>
        <p:sp>
          <p:nvSpPr>
            <p:cNvPr id="39" name="Rectangle 191">
              <a:extLst>
                <a:ext uri="{FF2B5EF4-FFF2-40B4-BE49-F238E27FC236}">
                  <a16:creationId xmlns:a16="http://schemas.microsoft.com/office/drawing/2014/main" id="{339F9927-1B63-A625-254C-4D6EE484AF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2071" y="4615885"/>
              <a:ext cx="269304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준비중</a:t>
              </a:r>
            </a:p>
          </p:txBody>
        </p:sp>
        <p:graphicFrame>
          <p:nvGraphicFramePr>
            <p:cNvPr id="40" name="개체 39">
              <a:extLst>
                <a:ext uri="{FF2B5EF4-FFF2-40B4-BE49-F238E27FC236}">
                  <a16:creationId xmlns:a16="http://schemas.microsoft.com/office/drawing/2014/main" id="{B7DF7F38-1F64-8F98-2B36-E001ED811F4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03014" y="4597515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145435" imgH="145435" progId="Visio.Drawing.11">
                    <p:embed/>
                  </p:oleObj>
                </mc:Choice>
                <mc:Fallback>
                  <p:oleObj name="Visio" r:id="rId4" imgW="145435" imgH="145435" progId="Visio.Drawing.11">
                    <p:embed/>
                    <p:pic>
                      <p:nvPicPr>
                        <p:cNvPr id="40" name="개체 39">
                          <a:extLst>
                            <a:ext uri="{FF2B5EF4-FFF2-40B4-BE49-F238E27FC236}">
                              <a16:creationId xmlns:a16="http://schemas.microsoft.com/office/drawing/2014/main" id="{DA34CE84-382F-0311-728F-D3DAB5B4199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3014" y="4597515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B29A6EB5-3109-391E-0063-80DB596A0D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8882070"/>
              </p:ext>
            </p:extLst>
          </p:nvPr>
        </p:nvGraphicFramePr>
        <p:xfrm>
          <a:off x="284966" y="2881893"/>
          <a:ext cx="6494051" cy="27033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6426">
                  <a:extLst>
                    <a:ext uri="{9D8B030D-6E8A-4147-A177-3AD203B41FA5}">
                      <a16:colId xmlns:a16="http://schemas.microsoft.com/office/drawing/2014/main" val="795720410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1696">
                  <a:extLst>
                    <a:ext uri="{9D8B030D-6E8A-4147-A177-3AD203B41FA5}">
                      <a16:colId xmlns:a16="http://schemas.microsoft.com/office/drawing/2014/main" val="3302419106"/>
                    </a:ext>
                  </a:extLst>
                </a:gridCol>
                <a:gridCol w="69227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545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접수기간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신청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b="0" dirty="0">
                          <a:latin typeface="맑은 고딕" panose="020B0503020000020004" pitchFamily="50" charset="-127"/>
                          <a:ea typeface="+mn-ea"/>
                        </a:rPr>
                        <a:t>2025</a:t>
                      </a:r>
                      <a:r>
                        <a:rPr lang="ko-KR" altLang="en-US" sz="700" b="0" dirty="0">
                          <a:latin typeface="맑은 고딕" panose="020B0503020000020004" pitchFamily="50" charset="-127"/>
                          <a:ea typeface="+mn-ea"/>
                        </a:rPr>
                        <a:t>년 하반기 대학생 장학금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준비중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 하반기 대학생 장학금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접수중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7312254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 하반기 대학생 장학금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접수중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8246901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 하반기 대학생 장학금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마감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1439070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 하반기 대학생 장학금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마감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3880563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 하반기 대학생 장학금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마감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0006018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 하반기 대학생 장학금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2894528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 하반기 대학생 장학금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6804240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 하반기 대학생 장학금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마감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6797012"/>
                  </a:ext>
                </a:extLst>
              </a:tr>
            </a:tbl>
          </a:graphicData>
        </a:graphic>
      </p:graphicFrame>
      <p:sp>
        <p:nvSpPr>
          <p:cNvPr id="19" name="직사각형 18">
            <a:extLst>
              <a:ext uri="{FF2B5EF4-FFF2-40B4-BE49-F238E27FC236}">
                <a16:creationId xmlns:a16="http://schemas.microsoft.com/office/drawing/2014/main" id="{440A376F-92A4-63F5-ADAB-A859C0D6098A}"/>
              </a:ext>
            </a:extLst>
          </p:cNvPr>
          <p:cNvSpPr/>
          <p:nvPr/>
        </p:nvSpPr>
        <p:spPr>
          <a:xfrm>
            <a:off x="3352870" y="5661248"/>
            <a:ext cx="902491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처음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◀  1  ▶  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마지막</a:t>
            </a:r>
          </a:p>
        </p:txBody>
      </p:sp>
      <p:pic>
        <p:nvPicPr>
          <p:cNvPr id="23" name="Picture 13">
            <a:extLst>
              <a:ext uri="{FF2B5EF4-FFF2-40B4-BE49-F238E27FC236}">
                <a16:creationId xmlns:a16="http://schemas.microsoft.com/office/drawing/2014/main" id="{D46B3CD5-B033-23BD-65C1-50BC34ED83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1455" y="2655760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0AD954F5-5245-1AAC-5587-158EF2D49788}"/>
              </a:ext>
            </a:extLst>
          </p:cNvPr>
          <p:cNvSpPr/>
          <p:nvPr/>
        </p:nvSpPr>
        <p:spPr>
          <a:xfrm>
            <a:off x="6254137" y="2649459"/>
            <a:ext cx="35765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10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건</a:t>
            </a:r>
          </a:p>
        </p:txBody>
      </p:sp>
      <p:sp>
        <p:nvSpPr>
          <p:cNvPr id="25" name="Rectangle 191">
            <a:extLst>
              <a:ext uri="{FF2B5EF4-FFF2-40B4-BE49-F238E27FC236}">
                <a16:creationId xmlns:a16="http://schemas.microsoft.com/office/drawing/2014/main" id="{44CD3A91-932D-A325-86B0-03E026461C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778" y="2666591"/>
            <a:ext cx="261290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총 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7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건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72B9F86-803A-EB54-9284-DE4A9576F206}"/>
              </a:ext>
            </a:extLst>
          </p:cNvPr>
          <p:cNvSpPr/>
          <p:nvPr/>
        </p:nvSpPr>
        <p:spPr>
          <a:xfrm>
            <a:off x="6205078" y="3470683"/>
            <a:ext cx="468001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신청하기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AB816D2-7658-E606-721B-D869E3778106}"/>
              </a:ext>
            </a:extLst>
          </p:cNvPr>
          <p:cNvSpPr/>
          <p:nvPr/>
        </p:nvSpPr>
        <p:spPr>
          <a:xfrm>
            <a:off x="6205078" y="3738165"/>
            <a:ext cx="468001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신청하기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2D896103-C66E-9983-E809-4C9294F32CEA}"/>
              </a:ext>
            </a:extLst>
          </p:cNvPr>
          <p:cNvSpPr>
            <a:spLocks noChangeAspect="1"/>
          </p:cNvSpPr>
          <p:nvPr/>
        </p:nvSpPr>
        <p:spPr>
          <a:xfrm>
            <a:off x="113466" y="2240173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7977A39D-71A9-06F9-DF42-B464F077E8E7}"/>
              </a:ext>
            </a:extLst>
          </p:cNvPr>
          <p:cNvSpPr>
            <a:spLocks noChangeAspect="1"/>
          </p:cNvSpPr>
          <p:nvPr/>
        </p:nvSpPr>
        <p:spPr>
          <a:xfrm>
            <a:off x="226603" y="2812217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162124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54A6F-EA11-0969-3646-D38FC4512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3B6A664-DA1B-4C8D-713D-C03BEA3A8ADA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대학생장학금 조회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71D8E4A-CE0D-7A98-B76A-420C4A981195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프로그램신청관리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대학생장학금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조회</a:t>
            </a: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21669332-9BE1-FB97-C81D-B23579D403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9704449"/>
              </p:ext>
            </p:extLst>
          </p:nvPr>
        </p:nvGraphicFramePr>
        <p:xfrm>
          <a:off x="6969418" y="2548005"/>
          <a:ext cx="2772114" cy="1184520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상태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준비중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/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접수중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/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마감 중 표시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준비중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조회일 기준 접수기간 이전일 경우의 상태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접수중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조회일 기준 접수기간일 경우의 상태로 회원이 장학금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산칭하기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가 가능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마감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조회일 기준 접수기간이 지난 경우의 상태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신청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신청하기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공고 상태가 접수중일 경우에 한해 보이며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시 장학금 신청 화면으로 이동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0039C9D0-15B1-32E8-9B39-04060DD7E000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pau_hit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AA4ACDCE-651E-5D1A-D808-81838A0A7C58}"/>
              </a:ext>
            </a:extLst>
          </p:cNvPr>
          <p:cNvSpPr/>
          <p:nvPr/>
        </p:nvSpPr>
        <p:spPr>
          <a:xfrm>
            <a:off x="165100" y="1376772"/>
            <a:ext cx="6732116" cy="36877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F373318C-BD63-F1E0-DD18-5181D74491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1468700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9A930C5-BA95-E8DD-59AD-DC2171071983}"/>
              </a:ext>
            </a:extLst>
          </p:cNvPr>
          <p:cNvSpPr/>
          <p:nvPr/>
        </p:nvSpPr>
        <p:spPr>
          <a:xfrm>
            <a:off x="5680946" y="1586865"/>
            <a:ext cx="1165384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오산시민 평생교육장려금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43DF6A1-D9D9-1D46-7F33-885C6D6D3FFD}"/>
              </a:ext>
            </a:extLst>
          </p:cNvPr>
          <p:cNvSpPr/>
          <p:nvPr/>
        </p:nvSpPr>
        <p:spPr>
          <a:xfrm>
            <a:off x="4831365" y="1586865"/>
            <a:ext cx="652423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 신청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9BBB37C-C17A-0559-7EC1-5C32D79F99B9}"/>
              </a:ext>
            </a:extLst>
          </p:cNvPr>
          <p:cNvSpPr/>
          <p:nvPr/>
        </p:nvSpPr>
        <p:spPr>
          <a:xfrm>
            <a:off x="4223838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재단소식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0A18AA7-46C7-1238-34AF-479C1345EF5C}"/>
              </a:ext>
            </a:extLst>
          </p:cNvPr>
          <p:cNvSpPr/>
          <p:nvPr/>
        </p:nvSpPr>
        <p:spPr>
          <a:xfrm>
            <a:off x="3616311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열린경영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1AEB580-B3B8-2507-6D00-4B401495D8B9}"/>
              </a:ext>
            </a:extLst>
          </p:cNvPr>
          <p:cNvSpPr/>
          <p:nvPr/>
        </p:nvSpPr>
        <p:spPr>
          <a:xfrm>
            <a:off x="3008784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2D26F80-E8E6-1C84-22F5-114CA6455FB7}"/>
              </a:ext>
            </a:extLst>
          </p:cNvPr>
          <p:cNvSpPr/>
          <p:nvPr/>
        </p:nvSpPr>
        <p:spPr>
          <a:xfrm>
            <a:off x="165100" y="1790190"/>
            <a:ext cx="6732116" cy="469951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CE4F22B-F2A1-F5E6-99B2-3B8A718B0EB1}"/>
              </a:ext>
            </a:extLst>
          </p:cNvPr>
          <p:cNvSpPr/>
          <p:nvPr/>
        </p:nvSpPr>
        <p:spPr>
          <a:xfrm>
            <a:off x="5543100" y="1879740"/>
            <a:ext cx="1235916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lang="ko-KR" altLang="en-US" sz="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대학생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장학금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911C661-964F-B36F-41EB-FA151626DF40}"/>
              </a:ext>
            </a:extLst>
          </p:cNvPr>
          <p:cNvSpPr/>
          <p:nvPr/>
        </p:nvSpPr>
        <p:spPr>
          <a:xfrm>
            <a:off x="236476" y="1844824"/>
            <a:ext cx="732573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대학생 장학금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80989C5-1B7A-3213-2028-868BF050B182}"/>
              </a:ext>
            </a:extLst>
          </p:cNvPr>
          <p:cNvSpPr/>
          <p:nvPr/>
        </p:nvSpPr>
        <p:spPr>
          <a:xfrm>
            <a:off x="3824511" y="2248048"/>
            <a:ext cx="277591" cy="144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검색</a:t>
            </a: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57D6FB1-293F-F874-1AA4-A29EF2C9FEE2}"/>
              </a:ext>
            </a:extLst>
          </p:cNvPr>
          <p:cNvSpPr/>
          <p:nvPr/>
        </p:nvSpPr>
        <p:spPr>
          <a:xfrm>
            <a:off x="2610475" y="2248048"/>
            <a:ext cx="1193641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검색어를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입력하세요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3" name="Picture 13">
            <a:extLst>
              <a:ext uri="{FF2B5EF4-FFF2-40B4-BE49-F238E27FC236}">
                <a16:creationId xmlns:a16="http://schemas.microsoft.com/office/drawing/2014/main" id="{1D45757C-D123-80E6-6523-C1E2E18BE2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2534" y="2246398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A3263101-0FB3-3FAA-B16C-6BEA48698256}"/>
              </a:ext>
            </a:extLst>
          </p:cNvPr>
          <p:cNvSpPr/>
          <p:nvPr/>
        </p:nvSpPr>
        <p:spPr>
          <a:xfrm>
            <a:off x="2025221" y="2248048"/>
            <a:ext cx="393415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제목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9810AE33-63F5-1EE9-501E-06C4287D148A}"/>
              </a:ext>
            </a:extLst>
          </p:cNvPr>
          <p:cNvGrpSpPr/>
          <p:nvPr/>
        </p:nvGrpSpPr>
        <p:grpSpPr>
          <a:xfrm>
            <a:off x="1169162" y="2246542"/>
            <a:ext cx="408361" cy="144462"/>
            <a:chOff x="2403014" y="4597515"/>
            <a:chExt cx="408361" cy="144462"/>
          </a:xfrm>
        </p:grpSpPr>
        <p:sp>
          <p:nvSpPr>
            <p:cNvPr id="30" name="Rectangle 191">
              <a:extLst>
                <a:ext uri="{FF2B5EF4-FFF2-40B4-BE49-F238E27FC236}">
                  <a16:creationId xmlns:a16="http://schemas.microsoft.com/office/drawing/2014/main" id="{B57FBD94-F412-4A6E-C140-EC3333CB5C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2071" y="4615885"/>
              <a:ext cx="269304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접수중</a:t>
              </a:r>
            </a:p>
          </p:txBody>
        </p:sp>
        <p:graphicFrame>
          <p:nvGraphicFramePr>
            <p:cNvPr id="31" name="개체 30">
              <a:extLst>
                <a:ext uri="{FF2B5EF4-FFF2-40B4-BE49-F238E27FC236}">
                  <a16:creationId xmlns:a16="http://schemas.microsoft.com/office/drawing/2014/main" id="{15757AB3-D7D6-25EC-3EBF-3E166142261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03014" y="4597515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145435" imgH="145435" progId="Visio.Drawing.11">
                    <p:embed/>
                  </p:oleObj>
                </mc:Choice>
                <mc:Fallback>
                  <p:oleObj name="Visio" r:id="rId4" imgW="145435" imgH="145435" progId="Visio.Drawing.11">
                    <p:embed/>
                    <p:pic>
                      <p:nvPicPr>
                        <p:cNvPr id="31" name="개체 30">
                          <a:extLst>
                            <a:ext uri="{FF2B5EF4-FFF2-40B4-BE49-F238E27FC236}">
                              <a16:creationId xmlns:a16="http://schemas.microsoft.com/office/drawing/2014/main" id="{22042850-0254-14A6-5BD3-2DAF463D347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3014" y="4597515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8B8F0905-F1C8-286A-186F-E69066578935}"/>
              </a:ext>
            </a:extLst>
          </p:cNvPr>
          <p:cNvGrpSpPr/>
          <p:nvPr/>
        </p:nvGrpSpPr>
        <p:grpSpPr>
          <a:xfrm>
            <a:off x="266961" y="2246398"/>
            <a:ext cx="316600" cy="144462"/>
            <a:chOff x="2145750" y="2807609"/>
            <a:chExt cx="316600" cy="144462"/>
          </a:xfrm>
        </p:grpSpPr>
        <p:sp>
          <p:nvSpPr>
            <p:cNvPr id="33" name="Rectangle 191">
              <a:extLst>
                <a:ext uri="{FF2B5EF4-FFF2-40B4-BE49-F238E27FC236}">
                  <a16:creationId xmlns:a16="http://schemas.microsoft.com/office/drawing/2014/main" id="{EE07FB26-99C9-53E1-85C7-FAA04FC2E9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2814" y="2826123"/>
              <a:ext cx="179536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전체</a:t>
              </a:r>
            </a:p>
          </p:txBody>
        </p:sp>
        <p:graphicFrame>
          <p:nvGraphicFramePr>
            <p:cNvPr id="34" name="개체 33">
              <a:extLst>
                <a:ext uri="{FF2B5EF4-FFF2-40B4-BE49-F238E27FC236}">
                  <a16:creationId xmlns:a16="http://schemas.microsoft.com/office/drawing/2014/main" id="{26A0BD1E-F7CA-6085-5FA4-53E9FBA9DCF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45750" y="2807609"/>
            <a:ext cx="144463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6" imgW="145435" imgH="145435" progId="Visio.Drawing.11">
                    <p:embed/>
                  </p:oleObj>
                </mc:Choice>
                <mc:Fallback>
                  <p:oleObj name="Visio" r:id="rId6" imgW="145435" imgH="145435" progId="Visio.Drawing.11">
                    <p:embed/>
                    <p:pic>
                      <p:nvPicPr>
                        <p:cNvPr id="34" name="개체 33">
                          <a:extLst>
                            <a:ext uri="{FF2B5EF4-FFF2-40B4-BE49-F238E27FC236}">
                              <a16:creationId xmlns:a16="http://schemas.microsoft.com/office/drawing/2014/main" id="{4A55188A-9056-EDF6-FBA4-B793F31C1D2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45750" y="2807609"/>
                          <a:ext cx="144463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E5BC2978-C3FA-0381-EAA3-9A25FE51C030}"/>
              </a:ext>
            </a:extLst>
          </p:cNvPr>
          <p:cNvGrpSpPr/>
          <p:nvPr/>
        </p:nvGrpSpPr>
        <p:grpSpPr>
          <a:xfrm>
            <a:off x="1666143" y="2246542"/>
            <a:ext cx="318593" cy="144462"/>
            <a:chOff x="2403014" y="4597515"/>
            <a:chExt cx="318593" cy="144462"/>
          </a:xfrm>
        </p:grpSpPr>
        <p:sp>
          <p:nvSpPr>
            <p:cNvPr id="36" name="Rectangle 191">
              <a:extLst>
                <a:ext uri="{FF2B5EF4-FFF2-40B4-BE49-F238E27FC236}">
                  <a16:creationId xmlns:a16="http://schemas.microsoft.com/office/drawing/2014/main" id="{8AEDAF13-31E3-92D6-9E1A-A3F9953B37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2071" y="4615885"/>
              <a:ext cx="179536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마감</a:t>
              </a:r>
            </a:p>
          </p:txBody>
        </p:sp>
        <p:graphicFrame>
          <p:nvGraphicFramePr>
            <p:cNvPr id="37" name="개체 36">
              <a:extLst>
                <a:ext uri="{FF2B5EF4-FFF2-40B4-BE49-F238E27FC236}">
                  <a16:creationId xmlns:a16="http://schemas.microsoft.com/office/drawing/2014/main" id="{3AA93985-FDB8-769B-7CB0-F06B75A6692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03014" y="4597515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145435" imgH="145435" progId="Visio.Drawing.11">
                    <p:embed/>
                  </p:oleObj>
                </mc:Choice>
                <mc:Fallback>
                  <p:oleObj name="Visio" r:id="rId4" imgW="145435" imgH="145435" progId="Visio.Drawing.11">
                    <p:embed/>
                    <p:pic>
                      <p:nvPicPr>
                        <p:cNvPr id="37" name="개체 36">
                          <a:extLst>
                            <a:ext uri="{FF2B5EF4-FFF2-40B4-BE49-F238E27FC236}">
                              <a16:creationId xmlns:a16="http://schemas.microsoft.com/office/drawing/2014/main" id="{80319FE4-A00F-A6CB-1B7A-E08370C65DA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3014" y="4597515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2CDD62AD-7284-08D0-0BEC-1E1B08F50243}"/>
              </a:ext>
            </a:extLst>
          </p:cNvPr>
          <p:cNvGrpSpPr/>
          <p:nvPr/>
        </p:nvGrpSpPr>
        <p:grpSpPr>
          <a:xfrm>
            <a:off x="672181" y="2246542"/>
            <a:ext cx="408361" cy="144462"/>
            <a:chOff x="2403014" y="4597515"/>
            <a:chExt cx="408361" cy="144462"/>
          </a:xfrm>
        </p:grpSpPr>
        <p:sp>
          <p:nvSpPr>
            <p:cNvPr id="39" name="Rectangle 191">
              <a:extLst>
                <a:ext uri="{FF2B5EF4-FFF2-40B4-BE49-F238E27FC236}">
                  <a16:creationId xmlns:a16="http://schemas.microsoft.com/office/drawing/2014/main" id="{786F73F1-D0CA-7109-81C6-4BB3F74F9A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2071" y="4615885"/>
              <a:ext cx="269304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준비중</a:t>
              </a:r>
            </a:p>
          </p:txBody>
        </p:sp>
        <p:graphicFrame>
          <p:nvGraphicFramePr>
            <p:cNvPr id="40" name="개체 39">
              <a:extLst>
                <a:ext uri="{FF2B5EF4-FFF2-40B4-BE49-F238E27FC236}">
                  <a16:creationId xmlns:a16="http://schemas.microsoft.com/office/drawing/2014/main" id="{DF8C2DAC-55EB-2499-54A6-6D8B4B4AD87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03014" y="4597515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145435" imgH="145435" progId="Visio.Drawing.11">
                    <p:embed/>
                  </p:oleObj>
                </mc:Choice>
                <mc:Fallback>
                  <p:oleObj name="Visio" r:id="rId4" imgW="145435" imgH="145435" progId="Visio.Drawing.11">
                    <p:embed/>
                    <p:pic>
                      <p:nvPicPr>
                        <p:cNvPr id="40" name="개체 39">
                          <a:extLst>
                            <a:ext uri="{FF2B5EF4-FFF2-40B4-BE49-F238E27FC236}">
                              <a16:creationId xmlns:a16="http://schemas.microsoft.com/office/drawing/2014/main" id="{B7DF7F38-1F64-8F98-2B36-E001ED811F4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3014" y="4597515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4B13885D-42D6-AFE4-4D76-4D15E52E8FBD}"/>
              </a:ext>
            </a:extLst>
          </p:cNvPr>
          <p:cNvGraphicFramePr>
            <a:graphicFrameLocks noGrp="1"/>
          </p:cNvGraphicFramePr>
          <p:nvPr/>
        </p:nvGraphicFramePr>
        <p:xfrm>
          <a:off x="284966" y="2881893"/>
          <a:ext cx="6494051" cy="27033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6426">
                  <a:extLst>
                    <a:ext uri="{9D8B030D-6E8A-4147-A177-3AD203B41FA5}">
                      <a16:colId xmlns:a16="http://schemas.microsoft.com/office/drawing/2014/main" val="795720410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1696">
                  <a:extLst>
                    <a:ext uri="{9D8B030D-6E8A-4147-A177-3AD203B41FA5}">
                      <a16:colId xmlns:a16="http://schemas.microsoft.com/office/drawing/2014/main" val="3302419106"/>
                    </a:ext>
                  </a:extLst>
                </a:gridCol>
                <a:gridCol w="69227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545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접수기간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신청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b="0" dirty="0">
                          <a:latin typeface="맑은 고딕" panose="020B0503020000020004" pitchFamily="50" charset="-127"/>
                          <a:ea typeface="+mn-ea"/>
                        </a:rPr>
                        <a:t>2025</a:t>
                      </a:r>
                      <a:r>
                        <a:rPr lang="ko-KR" altLang="en-US" sz="700" b="0" dirty="0">
                          <a:latin typeface="맑은 고딕" panose="020B0503020000020004" pitchFamily="50" charset="-127"/>
                          <a:ea typeface="+mn-ea"/>
                        </a:rPr>
                        <a:t>년 하반기 대학생 장학금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준비중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 하반기 대학생 장학금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접수중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7312254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 하반기 대학생 장학금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접수중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8246901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 하반기 대학생 장학금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마감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1439070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 하반기 대학생 장학금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마감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3880563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 하반기 대학생 장학금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마감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0006018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 하반기 대학생 장학금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2894528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 하반기 대학생 장학금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6804240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 하반기 대학생 장학금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마감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6797012"/>
                  </a:ext>
                </a:extLst>
              </a:tr>
            </a:tbl>
          </a:graphicData>
        </a:graphic>
      </p:graphicFrame>
      <p:sp>
        <p:nvSpPr>
          <p:cNvPr id="19" name="직사각형 18">
            <a:extLst>
              <a:ext uri="{FF2B5EF4-FFF2-40B4-BE49-F238E27FC236}">
                <a16:creationId xmlns:a16="http://schemas.microsoft.com/office/drawing/2014/main" id="{23A5ADF0-4590-3D66-9868-CF6293AD7473}"/>
              </a:ext>
            </a:extLst>
          </p:cNvPr>
          <p:cNvSpPr/>
          <p:nvPr/>
        </p:nvSpPr>
        <p:spPr>
          <a:xfrm>
            <a:off x="3352870" y="5661248"/>
            <a:ext cx="902491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처음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◀  1  ▶  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마지막</a:t>
            </a:r>
          </a:p>
        </p:txBody>
      </p:sp>
      <p:pic>
        <p:nvPicPr>
          <p:cNvPr id="23" name="Picture 13">
            <a:extLst>
              <a:ext uri="{FF2B5EF4-FFF2-40B4-BE49-F238E27FC236}">
                <a16:creationId xmlns:a16="http://schemas.microsoft.com/office/drawing/2014/main" id="{7242F1A0-1DDD-2706-A0B8-011C5B6337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1455" y="2655760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47F4AF24-BD74-458C-4BD7-ADCF052FE05B}"/>
              </a:ext>
            </a:extLst>
          </p:cNvPr>
          <p:cNvSpPr/>
          <p:nvPr/>
        </p:nvSpPr>
        <p:spPr>
          <a:xfrm>
            <a:off x="6254137" y="2649459"/>
            <a:ext cx="35765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10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건</a:t>
            </a:r>
          </a:p>
        </p:txBody>
      </p:sp>
      <p:sp>
        <p:nvSpPr>
          <p:cNvPr id="25" name="Rectangle 191">
            <a:extLst>
              <a:ext uri="{FF2B5EF4-FFF2-40B4-BE49-F238E27FC236}">
                <a16:creationId xmlns:a16="http://schemas.microsoft.com/office/drawing/2014/main" id="{E1E49D97-8DBC-BF06-CD95-CC5D22EA2F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778" y="2666591"/>
            <a:ext cx="261290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총 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7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건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A629BB0-C089-DC5C-2659-630FD467540D}"/>
              </a:ext>
            </a:extLst>
          </p:cNvPr>
          <p:cNvSpPr/>
          <p:nvPr/>
        </p:nvSpPr>
        <p:spPr>
          <a:xfrm>
            <a:off x="6205078" y="3470683"/>
            <a:ext cx="468001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신청하기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5C865A3-BEAA-822C-5BA8-10B6F5D4C96C}"/>
              </a:ext>
            </a:extLst>
          </p:cNvPr>
          <p:cNvSpPr/>
          <p:nvPr/>
        </p:nvSpPr>
        <p:spPr>
          <a:xfrm>
            <a:off x="6205078" y="3738165"/>
            <a:ext cx="468001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신청하기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4AACFD87-E29B-E55E-7D43-69EEF3E5CD66}"/>
              </a:ext>
            </a:extLst>
          </p:cNvPr>
          <p:cNvSpPr>
            <a:spLocks noChangeAspect="1"/>
          </p:cNvSpPr>
          <p:nvPr/>
        </p:nvSpPr>
        <p:spPr>
          <a:xfrm>
            <a:off x="113466" y="2240173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2BD9F5F9-81AE-CE95-A935-93DC6682C412}"/>
              </a:ext>
            </a:extLst>
          </p:cNvPr>
          <p:cNvSpPr>
            <a:spLocks noChangeAspect="1"/>
          </p:cNvSpPr>
          <p:nvPr/>
        </p:nvSpPr>
        <p:spPr>
          <a:xfrm>
            <a:off x="226603" y="2812217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14328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8D1E1-B520-98B3-A2BD-223FEAF63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5B4DBAB-4391-EA8B-C6AA-F0CC3C60A242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대학생장학금 신청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74ECC3A-59CB-64E2-179F-98BA3D6D95D0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프로그램신청관리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대학생장학금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장학금신청</a:t>
            </a: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B85DB195-0166-F1E0-082B-06480B2753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847591"/>
              </p:ext>
            </p:extLst>
          </p:nvPr>
        </p:nvGraphicFramePr>
        <p:xfrm>
          <a:off x="6969418" y="2548005"/>
          <a:ext cx="2772114" cy="3511579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프로그램신청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대학생장학금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조회 화면 목록에서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신청하기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클릭 시 보이는 화면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사이트관리자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프로그램신청관리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개인정보동의관리에서 설정된 개인정보 수집 및 활용에 대한 동의 내용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개인정보 수집 및 활용에 동의합니다 체크 시 신청이 가능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이름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신청자 회원의 이름을 표시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보호자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신청 시 작성한 보호자 이름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생년월일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신청 시 설정한 신청자의 생년월일로 수정이 가능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보호자 연락처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신청 시 설정한 보호자 연락처로 수정이 가능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졸업 고등학교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신청 시 작성한 졸업 고등학교로 수정이 가능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재학 대학교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신청 시 설정한 신청자 재학 대학교로 수정이 가능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최종전입일자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신청 시 설정한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최종전입일자로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본인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보호자 중 선택 및 전입일자를 설정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주소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신청 시 설정한 신청자 주소로 수정이 가능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우편번호 찾기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주소검색 팝업창에서 해당 주소 검색 및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선택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우편번호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기본주소가 주소란에 적용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상세주소 직접입력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은행명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신청 시 설정한신청자 본인 계좌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은행명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예금주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신청 시 자동 신청자의 회원 이름을 자동으로 표시하며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수정이 불가능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계좌번호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신청 시 설정한 본인 계좌의 계좌번호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1545638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F6273301-5157-1AE1-FAA7-31E4DD57BE86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pau_application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5DA24F80-C970-38C9-E596-29758A3F8F6A}"/>
              </a:ext>
            </a:extLst>
          </p:cNvPr>
          <p:cNvSpPr/>
          <p:nvPr/>
        </p:nvSpPr>
        <p:spPr>
          <a:xfrm>
            <a:off x="165100" y="1376772"/>
            <a:ext cx="6732116" cy="36877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6058020E-F042-F527-C9D3-1817A98F5D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1468700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EE1B2E0F-53E5-12A1-EB43-1386B242CE81}"/>
              </a:ext>
            </a:extLst>
          </p:cNvPr>
          <p:cNvSpPr/>
          <p:nvPr/>
        </p:nvSpPr>
        <p:spPr>
          <a:xfrm>
            <a:off x="5680946" y="1586865"/>
            <a:ext cx="1165384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오산시민 평생교육장려금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BFBDFE4-BBB1-8C48-176F-A227037314F3}"/>
              </a:ext>
            </a:extLst>
          </p:cNvPr>
          <p:cNvSpPr/>
          <p:nvPr/>
        </p:nvSpPr>
        <p:spPr>
          <a:xfrm>
            <a:off x="4831365" y="1586865"/>
            <a:ext cx="652423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 신청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E0491DC-266F-10D8-10F7-3FAB75B58094}"/>
              </a:ext>
            </a:extLst>
          </p:cNvPr>
          <p:cNvSpPr/>
          <p:nvPr/>
        </p:nvSpPr>
        <p:spPr>
          <a:xfrm>
            <a:off x="4223838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재단소식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61E1742-F652-A2E8-A27B-7D21BFD55755}"/>
              </a:ext>
            </a:extLst>
          </p:cNvPr>
          <p:cNvSpPr/>
          <p:nvPr/>
        </p:nvSpPr>
        <p:spPr>
          <a:xfrm>
            <a:off x="3616311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열린경영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3BA66B3-2CB5-1E7D-D4FA-A5D93DFC98A1}"/>
              </a:ext>
            </a:extLst>
          </p:cNvPr>
          <p:cNvSpPr/>
          <p:nvPr/>
        </p:nvSpPr>
        <p:spPr>
          <a:xfrm>
            <a:off x="3008784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CB00452-A59C-623C-B081-36767B504F44}"/>
              </a:ext>
            </a:extLst>
          </p:cNvPr>
          <p:cNvSpPr/>
          <p:nvPr/>
        </p:nvSpPr>
        <p:spPr>
          <a:xfrm>
            <a:off x="165100" y="1790189"/>
            <a:ext cx="6732116" cy="49320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72DE7CC-0209-DDE1-439D-513133CDB6BC}"/>
              </a:ext>
            </a:extLst>
          </p:cNvPr>
          <p:cNvSpPr/>
          <p:nvPr/>
        </p:nvSpPr>
        <p:spPr>
          <a:xfrm>
            <a:off x="5543100" y="1879740"/>
            <a:ext cx="1235916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lang="ko-KR" altLang="en-US" sz="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대학생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장학금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9C162BC-9F2A-8768-CD9C-80A4EF24B8CB}"/>
              </a:ext>
            </a:extLst>
          </p:cNvPr>
          <p:cNvSpPr/>
          <p:nvPr/>
        </p:nvSpPr>
        <p:spPr>
          <a:xfrm>
            <a:off x="236476" y="1844824"/>
            <a:ext cx="732573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대학생 장학금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49A33EA-ED95-E5A6-5232-B91FA99D8C12}"/>
              </a:ext>
            </a:extLst>
          </p:cNvPr>
          <p:cNvSpPr/>
          <p:nvPr/>
        </p:nvSpPr>
        <p:spPr>
          <a:xfrm>
            <a:off x="287103" y="2253639"/>
            <a:ext cx="1620636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800" b="1" dirty="0">
                <a:solidFill>
                  <a:prstClr val="black"/>
                </a:solidFill>
              </a:rPr>
              <a:t>개인정보 수집 및 활용에 대한 안내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3DB3B3A9-FDFA-20B2-72CD-50291A102320}"/>
              </a:ext>
            </a:extLst>
          </p:cNvPr>
          <p:cNvGrpSpPr/>
          <p:nvPr/>
        </p:nvGrpSpPr>
        <p:grpSpPr>
          <a:xfrm>
            <a:off x="6715323" y="2433328"/>
            <a:ext cx="77080" cy="792000"/>
            <a:chOff x="6781481" y="1888563"/>
            <a:chExt cx="77080" cy="792000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0C422963-57C7-CE25-5716-48A844B25A37}"/>
                </a:ext>
              </a:extLst>
            </p:cNvPr>
            <p:cNvSpPr/>
            <p:nvPr/>
          </p:nvSpPr>
          <p:spPr>
            <a:xfrm>
              <a:off x="6786561" y="1888563"/>
              <a:ext cx="72000" cy="792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F95C5B91-BF07-CB7A-668A-4D93BB86C34D}"/>
                </a:ext>
              </a:extLst>
            </p:cNvPr>
            <p:cNvSpPr/>
            <p:nvPr/>
          </p:nvSpPr>
          <p:spPr>
            <a:xfrm>
              <a:off x="6781481" y="2116070"/>
              <a:ext cx="72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endParaRPr>
            </a:p>
          </p:txBody>
        </p:sp>
      </p:grp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410A8F9-0D2F-E241-E55D-37CE9C520600}"/>
              </a:ext>
            </a:extLst>
          </p:cNvPr>
          <p:cNvSpPr/>
          <p:nvPr/>
        </p:nvSpPr>
        <p:spPr>
          <a:xfrm>
            <a:off x="273050" y="2433659"/>
            <a:ext cx="6437193" cy="78963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t"/>
          <a:lstStyle/>
          <a:p>
            <a:r>
              <a:rPr lang="ko-KR" altLang="en-US" sz="700" dirty="0">
                <a:solidFill>
                  <a:prstClr val="black"/>
                </a:solidFill>
              </a:rPr>
              <a:t>오산교육재단 홈페이지 프로그램 신청을 위하여 아래와 같이 개인정보를 수집・이용하고자 합니다</a:t>
            </a:r>
            <a:r>
              <a:rPr lang="en-US" altLang="ko-KR" sz="700" dirty="0">
                <a:solidFill>
                  <a:prstClr val="black"/>
                </a:solidFill>
              </a:rPr>
              <a:t>. </a:t>
            </a:r>
            <a:r>
              <a:rPr lang="ko-KR" altLang="en-US" sz="700" dirty="0">
                <a:solidFill>
                  <a:prstClr val="black"/>
                </a:solidFill>
              </a:rPr>
              <a:t>내용을 자세히 읽으신 후 동의 여부를 결정하여 주시기 바랍니다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</a:p>
          <a:p>
            <a:endParaRPr lang="en-US" altLang="ko-KR" sz="700" dirty="0">
              <a:solidFill>
                <a:prstClr val="black"/>
              </a:solidFill>
            </a:endParaRPr>
          </a:p>
          <a:p>
            <a:r>
              <a:rPr lang="ko-KR" altLang="en-US" sz="700" dirty="0">
                <a:solidFill>
                  <a:prstClr val="black"/>
                </a:solidFill>
              </a:rPr>
              <a:t>개인정보 수집・이용 내역</a:t>
            </a:r>
            <a:endParaRPr lang="en-US" altLang="ko-KR" sz="700" dirty="0">
              <a:solidFill>
                <a:prstClr val="black"/>
              </a:solidFill>
            </a:endParaRPr>
          </a:p>
          <a:p>
            <a:r>
              <a:rPr lang="en-US" altLang="ko-KR" sz="700" dirty="0">
                <a:solidFill>
                  <a:prstClr val="black"/>
                </a:solidFill>
              </a:rPr>
              <a:t>1. </a:t>
            </a:r>
            <a:r>
              <a:rPr lang="ko-KR" altLang="en-US" sz="700" dirty="0">
                <a:solidFill>
                  <a:prstClr val="black"/>
                </a:solidFill>
              </a:rPr>
              <a:t>항목</a:t>
            </a:r>
            <a:endParaRPr lang="en-US" altLang="ko-KR" sz="700" dirty="0">
              <a:solidFill>
                <a:prstClr val="black"/>
              </a:solidFill>
            </a:endParaRPr>
          </a:p>
          <a:p>
            <a:r>
              <a:rPr lang="en-US" altLang="ko-KR" sz="700" dirty="0">
                <a:solidFill>
                  <a:prstClr val="black"/>
                </a:solidFill>
              </a:rPr>
              <a:t>‣ </a:t>
            </a:r>
            <a:r>
              <a:rPr lang="ko-KR" altLang="en-US" sz="700" dirty="0">
                <a:solidFill>
                  <a:prstClr val="black"/>
                </a:solidFill>
              </a:rPr>
              <a:t>필수항목 </a:t>
            </a:r>
            <a:r>
              <a:rPr lang="en-US" altLang="ko-KR" sz="700" dirty="0">
                <a:solidFill>
                  <a:prstClr val="black"/>
                </a:solidFill>
              </a:rPr>
              <a:t>: </a:t>
            </a:r>
            <a:r>
              <a:rPr lang="ko-KR" altLang="en-US" sz="700" dirty="0">
                <a:solidFill>
                  <a:prstClr val="black"/>
                </a:solidFill>
              </a:rPr>
              <a:t>성명</a:t>
            </a:r>
            <a:r>
              <a:rPr lang="en-US" altLang="ko-KR" sz="700" dirty="0">
                <a:solidFill>
                  <a:prstClr val="black"/>
                </a:solidFill>
              </a:rPr>
              <a:t>, </a:t>
            </a:r>
            <a:r>
              <a:rPr lang="ko-KR" altLang="en-US" sz="700" dirty="0">
                <a:solidFill>
                  <a:prstClr val="black"/>
                </a:solidFill>
              </a:rPr>
              <a:t>아이디</a:t>
            </a:r>
            <a:r>
              <a:rPr lang="en-US" altLang="ko-KR" sz="700" dirty="0">
                <a:solidFill>
                  <a:prstClr val="black"/>
                </a:solidFill>
              </a:rPr>
              <a:t>, </a:t>
            </a:r>
            <a:r>
              <a:rPr lang="ko-KR" altLang="en-US" sz="700" dirty="0">
                <a:solidFill>
                  <a:prstClr val="black"/>
                </a:solidFill>
              </a:rPr>
              <a:t>비밀번호</a:t>
            </a:r>
            <a:r>
              <a:rPr lang="en-US" altLang="ko-KR" sz="700" dirty="0">
                <a:solidFill>
                  <a:prstClr val="black"/>
                </a:solidFill>
              </a:rPr>
              <a:t>, </a:t>
            </a:r>
            <a:r>
              <a:rPr lang="ko-KR" altLang="en-US" sz="700" dirty="0">
                <a:solidFill>
                  <a:prstClr val="black"/>
                </a:solidFill>
              </a:rPr>
              <a:t>휴대폰번호</a:t>
            </a:r>
            <a:r>
              <a:rPr lang="en-US" altLang="ko-KR" sz="700" dirty="0">
                <a:solidFill>
                  <a:prstClr val="black"/>
                </a:solidFill>
              </a:rPr>
              <a:t>, </a:t>
            </a:r>
            <a:r>
              <a:rPr lang="ko-KR" altLang="en-US" sz="700" dirty="0" err="1">
                <a:solidFill>
                  <a:prstClr val="black"/>
                </a:solidFill>
              </a:rPr>
              <a:t>이메일주소</a:t>
            </a:r>
            <a:r>
              <a:rPr lang="en-US" altLang="ko-KR" sz="700" dirty="0">
                <a:solidFill>
                  <a:prstClr val="black"/>
                </a:solidFill>
              </a:rPr>
              <a:t>, </a:t>
            </a:r>
            <a:r>
              <a:rPr lang="ko-KR" altLang="en-US" sz="700" dirty="0">
                <a:solidFill>
                  <a:prstClr val="black"/>
                </a:solidFill>
              </a:rPr>
              <a:t>관리를 위해 수집함</a:t>
            </a:r>
            <a:endParaRPr lang="en-US" altLang="ko-KR" sz="700" dirty="0">
              <a:solidFill>
                <a:prstClr val="black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6AFCA16-7435-D27E-56BE-F6212FB01BC3}"/>
              </a:ext>
            </a:extLst>
          </p:cNvPr>
          <p:cNvSpPr/>
          <p:nvPr/>
        </p:nvSpPr>
        <p:spPr>
          <a:xfrm>
            <a:off x="287103" y="3466085"/>
            <a:ext cx="549831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800" b="1" dirty="0">
                <a:solidFill>
                  <a:prstClr val="black"/>
                </a:solidFill>
              </a:rPr>
              <a:t>신청자 정보</a:t>
            </a: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97828018-AF2B-F943-2D6F-2B9F22F026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5700953"/>
              </p:ext>
            </p:extLst>
          </p:nvPr>
        </p:nvGraphicFramePr>
        <p:xfrm>
          <a:off x="273050" y="3638999"/>
          <a:ext cx="6516688" cy="2069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85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08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2404">
                  <a:extLst>
                    <a:ext uri="{9D8B030D-6E8A-4147-A177-3AD203B41FA5}">
                      <a16:colId xmlns:a16="http://schemas.microsoft.com/office/drawing/2014/main" val="3116975180"/>
                    </a:ext>
                  </a:extLst>
                </a:gridCol>
                <a:gridCol w="2214878">
                  <a:extLst>
                    <a:ext uri="{9D8B030D-6E8A-4147-A177-3AD203B41FA5}">
                      <a16:colId xmlns:a16="http://schemas.microsoft.com/office/drawing/2014/main" val="4261210409"/>
                    </a:ext>
                  </a:extLst>
                </a:gridCol>
              </a:tblGrid>
              <a:tr h="229955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홍이삭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보호자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9955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생년월일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2008.05.23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보호자 연락처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9955">
                <a:tc>
                  <a:txBody>
                    <a:bodyPr/>
                    <a:lstStyle/>
                    <a:p>
                      <a:pPr algn="r" latinLnBrk="0"/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/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본인 연락처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955">
                <a:tc>
                  <a:txBody>
                    <a:bodyPr/>
                    <a:lstStyle/>
                    <a:p>
                      <a:pPr algn="r" latinLnBrk="0"/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졸업 고등학교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latinLnBrk="0"/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7511238"/>
                  </a:ext>
                </a:extLst>
              </a:tr>
              <a:tr h="229955">
                <a:tc>
                  <a:txBody>
                    <a:bodyPr/>
                    <a:lstStyle/>
                    <a:p>
                      <a:pPr algn="r" latinLnBrk="0"/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재학 대학교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latinLnBrk="0"/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4276378"/>
                  </a:ext>
                </a:extLst>
              </a:tr>
              <a:tr h="229955">
                <a:tc>
                  <a:txBody>
                    <a:bodyPr/>
                    <a:lstStyle/>
                    <a:p>
                      <a:pPr algn="r" latinLnBrk="0"/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최종전입일자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335567"/>
                  </a:ext>
                </a:extLst>
              </a:tr>
              <a:tr h="229955">
                <a:tc rowSpan="3">
                  <a:txBody>
                    <a:bodyPr/>
                    <a:lstStyle/>
                    <a:p>
                      <a:pPr algn="r" latinLnBrk="0"/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주소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162364"/>
                  </a:ext>
                </a:extLst>
              </a:tr>
              <a:tr h="229955">
                <a:tc vMerge="1">
                  <a:txBody>
                    <a:bodyPr/>
                    <a:lstStyle/>
                    <a:p>
                      <a:pPr algn="r" latinLnBrk="0"/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5576740"/>
                  </a:ext>
                </a:extLst>
              </a:tr>
              <a:tr h="229955">
                <a:tc vMerge="1">
                  <a:txBody>
                    <a:bodyPr/>
                    <a:lstStyle/>
                    <a:p>
                      <a:pPr algn="r" latinLnBrk="0"/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latinLnBrk="0"/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515371"/>
                  </a:ext>
                </a:extLst>
              </a:tr>
            </a:tbl>
          </a:graphicData>
        </a:graphic>
      </p:graphicFrame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CE7A1015-EA16-0D85-0BC1-2FDD386352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8517736"/>
              </p:ext>
            </p:extLst>
          </p:nvPr>
        </p:nvGraphicFramePr>
        <p:xfrm>
          <a:off x="273050" y="5949627"/>
          <a:ext cx="6516688" cy="699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85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8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3308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은행명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308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예금주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홍이삭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308">
                <a:tc>
                  <a:txBody>
                    <a:bodyPr/>
                    <a:lstStyle/>
                    <a:p>
                      <a:pPr algn="r" latinLnBrk="0"/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계좌번호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2" name="직사각형 41">
            <a:extLst>
              <a:ext uri="{FF2B5EF4-FFF2-40B4-BE49-F238E27FC236}">
                <a16:creationId xmlns:a16="http://schemas.microsoft.com/office/drawing/2014/main" id="{090D0BD4-3EE9-9872-D57C-ED82B05317D7}"/>
              </a:ext>
            </a:extLst>
          </p:cNvPr>
          <p:cNvSpPr/>
          <p:nvPr/>
        </p:nvSpPr>
        <p:spPr>
          <a:xfrm>
            <a:off x="287103" y="5769260"/>
            <a:ext cx="755015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800" b="1" dirty="0">
                <a:solidFill>
                  <a:prstClr val="black"/>
                </a:solidFill>
              </a:rPr>
              <a:t>신청자 계좌정보</a:t>
            </a:r>
          </a:p>
        </p:txBody>
      </p:sp>
      <p:pic>
        <p:nvPicPr>
          <p:cNvPr id="43" name="Picture 13">
            <a:extLst>
              <a:ext uri="{FF2B5EF4-FFF2-40B4-BE49-F238E27FC236}">
                <a16:creationId xmlns:a16="http://schemas.microsoft.com/office/drawing/2014/main" id="{5829F272-F7F9-DE3D-C482-2DBB76E8B7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9495" y="3904134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4" name="직사각형 43">
            <a:extLst>
              <a:ext uri="{FF2B5EF4-FFF2-40B4-BE49-F238E27FC236}">
                <a16:creationId xmlns:a16="http://schemas.microsoft.com/office/drawing/2014/main" id="{56A32ED9-525E-DB6F-E294-C0DD22840E86}"/>
              </a:ext>
            </a:extLst>
          </p:cNvPr>
          <p:cNvSpPr/>
          <p:nvPr/>
        </p:nvSpPr>
        <p:spPr>
          <a:xfrm>
            <a:off x="1239605" y="3904398"/>
            <a:ext cx="35765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2008</a:t>
            </a: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년</a:t>
            </a:r>
          </a:p>
        </p:txBody>
      </p:sp>
      <p:pic>
        <p:nvPicPr>
          <p:cNvPr id="46" name="Picture 13">
            <a:extLst>
              <a:ext uri="{FF2B5EF4-FFF2-40B4-BE49-F238E27FC236}">
                <a16:creationId xmlns:a16="http://schemas.microsoft.com/office/drawing/2014/main" id="{BB957E2A-DE06-2500-A209-FE68AF6A8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0225" y="3904134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7" name="직사각형 46">
            <a:extLst>
              <a:ext uri="{FF2B5EF4-FFF2-40B4-BE49-F238E27FC236}">
                <a16:creationId xmlns:a16="http://schemas.microsoft.com/office/drawing/2014/main" id="{AD44AB80-90E8-D979-6C76-993EC6734B23}"/>
              </a:ext>
            </a:extLst>
          </p:cNvPr>
          <p:cNvSpPr/>
          <p:nvPr/>
        </p:nvSpPr>
        <p:spPr>
          <a:xfrm>
            <a:off x="1765573" y="3904398"/>
            <a:ext cx="295578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01</a:t>
            </a: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월</a:t>
            </a:r>
          </a:p>
        </p:txBody>
      </p:sp>
      <p:pic>
        <p:nvPicPr>
          <p:cNvPr id="48" name="Picture 13">
            <a:extLst>
              <a:ext uri="{FF2B5EF4-FFF2-40B4-BE49-F238E27FC236}">
                <a16:creationId xmlns:a16="http://schemas.microsoft.com/office/drawing/2014/main" id="{72D17ED4-BF66-B414-B6F9-C4509CE957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2078" y="3904134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9" name="직사각형 48">
            <a:extLst>
              <a:ext uri="{FF2B5EF4-FFF2-40B4-BE49-F238E27FC236}">
                <a16:creationId xmlns:a16="http://schemas.microsoft.com/office/drawing/2014/main" id="{2980E230-76C0-ACF4-0BE1-82153F0DC0C9}"/>
              </a:ext>
            </a:extLst>
          </p:cNvPr>
          <p:cNvSpPr/>
          <p:nvPr/>
        </p:nvSpPr>
        <p:spPr>
          <a:xfrm>
            <a:off x="2237426" y="3904398"/>
            <a:ext cx="295578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01</a:t>
            </a: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일</a:t>
            </a:r>
          </a:p>
        </p:txBody>
      </p:sp>
      <p:pic>
        <p:nvPicPr>
          <p:cNvPr id="50" name="Picture 13">
            <a:extLst>
              <a:ext uri="{FF2B5EF4-FFF2-40B4-BE49-F238E27FC236}">
                <a16:creationId xmlns:a16="http://schemas.microsoft.com/office/drawing/2014/main" id="{5B8E6087-0D12-9893-1474-A85B6C223A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6236" y="3910750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1" name="직사각형 50">
            <a:extLst>
              <a:ext uri="{FF2B5EF4-FFF2-40B4-BE49-F238E27FC236}">
                <a16:creationId xmlns:a16="http://schemas.microsoft.com/office/drawing/2014/main" id="{E89BE7DB-62A9-F050-2886-683F9A9356D8}"/>
              </a:ext>
            </a:extLst>
          </p:cNvPr>
          <p:cNvSpPr/>
          <p:nvPr/>
        </p:nvSpPr>
        <p:spPr>
          <a:xfrm>
            <a:off x="4605112" y="3911014"/>
            <a:ext cx="245885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010</a:t>
            </a:r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D9964535-CC0D-8DDB-F314-C78157E044E6}"/>
              </a:ext>
            </a:extLst>
          </p:cNvPr>
          <p:cNvSpPr/>
          <p:nvPr/>
        </p:nvSpPr>
        <p:spPr>
          <a:xfrm>
            <a:off x="5107225" y="3911014"/>
            <a:ext cx="325136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1234</a:t>
            </a:r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F178E4CE-6CD9-B6D9-E15D-3DE1196780AD}"/>
              </a:ext>
            </a:extLst>
          </p:cNvPr>
          <p:cNvSpPr/>
          <p:nvPr/>
        </p:nvSpPr>
        <p:spPr>
          <a:xfrm>
            <a:off x="5046128" y="3921202"/>
            <a:ext cx="36869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ko-KR" sz="700" dirty="0">
                <a:solidFill>
                  <a:prstClr val="black"/>
                </a:solidFill>
              </a:rPr>
              <a:t>-</a:t>
            </a:r>
            <a:endParaRPr lang="ko-KR" altLang="en-US" sz="700" dirty="0">
              <a:solidFill>
                <a:prstClr val="black"/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F59ABF61-F166-A587-17F8-788401408F1C}"/>
              </a:ext>
            </a:extLst>
          </p:cNvPr>
          <p:cNvSpPr/>
          <p:nvPr/>
        </p:nvSpPr>
        <p:spPr>
          <a:xfrm>
            <a:off x="5463065" y="3929153"/>
            <a:ext cx="36869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ko-KR" sz="700" dirty="0">
                <a:solidFill>
                  <a:prstClr val="black"/>
                </a:solidFill>
              </a:rPr>
              <a:t>-</a:t>
            </a:r>
            <a:endParaRPr lang="ko-KR" altLang="en-US" sz="700" dirty="0">
              <a:solidFill>
                <a:prstClr val="black"/>
              </a:solidFill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1B7E61D5-C818-1EBC-1A42-5D68AC9D590A}"/>
              </a:ext>
            </a:extLst>
          </p:cNvPr>
          <p:cNvSpPr/>
          <p:nvPr/>
        </p:nvSpPr>
        <p:spPr>
          <a:xfrm>
            <a:off x="5530638" y="3911014"/>
            <a:ext cx="325136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5678</a:t>
            </a:r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53A4698D-D8E9-2B8F-5A59-3C7F18EF5487}"/>
              </a:ext>
            </a:extLst>
          </p:cNvPr>
          <p:cNvSpPr/>
          <p:nvPr/>
        </p:nvSpPr>
        <p:spPr>
          <a:xfrm>
            <a:off x="1258157" y="4372166"/>
            <a:ext cx="864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오산고등학교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174E0CA7-BCE4-DE62-B656-46CA6026A0EF}"/>
              </a:ext>
            </a:extLst>
          </p:cNvPr>
          <p:cNvSpPr/>
          <p:nvPr/>
        </p:nvSpPr>
        <p:spPr>
          <a:xfrm>
            <a:off x="1545462" y="4596141"/>
            <a:ext cx="648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r>
              <a:rPr lang="ko-KR" altLang="en-US" sz="7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오산대학교</a:t>
            </a:r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F4D1A59F-29D5-FC35-53CE-B45DBE2F0AA8}"/>
              </a:ext>
            </a:extLst>
          </p:cNvPr>
          <p:cNvGrpSpPr/>
          <p:nvPr/>
        </p:nvGrpSpPr>
        <p:grpSpPr>
          <a:xfrm>
            <a:off x="1573419" y="4136995"/>
            <a:ext cx="236445" cy="144462"/>
            <a:chOff x="2716253" y="2405617"/>
            <a:chExt cx="236445" cy="144462"/>
          </a:xfrm>
        </p:grpSpPr>
        <p:sp>
          <p:nvSpPr>
            <p:cNvPr id="59" name="Rectangle 191">
              <a:extLst>
                <a:ext uri="{FF2B5EF4-FFF2-40B4-BE49-F238E27FC236}">
                  <a16:creationId xmlns:a16="http://schemas.microsoft.com/office/drawing/2014/main" id="{4F40CED8-6CD8-8F96-6517-E2DF6112B6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89768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여</a:t>
              </a:r>
            </a:p>
          </p:txBody>
        </p:sp>
        <p:graphicFrame>
          <p:nvGraphicFramePr>
            <p:cNvPr id="60" name="개체 59">
              <a:extLst>
                <a:ext uri="{FF2B5EF4-FFF2-40B4-BE49-F238E27FC236}">
                  <a16:creationId xmlns:a16="http://schemas.microsoft.com/office/drawing/2014/main" id="{1FA25D9B-5F33-CB25-A120-D1237F83008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145435" imgH="145435" progId="Visio.Drawing.11">
                    <p:embed/>
                  </p:oleObj>
                </mc:Choice>
                <mc:Fallback>
                  <p:oleObj name="Visio" r:id="rId4" imgW="145435" imgH="145435" progId="Visio.Drawing.11">
                    <p:embed/>
                    <p:pic>
                      <p:nvPicPr>
                        <p:cNvPr id="1026" name="개체 1025">
                          <a:extLst>
                            <a:ext uri="{FF2B5EF4-FFF2-40B4-BE49-F238E27FC236}">
                              <a16:creationId xmlns:a16="http://schemas.microsoft.com/office/drawing/2014/main" id="{FABDFCD1-8953-5022-F4BB-7990F1BD26B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A3487FBF-E97D-7CEC-BA67-34D41D5396CE}"/>
              </a:ext>
            </a:extLst>
          </p:cNvPr>
          <p:cNvGrpSpPr/>
          <p:nvPr/>
        </p:nvGrpSpPr>
        <p:grpSpPr>
          <a:xfrm>
            <a:off x="1249383" y="4142881"/>
            <a:ext cx="237128" cy="144463"/>
            <a:chOff x="2864768" y="2513669"/>
            <a:chExt cx="237128" cy="144463"/>
          </a:xfrm>
        </p:grpSpPr>
        <p:sp>
          <p:nvSpPr>
            <p:cNvPr id="62" name="Rectangle 191">
              <a:extLst>
                <a:ext uri="{FF2B5EF4-FFF2-40B4-BE49-F238E27FC236}">
                  <a16:creationId xmlns:a16="http://schemas.microsoft.com/office/drawing/2014/main" id="{AB6E2DDD-91CC-842F-A6F7-639DFFECE1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2128" y="2526153"/>
              <a:ext cx="89768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남</a:t>
              </a:r>
            </a:p>
          </p:txBody>
        </p:sp>
        <p:graphicFrame>
          <p:nvGraphicFramePr>
            <p:cNvPr id="63" name="개체 62">
              <a:extLst>
                <a:ext uri="{FF2B5EF4-FFF2-40B4-BE49-F238E27FC236}">
                  <a16:creationId xmlns:a16="http://schemas.microsoft.com/office/drawing/2014/main" id="{5AECF371-CB07-53BF-BD76-40EFDFD9FD7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51761245"/>
                </p:ext>
              </p:extLst>
            </p:nvPr>
          </p:nvGraphicFramePr>
          <p:xfrm>
            <a:off x="2864768" y="2513669"/>
            <a:ext cx="144462" cy="144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6" imgW="145435" imgH="145435" progId="Visio.Drawing.11">
                    <p:embed/>
                  </p:oleObj>
                </mc:Choice>
                <mc:Fallback>
                  <p:oleObj name="Visio" r:id="rId6" imgW="145435" imgH="145435" progId="Visio.Drawing.11">
                    <p:embed/>
                    <p:pic>
                      <p:nvPicPr>
                        <p:cNvPr id="1030" name="개체 1029">
                          <a:extLst>
                            <a:ext uri="{FF2B5EF4-FFF2-40B4-BE49-F238E27FC236}">
                              <a16:creationId xmlns:a16="http://schemas.microsoft.com/office/drawing/2014/main" id="{950D58BD-80C8-5573-46F1-A9C74178533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64768" y="2513669"/>
                          <a:ext cx="144462" cy="1444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777A4C67-1B9F-80AE-F906-E10D120A054C}"/>
              </a:ext>
            </a:extLst>
          </p:cNvPr>
          <p:cNvSpPr/>
          <p:nvPr/>
        </p:nvSpPr>
        <p:spPr>
          <a:xfrm>
            <a:off x="4605111" y="3679751"/>
            <a:ext cx="864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홍길동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3592D196-801C-2128-1BD5-6E11318173B0}"/>
              </a:ext>
            </a:extLst>
          </p:cNvPr>
          <p:cNvSpPr/>
          <p:nvPr/>
        </p:nvSpPr>
        <p:spPr>
          <a:xfrm>
            <a:off x="1776522" y="5048705"/>
            <a:ext cx="622908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우편번호 찾기</a:t>
            </a:r>
            <a:endParaRPr lang="ko-KR" altLang="en-US" sz="7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866FD7D0-A138-DF4D-4FF4-769FD2F4AE0A}"/>
              </a:ext>
            </a:extLst>
          </p:cNvPr>
          <p:cNvSpPr/>
          <p:nvPr/>
        </p:nvSpPr>
        <p:spPr>
          <a:xfrm>
            <a:off x="1253020" y="5049309"/>
            <a:ext cx="476033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18131</a:t>
            </a:r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2F507B21-0C86-62A4-7876-EC619AF5EAFC}"/>
              </a:ext>
            </a:extLst>
          </p:cNvPr>
          <p:cNvSpPr/>
          <p:nvPr/>
        </p:nvSpPr>
        <p:spPr>
          <a:xfrm>
            <a:off x="1253020" y="5283549"/>
            <a:ext cx="2423496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경기 오산시 </a:t>
            </a:r>
            <a:r>
              <a:rPr lang="ko-KR" altLang="en-US" sz="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현충로</a:t>
            </a:r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0556E6B1-7880-634D-09D0-F6760C2E718B}"/>
              </a:ext>
            </a:extLst>
          </p:cNvPr>
          <p:cNvSpPr/>
          <p:nvPr/>
        </p:nvSpPr>
        <p:spPr>
          <a:xfrm>
            <a:off x="1253020" y="5517248"/>
            <a:ext cx="2423496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오산아파트 </a:t>
            </a:r>
            <a:r>
              <a:rPr lang="en-US" altLang="ko-KR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101</a:t>
            </a:r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 </a:t>
            </a:r>
            <a:r>
              <a:rPr lang="en-US" altLang="ko-KR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203</a:t>
            </a:r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23DF6F1A-682F-47FD-2BDA-191ACFBBD6C2}"/>
              </a:ext>
            </a:extLst>
          </p:cNvPr>
          <p:cNvSpPr/>
          <p:nvPr/>
        </p:nvSpPr>
        <p:spPr>
          <a:xfrm>
            <a:off x="3735858" y="5309382"/>
            <a:ext cx="307777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60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기본주소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D7513B19-C8B4-F491-53B5-7A877384EECE}"/>
              </a:ext>
            </a:extLst>
          </p:cNvPr>
          <p:cNvSpPr/>
          <p:nvPr/>
        </p:nvSpPr>
        <p:spPr>
          <a:xfrm>
            <a:off x="3735858" y="5543081"/>
            <a:ext cx="307777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상세주소</a:t>
            </a:r>
          </a:p>
        </p:txBody>
      </p:sp>
      <p:pic>
        <p:nvPicPr>
          <p:cNvPr id="71" name="Picture 13">
            <a:extLst>
              <a:ext uri="{FF2B5EF4-FFF2-40B4-BE49-F238E27FC236}">
                <a16:creationId xmlns:a16="http://schemas.microsoft.com/office/drawing/2014/main" id="{19973B5E-1A82-AA52-F700-EE4969CD29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3929" y="5987910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3" name="직사각형 72">
            <a:extLst>
              <a:ext uri="{FF2B5EF4-FFF2-40B4-BE49-F238E27FC236}">
                <a16:creationId xmlns:a16="http://schemas.microsoft.com/office/drawing/2014/main" id="{6ABE75A4-F054-2AF1-A1A3-62A7BFC8857A}"/>
              </a:ext>
            </a:extLst>
          </p:cNvPr>
          <p:cNvSpPr/>
          <p:nvPr/>
        </p:nvSpPr>
        <p:spPr>
          <a:xfrm>
            <a:off x="1239605" y="5988174"/>
            <a:ext cx="684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국민은행</a:t>
            </a: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5616E661-B8F7-7CDA-8945-D69B602E4112}"/>
              </a:ext>
            </a:extLst>
          </p:cNvPr>
          <p:cNvSpPr/>
          <p:nvPr/>
        </p:nvSpPr>
        <p:spPr>
          <a:xfrm>
            <a:off x="1244828" y="6456943"/>
            <a:ext cx="1584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r>
              <a:rPr lang="en-US" altLang="ko-KR" sz="7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123-12-1234567</a:t>
            </a:r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77" name="Rectangle 191">
            <a:extLst>
              <a:ext uri="{FF2B5EF4-FFF2-40B4-BE49-F238E27FC236}">
                <a16:creationId xmlns:a16="http://schemas.microsoft.com/office/drawing/2014/main" id="{BC2303EE-BCEF-D3EF-5311-321647BAE4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157" y="4613210"/>
            <a:ext cx="269304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대학교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BF47A3AD-5B6F-690E-DE0D-C32E0FB4E6EE}"/>
              </a:ext>
            </a:extLst>
          </p:cNvPr>
          <p:cNvSpPr/>
          <p:nvPr/>
        </p:nvSpPr>
        <p:spPr>
          <a:xfrm>
            <a:off x="2473131" y="4596712"/>
            <a:ext cx="648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r>
              <a:rPr lang="ko-KR" altLang="en-US" sz="7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경영학과</a:t>
            </a:r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79" name="Rectangle 191">
            <a:extLst>
              <a:ext uri="{FF2B5EF4-FFF2-40B4-BE49-F238E27FC236}">
                <a16:creationId xmlns:a16="http://schemas.microsoft.com/office/drawing/2014/main" id="{4D49261A-AE5D-0956-A35B-7DA5171AD3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7495" y="4621732"/>
            <a:ext cx="17953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학과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B3C5B71E-05B3-CD45-1EB9-FCEDB9575426}"/>
              </a:ext>
            </a:extLst>
          </p:cNvPr>
          <p:cNvSpPr/>
          <p:nvPr/>
        </p:nvSpPr>
        <p:spPr>
          <a:xfrm>
            <a:off x="4139025" y="4596712"/>
            <a:ext cx="648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r>
              <a:rPr lang="en-US" altLang="ko-KR" sz="7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2512345</a:t>
            </a:r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81" name="Rectangle 191">
            <a:extLst>
              <a:ext uri="{FF2B5EF4-FFF2-40B4-BE49-F238E27FC236}">
                <a16:creationId xmlns:a16="http://schemas.microsoft.com/office/drawing/2014/main" id="{8B822A7C-B78B-F12F-419C-3B2EBF3DA5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3389" y="4621732"/>
            <a:ext cx="17953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학번</a:t>
            </a:r>
          </a:p>
        </p:txBody>
      </p:sp>
      <p:pic>
        <p:nvPicPr>
          <p:cNvPr id="82" name="Picture 13">
            <a:extLst>
              <a:ext uri="{FF2B5EF4-FFF2-40B4-BE49-F238E27FC236}">
                <a16:creationId xmlns:a16="http://schemas.microsoft.com/office/drawing/2014/main" id="{10E515F3-4564-DB29-3BC5-7903C19390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1417" y="4595877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3" name="직사각형 82">
            <a:extLst>
              <a:ext uri="{FF2B5EF4-FFF2-40B4-BE49-F238E27FC236}">
                <a16:creationId xmlns:a16="http://schemas.microsoft.com/office/drawing/2014/main" id="{3B84E1B2-CACF-A3A2-CB4C-A6BF5121A620}"/>
              </a:ext>
            </a:extLst>
          </p:cNvPr>
          <p:cNvSpPr/>
          <p:nvPr/>
        </p:nvSpPr>
        <p:spPr>
          <a:xfrm>
            <a:off x="3406416" y="4596141"/>
            <a:ext cx="295578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2</a:t>
            </a: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학년</a:t>
            </a:r>
          </a:p>
        </p:txBody>
      </p:sp>
      <p:grpSp>
        <p:nvGrpSpPr>
          <p:cNvPr id="84" name="그룹 83">
            <a:extLst>
              <a:ext uri="{FF2B5EF4-FFF2-40B4-BE49-F238E27FC236}">
                <a16:creationId xmlns:a16="http://schemas.microsoft.com/office/drawing/2014/main" id="{ACE35EBD-EFE4-971E-499E-030EED558F5D}"/>
              </a:ext>
            </a:extLst>
          </p:cNvPr>
          <p:cNvGrpSpPr/>
          <p:nvPr/>
        </p:nvGrpSpPr>
        <p:grpSpPr>
          <a:xfrm>
            <a:off x="267996" y="3254645"/>
            <a:ext cx="1651953" cy="144463"/>
            <a:chOff x="2156839" y="1593629"/>
            <a:chExt cx="1651953" cy="144463"/>
          </a:xfrm>
        </p:grpSpPr>
        <p:sp>
          <p:nvSpPr>
            <p:cNvPr id="85" name="Rectangle 191">
              <a:extLst>
                <a:ext uri="{FF2B5EF4-FFF2-40B4-BE49-F238E27FC236}">
                  <a16:creationId xmlns:a16="http://schemas.microsoft.com/office/drawing/2014/main" id="{441A2EDC-BC88-7111-F1E3-D4FDEF8BA6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9984" y="1614297"/>
              <a:ext cx="1498808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latinLnBrk="0">
                <a:defRPr/>
              </a:pPr>
              <a:r>
                <a:rPr lang="ko-KR" altLang="en-US" sz="700" b="1" kern="0" dirty="0">
                  <a:solidFill>
                    <a:srgbClr val="000000"/>
                  </a:solidFill>
                </a:rPr>
                <a:t>개인정보 수집 및 활용에 동의합니다</a:t>
              </a:r>
              <a:r>
                <a:rPr lang="en-US" altLang="ko-KR" sz="700" b="1" kern="0" dirty="0">
                  <a:solidFill>
                    <a:srgbClr val="000000"/>
                  </a:solidFill>
                </a:rPr>
                <a:t>.</a:t>
              </a:r>
              <a:endParaRPr lang="ko-KR" altLang="en-US" sz="700" b="1" kern="0" dirty="0">
                <a:solidFill>
                  <a:srgbClr val="000000"/>
                </a:solidFill>
              </a:endParaRPr>
            </a:p>
          </p:txBody>
        </p:sp>
        <p:graphicFrame>
          <p:nvGraphicFramePr>
            <p:cNvPr id="86" name="개체 85">
              <a:extLst>
                <a:ext uri="{FF2B5EF4-FFF2-40B4-BE49-F238E27FC236}">
                  <a16:creationId xmlns:a16="http://schemas.microsoft.com/office/drawing/2014/main" id="{9C97FDA8-30B0-8F62-F9D1-9DB340B5886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46926535"/>
                </p:ext>
              </p:extLst>
            </p:nvPr>
          </p:nvGraphicFramePr>
          <p:xfrm>
            <a:off x="2156839" y="1593629"/>
            <a:ext cx="144462" cy="144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8" imgW="145435" imgH="145435" progId="Visio.Drawing.11">
                    <p:embed/>
                  </p:oleObj>
                </mc:Choice>
                <mc:Fallback>
                  <p:oleObj name="Visio" r:id="rId8" imgW="145435" imgH="145435" progId="Visio.Drawing.11">
                    <p:embed/>
                    <p:pic>
                      <p:nvPicPr>
                        <p:cNvPr id="1086" name="개체 1085">
                          <a:extLst>
                            <a:ext uri="{FF2B5EF4-FFF2-40B4-BE49-F238E27FC236}">
                              <a16:creationId xmlns:a16="http://schemas.microsoft.com/office/drawing/2014/main" id="{9A6EC57D-2404-045A-ACD9-A11E28491F1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56839" y="1593629"/>
                          <a:ext cx="144462" cy="1444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7" name="Rectangle 191">
            <a:extLst>
              <a:ext uri="{FF2B5EF4-FFF2-40B4-BE49-F238E27FC236}">
                <a16:creationId xmlns:a16="http://schemas.microsoft.com/office/drawing/2014/main" id="{A7A6C2BB-77B2-1952-2853-778ACFBC5B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9848" y="4621732"/>
            <a:ext cx="17953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학년</a:t>
            </a:r>
          </a:p>
        </p:txBody>
      </p:sp>
      <p:pic>
        <p:nvPicPr>
          <p:cNvPr id="88" name="Picture 13">
            <a:extLst>
              <a:ext uri="{FF2B5EF4-FFF2-40B4-BE49-F238E27FC236}">
                <a16:creationId xmlns:a16="http://schemas.microsoft.com/office/drawing/2014/main" id="{4D4FEA85-42CD-E447-D594-5537C4F0AB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6236" y="4134024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9" name="직사각형 88">
            <a:extLst>
              <a:ext uri="{FF2B5EF4-FFF2-40B4-BE49-F238E27FC236}">
                <a16:creationId xmlns:a16="http://schemas.microsoft.com/office/drawing/2014/main" id="{EDB31BDF-C172-10A2-8AD7-6F55FC59EAA6}"/>
              </a:ext>
            </a:extLst>
          </p:cNvPr>
          <p:cNvSpPr/>
          <p:nvPr/>
        </p:nvSpPr>
        <p:spPr>
          <a:xfrm>
            <a:off x="4605112" y="4134288"/>
            <a:ext cx="245885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010</a:t>
            </a:r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83DFE660-1ED8-8238-9164-286482DB4E79}"/>
              </a:ext>
            </a:extLst>
          </p:cNvPr>
          <p:cNvSpPr/>
          <p:nvPr/>
        </p:nvSpPr>
        <p:spPr>
          <a:xfrm>
            <a:off x="5107225" y="4134288"/>
            <a:ext cx="325136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1234</a:t>
            </a:r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5249092F-AA68-962F-41D0-42344B618046}"/>
              </a:ext>
            </a:extLst>
          </p:cNvPr>
          <p:cNvSpPr/>
          <p:nvPr/>
        </p:nvSpPr>
        <p:spPr>
          <a:xfrm>
            <a:off x="5046128" y="4144476"/>
            <a:ext cx="36869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ko-KR" sz="700" dirty="0">
                <a:solidFill>
                  <a:prstClr val="black"/>
                </a:solidFill>
              </a:rPr>
              <a:t>-</a:t>
            </a:r>
            <a:endParaRPr lang="ko-KR" altLang="en-US" sz="700" dirty="0">
              <a:solidFill>
                <a:prstClr val="black"/>
              </a:solidFill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EC91ACFC-7C40-ACA2-C063-DBE2B2749535}"/>
              </a:ext>
            </a:extLst>
          </p:cNvPr>
          <p:cNvSpPr/>
          <p:nvPr/>
        </p:nvSpPr>
        <p:spPr>
          <a:xfrm>
            <a:off x="5463065" y="4152427"/>
            <a:ext cx="36869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ko-KR" sz="700" dirty="0">
                <a:solidFill>
                  <a:prstClr val="black"/>
                </a:solidFill>
              </a:rPr>
              <a:t>-</a:t>
            </a:r>
            <a:endParaRPr lang="ko-KR" altLang="en-US" sz="700" dirty="0">
              <a:solidFill>
                <a:prstClr val="black"/>
              </a:solidFill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40098970-16C7-7077-7A78-712BC416E3DE}"/>
              </a:ext>
            </a:extLst>
          </p:cNvPr>
          <p:cNvSpPr/>
          <p:nvPr/>
        </p:nvSpPr>
        <p:spPr>
          <a:xfrm>
            <a:off x="5530638" y="4134288"/>
            <a:ext cx="325136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5678</a:t>
            </a:r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51C8FB6E-C5AB-C616-9238-5465FA488A96}"/>
              </a:ext>
            </a:extLst>
          </p:cNvPr>
          <p:cNvSpPr>
            <a:spLocks noChangeAspect="1"/>
          </p:cNvSpPr>
          <p:nvPr/>
        </p:nvSpPr>
        <p:spPr>
          <a:xfrm>
            <a:off x="200472" y="2367200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7314F1D2-52B5-EF4B-D423-6133B795A52B}"/>
              </a:ext>
            </a:extLst>
          </p:cNvPr>
          <p:cNvSpPr>
            <a:spLocks noChangeAspect="1"/>
          </p:cNvSpPr>
          <p:nvPr/>
        </p:nvSpPr>
        <p:spPr>
          <a:xfrm>
            <a:off x="200472" y="3574268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5377FED5-346A-56B2-BFAF-FB7BEEFB8AF8}"/>
              </a:ext>
            </a:extLst>
          </p:cNvPr>
          <p:cNvSpPr>
            <a:spLocks noChangeAspect="1"/>
          </p:cNvSpPr>
          <p:nvPr/>
        </p:nvSpPr>
        <p:spPr>
          <a:xfrm>
            <a:off x="200472" y="5877288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5EC80A48-B743-CD27-BD5A-607663B3143F}"/>
              </a:ext>
            </a:extLst>
          </p:cNvPr>
          <p:cNvGrpSpPr/>
          <p:nvPr/>
        </p:nvGrpSpPr>
        <p:grpSpPr>
          <a:xfrm>
            <a:off x="1229119" y="4833622"/>
            <a:ext cx="3974981" cy="147301"/>
            <a:chOff x="1229119" y="4562220"/>
            <a:chExt cx="3974981" cy="147301"/>
          </a:xfrm>
        </p:grpSpPr>
        <p:sp>
          <p:nvSpPr>
            <p:cNvPr id="38" name="Rectangle 191">
              <a:extLst>
                <a:ext uri="{FF2B5EF4-FFF2-40B4-BE49-F238E27FC236}">
                  <a16:creationId xmlns:a16="http://schemas.microsoft.com/office/drawing/2014/main" id="{E17C6661-B047-74F5-9A61-E21EF218A0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9419" y="4589703"/>
              <a:ext cx="1644681" cy="923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공고일 기준 오산시 </a:t>
              </a:r>
              <a:r>
                <a:rPr kumimoji="0" lang="en-US" altLang="ko-KR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1</a:t>
              </a:r>
              <a:r>
                <a:rPr kumimoji="0" lang="ko-KR" altLang="en-US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년 이상 거주 확인 후 신청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B622D018-33C7-0B8B-D566-BD07C9B4498A}"/>
                </a:ext>
              </a:extLst>
            </p:cNvPr>
            <p:cNvGrpSpPr/>
            <p:nvPr/>
          </p:nvGrpSpPr>
          <p:grpSpPr>
            <a:xfrm>
              <a:off x="1588840" y="4563639"/>
              <a:ext cx="415981" cy="144462"/>
              <a:chOff x="2716253" y="2405617"/>
              <a:chExt cx="415981" cy="144462"/>
            </a:xfrm>
          </p:grpSpPr>
          <p:sp>
            <p:nvSpPr>
              <p:cNvPr id="100" name="Rectangle 191">
                <a:extLst>
                  <a:ext uri="{FF2B5EF4-FFF2-40B4-BE49-F238E27FC236}">
                    <a16:creationId xmlns:a16="http://schemas.microsoft.com/office/drawing/2014/main" id="{2AEF64F7-1DB7-E00D-1CF4-3E0A900BFA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62930" y="2423987"/>
                <a:ext cx="269304" cy="10772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EAEAEA"/>
                    </a:solidFill>
                  </a14:hiddenFill>
                </a:ext>
                <a:ext uri="{91240B29-F687-4F45-9708-019B960494DF}">
                  <a14:hiddenLine xmlns:a14="http://schemas.microsoft.com/office/drawing/2010/main" w="635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7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보호자</a:t>
                </a:r>
              </a:p>
            </p:txBody>
          </p:sp>
          <p:graphicFrame>
            <p:nvGraphicFramePr>
              <p:cNvPr id="101" name="개체 100">
                <a:extLst>
                  <a:ext uri="{FF2B5EF4-FFF2-40B4-BE49-F238E27FC236}">
                    <a16:creationId xmlns:a16="http://schemas.microsoft.com/office/drawing/2014/main" id="{AE9B9BF5-30B2-EA0E-DCC4-2585FAC37BE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716253" y="2405617"/>
              <a:ext cx="144462" cy="1444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Visio" r:id="rId4" imgW="145435" imgH="145435" progId="Visio.Drawing.11">
                      <p:embed/>
                    </p:oleObj>
                  </mc:Choice>
                  <mc:Fallback>
                    <p:oleObj name="Visio" r:id="rId4" imgW="145435" imgH="145435" progId="Visio.Drawing.11">
                      <p:embed/>
                      <p:pic>
                        <p:nvPicPr>
                          <p:cNvPr id="40" name="개체 39">
                            <a:extLst>
                              <a:ext uri="{FF2B5EF4-FFF2-40B4-BE49-F238E27FC236}">
                                <a16:creationId xmlns:a16="http://schemas.microsoft.com/office/drawing/2014/main" id="{799E54F7-3588-2E91-64C5-87A8C14BC80D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16253" y="2405617"/>
                            <a:ext cx="144462" cy="1444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EAEAEA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6350" algn="ctr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CECA7DC2-1E54-E53C-001A-2C282E9AFAF6}"/>
                </a:ext>
              </a:extLst>
            </p:cNvPr>
            <p:cNvGrpSpPr/>
            <p:nvPr/>
          </p:nvGrpSpPr>
          <p:grpSpPr>
            <a:xfrm>
              <a:off x="1229119" y="4563639"/>
              <a:ext cx="326896" cy="144463"/>
              <a:chOff x="2864768" y="2513669"/>
              <a:chExt cx="326896" cy="144463"/>
            </a:xfrm>
          </p:grpSpPr>
          <p:sp>
            <p:nvSpPr>
              <p:cNvPr id="98" name="Rectangle 191">
                <a:extLst>
                  <a:ext uri="{FF2B5EF4-FFF2-40B4-BE49-F238E27FC236}">
                    <a16:creationId xmlns:a16="http://schemas.microsoft.com/office/drawing/2014/main" id="{F5A7F2EE-6E07-36BD-A217-47ACAA2C90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12128" y="2526153"/>
                <a:ext cx="179536" cy="10772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EAEAEA"/>
                    </a:solidFill>
                  </a14:hiddenFill>
                </a:ext>
                <a:ext uri="{91240B29-F687-4F45-9708-019B960494DF}">
                  <a14:hiddenLine xmlns:a14="http://schemas.microsoft.com/office/drawing/2010/main" w="635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7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본인</a:t>
                </a:r>
              </a:p>
            </p:txBody>
          </p:sp>
          <p:graphicFrame>
            <p:nvGraphicFramePr>
              <p:cNvPr id="99" name="개체 98">
                <a:extLst>
                  <a:ext uri="{FF2B5EF4-FFF2-40B4-BE49-F238E27FC236}">
                    <a16:creationId xmlns:a16="http://schemas.microsoft.com/office/drawing/2014/main" id="{04F1EA18-A0E5-CA74-0854-04E0267F10E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82542839"/>
                  </p:ext>
                </p:extLst>
              </p:nvPr>
            </p:nvGraphicFramePr>
            <p:xfrm>
              <a:off x="2864768" y="2513669"/>
              <a:ext cx="144462" cy="1444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Visio" r:id="rId6" imgW="145435" imgH="145435" progId="Visio.Drawing.11">
                      <p:embed/>
                    </p:oleObj>
                  </mc:Choice>
                  <mc:Fallback>
                    <p:oleObj name="Visio" r:id="rId6" imgW="145435" imgH="145435" progId="Visio.Drawing.11">
                      <p:embed/>
                      <p:pic>
                        <p:nvPicPr>
                          <p:cNvPr id="88" name="개체 87">
                            <a:extLst>
                              <a:ext uri="{FF2B5EF4-FFF2-40B4-BE49-F238E27FC236}">
                                <a16:creationId xmlns:a16="http://schemas.microsoft.com/office/drawing/2014/main" id="{490D6870-FF18-48BF-A6DB-37DAA685FF30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64768" y="2513669"/>
                            <a:ext cx="144462" cy="14446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EAEAEA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6350" algn="ctr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pic>
          <p:nvPicPr>
            <p:cNvPr id="41" name="Picture 13">
              <a:extLst>
                <a:ext uri="{FF2B5EF4-FFF2-40B4-BE49-F238E27FC236}">
                  <a16:creationId xmlns:a16="http://schemas.microsoft.com/office/drawing/2014/main" id="{CDFD64E2-D807-A6B0-F9A8-1FCC39BA3D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09851" y="4562220"/>
              <a:ext cx="154667" cy="147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971270E4-CD73-D3E6-935B-C327C7B40CB1}"/>
                </a:ext>
              </a:extLst>
            </p:cNvPr>
            <p:cNvSpPr/>
            <p:nvPr/>
          </p:nvSpPr>
          <p:spPr>
            <a:xfrm>
              <a:off x="2049961" y="4563870"/>
              <a:ext cx="35765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prstClr val="black">
                      <a:lumMod val="95000"/>
                      <a:lumOff val="5000"/>
                    </a:prstClr>
                  </a:solidFill>
                </a:rPr>
                <a:t>2008</a:t>
              </a:r>
              <a:r>
                <a:rPr lang="ko-KR" altLang="en-US" sz="700" dirty="0">
                  <a:solidFill>
                    <a:prstClr val="black">
                      <a:lumMod val="95000"/>
                      <a:lumOff val="5000"/>
                    </a:prstClr>
                  </a:solidFill>
                </a:rPr>
                <a:t>년</a:t>
              </a:r>
            </a:p>
          </p:txBody>
        </p:sp>
        <p:pic>
          <p:nvPicPr>
            <p:cNvPr id="94" name="Picture 13">
              <a:extLst>
                <a:ext uri="{FF2B5EF4-FFF2-40B4-BE49-F238E27FC236}">
                  <a16:creationId xmlns:a16="http://schemas.microsoft.com/office/drawing/2014/main" id="{5B016CB9-91EA-B064-AA00-58A0F31E2B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0581" y="4562220"/>
              <a:ext cx="154667" cy="147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9AC7C27D-440C-EAF4-F448-761EE6C8F9CC}"/>
                </a:ext>
              </a:extLst>
            </p:cNvPr>
            <p:cNvSpPr/>
            <p:nvPr/>
          </p:nvSpPr>
          <p:spPr>
            <a:xfrm>
              <a:off x="2575929" y="4563870"/>
              <a:ext cx="295578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prstClr val="black">
                      <a:lumMod val="95000"/>
                      <a:lumOff val="5000"/>
                    </a:prstClr>
                  </a:solidFill>
                </a:rPr>
                <a:t>01</a:t>
              </a:r>
              <a:r>
                <a:rPr lang="ko-KR" altLang="en-US" sz="700" dirty="0">
                  <a:solidFill>
                    <a:prstClr val="black">
                      <a:lumMod val="95000"/>
                      <a:lumOff val="5000"/>
                    </a:prstClr>
                  </a:solidFill>
                </a:rPr>
                <a:t>월</a:t>
              </a:r>
            </a:p>
          </p:txBody>
        </p:sp>
        <p:pic>
          <p:nvPicPr>
            <p:cNvPr id="96" name="Picture 13">
              <a:extLst>
                <a:ext uri="{FF2B5EF4-FFF2-40B4-BE49-F238E27FC236}">
                  <a16:creationId xmlns:a16="http://schemas.microsoft.com/office/drawing/2014/main" id="{E8A6133E-846B-D669-1F8C-4244E4B23F4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2434" y="4562220"/>
              <a:ext cx="154667" cy="147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022FEEE7-CDE4-C6AB-99CD-292F885B62C8}"/>
                </a:ext>
              </a:extLst>
            </p:cNvPr>
            <p:cNvSpPr/>
            <p:nvPr/>
          </p:nvSpPr>
          <p:spPr>
            <a:xfrm>
              <a:off x="3047782" y="4563870"/>
              <a:ext cx="295578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prstClr val="black">
                      <a:lumMod val="95000"/>
                      <a:lumOff val="5000"/>
                    </a:prstClr>
                  </a:solidFill>
                </a:rPr>
                <a:t>01</a:t>
              </a:r>
              <a:r>
                <a:rPr lang="ko-KR" altLang="en-US" sz="700" dirty="0">
                  <a:solidFill>
                    <a:prstClr val="black">
                      <a:lumMod val="95000"/>
                      <a:lumOff val="5000"/>
                    </a:prstClr>
                  </a:solidFill>
                </a:rPr>
                <a:t>일</a:t>
              </a:r>
            </a:p>
          </p:txBody>
        </p:sp>
      </p:grp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67D6297D-A395-9090-E56E-8D6A6930DB1F}"/>
              </a:ext>
            </a:extLst>
          </p:cNvPr>
          <p:cNvSpPr/>
          <p:nvPr/>
        </p:nvSpPr>
        <p:spPr>
          <a:xfrm>
            <a:off x="274303" y="4791093"/>
            <a:ext cx="6504713" cy="21600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387829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CC071-B0DB-E3F7-35CF-E50EFA97A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C0464EE-0F5C-3B49-F613-8CA86A44E7FA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고등학생장학금 신청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B085683-7122-68A0-B25A-0D6F96B6D09F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프로그램신청관리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고등학생장학금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장학금신청</a:t>
            </a: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E2209159-09DE-0D5C-7FFF-1112F48110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2473102"/>
              </p:ext>
            </p:extLst>
          </p:nvPr>
        </p:nvGraphicFramePr>
        <p:xfrm>
          <a:off x="6969418" y="2548005"/>
          <a:ext cx="2772114" cy="2850760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구분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대학생 장학금 표시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제목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회원이 신청한 공고의 제목을 표시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접수기간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회원이 신청한 공고의 접수기간을 표시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전형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선택 시 전형별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공통 제출 서류 항목이 달라 진다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우수인재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성적증빙자료</a:t>
                      </a:r>
                      <a:endParaRPr kumimoji="1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희망인재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건강보험료납입증명서 부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모</a:t>
                      </a: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근로자자녀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기업체 재직 증명서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가족관계증명서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한국노총오산시지부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 장학생 추천서</a:t>
                      </a: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다자녀가정자녀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지방세 세목별 과세증명서 본인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부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모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건강보험료 납입증명서 부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모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가족관계증명서</a:t>
                      </a: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다문화가정자녀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가족관계증명서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기본증명서</a:t>
                      </a: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지역인재육성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일반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) :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성적증빙자료</a:t>
                      </a:r>
                      <a:endParaRPr kumimoji="1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지역인재육성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만학도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) :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성적증빙자료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전형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우수인재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전형별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성적증빙자료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성적증빙자료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성적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신청 회원의 성적을 입력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첨부 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: [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제출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클릭 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제출 서류 파일 선택 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첨부완료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받기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클릭 시 첨부된 제출 서류 파일 다운로드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EE46BFF7-9C46-2873-601E-324913BA4996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pau_application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939D5F6-764A-CABB-0FE2-700B55898127}"/>
              </a:ext>
            </a:extLst>
          </p:cNvPr>
          <p:cNvSpPr/>
          <p:nvPr/>
        </p:nvSpPr>
        <p:spPr>
          <a:xfrm>
            <a:off x="165100" y="1376363"/>
            <a:ext cx="6732116" cy="460414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D7B96D3-F1B2-3932-5ABE-3EE5B9766FC6}"/>
              </a:ext>
            </a:extLst>
          </p:cNvPr>
          <p:cNvSpPr/>
          <p:nvPr/>
        </p:nvSpPr>
        <p:spPr>
          <a:xfrm>
            <a:off x="292846" y="1448780"/>
            <a:ext cx="1099660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800" b="1" dirty="0">
                <a:solidFill>
                  <a:prstClr val="black"/>
                </a:solidFill>
              </a:rPr>
              <a:t>대학생 장학금 신청정보</a:t>
            </a:r>
          </a:p>
        </p:txBody>
      </p:sp>
      <p:sp>
        <p:nvSpPr>
          <p:cNvPr id="169" name="직사각형 168">
            <a:extLst>
              <a:ext uri="{FF2B5EF4-FFF2-40B4-BE49-F238E27FC236}">
                <a16:creationId xmlns:a16="http://schemas.microsoft.com/office/drawing/2014/main" id="{E20FC67B-6FFB-9C6C-7003-32F081F92B33}"/>
              </a:ext>
            </a:extLst>
          </p:cNvPr>
          <p:cNvSpPr/>
          <p:nvPr/>
        </p:nvSpPr>
        <p:spPr>
          <a:xfrm>
            <a:off x="165100" y="6023481"/>
            <a:ext cx="6732116" cy="46622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70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4A569662-D7EF-5B4D-1938-E7EE48CEB7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6165304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1" name="TextBox 170">
            <a:extLst>
              <a:ext uri="{FF2B5EF4-FFF2-40B4-BE49-F238E27FC236}">
                <a16:creationId xmlns:a16="http://schemas.microsoft.com/office/drawing/2014/main" id="{0797EB9B-28A0-E6FA-5557-CCC942564684}"/>
              </a:ext>
            </a:extLst>
          </p:cNvPr>
          <p:cNvSpPr txBox="1"/>
          <p:nvPr/>
        </p:nvSpPr>
        <p:spPr>
          <a:xfrm>
            <a:off x="1172580" y="6077394"/>
            <a:ext cx="31242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경기 오산시 성호대로 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141 (</a:t>
            </a:r>
            <a:r>
              <a:rPr lang="ko-KR" altLang="en-US" sz="600" b="0" i="0" dirty="0" err="1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오산동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오산시청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오산교육재단</a:t>
            </a:r>
            <a:endParaRPr lang="en-US" altLang="ko-KR" sz="600" b="0" i="0" dirty="0">
              <a:solidFill>
                <a:srgbClr val="666666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>
              <a:buNone/>
            </a:pP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TEL. (031)8036-8905 FAX. (031)8036-8905</a:t>
            </a:r>
          </a:p>
          <a:p>
            <a:pPr algn="l">
              <a:buNone/>
            </a:pP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Copyright©2025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오산교육재단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 ALL RIGHTSRESERVED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62F679B2-67E5-494A-E770-9DAA007D78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2013880"/>
              </p:ext>
            </p:extLst>
          </p:nvPr>
        </p:nvGraphicFramePr>
        <p:xfrm>
          <a:off x="278532" y="1628800"/>
          <a:ext cx="6511205" cy="39904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4623">
                  <a:extLst>
                    <a:ext uri="{9D8B030D-6E8A-4147-A177-3AD203B41FA5}">
                      <a16:colId xmlns:a16="http://schemas.microsoft.com/office/drawing/2014/main" val="3668863434"/>
                    </a:ext>
                  </a:extLst>
                </a:gridCol>
                <a:gridCol w="49165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구분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대학생 장학금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894265"/>
                  </a:ext>
                </a:extLst>
              </a:tr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</a:t>
                      </a:r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하반기 대학생 장학금 신청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접수기간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2025.09.20 10:00 </a:t>
                      </a:r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~ 2025.09.30 10:00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4735">
                <a:tc rowSpan="2"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전형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4735">
                <a:tc gridSpan="2"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1090955"/>
                  </a:ext>
                </a:extLst>
              </a:tr>
              <a:tr h="234735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전형별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성적증빙자료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2230354"/>
                  </a:ext>
                </a:extLst>
              </a:tr>
              <a:tr h="234735">
                <a:tc rowSpan="1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공통 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추천서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주민등록초본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1958612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주민등록등본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164179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재학증명서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799673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고등학교 졸업증명서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3894158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국민기초생활보장수급자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차상위계층확인서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한부모가족보호대상확인서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장애인증명서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첨부파일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8089092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8418894"/>
                  </a:ext>
                </a:extLst>
              </a:tr>
            </a:tbl>
          </a:graphicData>
        </a:graphic>
      </p:graphicFrame>
      <p:grpSp>
        <p:nvGrpSpPr>
          <p:cNvPr id="79" name="그룹 78">
            <a:extLst>
              <a:ext uri="{FF2B5EF4-FFF2-40B4-BE49-F238E27FC236}">
                <a16:creationId xmlns:a16="http://schemas.microsoft.com/office/drawing/2014/main" id="{AE75042E-2CD6-C402-47C6-8A9A264C75B9}"/>
              </a:ext>
            </a:extLst>
          </p:cNvPr>
          <p:cNvGrpSpPr/>
          <p:nvPr/>
        </p:nvGrpSpPr>
        <p:grpSpPr>
          <a:xfrm>
            <a:off x="2473203" y="2380094"/>
            <a:ext cx="505750" cy="144462"/>
            <a:chOff x="2716253" y="2405617"/>
            <a:chExt cx="505750" cy="144462"/>
          </a:xfrm>
        </p:grpSpPr>
        <p:sp>
          <p:nvSpPr>
            <p:cNvPr id="80" name="Rectangle 191">
              <a:extLst>
                <a:ext uri="{FF2B5EF4-FFF2-40B4-BE49-F238E27FC236}">
                  <a16:creationId xmlns:a16="http://schemas.microsoft.com/office/drawing/2014/main" id="{FE511DDE-689F-CE7C-1F43-917633BE4C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359073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희망인재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graphicFrame>
          <p:nvGraphicFramePr>
            <p:cNvPr id="81" name="개체 80">
              <a:extLst>
                <a:ext uri="{FF2B5EF4-FFF2-40B4-BE49-F238E27FC236}">
                  <a16:creationId xmlns:a16="http://schemas.microsoft.com/office/drawing/2014/main" id="{18ED92EF-D3D5-B869-493F-A1A7D986399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3" imgW="145435" imgH="145435" progId="Visio.Drawing.11">
                    <p:embed/>
                  </p:oleObj>
                </mc:Choice>
                <mc:Fallback>
                  <p:oleObj name="Visio" r:id="rId3" imgW="145435" imgH="145435" progId="Visio.Drawing.11">
                    <p:embed/>
                    <p:pic>
                      <p:nvPicPr>
                        <p:cNvPr id="7" name="개체 6">
                          <a:extLst>
                            <a:ext uri="{FF2B5EF4-FFF2-40B4-BE49-F238E27FC236}">
                              <a16:creationId xmlns:a16="http://schemas.microsoft.com/office/drawing/2014/main" id="{18ED92EF-D3D5-B869-493F-A1A7D986399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B5389153-660E-94FF-3BF8-E73A6B549DD4}"/>
              </a:ext>
            </a:extLst>
          </p:cNvPr>
          <p:cNvGrpSpPr/>
          <p:nvPr/>
        </p:nvGrpSpPr>
        <p:grpSpPr>
          <a:xfrm>
            <a:off x="3050012" y="2380094"/>
            <a:ext cx="595518" cy="144462"/>
            <a:chOff x="2716253" y="2405617"/>
            <a:chExt cx="595518" cy="144462"/>
          </a:xfrm>
        </p:grpSpPr>
        <p:sp>
          <p:nvSpPr>
            <p:cNvPr id="83" name="Rectangle 191">
              <a:extLst>
                <a:ext uri="{FF2B5EF4-FFF2-40B4-BE49-F238E27FC236}">
                  <a16:creationId xmlns:a16="http://schemas.microsoft.com/office/drawing/2014/main" id="{636659F6-CF4A-5102-105C-4C4A64A1D3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448841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근로자자녀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graphicFrame>
          <p:nvGraphicFramePr>
            <p:cNvPr id="84" name="개체 83">
              <a:extLst>
                <a:ext uri="{FF2B5EF4-FFF2-40B4-BE49-F238E27FC236}">
                  <a16:creationId xmlns:a16="http://schemas.microsoft.com/office/drawing/2014/main" id="{C36B8945-93D6-4A86-C3A4-F6C788D598E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3" imgW="145435" imgH="145435" progId="Visio.Drawing.11">
                    <p:embed/>
                  </p:oleObj>
                </mc:Choice>
                <mc:Fallback>
                  <p:oleObj name="Visio" r:id="rId3" imgW="145435" imgH="145435" progId="Visio.Drawing.11">
                    <p:embed/>
                    <p:pic>
                      <p:nvPicPr>
                        <p:cNvPr id="12" name="개체 11">
                          <a:extLst>
                            <a:ext uri="{FF2B5EF4-FFF2-40B4-BE49-F238E27FC236}">
                              <a16:creationId xmlns:a16="http://schemas.microsoft.com/office/drawing/2014/main" id="{C36B8945-93D6-4A86-C3A4-F6C788D598E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4D16B6AB-A074-0F0C-AFD9-3D0D8774F831}"/>
              </a:ext>
            </a:extLst>
          </p:cNvPr>
          <p:cNvGrpSpPr/>
          <p:nvPr/>
        </p:nvGrpSpPr>
        <p:grpSpPr>
          <a:xfrm>
            <a:off x="3700296" y="2380094"/>
            <a:ext cx="775054" cy="144462"/>
            <a:chOff x="2716253" y="2405617"/>
            <a:chExt cx="775054" cy="144462"/>
          </a:xfrm>
        </p:grpSpPr>
        <p:sp>
          <p:nvSpPr>
            <p:cNvPr id="86" name="Rectangle 191">
              <a:extLst>
                <a:ext uri="{FF2B5EF4-FFF2-40B4-BE49-F238E27FC236}">
                  <a16:creationId xmlns:a16="http://schemas.microsoft.com/office/drawing/2014/main" id="{AF447E9D-A6C6-AE08-173F-BD79349952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628377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다자녀가정자녀</a:t>
              </a:r>
            </a:p>
          </p:txBody>
        </p:sp>
        <p:graphicFrame>
          <p:nvGraphicFramePr>
            <p:cNvPr id="87" name="개체 86">
              <a:extLst>
                <a:ext uri="{FF2B5EF4-FFF2-40B4-BE49-F238E27FC236}">
                  <a16:creationId xmlns:a16="http://schemas.microsoft.com/office/drawing/2014/main" id="{16A6275A-972A-DD58-E980-C265F670626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3" imgW="145435" imgH="145435" progId="Visio.Drawing.11">
                    <p:embed/>
                  </p:oleObj>
                </mc:Choice>
                <mc:Fallback>
                  <p:oleObj name="Visio" r:id="rId3" imgW="145435" imgH="145435" progId="Visio.Drawing.11">
                    <p:embed/>
                    <p:pic>
                      <p:nvPicPr>
                        <p:cNvPr id="17" name="개체 16">
                          <a:extLst>
                            <a:ext uri="{FF2B5EF4-FFF2-40B4-BE49-F238E27FC236}">
                              <a16:creationId xmlns:a16="http://schemas.microsoft.com/office/drawing/2014/main" id="{16A6275A-972A-DD58-E980-C265F670626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461FE6EE-1D1B-1206-FA73-FAA9673880DC}"/>
              </a:ext>
            </a:extLst>
          </p:cNvPr>
          <p:cNvGrpSpPr/>
          <p:nvPr/>
        </p:nvGrpSpPr>
        <p:grpSpPr>
          <a:xfrm>
            <a:off x="4530957" y="2380094"/>
            <a:ext cx="775054" cy="144462"/>
            <a:chOff x="2716253" y="2405617"/>
            <a:chExt cx="775054" cy="144462"/>
          </a:xfrm>
        </p:grpSpPr>
        <p:sp>
          <p:nvSpPr>
            <p:cNvPr id="89" name="Rectangle 191">
              <a:extLst>
                <a:ext uri="{FF2B5EF4-FFF2-40B4-BE49-F238E27FC236}">
                  <a16:creationId xmlns:a16="http://schemas.microsoft.com/office/drawing/2014/main" id="{9603C726-ED69-0A85-D925-A6CE3852B2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628377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다문화가정자녀</a:t>
              </a:r>
            </a:p>
          </p:txBody>
        </p:sp>
        <p:graphicFrame>
          <p:nvGraphicFramePr>
            <p:cNvPr id="90" name="개체 89">
              <a:extLst>
                <a:ext uri="{FF2B5EF4-FFF2-40B4-BE49-F238E27FC236}">
                  <a16:creationId xmlns:a16="http://schemas.microsoft.com/office/drawing/2014/main" id="{BAB0577C-06EB-C340-575F-F786252DA95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3" imgW="145435" imgH="145435" progId="Visio.Drawing.11">
                    <p:embed/>
                  </p:oleObj>
                </mc:Choice>
                <mc:Fallback>
                  <p:oleObj name="Visio" r:id="rId3" imgW="145435" imgH="145435" progId="Visio.Drawing.11">
                    <p:embed/>
                    <p:pic>
                      <p:nvPicPr>
                        <p:cNvPr id="20" name="개체 19">
                          <a:extLst>
                            <a:ext uri="{FF2B5EF4-FFF2-40B4-BE49-F238E27FC236}">
                              <a16:creationId xmlns:a16="http://schemas.microsoft.com/office/drawing/2014/main" id="{BAB0577C-06EB-C340-575F-F786252DA95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F657E970-413C-14C6-E80E-65965C3D2A18}"/>
              </a:ext>
            </a:extLst>
          </p:cNvPr>
          <p:cNvGrpSpPr/>
          <p:nvPr/>
        </p:nvGrpSpPr>
        <p:grpSpPr>
          <a:xfrm>
            <a:off x="1896860" y="2385980"/>
            <a:ext cx="506433" cy="144463"/>
            <a:chOff x="3327015" y="1527346"/>
            <a:chExt cx="506433" cy="144463"/>
          </a:xfrm>
        </p:grpSpPr>
        <p:sp>
          <p:nvSpPr>
            <p:cNvPr id="92" name="Rectangle 191">
              <a:extLst>
                <a:ext uri="{FF2B5EF4-FFF2-40B4-BE49-F238E27FC236}">
                  <a16:creationId xmlns:a16="http://schemas.microsoft.com/office/drawing/2014/main" id="{A3CE8CA5-08B2-1D0B-6B40-E59DED292C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4375" y="1539830"/>
              <a:ext cx="359073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우수인재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graphicFrame>
          <p:nvGraphicFramePr>
            <p:cNvPr id="93" name="개체 92">
              <a:extLst>
                <a:ext uri="{FF2B5EF4-FFF2-40B4-BE49-F238E27FC236}">
                  <a16:creationId xmlns:a16="http://schemas.microsoft.com/office/drawing/2014/main" id="{3B65BE3C-F680-5697-A414-6B9844D2E70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32552839"/>
                </p:ext>
              </p:extLst>
            </p:nvPr>
          </p:nvGraphicFramePr>
          <p:xfrm>
            <a:off x="3327015" y="1527346"/>
            <a:ext cx="144462" cy="144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5" imgW="145435" imgH="145435" progId="Visio.Drawing.11">
                    <p:embed/>
                  </p:oleObj>
                </mc:Choice>
                <mc:Fallback>
                  <p:oleObj name="Visio" r:id="rId5" imgW="145435" imgH="145435" progId="Visio.Drawing.11">
                    <p:embed/>
                    <p:pic>
                      <p:nvPicPr>
                        <p:cNvPr id="24" name="개체 23">
                          <a:extLst>
                            <a:ext uri="{FF2B5EF4-FFF2-40B4-BE49-F238E27FC236}">
                              <a16:creationId xmlns:a16="http://schemas.microsoft.com/office/drawing/2014/main" id="{3B65BE3C-F680-5697-A414-6B9844D2E70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27015" y="1527346"/>
                          <a:ext cx="144462" cy="1444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D977C08E-CD7D-E56D-5188-3059C9D36821}"/>
              </a:ext>
            </a:extLst>
          </p:cNvPr>
          <p:cNvSpPr/>
          <p:nvPr/>
        </p:nvSpPr>
        <p:spPr>
          <a:xfrm>
            <a:off x="1896860" y="4257100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dirty="0" err="1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국민기초생활보장수급자</a:t>
            </a:r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B8EF8110-1231-0C3F-891A-D2F3E0078C05}"/>
              </a:ext>
            </a:extLst>
          </p:cNvPr>
          <p:cNvSpPr/>
          <p:nvPr/>
        </p:nvSpPr>
        <p:spPr>
          <a:xfrm>
            <a:off x="3549858" y="4257092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85A36870-A781-CB7F-6CA5-8AF159174A11}"/>
              </a:ext>
            </a:extLst>
          </p:cNvPr>
          <p:cNvSpPr/>
          <p:nvPr/>
        </p:nvSpPr>
        <p:spPr>
          <a:xfrm>
            <a:off x="1896860" y="4493844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차상위계층확인서</a:t>
            </a:r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CCA165FA-3027-1090-7114-5DFA4BA34BB8}"/>
              </a:ext>
            </a:extLst>
          </p:cNvPr>
          <p:cNvSpPr/>
          <p:nvPr/>
        </p:nvSpPr>
        <p:spPr>
          <a:xfrm>
            <a:off x="3549858" y="4493836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C0DF99A0-C24B-2E2D-6D3A-7C3F358DFC29}"/>
              </a:ext>
            </a:extLst>
          </p:cNvPr>
          <p:cNvSpPr/>
          <p:nvPr/>
        </p:nvSpPr>
        <p:spPr>
          <a:xfrm>
            <a:off x="1896860" y="4723096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1036D633-C46B-28D4-0DB2-219A1FCA6D77}"/>
              </a:ext>
            </a:extLst>
          </p:cNvPr>
          <p:cNvSpPr/>
          <p:nvPr/>
        </p:nvSpPr>
        <p:spPr>
          <a:xfrm>
            <a:off x="3549858" y="4723088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2138759C-45D6-FEAE-68D9-55BEA7716F7D}"/>
              </a:ext>
            </a:extLst>
          </p:cNvPr>
          <p:cNvSpPr/>
          <p:nvPr/>
        </p:nvSpPr>
        <p:spPr>
          <a:xfrm>
            <a:off x="1896860" y="4957078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128EAE23-6421-5EE9-9E91-C55F0ADF7739}"/>
              </a:ext>
            </a:extLst>
          </p:cNvPr>
          <p:cNvSpPr/>
          <p:nvPr/>
        </p:nvSpPr>
        <p:spPr>
          <a:xfrm>
            <a:off x="3549858" y="4957070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1E6F9F9C-44F5-E973-2DD8-F0074A85D244}"/>
              </a:ext>
            </a:extLst>
          </p:cNvPr>
          <p:cNvGrpSpPr/>
          <p:nvPr/>
        </p:nvGrpSpPr>
        <p:grpSpPr>
          <a:xfrm>
            <a:off x="1932141" y="5453396"/>
            <a:ext cx="1105196" cy="128396"/>
            <a:chOff x="3438680" y="4305150"/>
            <a:chExt cx="1105196" cy="128396"/>
          </a:xfrm>
        </p:grpSpPr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12EE0EB6-B448-9801-2D25-BDDA2B3C6417}"/>
                </a:ext>
              </a:extLst>
            </p:cNvPr>
            <p:cNvSpPr txBox="1"/>
            <p:nvPr/>
          </p:nvSpPr>
          <p:spPr>
            <a:xfrm>
              <a:off x="3438680" y="4305150"/>
              <a:ext cx="971420" cy="10772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신청 관련 부가 서류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12" name="Picture 10">
              <a:extLst>
                <a:ext uri="{FF2B5EF4-FFF2-40B4-BE49-F238E27FC236}">
                  <a16:creationId xmlns:a16="http://schemas.microsoft.com/office/drawing/2014/main" id="{66C3AF49-A4DE-A2DB-0F1C-43E193863D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7418" y="4312303"/>
              <a:ext cx="106458" cy="121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721927A1-6C83-6E35-02FB-1FA37A14714C}"/>
              </a:ext>
            </a:extLst>
          </p:cNvPr>
          <p:cNvGrpSpPr/>
          <p:nvPr/>
        </p:nvGrpSpPr>
        <p:grpSpPr>
          <a:xfrm>
            <a:off x="3118554" y="5453396"/>
            <a:ext cx="1105196" cy="128396"/>
            <a:chOff x="3438680" y="4305150"/>
            <a:chExt cx="1105196" cy="128396"/>
          </a:xfrm>
        </p:grpSpPr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EF641D16-5E38-8BBF-8D42-D108BA30B37C}"/>
                </a:ext>
              </a:extLst>
            </p:cNvPr>
            <p:cNvSpPr txBox="1"/>
            <p:nvPr/>
          </p:nvSpPr>
          <p:spPr>
            <a:xfrm>
              <a:off x="3438680" y="4305150"/>
              <a:ext cx="971420" cy="10772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신청 관련 부가 서류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15" name="Picture 10">
              <a:extLst>
                <a:ext uri="{FF2B5EF4-FFF2-40B4-BE49-F238E27FC236}">
                  <a16:creationId xmlns:a16="http://schemas.microsoft.com/office/drawing/2014/main" id="{73B3058A-9575-C873-2753-D9ACA4D7CC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7418" y="4312303"/>
              <a:ext cx="106458" cy="121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19" name="그룹 118">
            <a:extLst>
              <a:ext uri="{FF2B5EF4-FFF2-40B4-BE49-F238E27FC236}">
                <a16:creationId xmlns:a16="http://schemas.microsoft.com/office/drawing/2014/main" id="{519C14E4-0A72-5330-12E2-9B2425666431}"/>
              </a:ext>
            </a:extLst>
          </p:cNvPr>
          <p:cNvGrpSpPr/>
          <p:nvPr/>
        </p:nvGrpSpPr>
        <p:grpSpPr>
          <a:xfrm>
            <a:off x="1896860" y="3540879"/>
            <a:ext cx="2225682" cy="145176"/>
            <a:chOff x="3327015" y="2690196"/>
            <a:chExt cx="2225682" cy="145176"/>
          </a:xfrm>
        </p:grpSpPr>
        <p:sp>
          <p:nvSpPr>
            <p:cNvPr id="167" name="직사각형 166">
              <a:extLst>
                <a:ext uri="{FF2B5EF4-FFF2-40B4-BE49-F238E27FC236}">
                  <a16:creationId xmlns:a16="http://schemas.microsoft.com/office/drawing/2014/main" id="{E7713920-A122-DB84-146F-AE56FE250C3E}"/>
                </a:ext>
              </a:extLst>
            </p:cNvPr>
            <p:cNvSpPr/>
            <p:nvPr/>
          </p:nvSpPr>
          <p:spPr>
            <a:xfrm>
              <a:off x="3327015" y="2691364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주민등록등본</a:t>
              </a:r>
              <a:r>
                <a:rPr kumimoji="0" lang="en-US" altLang="ko-KR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68" name="직사각형 167">
              <a:extLst>
                <a:ext uri="{FF2B5EF4-FFF2-40B4-BE49-F238E27FC236}">
                  <a16:creationId xmlns:a16="http://schemas.microsoft.com/office/drawing/2014/main" id="{2AB4D346-BD60-F163-ACB6-904676A89BF6}"/>
                </a:ext>
              </a:extLst>
            </p:cNvPr>
            <p:cNvSpPr/>
            <p:nvPr/>
          </p:nvSpPr>
          <p:spPr>
            <a:xfrm>
              <a:off x="4980013" y="2691356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제출</a:t>
              </a:r>
            </a:p>
          </p:txBody>
        </p:sp>
        <p:sp>
          <p:nvSpPr>
            <p:cNvPr id="172" name="직사각형 171">
              <a:extLst>
                <a:ext uri="{FF2B5EF4-FFF2-40B4-BE49-F238E27FC236}">
                  <a16:creationId xmlns:a16="http://schemas.microsoft.com/office/drawing/2014/main" id="{53E3A2BB-288F-8B02-F945-31099A339B46}"/>
                </a:ext>
              </a:extLst>
            </p:cNvPr>
            <p:cNvSpPr/>
            <p:nvPr/>
          </p:nvSpPr>
          <p:spPr>
            <a:xfrm>
              <a:off x="5288523" y="2690196"/>
              <a:ext cx="264174" cy="144016"/>
            </a:xfrm>
            <a:prstGeom prst="rect">
              <a:avLst/>
            </a:prstGeom>
            <a:solidFill>
              <a:srgbClr val="66FF66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79B7C48C-748B-C70C-E68D-74D3D31D556C}"/>
              </a:ext>
            </a:extLst>
          </p:cNvPr>
          <p:cNvSpPr/>
          <p:nvPr/>
        </p:nvSpPr>
        <p:spPr>
          <a:xfrm>
            <a:off x="3858368" y="4257133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F6261A84-C25C-12F4-B6D6-CA64AF048E70}"/>
              </a:ext>
            </a:extLst>
          </p:cNvPr>
          <p:cNvSpPr/>
          <p:nvPr/>
        </p:nvSpPr>
        <p:spPr>
          <a:xfrm>
            <a:off x="3858368" y="4493218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5" name="직사각형 174">
            <a:extLst>
              <a:ext uri="{FF2B5EF4-FFF2-40B4-BE49-F238E27FC236}">
                <a16:creationId xmlns:a16="http://schemas.microsoft.com/office/drawing/2014/main" id="{68D7218E-31F1-3D69-3E48-CD9E75BC85F0}"/>
              </a:ext>
            </a:extLst>
          </p:cNvPr>
          <p:cNvSpPr/>
          <p:nvPr/>
        </p:nvSpPr>
        <p:spPr>
          <a:xfrm>
            <a:off x="3858368" y="4717193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E0E3F557-01D7-0984-FC51-908CBB4C90FF}"/>
              </a:ext>
            </a:extLst>
          </p:cNvPr>
          <p:cNvSpPr/>
          <p:nvPr/>
        </p:nvSpPr>
        <p:spPr>
          <a:xfrm>
            <a:off x="3858368" y="4958938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77" name="그룹 176">
            <a:extLst>
              <a:ext uri="{FF2B5EF4-FFF2-40B4-BE49-F238E27FC236}">
                <a16:creationId xmlns:a16="http://schemas.microsoft.com/office/drawing/2014/main" id="{54AB6583-6E4C-BC46-9B0C-7971E27C25EE}"/>
              </a:ext>
            </a:extLst>
          </p:cNvPr>
          <p:cNvGrpSpPr/>
          <p:nvPr/>
        </p:nvGrpSpPr>
        <p:grpSpPr>
          <a:xfrm>
            <a:off x="1912407" y="2621541"/>
            <a:ext cx="1394613" cy="144462"/>
            <a:chOff x="2415444" y="3432217"/>
            <a:chExt cx="1394613" cy="144462"/>
          </a:xfrm>
        </p:grpSpPr>
        <p:sp>
          <p:nvSpPr>
            <p:cNvPr id="178" name="Rectangle 191">
              <a:extLst>
                <a:ext uri="{FF2B5EF4-FFF2-40B4-BE49-F238E27FC236}">
                  <a16:creationId xmlns:a16="http://schemas.microsoft.com/office/drawing/2014/main" id="{8B7F7F86-764F-9672-6D9E-FAB049C0EC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5444" y="3444195"/>
              <a:ext cx="1394613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지역인재육성</a:t>
              </a: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(                         )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1AA836B9-002E-BD39-15CF-F8D444FD35ED}"/>
                </a:ext>
              </a:extLst>
            </p:cNvPr>
            <p:cNvGrpSpPr/>
            <p:nvPr/>
          </p:nvGrpSpPr>
          <p:grpSpPr>
            <a:xfrm>
              <a:off x="3332820" y="3432217"/>
              <a:ext cx="408030" cy="144462"/>
              <a:chOff x="2716253" y="2405617"/>
              <a:chExt cx="408030" cy="144462"/>
            </a:xfrm>
          </p:grpSpPr>
          <p:sp>
            <p:nvSpPr>
              <p:cNvPr id="183" name="Rectangle 191">
                <a:extLst>
                  <a:ext uri="{FF2B5EF4-FFF2-40B4-BE49-F238E27FC236}">
                    <a16:creationId xmlns:a16="http://schemas.microsoft.com/office/drawing/2014/main" id="{A2EF6848-23E9-BF28-D940-269334F8A3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54979" y="2416036"/>
                <a:ext cx="269304" cy="10772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EAEAEA"/>
                    </a:solidFill>
                  </a14:hiddenFill>
                </a:ext>
                <a:ext uri="{91240B29-F687-4F45-9708-019B960494DF}">
                  <a14:hiddenLine xmlns:a14="http://schemas.microsoft.com/office/drawing/2010/main" w="635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7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만학도</a:t>
                </a:r>
                <a:endPara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graphicFrame>
            <p:nvGraphicFramePr>
              <p:cNvPr id="184" name="개체 183">
                <a:extLst>
                  <a:ext uri="{FF2B5EF4-FFF2-40B4-BE49-F238E27FC236}">
                    <a16:creationId xmlns:a16="http://schemas.microsoft.com/office/drawing/2014/main" id="{13DF6A5A-47D2-D98B-EC99-BB795A6C291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716253" y="2405617"/>
              <a:ext cx="144462" cy="1444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Visio" r:id="rId3" imgW="145435" imgH="145435" progId="Visio.Drawing.11">
                      <p:embed/>
                    </p:oleObj>
                  </mc:Choice>
                  <mc:Fallback>
                    <p:oleObj name="Visio" r:id="rId3" imgW="145435" imgH="145435" progId="Visio.Drawing.11">
                      <p:embed/>
                      <p:pic>
                        <p:nvPicPr>
                          <p:cNvPr id="66" name="개체 65">
                            <a:extLst>
                              <a:ext uri="{FF2B5EF4-FFF2-40B4-BE49-F238E27FC236}">
                                <a16:creationId xmlns:a16="http://schemas.microsoft.com/office/drawing/2014/main" id="{13DF6A5A-47D2-D98B-EC99-BB795A6C2912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16253" y="2405617"/>
                            <a:ext cx="144462" cy="1444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EAEAEA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6350" algn="ctr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80" name="그룹 179">
              <a:extLst>
                <a:ext uri="{FF2B5EF4-FFF2-40B4-BE49-F238E27FC236}">
                  <a16:creationId xmlns:a16="http://schemas.microsoft.com/office/drawing/2014/main" id="{5A80A9AF-FA7A-B4F1-5F62-9D36B9A33CD7}"/>
                </a:ext>
              </a:extLst>
            </p:cNvPr>
            <p:cNvGrpSpPr/>
            <p:nvPr/>
          </p:nvGrpSpPr>
          <p:grpSpPr>
            <a:xfrm>
              <a:off x="3000833" y="3432217"/>
              <a:ext cx="318262" cy="144462"/>
              <a:chOff x="2716253" y="2405617"/>
              <a:chExt cx="318262" cy="144462"/>
            </a:xfrm>
          </p:grpSpPr>
          <p:sp>
            <p:nvSpPr>
              <p:cNvPr id="181" name="Rectangle 191">
                <a:extLst>
                  <a:ext uri="{FF2B5EF4-FFF2-40B4-BE49-F238E27FC236}">
                    <a16:creationId xmlns:a16="http://schemas.microsoft.com/office/drawing/2014/main" id="{5B701A0C-3259-B2DE-D3FA-D0B3E84A82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54979" y="2416036"/>
                <a:ext cx="179536" cy="10772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EAEAEA"/>
                    </a:solidFill>
                  </a14:hiddenFill>
                </a:ext>
                <a:ext uri="{91240B29-F687-4F45-9708-019B960494DF}">
                  <a14:hiddenLine xmlns:a14="http://schemas.microsoft.com/office/drawing/2010/main" w="635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7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일반</a:t>
                </a:r>
              </a:p>
            </p:txBody>
          </p:sp>
          <p:graphicFrame>
            <p:nvGraphicFramePr>
              <p:cNvPr id="182" name="개체 181">
                <a:extLst>
                  <a:ext uri="{FF2B5EF4-FFF2-40B4-BE49-F238E27FC236}">
                    <a16:creationId xmlns:a16="http://schemas.microsoft.com/office/drawing/2014/main" id="{8556FB4A-8672-15ED-7CAA-10D69DC5713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716253" y="2405617"/>
              <a:ext cx="144462" cy="1444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Visio" r:id="rId3" imgW="145435" imgH="145435" progId="Visio.Drawing.11">
                      <p:embed/>
                    </p:oleObj>
                  </mc:Choice>
                  <mc:Fallback>
                    <p:oleObj name="Visio" r:id="rId3" imgW="145435" imgH="145435" progId="Visio.Drawing.11">
                      <p:embed/>
                      <p:pic>
                        <p:nvPicPr>
                          <p:cNvPr id="64" name="개체 63">
                            <a:extLst>
                              <a:ext uri="{FF2B5EF4-FFF2-40B4-BE49-F238E27FC236}">
                                <a16:creationId xmlns:a16="http://schemas.microsoft.com/office/drawing/2014/main" id="{8556FB4A-8672-15ED-7CAA-10D69DC57131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16253" y="2405617"/>
                            <a:ext cx="144462" cy="1444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EAEAEA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6350" algn="ctr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185" name="그룹 184">
            <a:extLst>
              <a:ext uri="{FF2B5EF4-FFF2-40B4-BE49-F238E27FC236}">
                <a16:creationId xmlns:a16="http://schemas.microsoft.com/office/drawing/2014/main" id="{F1137F3E-FE2C-9104-6751-84AA5F00E349}"/>
              </a:ext>
            </a:extLst>
          </p:cNvPr>
          <p:cNvGrpSpPr/>
          <p:nvPr/>
        </p:nvGrpSpPr>
        <p:grpSpPr>
          <a:xfrm>
            <a:off x="1896860" y="3772518"/>
            <a:ext cx="2225682" cy="145176"/>
            <a:chOff x="3327015" y="2690196"/>
            <a:chExt cx="2225682" cy="145176"/>
          </a:xfrm>
        </p:grpSpPr>
        <p:sp>
          <p:nvSpPr>
            <p:cNvPr id="186" name="직사각형 185">
              <a:extLst>
                <a:ext uri="{FF2B5EF4-FFF2-40B4-BE49-F238E27FC236}">
                  <a16:creationId xmlns:a16="http://schemas.microsoft.com/office/drawing/2014/main" id="{CC05AC28-FB0C-6C20-8B33-94912A829A5B}"/>
                </a:ext>
              </a:extLst>
            </p:cNvPr>
            <p:cNvSpPr/>
            <p:nvPr/>
          </p:nvSpPr>
          <p:spPr>
            <a:xfrm>
              <a:off x="3327015" y="2691364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재학증명서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7" name="직사각형 186">
              <a:extLst>
                <a:ext uri="{FF2B5EF4-FFF2-40B4-BE49-F238E27FC236}">
                  <a16:creationId xmlns:a16="http://schemas.microsoft.com/office/drawing/2014/main" id="{F71047CB-F806-04D3-47D2-33D11DB80CEF}"/>
                </a:ext>
              </a:extLst>
            </p:cNvPr>
            <p:cNvSpPr/>
            <p:nvPr/>
          </p:nvSpPr>
          <p:spPr>
            <a:xfrm>
              <a:off x="4980013" y="2691356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제출</a:t>
              </a:r>
            </a:p>
          </p:txBody>
        </p:sp>
        <p:sp>
          <p:nvSpPr>
            <p:cNvPr id="188" name="직사각형 187">
              <a:extLst>
                <a:ext uri="{FF2B5EF4-FFF2-40B4-BE49-F238E27FC236}">
                  <a16:creationId xmlns:a16="http://schemas.microsoft.com/office/drawing/2014/main" id="{190560C5-E0FE-2D6F-A980-10D08E351446}"/>
                </a:ext>
              </a:extLst>
            </p:cNvPr>
            <p:cNvSpPr/>
            <p:nvPr/>
          </p:nvSpPr>
          <p:spPr>
            <a:xfrm>
              <a:off x="5288523" y="2690196"/>
              <a:ext cx="264174" cy="144016"/>
            </a:xfrm>
            <a:prstGeom prst="rect">
              <a:avLst/>
            </a:prstGeom>
            <a:solidFill>
              <a:srgbClr val="66FF66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89" name="그룹 188">
            <a:extLst>
              <a:ext uri="{FF2B5EF4-FFF2-40B4-BE49-F238E27FC236}">
                <a16:creationId xmlns:a16="http://schemas.microsoft.com/office/drawing/2014/main" id="{9FC2E816-1775-8998-A09B-C13C9E859F16}"/>
              </a:ext>
            </a:extLst>
          </p:cNvPr>
          <p:cNvGrpSpPr/>
          <p:nvPr/>
        </p:nvGrpSpPr>
        <p:grpSpPr>
          <a:xfrm>
            <a:off x="1896860" y="4017691"/>
            <a:ext cx="2225682" cy="145176"/>
            <a:chOff x="3327015" y="2690196"/>
            <a:chExt cx="2225682" cy="145176"/>
          </a:xfrm>
        </p:grpSpPr>
        <p:sp>
          <p:nvSpPr>
            <p:cNvPr id="190" name="직사각형 189">
              <a:extLst>
                <a:ext uri="{FF2B5EF4-FFF2-40B4-BE49-F238E27FC236}">
                  <a16:creationId xmlns:a16="http://schemas.microsoft.com/office/drawing/2014/main" id="{B10E344D-5230-9B62-62C9-04330540FF55}"/>
                </a:ext>
              </a:extLst>
            </p:cNvPr>
            <p:cNvSpPr/>
            <p:nvPr/>
          </p:nvSpPr>
          <p:spPr>
            <a:xfrm>
              <a:off x="3327015" y="2691364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고등학교졸업증명서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1" name="직사각형 190">
              <a:extLst>
                <a:ext uri="{FF2B5EF4-FFF2-40B4-BE49-F238E27FC236}">
                  <a16:creationId xmlns:a16="http://schemas.microsoft.com/office/drawing/2014/main" id="{83D29DBD-152A-8621-4CE0-1048E61AFB98}"/>
                </a:ext>
              </a:extLst>
            </p:cNvPr>
            <p:cNvSpPr/>
            <p:nvPr/>
          </p:nvSpPr>
          <p:spPr>
            <a:xfrm>
              <a:off x="4980013" y="2691356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제출</a:t>
              </a:r>
            </a:p>
          </p:txBody>
        </p:sp>
        <p:sp>
          <p:nvSpPr>
            <p:cNvPr id="192" name="직사각형 191">
              <a:extLst>
                <a:ext uri="{FF2B5EF4-FFF2-40B4-BE49-F238E27FC236}">
                  <a16:creationId xmlns:a16="http://schemas.microsoft.com/office/drawing/2014/main" id="{1A49E32A-AA69-405D-16FB-3CD2836C8A46}"/>
                </a:ext>
              </a:extLst>
            </p:cNvPr>
            <p:cNvSpPr/>
            <p:nvPr/>
          </p:nvSpPr>
          <p:spPr>
            <a:xfrm>
              <a:off x="5288523" y="2690196"/>
              <a:ext cx="264174" cy="144016"/>
            </a:xfrm>
            <a:prstGeom prst="rect">
              <a:avLst/>
            </a:prstGeom>
            <a:solidFill>
              <a:srgbClr val="66FF66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95" name="직사각형 194">
            <a:extLst>
              <a:ext uri="{FF2B5EF4-FFF2-40B4-BE49-F238E27FC236}">
                <a16:creationId xmlns:a16="http://schemas.microsoft.com/office/drawing/2014/main" id="{AF6C4748-302E-91B0-3390-09473508BBB6}"/>
              </a:ext>
            </a:extLst>
          </p:cNvPr>
          <p:cNvSpPr/>
          <p:nvPr/>
        </p:nvSpPr>
        <p:spPr>
          <a:xfrm>
            <a:off x="6397011" y="5697252"/>
            <a:ext cx="392727" cy="19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목록</a:t>
            </a:r>
          </a:p>
        </p:txBody>
      </p:sp>
      <p:sp>
        <p:nvSpPr>
          <p:cNvPr id="196" name="직사각형 195">
            <a:extLst>
              <a:ext uri="{FF2B5EF4-FFF2-40B4-BE49-F238E27FC236}">
                <a16:creationId xmlns:a16="http://schemas.microsoft.com/office/drawing/2014/main" id="{2AFB3367-D274-219A-57C3-399F107CCE8E}"/>
              </a:ext>
            </a:extLst>
          </p:cNvPr>
          <p:cNvSpPr/>
          <p:nvPr/>
        </p:nvSpPr>
        <p:spPr>
          <a:xfrm>
            <a:off x="5936915" y="5697252"/>
            <a:ext cx="392727" cy="198000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신청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F4E8FAB-C300-2962-78E2-38CF5651D679}"/>
              </a:ext>
            </a:extLst>
          </p:cNvPr>
          <p:cNvSpPr/>
          <p:nvPr/>
        </p:nvSpPr>
        <p:spPr>
          <a:xfrm>
            <a:off x="2722487" y="2847601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성적증빙자료</a:t>
            </a:r>
            <a:r>
              <a:rPr kumimoji="0" lang="en-US" altLang="ko-KR" sz="7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.zip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BCB865B-9317-0F74-9DDD-C24B1B8D83F6}"/>
              </a:ext>
            </a:extLst>
          </p:cNvPr>
          <p:cNvSpPr/>
          <p:nvPr/>
        </p:nvSpPr>
        <p:spPr>
          <a:xfrm>
            <a:off x="4375485" y="2847593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868E49A-AA27-AC19-BBC7-BF011A55882C}"/>
              </a:ext>
            </a:extLst>
          </p:cNvPr>
          <p:cNvSpPr/>
          <p:nvPr/>
        </p:nvSpPr>
        <p:spPr>
          <a:xfrm>
            <a:off x="4683995" y="2847593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Rectangle 191">
            <a:extLst>
              <a:ext uri="{FF2B5EF4-FFF2-40B4-BE49-F238E27FC236}">
                <a16:creationId xmlns:a16="http://schemas.microsoft.com/office/drawing/2014/main" id="{5587EBF6-A302-229F-7A0B-18BE451D71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8530" y="2877234"/>
            <a:ext cx="17953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성적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8BF0CB1-22AC-3D4D-F2BC-AA7FB805D32E}"/>
              </a:ext>
            </a:extLst>
          </p:cNvPr>
          <p:cNvSpPr/>
          <p:nvPr/>
        </p:nvSpPr>
        <p:spPr>
          <a:xfrm>
            <a:off x="2103164" y="2855876"/>
            <a:ext cx="36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4.5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Rectangle 191">
            <a:extLst>
              <a:ext uri="{FF2B5EF4-FFF2-40B4-BE49-F238E27FC236}">
                <a16:creationId xmlns:a16="http://schemas.microsoft.com/office/drawing/2014/main" id="{5F68B5A5-DA7E-7C83-4E09-143C9B9F4C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1699" y="2877234"/>
            <a:ext cx="17953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첨부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ADE3A4D-4E08-80AF-3D99-7299DC918378}"/>
              </a:ext>
            </a:extLst>
          </p:cNvPr>
          <p:cNvSpPr/>
          <p:nvPr/>
        </p:nvSpPr>
        <p:spPr>
          <a:xfrm>
            <a:off x="2903222" y="3311012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주민등록초본</a:t>
            </a:r>
            <a:r>
              <a:rPr kumimoji="0" lang="en-US" altLang="ko-KR" sz="7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529BE4B-5CAC-A1F6-604B-BEACBDFE3825}"/>
              </a:ext>
            </a:extLst>
          </p:cNvPr>
          <p:cNvSpPr/>
          <p:nvPr/>
        </p:nvSpPr>
        <p:spPr>
          <a:xfrm>
            <a:off x="4556220" y="3311004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24EB3B4-1F89-D7F4-9D8B-3FEEF01ED5EE}"/>
              </a:ext>
            </a:extLst>
          </p:cNvPr>
          <p:cNvSpPr/>
          <p:nvPr/>
        </p:nvSpPr>
        <p:spPr>
          <a:xfrm>
            <a:off x="4864730" y="3311004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Rectangle 191">
            <a:extLst>
              <a:ext uri="{FF2B5EF4-FFF2-40B4-BE49-F238E27FC236}">
                <a16:creationId xmlns:a16="http://schemas.microsoft.com/office/drawing/2014/main" id="{55BB6DC0-6748-9BEC-AF39-B6B5CB0EA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3767" y="3325550"/>
            <a:ext cx="17953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첨부</a:t>
            </a:r>
          </a:p>
        </p:txBody>
      </p:sp>
      <p:sp>
        <p:nvSpPr>
          <p:cNvPr id="16" name="Rectangle 191">
            <a:extLst>
              <a:ext uri="{FF2B5EF4-FFF2-40B4-BE49-F238E27FC236}">
                <a16:creationId xmlns:a16="http://schemas.microsoft.com/office/drawing/2014/main" id="{3E3953E5-01CB-BCB7-5515-F101236997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8529" y="3333927"/>
            <a:ext cx="359073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거주기간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81392C9-C6C6-DDAD-7CC7-B30D9DFBFC35}"/>
              </a:ext>
            </a:extLst>
          </p:cNvPr>
          <p:cNvSpPr/>
          <p:nvPr/>
        </p:nvSpPr>
        <p:spPr>
          <a:xfrm>
            <a:off x="2281861" y="3312569"/>
            <a:ext cx="36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년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92F5A8D0-8918-B363-3C0F-B00D6479CAD2}"/>
              </a:ext>
            </a:extLst>
          </p:cNvPr>
          <p:cNvSpPr>
            <a:spLocks noChangeAspect="1"/>
          </p:cNvSpPr>
          <p:nvPr/>
        </p:nvSpPr>
        <p:spPr>
          <a:xfrm>
            <a:off x="200472" y="1550951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C0C9BB22-AB47-264E-7D4B-3F67B7DA4B95}"/>
              </a:ext>
            </a:extLst>
          </p:cNvPr>
          <p:cNvSpPr>
            <a:spLocks noChangeAspect="1"/>
          </p:cNvSpPr>
          <p:nvPr/>
        </p:nvSpPr>
        <p:spPr>
          <a:xfrm>
            <a:off x="5773339" y="5726676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D3C9266F-CC57-4075-7E26-E5567B3F3C45}"/>
              </a:ext>
            </a:extLst>
          </p:cNvPr>
          <p:cNvGrpSpPr/>
          <p:nvPr/>
        </p:nvGrpSpPr>
        <p:grpSpPr>
          <a:xfrm>
            <a:off x="1897884" y="3076911"/>
            <a:ext cx="2704513" cy="144016"/>
            <a:chOff x="1897884" y="2847629"/>
            <a:chExt cx="2704513" cy="144016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DF21E962-B6AE-5FCB-B180-9BD7B12AB551}"/>
                </a:ext>
              </a:extLst>
            </p:cNvPr>
            <p:cNvSpPr/>
            <p:nvPr/>
          </p:nvSpPr>
          <p:spPr>
            <a:xfrm>
              <a:off x="1897884" y="2847637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추천서</a:t>
              </a:r>
              <a:r>
                <a:rPr kumimoji="0" lang="en-US" altLang="ko-KR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320DE2D6-22E0-B927-D862-3085B6F86E73}"/>
                </a:ext>
              </a:extLst>
            </p:cNvPr>
            <p:cNvSpPr/>
            <p:nvPr/>
          </p:nvSpPr>
          <p:spPr>
            <a:xfrm>
              <a:off x="3550882" y="2847629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제출</a:t>
              </a: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6AC434AD-83C1-98C4-1CF4-DF5DC695E218}"/>
                </a:ext>
              </a:extLst>
            </p:cNvPr>
            <p:cNvSpPr/>
            <p:nvPr/>
          </p:nvSpPr>
          <p:spPr>
            <a:xfrm>
              <a:off x="3859392" y="2847629"/>
              <a:ext cx="264174" cy="144016"/>
            </a:xfrm>
            <a:prstGeom prst="rect">
              <a:avLst/>
            </a:prstGeom>
            <a:solidFill>
              <a:srgbClr val="66FF66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239A0C6D-F2A0-0879-AC98-AB067769EBAA}"/>
                </a:ext>
              </a:extLst>
            </p:cNvPr>
            <p:cNvSpPr/>
            <p:nvPr/>
          </p:nvSpPr>
          <p:spPr>
            <a:xfrm>
              <a:off x="4176942" y="2847629"/>
              <a:ext cx="425455" cy="14401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양식받기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EF5805D-2E1C-EE4E-1F82-BE4E4E306A3C}"/>
              </a:ext>
            </a:extLst>
          </p:cNvPr>
          <p:cNvSpPr/>
          <p:nvPr/>
        </p:nvSpPr>
        <p:spPr>
          <a:xfrm>
            <a:off x="668524" y="3048882"/>
            <a:ext cx="6121214" cy="21600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AAE09D13-E8C6-DC1B-C4CB-10822AA757F0}"/>
              </a:ext>
            </a:extLst>
          </p:cNvPr>
          <p:cNvGrpSpPr/>
          <p:nvPr/>
        </p:nvGrpSpPr>
        <p:grpSpPr>
          <a:xfrm>
            <a:off x="1897884" y="5188996"/>
            <a:ext cx="2386963" cy="144016"/>
            <a:chOff x="1897884" y="4476806"/>
            <a:chExt cx="2386963" cy="144016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94939BC5-4E67-20A9-C214-F5F6E005CFDA}"/>
                </a:ext>
              </a:extLst>
            </p:cNvPr>
            <p:cNvSpPr/>
            <p:nvPr/>
          </p:nvSpPr>
          <p:spPr>
            <a:xfrm>
              <a:off x="1897884" y="4476814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42C92C16-CB6B-ADA6-936A-0DE9D4976602}"/>
                </a:ext>
              </a:extLst>
            </p:cNvPr>
            <p:cNvSpPr/>
            <p:nvPr/>
          </p:nvSpPr>
          <p:spPr>
            <a:xfrm>
              <a:off x="3550882" y="4476806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추가</a:t>
              </a: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2B360E5B-781B-70B9-7430-26D01D4FF601}"/>
                </a:ext>
              </a:extLst>
            </p:cNvPr>
            <p:cNvSpPr/>
            <p:nvPr/>
          </p:nvSpPr>
          <p:spPr>
            <a:xfrm>
              <a:off x="3859392" y="4476806"/>
              <a:ext cx="425455" cy="14401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양식받기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68C61AF-F980-D14D-3849-D44D3DA9ED09}"/>
              </a:ext>
            </a:extLst>
          </p:cNvPr>
          <p:cNvSpPr/>
          <p:nvPr/>
        </p:nvSpPr>
        <p:spPr>
          <a:xfrm>
            <a:off x="668524" y="5157216"/>
            <a:ext cx="6121214" cy="21600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096976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6532A-8541-CD57-3F4A-FD79F4058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BBE1589-3425-AE10-7BAD-4BCAA0198ABF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고등학생장학금 신청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E2CC0A7-BAD2-3CBE-23B5-DD32C9A6C84C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프로그램신청관리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고등학생장학금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장학금신청</a:t>
            </a: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B7D04FF0-2819-7D6B-706C-B5F8E8CAA2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9333842"/>
              </p:ext>
            </p:extLst>
          </p:nvPr>
        </p:nvGraphicFramePr>
        <p:xfrm>
          <a:off x="6969418" y="2548005"/>
          <a:ext cx="2772114" cy="2897360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추천서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첨부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제출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제출 서류 파일 선택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첨부완료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받기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시 첨부된 제출 서류 파일 다운로드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양식받기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시 추천서 양식 파일을 다운 받는다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주민등록초본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거주기간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신청 회원의 거주기간을 입력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첨부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제출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]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클릭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&gt;&gt;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제출 서류 파일 선택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&gt;&gt;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첨부완료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받기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] 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클릭 시 첨부된 제출 서류 파일 다운로드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첨부파일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추가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] : 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추가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파일 선택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첨부 설정완료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파일받기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파일명 클릭 시 첨부된 파일 다운로드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[x]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 첨부된 해당 파일 삭제 처리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양식받기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시 추천서 양식 파일을 다운 받는다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321082"/>
                  </a:ext>
                </a:extLst>
              </a:tr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신청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]</a:t>
                      </a: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신청정보 설정 후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신청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클릭 시 등록이 완료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홈페이지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마이페이지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나의신청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대학생장학금에 보이게 됨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사이트관리자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프로그램신청관리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대학생장학금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설정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접수관리에 보이게 됨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목록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클릭 시 신청이 취소 되며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조회 화면으로 이동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02237AB8-4A2C-1AE5-1691-7CB72DAAB056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pau_application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32C04DC-6AAB-28F4-B0A3-91F7461C5EA5}"/>
              </a:ext>
            </a:extLst>
          </p:cNvPr>
          <p:cNvSpPr/>
          <p:nvPr/>
        </p:nvSpPr>
        <p:spPr>
          <a:xfrm>
            <a:off x="165100" y="1376363"/>
            <a:ext cx="6732116" cy="460414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60F59C6-F69F-548D-68AC-E7757434CCA1}"/>
              </a:ext>
            </a:extLst>
          </p:cNvPr>
          <p:cNvSpPr/>
          <p:nvPr/>
        </p:nvSpPr>
        <p:spPr>
          <a:xfrm>
            <a:off x="292846" y="1448780"/>
            <a:ext cx="1099660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800" b="1" dirty="0">
                <a:solidFill>
                  <a:prstClr val="black"/>
                </a:solidFill>
              </a:rPr>
              <a:t>대학생 장학금 신청정보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49F3786-9C00-6D86-7BA5-402233074F8A}"/>
              </a:ext>
            </a:extLst>
          </p:cNvPr>
          <p:cNvSpPr/>
          <p:nvPr/>
        </p:nvSpPr>
        <p:spPr>
          <a:xfrm>
            <a:off x="165100" y="6023481"/>
            <a:ext cx="6732116" cy="46622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7D7EA644-3072-6DF7-DC0B-EC9A1CE3E5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6165304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33C3D258-7D9C-2946-15A0-4402AAEB46ED}"/>
              </a:ext>
            </a:extLst>
          </p:cNvPr>
          <p:cNvSpPr txBox="1"/>
          <p:nvPr/>
        </p:nvSpPr>
        <p:spPr>
          <a:xfrm>
            <a:off x="1172580" y="6077394"/>
            <a:ext cx="31242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경기 오산시 성호대로 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141 (</a:t>
            </a:r>
            <a:r>
              <a:rPr lang="ko-KR" altLang="en-US" sz="600" b="0" i="0" dirty="0" err="1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오산동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오산시청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오산교육재단</a:t>
            </a:r>
            <a:endParaRPr lang="en-US" altLang="ko-KR" sz="600" b="0" i="0" dirty="0">
              <a:solidFill>
                <a:srgbClr val="666666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>
              <a:buNone/>
            </a:pP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TEL. (031)8036-8905 FAX. (031)8036-8905</a:t>
            </a:r>
          </a:p>
          <a:p>
            <a:pPr algn="l">
              <a:buNone/>
            </a:pP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Copyright©2025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오산교육재단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 ALL RIGHTSRESERVED</a:t>
            </a:r>
          </a:p>
        </p:txBody>
      </p:sp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AA0FAB4E-A755-EAC1-C6D8-3AA275B7BF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6142960"/>
              </p:ext>
            </p:extLst>
          </p:nvPr>
        </p:nvGraphicFramePr>
        <p:xfrm>
          <a:off x="278532" y="1628800"/>
          <a:ext cx="6511205" cy="39904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4623">
                  <a:extLst>
                    <a:ext uri="{9D8B030D-6E8A-4147-A177-3AD203B41FA5}">
                      <a16:colId xmlns:a16="http://schemas.microsoft.com/office/drawing/2014/main" val="3668863434"/>
                    </a:ext>
                  </a:extLst>
                </a:gridCol>
                <a:gridCol w="49165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구분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대학생 장학금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894265"/>
                  </a:ext>
                </a:extLst>
              </a:tr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</a:t>
                      </a:r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하반기 대학생 장학금 신청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접수기간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2025.09.20 10:00 </a:t>
                      </a:r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~ 2025.09.30 10:00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4735">
                <a:tc rowSpan="2"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전형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4735">
                <a:tc gridSpan="2"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1090955"/>
                  </a:ext>
                </a:extLst>
              </a:tr>
              <a:tr h="234735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전형별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성적증빙자료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2230354"/>
                  </a:ext>
                </a:extLst>
              </a:tr>
              <a:tr h="234735">
                <a:tc rowSpan="1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공통 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추천서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주민등록초본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1958612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주민등록등본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164179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재학증명서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799673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고등학교 졸업증명서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3894158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국민기초생활보장수급자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차상위계층확인서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한부모가족보호대상확인서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장애인증명서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첨부파일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8089092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8418894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B642C531-F20B-BD8A-812A-8B95D8BB9B0F}"/>
              </a:ext>
            </a:extLst>
          </p:cNvPr>
          <p:cNvGrpSpPr/>
          <p:nvPr/>
        </p:nvGrpSpPr>
        <p:grpSpPr>
          <a:xfrm>
            <a:off x="2473203" y="2380094"/>
            <a:ext cx="505750" cy="144462"/>
            <a:chOff x="2716253" y="2405617"/>
            <a:chExt cx="505750" cy="144462"/>
          </a:xfrm>
        </p:grpSpPr>
        <p:sp>
          <p:nvSpPr>
            <p:cNvPr id="28" name="Rectangle 191">
              <a:extLst>
                <a:ext uri="{FF2B5EF4-FFF2-40B4-BE49-F238E27FC236}">
                  <a16:creationId xmlns:a16="http://schemas.microsoft.com/office/drawing/2014/main" id="{5304EAD7-CF21-4171-FD8A-6B3DC05C6D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359073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희망인재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graphicFrame>
          <p:nvGraphicFramePr>
            <p:cNvPr id="29" name="개체 28">
              <a:extLst>
                <a:ext uri="{FF2B5EF4-FFF2-40B4-BE49-F238E27FC236}">
                  <a16:creationId xmlns:a16="http://schemas.microsoft.com/office/drawing/2014/main" id="{D827E453-6E80-EBFC-FBCB-A3E89BB2AF9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3" imgW="145435" imgH="145435" progId="Visio.Drawing.11">
                    <p:embed/>
                  </p:oleObj>
                </mc:Choice>
                <mc:Fallback>
                  <p:oleObj name="Visio" r:id="rId3" imgW="145435" imgH="145435" progId="Visio.Drawing.11">
                    <p:embed/>
                    <p:pic>
                      <p:nvPicPr>
                        <p:cNvPr id="81" name="개체 80">
                          <a:extLst>
                            <a:ext uri="{FF2B5EF4-FFF2-40B4-BE49-F238E27FC236}">
                              <a16:creationId xmlns:a16="http://schemas.microsoft.com/office/drawing/2014/main" id="{18ED92EF-D3D5-B869-493F-A1A7D986399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9F382913-CAD9-62C9-80C4-EB6D8ACB74EC}"/>
              </a:ext>
            </a:extLst>
          </p:cNvPr>
          <p:cNvGrpSpPr/>
          <p:nvPr/>
        </p:nvGrpSpPr>
        <p:grpSpPr>
          <a:xfrm>
            <a:off x="3050012" y="2380094"/>
            <a:ext cx="595518" cy="144462"/>
            <a:chOff x="2716253" y="2405617"/>
            <a:chExt cx="595518" cy="144462"/>
          </a:xfrm>
        </p:grpSpPr>
        <p:sp>
          <p:nvSpPr>
            <p:cNvPr id="31" name="Rectangle 191">
              <a:extLst>
                <a:ext uri="{FF2B5EF4-FFF2-40B4-BE49-F238E27FC236}">
                  <a16:creationId xmlns:a16="http://schemas.microsoft.com/office/drawing/2014/main" id="{A5E38567-6D86-9C5F-8101-A0546564F8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448841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근로자자녀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graphicFrame>
          <p:nvGraphicFramePr>
            <p:cNvPr id="32" name="개체 31">
              <a:extLst>
                <a:ext uri="{FF2B5EF4-FFF2-40B4-BE49-F238E27FC236}">
                  <a16:creationId xmlns:a16="http://schemas.microsoft.com/office/drawing/2014/main" id="{71131D48-4057-3314-E1CC-E4937C8EE1F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3" imgW="145435" imgH="145435" progId="Visio.Drawing.11">
                    <p:embed/>
                  </p:oleObj>
                </mc:Choice>
                <mc:Fallback>
                  <p:oleObj name="Visio" r:id="rId3" imgW="145435" imgH="145435" progId="Visio.Drawing.11">
                    <p:embed/>
                    <p:pic>
                      <p:nvPicPr>
                        <p:cNvPr id="84" name="개체 83">
                          <a:extLst>
                            <a:ext uri="{FF2B5EF4-FFF2-40B4-BE49-F238E27FC236}">
                              <a16:creationId xmlns:a16="http://schemas.microsoft.com/office/drawing/2014/main" id="{C36B8945-93D6-4A86-C3A4-F6C788D598E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B8E217D3-DC64-BD57-E807-77330E1E19F7}"/>
              </a:ext>
            </a:extLst>
          </p:cNvPr>
          <p:cNvGrpSpPr/>
          <p:nvPr/>
        </p:nvGrpSpPr>
        <p:grpSpPr>
          <a:xfrm>
            <a:off x="3700296" y="2380094"/>
            <a:ext cx="775054" cy="144462"/>
            <a:chOff x="2716253" y="2405617"/>
            <a:chExt cx="775054" cy="144462"/>
          </a:xfrm>
        </p:grpSpPr>
        <p:sp>
          <p:nvSpPr>
            <p:cNvPr id="34" name="Rectangle 191">
              <a:extLst>
                <a:ext uri="{FF2B5EF4-FFF2-40B4-BE49-F238E27FC236}">
                  <a16:creationId xmlns:a16="http://schemas.microsoft.com/office/drawing/2014/main" id="{450C52A3-4928-61DA-3CE3-4984B08E4E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628377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다자녀가정자녀</a:t>
              </a:r>
            </a:p>
          </p:txBody>
        </p:sp>
        <p:graphicFrame>
          <p:nvGraphicFramePr>
            <p:cNvPr id="35" name="개체 34">
              <a:extLst>
                <a:ext uri="{FF2B5EF4-FFF2-40B4-BE49-F238E27FC236}">
                  <a16:creationId xmlns:a16="http://schemas.microsoft.com/office/drawing/2014/main" id="{C52DCD8B-FC78-8D5D-C402-FA2B9FC85E6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3" imgW="145435" imgH="145435" progId="Visio.Drawing.11">
                    <p:embed/>
                  </p:oleObj>
                </mc:Choice>
                <mc:Fallback>
                  <p:oleObj name="Visio" r:id="rId3" imgW="145435" imgH="145435" progId="Visio.Drawing.11">
                    <p:embed/>
                    <p:pic>
                      <p:nvPicPr>
                        <p:cNvPr id="87" name="개체 86">
                          <a:extLst>
                            <a:ext uri="{FF2B5EF4-FFF2-40B4-BE49-F238E27FC236}">
                              <a16:creationId xmlns:a16="http://schemas.microsoft.com/office/drawing/2014/main" id="{16A6275A-972A-DD58-E980-C265F670626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3F257EE6-91F1-0AAA-68F7-20427B73A63D}"/>
              </a:ext>
            </a:extLst>
          </p:cNvPr>
          <p:cNvGrpSpPr/>
          <p:nvPr/>
        </p:nvGrpSpPr>
        <p:grpSpPr>
          <a:xfrm>
            <a:off x="4530957" y="2380094"/>
            <a:ext cx="775054" cy="144462"/>
            <a:chOff x="2716253" y="2405617"/>
            <a:chExt cx="775054" cy="144462"/>
          </a:xfrm>
        </p:grpSpPr>
        <p:sp>
          <p:nvSpPr>
            <p:cNvPr id="37" name="Rectangle 191">
              <a:extLst>
                <a:ext uri="{FF2B5EF4-FFF2-40B4-BE49-F238E27FC236}">
                  <a16:creationId xmlns:a16="http://schemas.microsoft.com/office/drawing/2014/main" id="{76BC093E-20B0-AAF5-81E2-359F409E93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628377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다문화가정자녀</a:t>
              </a:r>
            </a:p>
          </p:txBody>
        </p:sp>
        <p:graphicFrame>
          <p:nvGraphicFramePr>
            <p:cNvPr id="38" name="개체 37">
              <a:extLst>
                <a:ext uri="{FF2B5EF4-FFF2-40B4-BE49-F238E27FC236}">
                  <a16:creationId xmlns:a16="http://schemas.microsoft.com/office/drawing/2014/main" id="{ABB63B90-8094-8669-4CC6-C94E8275C2E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3" imgW="145435" imgH="145435" progId="Visio.Drawing.11">
                    <p:embed/>
                  </p:oleObj>
                </mc:Choice>
                <mc:Fallback>
                  <p:oleObj name="Visio" r:id="rId3" imgW="145435" imgH="145435" progId="Visio.Drawing.11">
                    <p:embed/>
                    <p:pic>
                      <p:nvPicPr>
                        <p:cNvPr id="90" name="개체 89">
                          <a:extLst>
                            <a:ext uri="{FF2B5EF4-FFF2-40B4-BE49-F238E27FC236}">
                              <a16:creationId xmlns:a16="http://schemas.microsoft.com/office/drawing/2014/main" id="{BAB0577C-06EB-C340-575F-F786252DA95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365BABAE-3E7C-36E8-0F6C-A681D8E4A46E}"/>
              </a:ext>
            </a:extLst>
          </p:cNvPr>
          <p:cNvGrpSpPr/>
          <p:nvPr/>
        </p:nvGrpSpPr>
        <p:grpSpPr>
          <a:xfrm>
            <a:off x="1896860" y="2385980"/>
            <a:ext cx="506433" cy="144463"/>
            <a:chOff x="3327015" y="1527346"/>
            <a:chExt cx="506433" cy="144463"/>
          </a:xfrm>
        </p:grpSpPr>
        <p:sp>
          <p:nvSpPr>
            <p:cNvPr id="40" name="Rectangle 191">
              <a:extLst>
                <a:ext uri="{FF2B5EF4-FFF2-40B4-BE49-F238E27FC236}">
                  <a16:creationId xmlns:a16="http://schemas.microsoft.com/office/drawing/2014/main" id="{CAF15BC5-F8B0-DABD-D3B0-A428A918BF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4375" y="1539830"/>
              <a:ext cx="359073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우수인재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graphicFrame>
          <p:nvGraphicFramePr>
            <p:cNvPr id="41" name="개체 40">
              <a:extLst>
                <a:ext uri="{FF2B5EF4-FFF2-40B4-BE49-F238E27FC236}">
                  <a16:creationId xmlns:a16="http://schemas.microsoft.com/office/drawing/2014/main" id="{CAE509A6-3F68-3D57-F692-CC2156E6130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83334415"/>
                </p:ext>
              </p:extLst>
            </p:nvPr>
          </p:nvGraphicFramePr>
          <p:xfrm>
            <a:off x="3327015" y="1527346"/>
            <a:ext cx="144462" cy="144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5" imgW="145435" imgH="145435" progId="Visio.Drawing.11">
                    <p:embed/>
                  </p:oleObj>
                </mc:Choice>
                <mc:Fallback>
                  <p:oleObj name="Visio" r:id="rId5" imgW="145435" imgH="145435" progId="Visio.Drawing.11">
                    <p:embed/>
                    <p:pic>
                      <p:nvPicPr>
                        <p:cNvPr id="93" name="개체 92">
                          <a:extLst>
                            <a:ext uri="{FF2B5EF4-FFF2-40B4-BE49-F238E27FC236}">
                              <a16:creationId xmlns:a16="http://schemas.microsoft.com/office/drawing/2014/main" id="{3B65BE3C-F680-5697-A414-6B9844D2E70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27015" y="1527346"/>
                          <a:ext cx="144462" cy="1444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B9CD4230-D137-8F0B-A36E-4F7BA7209E81}"/>
              </a:ext>
            </a:extLst>
          </p:cNvPr>
          <p:cNvSpPr/>
          <p:nvPr/>
        </p:nvSpPr>
        <p:spPr>
          <a:xfrm>
            <a:off x="1896860" y="4257100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dirty="0" err="1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국민기초생활보장수급자</a:t>
            </a:r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62E5670F-A023-F379-4E12-B633956FD024}"/>
              </a:ext>
            </a:extLst>
          </p:cNvPr>
          <p:cNvSpPr/>
          <p:nvPr/>
        </p:nvSpPr>
        <p:spPr>
          <a:xfrm>
            <a:off x="3549858" y="4257092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0D8F24BB-F804-7C8E-79CC-CBBC20605BAD}"/>
              </a:ext>
            </a:extLst>
          </p:cNvPr>
          <p:cNvSpPr/>
          <p:nvPr/>
        </p:nvSpPr>
        <p:spPr>
          <a:xfrm>
            <a:off x="1896860" y="4493844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차상위계층확인서</a:t>
            </a:r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04B66851-61B6-5B8A-C83E-CF6AE6EA4DE2}"/>
              </a:ext>
            </a:extLst>
          </p:cNvPr>
          <p:cNvSpPr/>
          <p:nvPr/>
        </p:nvSpPr>
        <p:spPr>
          <a:xfrm>
            <a:off x="3549858" y="4493836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7A56E62-CB6B-CEC1-1D9C-55CCBA8B858A}"/>
              </a:ext>
            </a:extLst>
          </p:cNvPr>
          <p:cNvSpPr/>
          <p:nvPr/>
        </p:nvSpPr>
        <p:spPr>
          <a:xfrm>
            <a:off x="1896860" y="4723096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B33F4F7B-A43F-A880-0EA4-F57576976616}"/>
              </a:ext>
            </a:extLst>
          </p:cNvPr>
          <p:cNvSpPr/>
          <p:nvPr/>
        </p:nvSpPr>
        <p:spPr>
          <a:xfrm>
            <a:off x="3549858" y="4723088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31A596E7-4A95-7D01-61F0-50CD8729BFEE}"/>
              </a:ext>
            </a:extLst>
          </p:cNvPr>
          <p:cNvSpPr/>
          <p:nvPr/>
        </p:nvSpPr>
        <p:spPr>
          <a:xfrm>
            <a:off x="1896860" y="4957078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BEECB755-BEAE-3858-A61D-C43412CCAB29}"/>
              </a:ext>
            </a:extLst>
          </p:cNvPr>
          <p:cNvSpPr/>
          <p:nvPr/>
        </p:nvSpPr>
        <p:spPr>
          <a:xfrm>
            <a:off x="3549858" y="4957070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026C6568-2FD7-9D49-8B5A-2C4F0867A84F}"/>
              </a:ext>
            </a:extLst>
          </p:cNvPr>
          <p:cNvGrpSpPr/>
          <p:nvPr/>
        </p:nvGrpSpPr>
        <p:grpSpPr>
          <a:xfrm>
            <a:off x="1932141" y="5453396"/>
            <a:ext cx="1105196" cy="128396"/>
            <a:chOff x="3438680" y="4305150"/>
            <a:chExt cx="1105196" cy="128396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F7AC621-B2CC-2C6F-B731-4A7C7A529BBE}"/>
                </a:ext>
              </a:extLst>
            </p:cNvPr>
            <p:cNvSpPr txBox="1"/>
            <p:nvPr/>
          </p:nvSpPr>
          <p:spPr>
            <a:xfrm>
              <a:off x="3438680" y="4305150"/>
              <a:ext cx="971420" cy="10772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신청 관련 부가 서류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53" name="Picture 10">
              <a:extLst>
                <a:ext uri="{FF2B5EF4-FFF2-40B4-BE49-F238E27FC236}">
                  <a16:creationId xmlns:a16="http://schemas.microsoft.com/office/drawing/2014/main" id="{EE97290C-7907-897E-5B8C-D72F77F2F3E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7418" y="4312303"/>
              <a:ext cx="106458" cy="121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B9BF249A-61EA-AA64-DB77-445FA3A8724E}"/>
              </a:ext>
            </a:extLst>
          </p:cNvPr>
          <p:cNvGrpSpPr/>
          <p:nvPr/>
        </p:nvGrpSpPr>
        <p:grpSpPr>
          <a:xfrm>
            <a:off x="3118554" y="5453396"/>
            <a:ext cx="1105196" cy="128396"/>
            <a:chOff x="3438680" y="4305150"/>
            <a:chExt cx="1105196" cy="128396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292F7790-58D4-6FF7-0D0B-425F7EDCA937}"/>
                </a:ext>
              </a:extLst>
            </p:cNvPr>
            <p:cNvSpPr txBox="1"/>
            <p:nvPr/>
          </p:nvSpPr>
          <p:spPr>
            <a:xfrm>
              <a:off x="3438680" y="4305150"/>
              <a:ext cx="971420" cy="10772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신청 관련 부가 서류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56" name="Picture 10">
              <a:extLst>
                <a:ext uri="{FF2B5EF4-FFF2-40B4-BE49-F238E27FC236}">
                  <a16:creationId xmlns:a16="http://schemas.microsoft.com/office/drawing/2014/main" id="{CC1CE16C-0B8F-65EC-59CE-34FDDCB17BC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7418" y="4312303"/>
              <a:ext cx="106458" cy="121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FA996472-7452-E36D-1B2A-078485A049E6}"/>
              </a:ext>
            </a:extLst>
          </p:cNvPr>
          <p:cNvGrpSpPr/>
          <p:nvPr/>
        </p:nvGrpSpPr>
        <p:grpSpPr>
          <a:xfrm>
            <a:off x="1896860" y="3540879"/>
            <a:ext cx="2225682" cy="145176"/>
            <a:chOff x="3327015" y="2690196"/>
            <a:chExt cx="2225682" cy="145176"/>
          </a:xfrm>
        </p:grpSpPr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C96AEFB5-59E3-6821-450D-0668C45FA8C7}"/>
                </a:ext>
              </a:extLst>
            </p:cNvPr>
            <p:cNvSpPr/>
            <p:nvPr/>
          </p:nvSpPr>
          <p:spPr>
            <a:xfrm>
              <a:off x="3327015" y="2691364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주민등록등본</a:t>
              </a:r>
              <a:r>
                <a:rPr kumimoji="0" lang="en-US" altLang="ko-KR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88C96CFE-C52E-19F8-7496-D23F160E17FF}"/>
                </a:ext>
              </a:extLst>
            </p:cNvPr>
            <p:cNvSpPr/>
            <p:nvPr/>
          </p:nvSpPr>
          <p:spPr>
            <a:xfrm>
              <a:off x="4980013" y="2691356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제출</a:t>
              </a: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988DC421-0003-0D34-502A-DC3CB02451AF}"/>
                </a:ext>
              </a:extLst>
            </p:cNvPr>
            <p:cNvSpPr/>
            <p:nvPr/>
          </p:nvSpPr>
          <p:spPr>
            <a:xfrm>
              <a:off x="5288523" y="2690196"/>
              <a:ext cx="264174" cy="144016"/>
            </a:xfrm>
            <a:prstGeom prst="rect">
              <a:avLst/>
            </a:prstGeom>
            <a:solidFill>
              <a:srgbClr val="66FF66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694FA2EC-2637-F3A8-6554-BA43F831401F}"/>
              </a:ext>
            </a:extLst>
          </p:cNvPr>
          <p:cNvSpPr/>
          <p:nvPr/>
        </p:nvSpPr>
        <p:spPr>
          <a:xfrm>
            <a:off x="3858368" y="4257133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48A6BD59-E956-E1EB-3B54-99F81E6B31B5}"/>
              </a:ext>
            </a:extLst>
          </p:cNvPr>
          <p:cNvSpPr/>
          <p:nvPr/>
        </p:nvSpPr>
        <p:spPr>
          <a:xfrm>
            <a:off x="3858368" y="4493218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01F78B3A-7124-EC6F-6FC2-D86D7260132D}"/>
              </a:ext>
            </a:extLst>
          </p:cNvPr>
          <p:cNvSpPr/>
          <p:nvPr/>
        </p:nvSpPr>
        <p:spPr>
          <a:xfrm>
            <a:off x="3858368" y="4717193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B8476D36-DDE9-A357-2EDC-E3E78A3062FC}"/>
              </a:ext>
            </a:extLst>
          </p:cNvPr>
          <p:cNvSpPr/>
          <p:nvPr/>
        </p:nvSpPr>
        <p:spPr>
          <a:xfrm>
            <a:off x="3858368" y="4958938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AE54B292-996B-DFF2-357C-C58FD7E42C9D}"/>
              </a:ext>
            </a:extLst>
          </p:cNvPr>
          <p:cNvGrpSpPr/>
          <p:nvPr/>
        </p:nvGrpSpPr>
        <p:grpSpPr>
          <a:xfrm>
            <a:off x="1912407" y="2621541"/>
            <a:ext cx="1394613" cy="144462"/>
            <a:chOff x="2415444" y="3432217"/>
            <a:chExt cx="1394613" cy="144462"/>
          </a:xfrm>
        </p:grpSpPr>
        <p:sp>
          <p:nvSpPr>
            <p:cNvPr id="66" name="Rectangle 191">
              <a:extLst>
                <a:ext uri="{FF2B5EF4-FFF2-40B4-BE49-F238E27FC236}">
                  <a16:creationId xmlns:a16="http://schemas.microsoft.com/office/drawing/2014/main" id="{980B5B85-A046-7A59-B22E-C38E536B0A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5444" y="3444195"/>
              <a:ext cx="1394613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지역인재육성</a:t>
              </a: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(                         )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67" name="그룹 66">
              <a:extLst>
                <a:ext uri="{FF2B5EF4-FFF2-40B4-BE49-F238E27FC236}">
                  <a16:creationId xmlns:a16="http://schemas.microsoft.com/office/drawing/2014/main" id="{736178DE-B2F3-BFEF-63E2-D3DDE7CC0AB1}"/>
                </a:ext>
              </a:extLst>
            </p:cNvPr>
            <p:cNvGrpSpPr/>
            <p:nvPr/>
          </p:nvGrpSpPr>
          <p:grpSpPr>
            <a:xfrm>
              <a:off x="3332820" y="3432217"/>
              <a:ext cx="408030" cy="144462"/>
              <a:chOff x="2716253" y="2405617"/>
              <a:chExt cx="408030" cy="144462"/>
            </a:xfrm>
          </p:grpSpPr>
          <p:sp>
            <p:nvSpPr>
              <p:cNvPr id="71" name="Rectangle 191">
                <a:extLst>
                  <a:ext uri="{FF2B5EF4-FFF2-40B4-BE49-F238E27FC236}">
                    <a16:creationId xmlns:a16="http://schemas.microsoft.com/office/drawing/2014/main" id="{A0DEE0EB-15D0-2FD5-1EE7-42A938B66A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54979" y="2416036"/>
                <a:ext cx="269304" cy="10772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EAEAEA"/>
                    </a:solidFill>
                  </a14:hiddenFill>
                </a:ext>
                <a:ext uri="{91240B29-F687-4F45-9708-019B960494DF}">
                  <a14:hiddenLine xmlns:a14="http://schemas.microsoft.com/office/drawing/2010/main" w="635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7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만학도</a:t>
                </a:r>
                <a:endPara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graphicFrame>
            <p:nvGraphicFramePr>
              <p:cNvPr id="72" name="개체 71">
                <a:extLst>
                  <a:ext uri="{FF2B5EF4-FFF2-40B4-BE49-F238E27FC236}">
                    <a16:creationId xmlns:a16="http://schemas.microsoft.com/office/drawing/2014/main" id="{DEBF995E-B33D-5171-B243-8BE18D7A878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716253" y="2405617"/>
              <a:ext cx="144462" cy="1444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Visio" r:id="rId3" imgW="145435" imgH="145435" progId="Visio.Drawing.11">
                      <p:embed/>
                    </p:oleObj>
                  </mc:Choice>
                  <mc:Fallback>
                    <p:oleObj name="Visio" r:id="rId3" imgW="145435" imgH="145435" progId="Visio.Drawing.11">
                      <p:embed/>
                      <p:pic>
                        <p:nvPicPr>
                          <p:cNvPr id="184" name="개체 183">
                            <a:extLst>
                              <a:ext uri="{FF2B5EF4-FFF2-40B4-BE49-F238E27FC236}">
                                <a16:creationId xmlns:a16="http://schemas.microsoft.com/office/drawing/2014/main" id="{13DF6A5A-47D2-D98B-EC99-BB795A6C2912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16253" y="2405617"/>
                            <a:ext cx="144462" cy="1444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EAEAEA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6350" algn="ctr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68" name="그룹 67">
              <a:extLst>
                <a:ext uri="{FF2B5EF4-FFF2-40B4-BE49-F238E27FC236}">
                  <a16:creationId xmlns:a16="http://schemas.microsoft.com/office/drawing/2014/main" id="{31B4306E-10DA-1C7E-911E-F7555B15304F}"/>
                </a:ext>
              </a:extLst>
            </p:cNvPr>
            <p:cNvGrpSpPr/>
            <p:nvPr/>
          </p:nvGrpSpPr>
          <p:grpSpPr>
            <a:xfrm>
              <a:off x="3000833" y="3432217"/>
              <a:ext cx="318262" cy="144462"/>
              <a:chOff x="2716253" y="2405617"/>
              <a:chExt cx="318262" cy="144462"/>
            </a:xfrm>
          </p:grpSpPr>
          <p:sp>
            <p:nvSpPr>
              <p:cNvPr id="69" name="Rectangle 191">
                <a:extLst>
                  <a:ext uri="{FF2B5EF4-FFF2-40B4-BE49-F238E27FC236}">
                    <a16:creationId xmlns:a16="http://schemas.microsoft.com/office/drawing/2014/main" id="{62A4968D-192D-4B7B-08F2-1F7449AAB1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54979" y="2416036"/>
                <a:ext cx="179536" cy="10772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EAEAEA"/>
                    </a:solidFill>
                  </a14:hiddenFill>
                </a:ext>
                <a:ext uri="{91240B29-F687-4F45-9708-019B960494DF}">
                  <a14:hiddenLine xmlns:a14="http://schemas.microsoft.com/office/drawing/2010/main" w="635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7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일반</a:t>
                </a:r>
              </a:p>
            </p:txBody>
          </p:sp>
          <p:graphicFrame>
            <p:nvGraphicFramePr>
              <p:cNvPr id="70" name="개체 69">
                <a:extLst>
                  <a:ext uri="{FF2B5EF4-FFF2-40B4-BE49-F238E27FC236}">
                    <a16:creationId xmlns:a16="http://schemas.microsoft.com/office/drawing/2014/main" id="{1B8BAB31-57B9-57B5-30F7-643388B6177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716253" y="2405617"/>
              <a:ext cx="144462" cy="1444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Visio" r:id="rId3" imgW="145435" imgH="145435" progId="Visio.Drawing.11">
                      <p:embed/>
                    </p:oleObj>
                  </mc:Choice>
                  <mc:Fallback>
                    <p:oleObj name="Visio" r:id="rId3" imgW="145435" imgH="145435" progId="Visio.Drawing.11">
                      <p:embed/>
                      <p:pic>
                        <p:nvPicPr>
                          <p:cNvPr id="182" name="개체 181">
                            <a:extLst>
                              <a:ext uri="{FF2B5EF4-FFF2-40B4-BE49-F238E27FC236}">
                                <a16:creationId xmlns:a16="http://schemas.microsoft.com/office/drawing/2014/main" id="{8556FB4A-8672-15ED-7CAA-10D69DC57131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16253" y="2405617"/>
                            <a:ext cx="144462" cy="1444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EAEAEA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6350" algn="ctr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FCD89F2A-2584-D3E3-CF74-FE11EB732290}"/>
              </a:ext>
            </a:extLst>
          </p:cNvPr>
          <p:cNvGrpSpPr/>
          <p:nvPr/>
        </p:nvGrpSpPr>
        <p:grpSpPr>
          <a:xfrm>
            <a:off x="1896860" y="3772518"/>
            <a:ext cx="2225682" cy="145176"/>
            <a:chOff x="3327015" y="2690196"/>
            <a:chExt cx="2225682" cy="145176"/>
          </a:xfrm>
        </p:grpSpPr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1084ABAD-A112-552A-B01E-398D8697BB4C}"/>
                </a:ext>
              </a:extLst>
            </p:cNvPr>
            <p:cNvSpPr/>
            <p:nvPr/>
          </p:nvSpPr>
          <p:spPr>
            <a:xfrm>
              <a:off x="3327015" y="2691364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재학증명서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6FE0AC05-BB85-352D-2336-0697F6283879}"/>
                </a:ext>
              </a:extLst>
            </p:cNvPr>
            <p:cNvSpPr/>
            <p:nvPr/>
          </p:nvSpPr>
          <p:spPr>
            <a:xfrm>
              <a:off x="4980013" y="2691356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제출</a:t>
              </a:r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7A37C456-FFE1-F6E0-1D03-3AEF1885B859}"/>
                </a:ext>
              </a:extLst>
            </p:cNvPr>
            <p:cNvSpPr/>
            <p:nvPr/>
          </p:nvSpPr>
          <p:spPr>
            <a:xfrm>
              <a:off x="5288523" y="2690196"/>
              <a:ext cx="264174" cy="144016"/>
            </a:xfrm>
            <a:prstGeom prst="rect">
              <a:avLst/>
            </a:prstGeom>
            <a:solidFill>
              <a:srgbClr val="66FF66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D1A2D9C4-FE7C-5CD2-67CE-EB3E577F00FF}"/>
              </a:ext>
            </a:extLst>
          </p:cNvPr>
          <p:cNvGrpSpPr/>
          <p:nvPr/>
        </p:nvGrpSpPr>
        <p:grpSpPr>
          <a:xfrm>
            <a:off x="1896860" y="4017691"/>
            <a:ext cx="2225682" cy="145176"/>
            <a:chOff x="3327015" y="2690196"/>
            <a:chExt cx="2225682" cy="145176"/>
          </a:xfrm>
        </p:grpSpPr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09FB1FA9-834A-1DBD-3152-87C9018FBB96}"/>
                </a:ext>
              </a:extLst>
            </p:cNvPr>
            <p:cNvSpPr/>
            <p:nvPr/>
          </p:nvSpPr>
          <p:spPr>
            <a:xfrm>
              <a:off x="3327015" y="2691364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고등학교졸업증명서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D9F3CA6A-29E8-2642-AF8A-DCF1CBD3FF4B}"/>
                </a:ext>
              </a:extLst>
            </p:cNvPr>
            <p:cNvSpPr/>
            <p:nvPr/>
          </p:nvSpPr>
          <p:spPr>
            <a:xfrm>
              <a:off x="4980013" y="2691356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제출</a:t>
              </a:r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4B03F956-46FC-6E93-E9AD-C6465AAACBA7}"/>
                </a:ext>
              </a:extLst>
            </p:cNvPr>
            <p:cNvSpPr/>
            <p:nvPr/>
          </p:nvSpPr>
          <p:spPr>
            <a:xfrm>
              <a:off x="5288523" y="2690196"/>
              <a:ext cx="264174" cy="144016"/>
            </a:xfrm>
            <a:prstGeom prst="rect">
              <a:avLst/>
            </a:prstGeom>
            <a:solidFill>
              <a:srgbClr val="66FF66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7B9084D3-E18F-A62D-721F-8E215F478A40}"/>
              </a:ext>
            </a:extLst>
          </p:cNvPr>
          <p:cNvSpPr/>
          <p:nvPr/>
        </p:nvSpPr>
        <p:spPr>
          <a:xfrm>
            <a:off x="6397011" y="5697252"/>
            <a:ext cx="392727" cy="19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목록</a:t>
            </a:r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1B45DF7B-2A53-1C6A-759C-0326B2F9AE23}"/>
              </a:ext>
            </a:extLst>
          </p:cNvPr>
          <p:cNvSpPr/>
          <p:nvPr/>
        </p:nvSpPr>
        <p:spPr>
          <a:xfrm>
            <a:off x="5936915" y="5697252"/>
            <a:ext cx="392727" cy="198000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신청</a:t>
            </a:r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A8D432B8-B0CA-389C-EBCF-F31BA2A4A979}"/>
              </a:ext>
            </a:extLst>
          </p:cNvPr>
          <p:cNvSpPr/>
          <p:nvPr/>
        </p:nvSpPr>
        <p:spPr>
          <a:xfrm>
            <a:off x="2722487" y="2847601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성적증빙자료</a:t>
            </a:r>
            <a:r>
              <a:rPr kumimoji="0" lang="en-US" altLang="ko-KR" sz="7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.zip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1BD5CF67-402D-03BC-6FDC-33DDFAABD4A1}"/>
              </a:ext>
            </a:extLst>
          </p:cNvPr>
          <p:cNvSpPr/>
          <p:nvPr/>
        </p:nvSpPr>
        <p:spPr>
          <a:xfrm>
            <a:off x="4375485" y="2847593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A22B94C8-437F-7B47-7006-78F2DD73E8A9}"/>
              </a:ext>
            </a:extLst>
          </p:cNvPr>
          <p:cNvSpPr/>
          <p:nvPr/>
        </p:nvSpPr>
        <p:spPr>
          <a:xfrm>
            <a:off x="4683995" y="2847593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2" name="Rectangle 191">
            <a:extLst>
              <a:ext uri="{FF2B5EF4-FFF2-40B4-BE49-F238E27FC236}">
                <a16:creationId xmlns:a16="http://schemas.microsoft.com/office/drawing/2014/main" id="{D1C921CD-1A8A-5D78-DF3B-7FA6E34C88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8530" y="2877234"/>
            <a:ext cx="17953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성적</a:t>
            </a:r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AF0E14FC-BE0B-8FF3-2348-302EDEA824DD}"/>
              </a:ext>
            </a:extLst>
          </p:cNvPr>
          <p:cNvSpPr/>
          <p:nvPr/>
        </p:nvSpPr>
        <p:spPr>
          <a:xfrm>
            <a:off x="2103164" y="2855876"/>
            <a:ext cx="36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4.5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4" name="Rectangle 191">
            <a:extLst>
              <a:ext uri="{FF2B5EF4-FFF2-40B4-BE49-F238E27FC236}">
                <a16:creationId xmlns:a16="http://schemas.microsoft.com/office/drawing/2014/main" id="{4BBB70CC-6843-C07C-FEC2-37AE9181CD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1699" y="2877234"/>
            <a:ext cx="17953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첨부</a:t>
            </a:r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47D84AD0-4DFE-9B45-ACA9-C7C049ABE2E8}"/>
              </a:ext>
            </a:extLst>
          </p:cNvPr>
          <p:cNvSpPr/>
          <p:nvPr/>
        </p:nvSpPr>
        <p:spPr>
          <a:xfrm>
            <a:off x="2903222" y="3311012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주민등록초본</a:t>
            </a:r>
            <a:r>
              <a:rPr kumimoji="0" lang="en-US" altLang="ko-KR" sz="7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B9DDE7F0-05C6-0AFD-064E-100D8010219A}"/>
              </a:ext>
            </a:extLst>
          </p:cNvPr>
          <p:cNvSpPr/>
          <p:nvPr/>
        </p:nvSpPr>
        <p:spPr>
          <a:xfrm>
            <a:off x="4556220" y="3311004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E7541EAB-A240-3C5C-2127-532981B8C8A6}"/>
              </a:ext>
            </a:extLst>
          </p:cNvPr>
          <p:cNvSpPr/>
          <p:nvPr/>
        </p:nvSpPr>
        <p:spPr>
          <a:xfrm>
            <a:off x="4864730" y="3311004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8" name="Rectangle 191">
            <a:extLst>
              <a:ext uri="{FF2B5EF4-FFF2-40B4-BE49-F238E27FC236}">
                <a16:creationId xmlns:a16="http://schemas.microsoft.com/office/drawing/2014/main" id="{BCC050AE-8933-76AA-E0C4-898078C11B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3767" y="3325550"/>
            <a:ext cx="17953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첨부</a:t>
            </a:r>
          </a:p>
        </p:txBody>
      </p:sp>
      <p:sp>
        <p:nvSpPr>
          <p:cNvPr id="129" name="Rectangle 191">
            <a:extLst>
              <a:ext uri="{FF2B5EF4-FFF2-40B4-BE49-F238E27FC236}">
                <a16:creationId xmlns:a16="http://schemas.microsoft.com/office/drawing/2014/main" id="{215BB657-B5AB-38B5-ECCB-D5C6F6F10D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8529" y="3333927"/>
            <a:ext cx="359073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거주기간</a:t>
            </a: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0CC33D10-11D0-C276-13A4-592BB47C0195}"/>
              </a:ext>
            </a:extLst>
          </p:cNvPr>
          <p:cNvSpPr/>
          <p:nvPr/>
        </p:nvSpPr>
        <p:spPr>
          <a:xfrm>
            <a:off x="2281861" y="3312569"/>
            <a:ext cx="36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년</a:t>
            </a:r>
          </a:p>
        </p:txBody>
      </p:sp>
      <p:sp>
        <p:nvSpPr>
          <p:cNvPr id="131" name="타원 130">
            <a:extLst>
              <a:ext uri="{FF2B5EF4-FFF2-40B4-BE49-F238E27FC236}">
                <a16:creationId xmlns:a16="http://schemas.microsoft.com/office/drawing/2014/main" id="{B57F1FA3-5D94-2858-ED06-AEE20A722564}"/>
              </a:ext>
            </a:extLst>
          </p:cNvPr>
          <p:cNvSpPr>
            <a:spLocks noChangeAspect="1"/>
          </p:cNvSpPr>
          <p:nvPr/>
        </p:nvSpPr>
        <p:spPr>
          <a:xfrm>
            <a:off x="200472" y="1550951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2" name="타원 131">
            <a:extLst>
              <a:ext uri="{FF2B5EF4-FFF2-40B4-BE49-F238E27FC236}">
                <a16:creationId xmlns:a16="http://schemas.microsoft.com/office/drawing/2014/main" id="{05AD880F-8F9B-EFB1-1F7A-04D4901198A4}"/>
              </a:ext>
            </a:extLst>
          </p:cNvPr>
          <p:cNvSpPr>
            <a:spLocks noChangeAspect="1"/>
          </p:cNvSpPr>
          <p:nvPr/>
        </p:nvSpPr>
        <p:spPr>
          <a:xfrm>
            <a:off x="5773339" y="5726676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38A20477-3658-1E4D-0867-271975747F50}"/>
              </a:ext>
            </a:extLst>
          </p:cNvPr>
          <p:cNvGrpSpPr/>
          <p:nvPr/>
        </p:nvGrpSpPr>
        <p:grpSpPr>
          <a:xfrm>
            <a:off x="1897884" y="3076911"/>
            <a:ext cx="2704513" cy="144016"/>
            <a:chOff x="1897884" y="2847629"/>
            <a:chExt cx="2704513" cy="144016"/>
          </a:xfrm>
        </p:grpSpPr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47CB8390-BA37-85AC-30BD-8AB568987579}"/>
                </a:ext>
              </a:extLst>
            </p:cNvPr>
            <p:cNvSpPr/>
            <p:nvPr/>
          </p:nvSpPr>
          <p:spPr>
            <a:xfrm>
              <a:off x="1897884" y="2847637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추천서</a:t>
              </a:r>
              <a:r>
                <a:rPr kumimoji="0" lang="en-US" altLang="ko-KR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F8E2165B-2093-49DF-35DD-69F7D1C9BC59}"/>
                </a:ext>
              </a:extLst>
            </p:cNvPr>
            <p:cNvSpPr/>
            <p:nvPr/>
          </p:nvSpPr>
          <p:spPr>
            <a:xfrm>
              <a:off x="3550882" y="2847629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제출</a:t>
              </a:r>
            </a:p>
          </p:txBody>
        </p:sp>
        <p:sp>
          <p:nvSpPr>
            <p:cNvPr id="136" name="직사각형 135">
              <a:extLst>
                <a:ext uri="{FF2B5EF4-FFF2-40B4-BE49-F238E27FC236}">
                  <a16:creationId xmlns:a16="http://schemas.microsoft.com/office/drawing/2014/main" id="{1D3AFC01-A32B-0E33-2B52-4E681AA81ACE}"/>
                </a:ext>
              </a:extLst>
            </p:cNvPr>
            <p:cNvSpPr/>
            <p:nvPr/>
          </p:nvSpPr>
          <p:spPr>
            <a:xfrm>
              <a:off x="3859392" y="2847629"/>
              <a:ext cx="264174" cy="144016"/>
            </a:xfrm>
            <a:prstGeom prst="rect">
              <a:avLst/>
            </a:prstGeom>
            <a:solidFill>
              <a:srgbClr val="66FF66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37" name="직사각형 136">
              <a:extLst>
                <a:ext uri="{FF2B5EF4-FFF2-40B4-BE49-F238E27FC236}">
                  <a16:creationId xmlns:a16="http://schemas.microsoft.com/office/drawing/2014/main" id="{B00B08F1-F6A4-7BCD-187F-F99CD8B0485D}"/>
                </a:ext>
              </a:extLst>
            </p:cNvPr>
            <p:cNvSpPr/>
            <p:nvPr/>
          </p:nvSpPr>
          <p:spPr>
            <a:xfrm>
              <a:off x="4176942" y="2847629"/>
              <a:ext cx="425455" cy="14401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양식받기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B9344F41-5179-BFBB-D793-926A5D1E888B}"/>
              </a:ext>
            </a:extLst>
          </p:cNvPr>
          <p:cNvSpPr/>
          <p:nvPr/>
        </p:nvSpPr>
        <p:spPr>
          <a:xfrm>
            <a:off x="668524" y="3048882"/>
            <a:ext cx="6121214" cy="21600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4CCFD122-98D6-3E29-056B-B8F963AEAA71}"/>
              </a:ext>
            </a:extLst>
          </p:cNvPr>
          <p:cNvGrpSpPr/>
          <p:nvPr/>
        </p:nvGrpSpPr>
        <p:grpSpPr>
          <a:xfrm>
            <a:off x="1897884" y="5188996"/>
            <a:ext cx="2386963" cy="144016"/>
            <a:chOff x="1897884" y="4476806"/>
            <a:chExt cx="2386963" cy="144016"/>
          </a:xfrm>
        </p:grpSpPr>
        <p:sp>
          <p:nvSpPr>
            <p:cNvPr id="141" name="직사각형 140">
              <a:extLst>
                <a:ext uri="{FF2B5EF4-FFF2-40B4-BE49-F238E27FC236}">
                  <a16:creationId xmlns:a16="http://schemas.microsoft.com/office/drawing/2014/main" id="{F66F694A-2E13-1053-3E94-FF03A615C0AF}"/>
                </a:ext>
              </a:extLst>
            </p:cNvPr>
            <p:cNvSpPr/>
            <p:nvPr/>
          </p:nvSpPr>
          <p:spPr>
            <a:xfrm>
              <a:off x="1897884" y="4476814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42" name="직사각형 141">
              <a:extLst>
                <a:ext uri="{FF2B5EF4-FFF2-40B4-BE49-F238E27FC236}">
                  <a16:creationId xmlns:a16="http://schemas.microsoft.com/office/drawing/2014/main" id="{E0DC90FF-5785-CD8B-4D94-4769D7911161}"/>
                </a:ext>
              </a:extLst>
            </p:cNvPr>
            <p:cNvSpPr/>
            <p:nvPr/>
          </p:nvSpPr>
          <p:spPr>
            <a:xfrm>
              <a:off x="3550882" y="4476806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추가</a:t>
              </a:r>
            </a:p>
          </p:txBody>
        </p:sp>
        <p:sp>
          <p:nvSpPr>
            <p:cNvPr id="143" name="직사각형 142">
              <a:extLst>
                <a:ext uri="{FF2B5EF4-FFF2-40B4-BE49-F238E27FC236}">
                  <a16:creationId xmlns:a16="http://schemas.microsoft.com/office/drawing/2014/main" id="{6C044B08-7A9C-61D8-95AF-6EAE27E89877}"/>
                </a:ext>
              </a:extLst>
            </p:cNvPr>
            <p:cNvSpPr/>
            <p:nvPr/>
          </p:nvSpPr>
          <p:spPr>
            <a:xfrm>
              <a:off x="3859392" y="4476806"/>
              <a:ext cx="425455" cy="14401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양식받기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7D90DFCE-BC60-04AC-05AF-56189EC55CFE}"/>
              </a:ext>
            </a:extLst>
          </p:cNvPr>
          <p:cNvSpPr/>
          <p:nvPr/>
        </p:nvSpPr>
        <p:spPr>
          <a:xfrm>
            <a:off x="668524" y="5157216"/>
            <a:ext cx="6121214" cy="21600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08136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C597B-AEC8-4906-FDF2-BBFF27CE5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3A8DBB-FAAD-4A50-AE4E-1EC84CBE0552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고등학생장학금 신청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E674F2F-0630-02AC-D329-3F7092EE7E70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프로그램신청관리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고등학생장학금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장학금신청</a:t>
            </a: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ABA2FFF9-3710-02D9-00CD-C4A3CC477E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2187287"/>
              </p:ext>
            </p:extLst>
          </p:nvPr>
        </p:nvGraphicFramePr>
        <p:xfrm>
          <a:off x="6969418" y="2548005"/>
          <a:ext cx="2772114" cy="3174539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프로그램신청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대학생장학금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조회 화면 목록에서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신청하기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클릭 시 보이는 화면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전형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희망인재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전형별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보험료납입확인서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보험료납입확인서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납부액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부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모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합산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)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건강보험료 납부액을 직접 입력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첨부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제출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]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클릭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&gt;&gt;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제출 서류 파일 선택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&gt;&gt;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첨부완료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받기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] 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클릭 시 첨부된 제출 서류 파일 다운로드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추천서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첨부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제출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제출 서류 파일 선택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첨부완료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받기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시 첨부된 제출 서류 파일 다운로드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양식받기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시 추천서 양식 파일을 다운 받는다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주민등록초본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거주기간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신청 회원의 거주기간을 입력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첨부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제출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제출 서류 파일 선택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첨부완료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받기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시 첨부된 제출 서류 파일 다운로드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성적증빙자료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성적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성적증빙자료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기반 성적을 직접 입력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첨부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제출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제출 서류 파일 선택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첨부완료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받기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시 첨부된 제출 서류 파일 다운로드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6BC486C8-3109-F15E-875F-C919A258EF59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pau_application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B8D5E47-4760-AC10-1B55-861BCBC7FE4E}"/>
              </a:ext>
            </a:extLst>
          </p:cNvPr>
          <p:cNvSpPr/>
          <p:nvPr/>
        </p:nvSpPr>
        <p:spPr>
          <a:xfrm>
            <a:off x="165100" y="1376363"/>
            <a:ext cx="6732116" cy="5113337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69347C2-26D4-5D6B-F875-F77F7633C6E4}"/>
              </a:ext>
            </a:extLst>
          </p:cNvPr>
          <p:cNvSpPr/>
          <p:nvPr/>
        </p:nvSpPr>
        <p:spPr>
          <a:xfrm>
            <a:off x="292846" y="1448780"/>
            <a:ext cx="1099660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800" b="1" dirty="0">
                <a:solidFill>
                  <a:prstClr val="black"/>
                </a:solidFill>
              </a:rPr>
              <a:t>대학생 장학금 신청정보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3934008C-F6F8-15D2-4FE1-CBC5A16C44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1936308"/>
              </p:ext>
            </p:extLst>
          </p:nvPr>
        </p:nvGraphicFramePr>
        <p:xfrm>
          <a:off x="272480" y="1637639"/>
          <a:ext cx="6517258" cy="4225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2148">
                  <a:extLst>
                    <a:ext uri="{9D8B030D-6E8A-4147-A177-3AD203B41FA5}">
                      <a16:colId xmlns:a16="http://schemas.microsoft.com/office/drawing/2014/main" val="3668863434"/>
                    </a:ext>
                  </a:extLst>
                </a:gridCol>
                <a:gridCol w="47890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구분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대학생 장학금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894265"/>
                  </a:ext>
                </a:extLst>
              </a:tr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</a:t>
                      </a:r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하반기 대학생 장학금 신청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접수기간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2025.09.20 10:00 </a:t>
                      </a:r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~ 2025.09.30 10:00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4735">
                <a:tc rowSpan="2"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전형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4735">
                <a:tc gridSpan="2"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1090955"/>
                  </a:ext>
                </a:extLst>
              </a:tr>
              <a:tr h="234735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전형별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보험료 납입확인서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2230354"/>
                  </a:ext>
                </a:extLst>
              </a:tr>
              <a:tr h="234735">
                <a:tc rowSpan="1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공통 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추천서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주민등록초본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1958612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주민등록등본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164179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재학증명서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799673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고등학교 졸업증명서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3894158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성적증빙자료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037610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국민기초생활보장수급자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차상위계층확인서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한부모가족보호대상확인서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장애인증명서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첨부파일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8089092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8418894"/>
                  </a:ext>
                </a:extLst>
              </a:tr>
            </a:tbl>
          </a:graphicData>
        </a:graphic>
      </p:graphicFrame>
      <p:grpSp>
        <p:nvGrpSpPr>
          <p:cNvPr id="33" name="그룹 32">
            <a:extLst>
              <a:ext uri="{FF2B5EF4-FFF2-40B4-BE49-F238E27FC236}">
                <a16:creationId xmlns:a16="http://schemas.microsoft.com/office/drawing/2014/main" id="{5623B2FF-43C1-D282-7FA6-4DFC204D0326}"/>
              </a:ext>
            </a:extLst>
          </p:cNvPr>
          <p:cNvGrpSpPr/>
          <p:nvPr/>
        </p:nvGrpSpPr>
        <p:grpSpPr>
          <a:xfrm>
            <a:off x="2067284" y="5689301"/>
            <a:ext cx="1105196" cy="128396"/>
            <a:chOff x="3438680" y="4305150"/>
            <a:chExt cx="1105196" cy="128396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63F5B59-7695-6981-C36E-5E1CABE83E94}"/>
                </a:ext>
              </a:extLst>
            </p:cNvPr>
            <p:cNvSpPr txBox="1"/>
            <p:nvPr/>
          </p:nvSpPr>
          <p:spPr>
            <a:xfrm>
              <a:off x="3438680" y="4305150"/>
              <a:ext cx="971420" cy="10772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신청 관련 부가 서류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35" name="Picture 10">
              <a:extLst>
                <a:ext uri="{FF2B5EF4-FFF2-40B4-BE49-F238E27FC236}">
                  <a16:creationId xmlns:a16="http://schemas.microsoft.com/office/drawing/2014/main" id="{2DDE1E4E-E74E-E925-CA7C-A562FF27BB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7418" y="4312303"/>
              <a:ext cx="106458" cy="121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6066DE9C-30EE-DFD0-CF20-2D99143E222B}"/>
              </a:ext>
            </a:extLst>
          </p:cNvPr>
          <p:cNvGrpSpPr/>
          <p:nvPr/>
        </p:nvGrpSpPr>
        <p:grpSpPr>
          <a:xfrm>
            <a:off x="3253697" y="5689301"/>
            <a:ext cx="1105196" cy="128396"/>
            <a:chOff x="3438680" y="4305150"/>
            <a:chExt cx="1105196" cy="128396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08A7AF6-B433-BFB7-A253-B02BF046D913}"/>
                </a:ext>
              </a:extLst>
            </p:cNvPr>
            <p:cNvSpPr txBox="1"/>
            <p:nvPr/>
          </p:nvSpPr>
          <p:spPr>
            <a:xfrm>
              <a:off x="3438680" y="4305150"/>
              <a:ext cx="971420" cy="10772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신청 관련 부가 서류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38" name="Picture 10">
              <a:extLst>
                <a:ext uri="{FF2B5EF4-FFF2-40B4-BE49-F238E27FC236}">
                  <a16:creationId xmlns:a16="http://schemas.microsoft.com/office/drawing/2014/main" id="{5CCD6B85-A7B2-C769-AA2C-D4B1D0C1FC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7418" y="4312303"/>
              <a:ext cx="106458" cy="121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22" name="그룹 121">
            <a:extLst>
              <a:ext uri="{FF2B5EF4-FFF2-40B4-BE49-F238E27FC236}">
                <a16:creationId xmlns:a16="http://schemas.microsoft.com/office/drawing/2014/main" id="{8511DD6D-5892-A90F-E877-283613527B19}"/>
              </a:ext>
            </a:extLst>
          </p:cNvPr>
          <p:cNvGrpSpPr/>
          <p:nvPr/>
        </p:nvGrpSpPr>
        <p:grpSpPr>
          <a:xfrm>
            <a:off x="3185155" y="2388933"/>
            <a:ext cx="595518" cy="144462"/>
            <a:chOff x="2716253" y="2405617"/>
            <a:chExt cx="595518" cy="144462"/>
          </a:xfrm>
        </p:grpSpPr>
        <p:sp>
          <p:nvSpPr>
            <p:cNvPr id="123" name="Rectangle 191">
              <a:extLst>
                <a:ext uri="{FF2B5EF4-FFF2-40B4-BE49-F238E27FC236}">
                  <a16:creationId xmlns:a16="http://schemas.microsoft.com/office/drawing/2014/main" id="{4233767B-E491-F1EA-947D-B9970F3624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448841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근로자자녀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graphicFrame>
          <p:nvGraphicFramePr>
            <p:cNvPr id="124" name="개체 123">
              <a:extLst>
                <a:ext uri="{FF2B5EF4-FFF2-40B4-BE49-F238E27FC236}">
                  <a16:creationId xmlns:a16="http://schemas.microsoft.com/office/drawing/2014/main" id="{3755931F-5E18-AA1A-E77E-024C23563F8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3" imgW="145435" imgH="145435" progId="Visio.Drawing.11">
                    <p:embed/>
                  </p:oleObj>
                </mc:Choice>
                <mc:Fallback>
                  <p:oleObj name="Visio" r:id="rId3" imgW="145435" imgH="145435" progId="Visio.Drawing.11">
                    <p:embed/>
                    <p:pic>
                      <p:nvPicPr>
                        <p:cNvPr id="7" name="개체 6">
                          <a:extLst>
                            <a:ext uri="{FF2B5EF4-FFF2-40B4-BE49-F238E27FC236}">
                              <a16:creationId xmlns:a16="http://schemas.microsoft.com/office/drawing/2014/main" id="{3755931F-5E18-AA1A-E77E-024C23563F8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9A0B029D-C6F8-93A9-691B-12356BA7503E}"/>
              </a:ext>
            </a:extLst>
          </p:cNvPr>
          <p:cNvGrpSpPr/>
          <p:nvPr/>
        </p:nvGrpSpPr>
        <p:grpSpPr>
          <a:xfrm>
            <a:off x="3835439" y="2388933"/>
            <a:ext cx="775054" cy="144462"/>
            <a:chOff x="2716253" y="2405617"/>
            <a:chExt cx="775054" cy="144462"/>
          </a:xfrm>
        </p:grpSpPr>
        <p:sp>
          <p:nvSpPr>
            <p:cNvPr id="126" name="Rectangle 191">
              <a:extLst>
                <a:ext uri="{FF2B5EF4-FFF2-40B4-BE49-F238E27FC236}">
                  <a16:creationId xmlns:a16="http://schemas.microsoft.com/office/drawing/2014/main" id="{A052AB1A-3D99-E187-C6FC-4924B8C36D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628377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다자녀가정자녀</a:t>
              </a:r>
            </a:p>
          </p:txBody>
        </p:sp>
        <p:graphicFrame>
          <p:nvGraphicFramePr>
            <p:cNvPr id="127" name="개체 126">
              <a:extLst>
                <a:ext uri="{FF2B5EF4-FFF2-40B4-BE49-F238E27FC236}">
                  <a16:creationId xmlns:a16="http://schemas.microsoft.com/office/drawing/2014/main" id="{D0766CB7-DAE4-6E2A-0FAB-2365A98E98D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3" imgW="145435" imgH="145435" progId="Visio.Drawing.11">
                    <p:embed/>
                  </p:oleObj>
                </mc:Choice>
                <mc:Fallback>
                  <p:oleObj name="Visio" r:id="rId3" imgW="145435" imgH="145435" progId="Visio.Drawing.11">
                    <p:embed/>
                    <p:pic>
                      <p:nvPicPr>
                        <p:cNvPr id="10" name="개체 9">
                          <a:extLst>
                            <a:ext uri="{FF2B5EF4-FFF2-40B4-BE49-F238E27FC236}">
                              <a16:creationId xmlns:a16="http://schemas.microsoft.com/office/drawing/2014/main" id="{D0766CB7-DAE4-6E2A-0FAB-2365A98E98D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8" name="그룹 127">
            <a:extLst>
              <a:ext uri="{FF2B5EF4-FFF2-40B4-BE49-F238E27FC236}">
                <a16:creationId xmlns:a16="http://schemas.microsoft.com/office/drawing/2014/main" id="{816DA6EF-9297-2E1D-9FEF-70C5A7C380F1}"/>
              </a:ext>
            </a:extLst>
          </p:cNvPr>
          <p:cNvGrpSpPr/>
          <p:nvPr/>
        </p:nvGrpSpPr>
        <p:grpSpPr>
          <a:xfrm>
            <a:off x="4666100" y="2388933"/>
            <a:ext cx="775054" cy="144462"/>
            <a:chOff x="2716253" y="2405617"/>
            <a:chExt cx="775054" cy="144462"/>
          </a:xfrm>
        </p:grpSpPr>
        <p:sp>
          <p:nvSpPr>
            <p:cNvPr id="129" name="Rectangle 191">
              <a:extLst>
                <a:ext uri="{FF2B5EF4-FFF2-40B4-BE49-F238E27FC236}">
                  <a16:creationId xmlns:a16="http://schemas.microsoft.com/office/drawing/2014/main" id="{2CAF162F-5699-53F5-7E5D-91A5910E4D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628377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다문화가정자녀</a:t>
              </a:r>
            </a:p>
          </p:txBody>
        </p:sp>
        <p:graphicFrame>
          <p:nvGraphicFramePr>
            <p:cNvPr id="130" name="개체 129">
              <a:extLst>
                <a:ext uri="{FF2B5EF4-FFF2-40B4-BE49-F238E27FC236}">
                  <a16:creationId xmlns:a16="http://schemas.microsoft.com/office/drawing/2014/main" id="{F58F5F49-6D9D-5240-827A-FEE0A552B54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3" imgW="145435" imgH="145435" progId="Visio.Drawing.11">
                    <p:embed/>
                  </p:oleObj>
                </mc:Choice>
                <mc:Fallback>
                  <p:oleObj name="Visio" r:id="rId3" imgW="145435" imgH="145435" progId="Visio.Drawing.11">
                    <p:embed/>
                    <p:pic>
                      <p:nvPicPr>
                        <p:cNvPr id="15" name="개체 14">
                          <a:extLst>
                            <a:ext uri="{FF2B5EF4-FFF2-40B4-BE49-F238E27FC236}">
                              <a16:creationId xmlns:a16="http://schemas.microsoft.com/office/drawing/2014/main" id="{F58F5F49-6D9D-5240-827A-FEE0A552B54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14FFCADC-B9CF-181F-4B2D-E94CAE4EB0B9}"/>
              </a:ext>
            </a:extLst>
          </p:cNvPr>
          <p:cNvSpPr/>
          <p:nvPr/>
        </p:nvSpPr>
        <p:spPr>
          <a:xfrm>
            <a:off x="2032003" y="4501177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dirty="0" err="1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국민기초생활보장수급자</a:t>
            </a:r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36076A49-47D4-7002-9758-0F8FE1C93DC6}"/>
              </a:ext>
            </a:extLst>
          </p:cNvPr>
          <p:cNvSpPr/>
          <p:nvPr/>
        </p:nvSpPr>
        <p:spPr>
          <a:xfrm>
            <a:off x="3685001" y="4501169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5B21D3C1-E1F1-9DF0-185A-B58200670B37}"/>
              </a:ext>
            </a:extLst>
          </p:cNvPr>
          <p:cNvSpPr/>
          <p:nvPr/>
        </p:nvSpPr>
        <p:spPr>
          <a:xfrm>
            <a:off x="2032003" y="4733721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차상위계층확인서</a:t>
            </a:r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9BCC3653-266B-15E7-3C91-65846E1B27BA}"/>
              </a:ext>
            </a:extLst>
          </p:cNvPr>
          <p:cNvSpPr/>
          <p:nvPr/>
        </p:nvSpPr>
        <p:spPr>
          <a:xfrm>
            <a:off x="3685001" y="4733713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2E5630F6-1D28-BC8C-6181-F086A8796CF2}"/>
              </a:ext>
            </a:extLst>
          </p:cNvPr>
          <p:cNvSpPr/>
          <p:nvPr/>
        </p:nvSpPr>
        <p:spPr>
          <a:xfrm>
            <a:off x="2032003" y="4959222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2A67883A-E688-035A-263A-1EF26013A499}"/>
              </a:ext>
            </a:extLst>
          </p:cNvPr>
          <p:cNvSpPr/>
          <p:nvPr/>
        </p:nvSpPr>
        <p:spPr>
          <a:xfrm>
            <a:off x="3685001" y="4959214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354EC83E-8A5B-A738-AE44-ED774E112E28}"/>
              </a:ext>
            </a:extLst>
          </p:cNvPr>
          <p:cNvSpPr/>
          <p:nvPr/>
        </p:nvSpPr>
        <p:spPr>
          <a:xfrm>
            <a:off x="2032003" y="5205355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F7F7B83D-3558-3D0A-C4B4-07A8A3448C66}"/>
              </a:ext>
            </a:extLst>
          </p:cNvPr>
          <p:cNvSpPr/>
          <p:nvPr/>
        </p:nvSpPr>
        <p:spPr>
          <a:xfrm>
            <a:off x="3685001" y="5205347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grpSp>
        <p:nvGrpSpPr>
          <p:cNvPr id="150" name="그룹 149">
            <a:extLst>
              <a:ext uri="{FF2B5EF4-FFF2-40B4-BE49-F238E27FC236}">
                <a16:creationId xmlns:a16="http://schemas.microsoft.com/office/drawing/2014/main" id="{1D688DE4-F1ED-4D42-57BB-E9906002EE0A}"/>
              </a:ext>
            </a:extLst>
          </p:cNvPr>
          <p:cNvGrpSpPr/>
          <p:nvPr/>
        </p:nvGrpSpPr>
        <p:grpSpPr>
          <a:xfrm>
            <a:off x="2032003" y="3557114"/>
            <a:ext cx="2225682" cy="145176"/>
            <a:chOff x="3327015" y="2690196"/>
            <a:chExt cx="2225682" cy="145176"/>
          </a:xfrm>
        </p:grpSpPr>
        <p:sp>
          <p:nvSpPr>
            <p:cNvPr id="151" name="직사각형 150">
              <a:extLst>
                <a:ext uri="{FF2B5EF4-FFF2-40B4-BE49-F238E27FC236}">
                  <a16:creationId xmlns:a16="http://schemas.microsoft.com/office/drawing/2014/main" id="{D989365A-10A2-298B-3A26-E26299D57095}"/>
                </a:ext>
              </a:extLst>
            </p:cNvPr>
            <p:cNvSpPr/>
            <p:nvPr/>
          </p:nvSpPr>
          <p:spPr>
            <a:xfrm>
              <a:off x="3327015" y="2691364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주민등록등본</a:t>
              </a:r>
              <a:r>
                <a:rPr kumimoji="0" lang="en-US" altLang="ko-KR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52" name="직사각형 151">
              <a:extLst>
                <a:ext uri="{FF2B5EF4-FFF2-40B4-BE49-F238E27FC236}">
                  <a16:creationId xmlns:a16="http://schemas.microsoft.com/office/drawing/2014/main" id="{7156DA0A-E029-2B24-4D4F-266B40FC1939}"/>
                </a:ext>
              </a:extLst>
            </p:cNvPr>
            <p:cNvSpPr/>
            <p:nvPr/>
          </p:nvSpPr>
          <p:spPr>
            <a:xfrm>
              <a:off x="4980013" y="2691356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제출</a:t>
              </a:r>
            </a:p>
          </p:txBody>
        </p:sp>
        <p:sp>
          <p:nvSpPr>
            <p:cNvPr id="153" name="직사각형 152">
              <a:extLst>
                <a:ext uri="{FF2B5EF4-FFF2-40B4-BE49-F238E27FC236}">
                  <a16:creationId xmlns:a16="http://schemas.microsoft.com/office/drawing/2014/main" id="{F5F2335D-6C02-0643-94AE-E6FE6D356A61}"/>
                </a:ext>
              </a:extLst>
            </p:cNvPr>
            <p:cNvSpPr/>
            <p:nvPr/>
          </p:nvSpPr>
          <p:spPr>
            <a:xfrm>
              <a:off x="5288523" y="2690196"/>
              <a:ext cx="264174" cy="144016"/>
            </a:xfrm>
            <a:prstGeom prst="rect">
              <a:avLst/>
            </a:prstGeom>
            <a:solidFill>
              <a:srgbClr val="66FF66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5EB9F186-E943-CFC4-72C1-76AF8DA40756}"/>
              </a:ext>
            </a:extLst>
          </p:cNvPr>
          <p:cNvSpPr/>
          <p:nvPr/>
        </p:nvSpPr>
        <p:spPr>
          <a:xfrm>
            <a:off x="3993511" y="4501210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499F5666-F0AE-9970-A5A7-C117E2BFCEF9}"/>
              </a:ext>
            </a:extLst>
          </p:cNvPr>
          <p:cNvSpPr/>
          <p:nvPr/>
        </p:nvSpPr>
        <p:spPr>
          <a:xfrm>
            <a:off x="3993511" y="4733095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id="{12D51999-010F-7D0A-F48B-53F1263425FB}"/>
              </a:ext>
            </a:extLst>
          </p:cNvPr>
          <p:cNvSpPr/>
          <p:nvPr/>
        </p:nvSpPr>
        <p:spPr>
          <a:xfrm>
            <a:off x="3993511" y="4953319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7" name="직사각형 156">
            <a:extLst>
              <a:ext uri="{FF2B5EF4-FFF2-40B4-BE49-F238E27FC236}">
                <a16:creationId xmlns:a16="http://schemas.microsoft.com/office/drawing/2014/main" id="{A34A691F-CF5A-133C-692B-F171997CA8F2}"/>
              </a:ext>
            </a:extLst>
          </p:cNvPr>
          <p:cNvSpPr/>
          <p:nvPr/>
        </p:nvSpPr>
        <p:spPr>
          <a:xfrm>
            <a:off x="3993511" y="5207215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58" name="그룹 157">
            <a:extLst>
              <a:ext uri="{FF2B5EF4-FFF2-40B4-BE49-F238E27FC236}">
                <a16:creationId xmlns:a16="http://schemas.microsoft.com/office/drawing/2014/main" id="{88FFDCED-7237-87F6-4F7A-8F2D3F87619E}"/>
              </a:ext>
            </a:extLst>
          </p:cNvPr>
          <p:cNvGrpSpPr/>
          <p:nvPr/>
        </p:nvGrpSpPr>
        <p:grpSpPr>
          <a:xfrm>
            <a:off x="2047550" y="2630380"/>
            <a:ext cx="1394613" cy="144462"/>
            <a:chOff x="2415444" y="3432217"/>
            <a:chExt cx="1394613" cy="144462"/>
          </a:xfrm>
        </p:grpSpPr>
        <p:sp>
          <p:nvSpPr>
            <p:cNvPr id="159" name="Rectangle 191">
              <a:extLst>
                <a:ext uri="{FF2B5EF4-FFF2-40B4-BE49-F238E27FC236}">
                  <a16:creationId xmlns:a16="http://schemas.microsoft.com/office/drawing/2014/main" id="{12BE1638-27A5-5183-BF27-5420079017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5444" y="3444195"/>
              <a:ext cx="1394613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지역인재육성</a:t>
              </a: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(                         )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160" name="그룹 159">
              <a:extLst>
                <a:ext uri="{FF2B5EF4-FFF2-40B4-BE49-F238E27FC236}">
                  <a16:creationId xmlns:a16="http://schemas.microsoft.com/office/drawing/2014/main" id="{12C4FEB0-186F-B667-25C7-6D492990045A}"/>
                </a:ext>
              </a:extLst>
            </p:cNvPr>
            <p:cNvGrpSpPr/>
            <p:nvPr/>
          </p:nvGrpSpPr>
          <p:grpSpPr>
            <a:xfrm>
              <a:off x="3332820" y="3432217"/>
              <a:ext cx="408030" cy="144462"/>
              <a:chOff x="2716253" y="2405617"/>
              <a:chExt cx="408030" cy="144462"/>
            </a:xfrm>
          </p:grpSpPr>
          <p:sp>
            <p:nvSpPr>
              <p:cNvPr id="164" name="Rectangle 191">
                <a:extLst>
                  <a:ext uri="{FF2B5EF4-FFF2-40B4-BE49-F238E27FC236}">
                    <a16:creationId xmlns:a16="http://schemas.microsoft.com/office/drawing/2014/main" id="{7D8AB0E5-5A82-95D4-58C0-49DEE10C9B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54979" y="2416036"/>
                <a:ext cx="269304" cy="10772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EAEAEA"/>
                    </a:solidFill>
                  </a14:hiddenFill>
                </a:ext>
                <a:ext uri="{91240B29-F687-4F45-9708-019B960494DF}">
                  <a14:hiddenLine xmlns:a14="http://schemas.microsoft.com/office/drawing/2010/main" w="635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7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만학도</a:t>
                </a:r>
                <a:endPara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graphicFrame>
            <p:nvGraphicFramePr>
              <p:cNvPr id="165" name="개체 164">
                <a:extLst>
                  <a:ext uri="{FF2B5EF4-FFF2-40B4-BE49-F238E27FC236}">
                    <a16:creationId xmlns:a16="http://schemas.microsoft.com/office/drawing/2014/main" id="{BD3DD41F-6242-A78C-2A59-D5501BA1FCB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716253" y="2405617"/>
              <a:ext cx="144462" cy="1444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Visio" r:id="rId3" imgW="145435" imgH="145435" progId="Visio.Drawing.11">
                      <p:embed/>
                    </p:oleObj>
                  </mc:Choice>
                  <mc:Fallback>
                    <p:oleObj name="Visio" r:id="rId3" imgW="145435" imgH="145435" progId="Visio.Drawing.11">
                      <p:embed/>
                      <p:pic>
                        <p:nvPicPr>
                          <p:cNvPr id="58" name="개체 57">
                            <a:extLst>
                              <a:ext uri="{FF2B5EF4-FFF2-40B4-BE49-F238E27FC236}">
                                <a16:creationId xmlns:a16="http://schemas.microsoft.com/office/drawing/2014/main" id="{BD3DD41F-6242-A78C-2A59-D5501BA1FCB7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16253" y="2405617"/>
                            <a:ext cx="144462" cy="1444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EAEAEA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6350" algn="ctr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61" name="그룹 160">
              <a:extLst>
                <a:ext uri="{FF2B5EF4-FFF2-40B4-BE49-F238E27FC236}">
                  <a16:creationId xmlns:a16="http://schemas.microsoft.com/office/drawing/2014/main" id="{0B94E394-0F05-9F25-2B57-94FB043330B1}"/>
                </a:ext>
              </a:extLst>
            </p:cNvPr>
            <p:cNvGrpSpPr/>
            <p:nvPr/>
          </p:nvGrpSpPr>
          <p:grpSpPr>
            <a:xfrm>
              <a:off x="3000833" y="3432217"/>
              <a:ext cx="318262" cy="144462"/>
              <a:chOff x="2716253" y="2405617"/>
              <a:chExt cx="318262" cy="144462"/>
            </a:xfrm>
          </p:grpSpPr>
          <p:sp>
            <p:nvSpPr>
              <p:cNvPr id="162" name="Rectangle 191">
                <a:extLst>
                  <a:ext uri="{FF2B5EF4-FFF2-40B4-BE49-F238E27FC236}">
                    <a16:creationId xmlns:a16="http://schemas.microsoft.com/office/drawing/2014/main" id="{2B85CB0D-BF81-064C-2792-EFBDE6865D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54979" y="2416036"/>
                <a:ext cx="179536" cy="10772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EAEAEA"/>
                    </a:solidFill>
                  </a14:hiddenFill>
                </a:ext>
                <a:ext uri="{91240B29-F687-4F45-9708-019B960494DF}">
                  <a14:hiddenLine xmlns:a14="http://schemas.microsoft.com/office/drawing/2010/main" w="635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7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일반</a:t>
                </a:r>
              </a:p>
            </p:txBody>
          </p:sp>
          <p:graphicFrame>
            <p:nvGraphicFramePr>
              <p:cNvPr id="163" name="개체 162">
                <a:extLst>
                  <a:ext uri="{FF2B5EF4-FFF2-40B4-BE49-F238E27FC236}">
                    <a16:creationId xmlns:a16="http://schemas.microsoft.com/office/drawing/2014/main" id="{7650B989-9572-FBAF-3B38-A78984FB6BC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716253" y="2405617"/>
              <a:ext cx="144462" cy="1444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Visio" r:id="rId3" imgW="145435" imgH="145435" progId="Visio.Drawing.11">
                      <p:embed/>
                    </p:oleObj>
                  </mc:Choice>
                  <mc:Fallback>
                    <p:oleObj name="Visio" r:id="rId3" imgW="145435" imgH="145435" progId="Visio.Drawing.11">
                      <p:embed/>
                      <p:pic>
                        <p:nvPicPr>
                          <p:cNvPr id="56" name="개체 55">
                            <a:extLst>
                              <a:ext uri="{FF2B5EF4-FFF2-40B4-BE49-F238E27FC236}">
                                <a16:creationId xmlns:a16="http://schemas.microsoft.com/office/drawing/2014/main" id="{7650B989-9572-FBAF-3B38-A78984FB6BC1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16253" y="2405617"/>
                            <a:ext cx="144462" cy="1444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EAEAEA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6350" algn="ctr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166" name="그룹 165">
            <a:extLst>
              <a:ext uri="{FF2B5EF4-FFF2-40B4-BE49-F238E27FC236}">
                <a16:creationId xmlns:a16="http://schemas.microsoft.com/office/drawing/2014/main" id="{72207253-606E-CB8D-C9DD-38741D66A625}"/>
              </a:ext>
            </a:extLst>
          </p:cNvPr>
          <p:cNvGrpSpPr/>
          <p:nvPr/>
        </p:nvGrpSpPr>
        <p:grpSpPr>
          <a:xfrm>
            <a:off x="2032003" y="3789040"/>
            <a:ext cx="2225682" cy="145176"/>
            <a:chOff x="3327015" y="2690196"/>
            <a:chExt cx="2225682" cy="145176"/>
          </a:xfrm>
        </p:grpSpPr>
        <p:sp>
          <p:nvSpPr>
            <p:cNvPr id="193" name="직사각형 192">
              <a:extLst>
                <a:ext uri="{FF2B5EF4-FFF2-40B4-BE49-F238E27FC236}">
                  <a16:creationId xmlns:a16="http://schemas.microsoft.com/office/drawing/2014/main" id="{5C433D0C-7297-2C53-FEDB-3804FE11F71D}"/>
                </a:ext>
              </a:extLst>
            </p:cNvPr>
            <p:cNvSpPr/>
            <p:nvPr/>
          </p:nvSpPr>
          <p:spPr>
            <a:xfrm>
              <a:off x="3327015" y="2691364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재학증명서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4" name="직사각형 193">
              <a:extLst>
                <a:ext uri="{FF2B5EF4-FFF2-40B4-BE49-F238E27FC236}">
                  <a16:creationId xmlns:a16="http://schemas.microsoft.com/office/drawing/2014/main" id="{5DF716BD-3FFC-8A16-4B8D-B372E70B6EC0}"/>
                </a:ext>
              </a:extLst>
            </p:cNvPr>
            <p:cNvSpPr/>
            <p:nvPr/>
          </p:nvSpPr>
          <p:spPr>
            <a:xfrm>
              <a:off x="4980013" y="2691356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제출</a:t>
              </a:r>
            </a:p>
          </p:txBody>
        </p:sp>
        <p:sp>
          <p:nvSpPr>
            <p:cNvPr id="197" name="직사각형 196">
              <a:extLst>
                <a:ext uri="{FF2B5EF4-FFF2-40B4-BE49-F238E27FC236}">
                  <a16:creationId xmlns:a16="http://schemas.microsoft.com/office/drawing/2014/main" id="{487D3EFE-6B07-184F-0E0C-EF54F9C43D4F}"/>
                </a:ext>
              </a:extLst>
            </p:cNvPr>
            <p:cNvSpPr/>
            <p:nvPr/>
          </p:nvSpPr>
          <p:spPr>
            <a:xfrm>
              <a:off x="5288523" y="2690196"/>
              <a:ext cx="264174" cy="144016"/>
            </a:xfrm>
            <a:prstGeom prst="rect">
              <a:avLst/>
            </a:prstGeom>
            <a:solidFill>
              <a:srgbClr val="66FF66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98" name="그룹 197">
            <a:extLst>
              <a:ext uri="{FF2B5EF4-FFF2-40B4-BE49-F238E27FC236}">
                <a16:creationId xmlns:a16="http://schemas.microsoft.com/office/drawing/2014/main" id="{A7A7172B-AC8C-07FF-9B4D-D2C047E0279E}"/>
              </a:ext>
            </a:extLst>
          </p:cNvPr>
          <p:cNvGrpSpPr/>
          <p:nvPr/>
        </p:nvGrpSpPr>
        <p:grpSpPr>
          <a:xfrm>
            <a:off x="2032003" y="4025166"/>
            <a:ext cx="2225682" cy="145176"/>
            <a:chOff x="3327015" y="2690196"/>
            <a:chExt cx="2225682" cy="145176"/>
          </a:xfrm>
        </p:grpSpPr>
        <p:sp>
          <p:nvSpPr>
            <p:cNvPr id="199" name="직사각형 198">
              <a:extLst>
                <a:ext uri="{FF2B5EF4-FFF2-40B4-BE49-F238E27FC236}">
                  <a16:creationId xmlns:a16="http://schemas.microsoft.com/office/drawing/2014/main" id="{D2F0D075-C1FF-0D86-FDFD-F7CA4BBBFAE8}"/>
                </a:ext>
              </a:extLst>
            </p:cNvPr>
            <p:cNvSpPr/>
            <p:nvPr/>
          </p:nvSpPr>
          <p:spPr>
            <a:xfrm>
              <a:off x="3327015" y="2691364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고등학교졸업증명서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00" name="직사각형 199">
              <a:extLst>
                <a:ext uri="{FF2B5EF4-FFF2-40B4-BE49-F238E27FC236}">
                  <a16:creationId xmlns:a16="http://schemas.microsoft.com/office/drawing/2014/main" id="{5396A172-3948-CBB6-938A-7B1EB353DB97}"/>
                </a:ext>
              </a:extLst>
            </p:cNvPr>
            <p:cNvSpPr/>
            <p:nvPr/>
          </p:nvSpPr>
          <p:spPr>
            <a:xfrm>
              <a:off x="4980013" y="2691356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제출</a:t>
              </a:r>
            </a:p>
          </p:txBody>
        </p:sp>
        <p:sp>
          <p:nvSpPr>
            <p:cNvPr id="201" name="직사각형 200">
              <a:extLst>
                <a:ext uri="{FF2B5EF4-FFF2-40B4-BE49-F238E27FC236}">
                  <a16:creationId xmlns:a16="http://schemas.microsoft.com/office/drawing/2014/main" id="{2621133A-94A9-2BE4-49A5-19942081A168}"/>
                </a:ext>
              </a:extLst>
            </p:cNvPr>
            <p:cNvSpPr/>
            <p:nvPr/>
          </p:nvSpPr>
          <p:spPr>
            <a:xfrm>
              <a:off x="5288523" y="2690196"/>
              <a:ext cx="264174" cy="144016"/>
            </a:xfrm>
            <a:prstGeom prst="rect">
              <a:avLst/>
            </a:prstGeom>
            <a:solidFill>
              <a:srgbClr val="66FF66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206" name="그룹 205">
            <a:extLst>
              <a:ext uri="{FF2B5EF4-FFF2-40B4-BE49-F238E27FC236}">
                <a16:creationId xmlns:a16="http://schemas.microsoft.com/office/drawing/2014/main" id="{3E914E62-21B9-9FA0-9D28-D22A02719FCB}"/>
              </a:ext>
            </a:extLst>
          </p:cNvPr>
          <p:cNvGrpSpPr/>
          <p:nvPr/>
        </p:nvGrpSpPr>
        <p:grpSpPr>
          <a:xfrm>
            <a:off x="2025603" y="2388933"/>
            <a:ext cx="505750" cy="144462"/>
            <a:chOff x="2716253" y="2405617"/>
            <a:chExt cx="505750" cy="144462"/>
          </a:xfrm>
        </p:grpSpPr>
        <p:sp>
          <p:nvSpPr>
            <p:cNvPr id="207" name="Rectangle 191">
              <a:extLst>
                <a:ext uri="{FF2B5EF4-FFF2-40B4-BE49-F238E27FC236}">
                  <a16:creationId xmlns:a16="http://schemas.microsoft.com/office/drawing/2014/main" id="{913F4ED9-586E-245A-EFC4-25E4EFD774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359073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우수인재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graphicFrame>
          <p:nvGraphicFramePr>
            <p:cNvPr id="208" name="개체 207">
              <a:extLst>
                <a:ext uri="{FF2B5EF4-FFF2-40B4-BE49-F238E27FC236}">
                  <a16:creationId xmlns:a16="http://schemas.microsoft.com/office/drawing/2014/main" id="{9EAA3413-EE4B-2967-53A8-3F6ED70E2D1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3" imgW="145435" imgH="145435" progId="Visio.Drawing.11">
                    <p:embed/>
                  </p:oleObj>
                </mc:Choice>
                <mc:Fallback>
                  <p:oleObj name="Visio" r:id="rId3" imgW="145435" imgH="145435" progId="Visio.Drawing.11">
                    <p:embed/>
                    <p:pic>
                      <p:nvPicPr>
                        <p:cNvPr id="73" name="개체 72">
                          <a:extLst>
                            <a:ext uri="{FF2B5EF4-FFF2-40B4-BE49-F238E27FC236}">
                              <a16:creationId xmlns:a16="http://schemas.microsoft.com/office/drawing/2014/main" id="{9EAA3413-EE4B-2967-53A8-3F6ED70E2D1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9" name="그룹 208">
            <a:extLst>
              <a:ext uri="{FF2B5EF4-FFF2-40B4-BE49-F238E27FC236}">
                <a16:creationId xmlns:a16="http://schemas.microsoft.com/office/drawing/2014/main" id="{79728631-1A35-C9A9-AAE2-435CC83A6CD4}"/>
              </a:ext>
            </a:extLst>
          </p:cNvPr>
          <p:cNvGrpSpPr/>
          <p:nvPr/>
        </p:nvGrpSpPr>
        <p:grpSpPr>
          <a:xfrm>
            <a:off x="2604106" y="2394819"/>
            <a:ext cx="506433" cy="144463"/>
            <a:chOff x="3327015" y="1527346"/>
            <a:chExt cx="506433" cy="144463"/>
          </a:xfrm>
        </p:grpSpPr>
        <p:sp>
          <p:nvSpPr>
            <p:cNvPr id="210" name="Rectangle 191">
              <a:extLst>
                <a:ext uri="{FF2B5EF4-FFF2-40B4-BE49-F238E27FC236}">
                  <a16:creationId xmlns:a16="http://schemas.microsoft.com/office/drawing/2014/main" id="{B02237A3-138D-4A16-8C73-8C95DF07A2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4375" y="1539830"/>
              <a:ext cx="359073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희망인재</a:t>
              </a:r>
            </a:p>
          </p:txBody>
        </p:sp>
        <p:graphicFrame>
          <p:nvGraphicFramePr>
            <p:cNvPr id="211" name="개체 210">
              <a:extLst>
                <a:ext uri="{FF2B5EF4-FFF2-40B4-BE49-F238E27FC236}">
                  <a16:creationId xmlns:a16="http://schemas.microsoft.com/office/drawing/2014/main" id="{AA4B1F09-E90F-72AA-EBD2-FDF5A108742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27015" y="1527346"/>
            <a:ext cx="144462" cy="144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5" imgW="145435" imgH="145435" progId="Visio.Drawing.11">
                    <p:embed/>
                  </p:oleObj>
                </mc:Choice>
                <mc:Fallback>
                  <p:oleObj name="Visio" r:id="rId5" imgW="145435" imgH="145435" progId="Visio.Drawing.11">
                    <p:embed/>
                    <p:pic>
                      <p:nvPicPr>
                        <p:cNvPr id="77" name="개체 76">
                          <a:extLst>
                            <a:ext uri="{FF2B5EF4-FFF2-40B4-BE49-F238E27FC236}">
                              <a16:creationId xmlns:a16="http://schemas.microsoft.com/office/drawing/2014/main" id="{AA4B1F09-E90F-72AA-EBD2-FDF5A108742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27015" y="1527346"/>
                          <a:ext cx="144462" cy="1444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4" name="직사각형 213">
            <a:extLst>
              <a:ext uri="{FF2B5EF4-FFF2-40B4-BE49-F238E27FC236}">
                <a16:creationId xmlns:a16="http://schemas.microsoft.com/office/drawing/2014/main" id="{2BDDD238-5BFD-81E2-461F-894BAD207272}"/>
              </a:ext>
            </a:extLst>
          </p:cNvPr>
          <p:cNvSpPr/>
          <p:nvPr/>
        </p:nvSpPr>
        <p:spPr>
          <a:xfrm>
            <a:off x="6397011" y="5967304"/>
            <a:ext cx="392727" cy="19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목록</a:t>
            </a:r>
          </a:p>
        </p:txBody>
      </p:sp>
      <p:sp>
        <p:nvSpPr>
          <p:cNvPr id="215" name="직사각형 214">
            <a:extLst>
              <a:ext uri="{FF2B5EF4-FFF2-40B4-BE49-F238E27FC236}">
                <a16:creationId xmlns:a16="http://schemas.microsoft.com/office/drawing/2014/main" id="{4B6B139C-CB1B-7048-C317-46E63FE00BB3}"/>
              </a:ext>
            </a:extLst>
          </p:cNvPr>
          <p:cNvSpPr/>
          <p:nvPr/>
        </p:nvSpPr>
        <p:spPr>
          <a:xfrm>
            <a:off x="5936915" y="5967304"/>
            <a:ext cx="392727" cy="198000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신청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BD62EC-7FAE-DE7F-59BA-FD239E4C8838}"/>
              </a:ext>
            </a:extLst>
          </p:cNvPr>
          <p:cNvSpPr/>
          <p:nvPr/>
        </p:nvSpPr>
        <p:spPr>
          <a:xfrm>
            <a:off x="3032195" y="3319445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주민등록초본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BB892B9-E016-C1FD-3A9D-9009C24614D1}"/>
              </a:ext>
            </a:extLst>
          </p:cNvPr>
          <p:cNvSpPr/>
          <p:nvPr/>
        </p:nvSpPr>
        <p:spPr>
          <a:xfrm>
            <a:off x="4685193" y="3319437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1970806-8072-3EC6-AFF0-1338165F38EB}"/>
              </a:ext>
            </a:extLst>
          </p:cNvPr>
          <p:cNvSpPr/>
          <p:nvPr/>
        </p:nvSpPr>
        <p:spPr>
          <a:xfrm>
            <a:off x="4993600" y="3319429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</a:p>
        </p:txBody>
      </p:sp>
      <p:sp>
        <p:nvSpPr>
          <p:cNvPr id="15" name="Rectangle 191">
            <a:extLst>
              <a:ext uri="{FF2B5EF4-FFF2-40B4-BE49-F238E27FC236}">
                <a16:creationId xmlns:a16="http://schemas.microsoft.com/office/drawing/2014/main" id="{DF7E67E8-D262-0FB5-D2C3-F4969F83F9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0841" y="3328401"/>
            <a:ext cx="17953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첨부</a:t>
            </a:r>
          </a:p>
        </p:txBody>
      </p:sp>
      <p:sp>
        <p:nvSpPr>
          <p:cNvPr id="16" name="Rectangle 191">
            <a:extLst>
              <a:ext uri="{FF2B5EF4-FFF2-40B4-BE49-F238E27FC236}">
                <a16:creationId xmlns:a16="http://schemas.microsoft.com/office/drawing/2014/main" id="{8CD1E5FC-0C96-4644-8721-10CC336110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5603" y="3336778"/>
            <a:ext cx="359073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거주기간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23AC43C-8B0C-9A23-640B-F1DD8DAD16B1}"/>
              </a:ext>
            </a:extLst>
          </p:cNvPr>
          <p:cNvSpPr/>
          <p:nvPr/>
        </p:nvSpPr>
        <p:spPr>
          <a:xfrm>
            <a:off x="2408935" y="3315420"/>
            <a:ext cx="36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년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4ADFF34-64E1-2473-97D1-4A52112F998C}"/>
              </a:ext>
            </a:extLst>
          </p:cNvPr>
          <p:cNvSpPr/>
          <p:nvPr/>
        </p:nvSpPr>
        <p:spPr>
          <a:xfrm>
            <a:off x="2887374" y="4261083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성적증빙자료</a:t>
            </a:r>
            <a:r>
              <a:rPr kumimoji="0" lang="en-US" altLang="ko-KR" sz="7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.zip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A9537DA-D0B4-467A-DA66-45E7E86D40BC}"/>
              </a:ext>
            </a:extLst>
          </p:cNvPr>
          <p:cNvSpPr/>
          <p:nvPr/>
        </p:nvSpPr>
        <p:spPr>
          <a:xfrm>
            <a:off x="4540372" y="4261075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7E4B4DD-8DB2-9AD2-A106-2D3C5C6A9CEF}"/>
              </a:ext>
            </a:extLst>
          </p:cNvPr>
          <p:cNvSpPr/>
          <p:nvPr/>
        </p:nvSpPr>
        <p:spPr>
          <a:xfrm>
            <a:off x="4848882" y="4261075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Rectangle 191">
            <a:extLst>
              <a:ext uri="{FF2B5EF4-FFF2-40B4-BE49-F238E27FC236}">
                <a16:creationId xmlns:a16="http://schemas.microsoft.com/office/drawing/2014/main" id="{26208770-18F9-47AB-9A39-735E8BA93B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4750" y="4282441"/>
            <a:ext cx="17953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성적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D9A726D-4E52-80BF-9822-8F8FE1E8EFEC}"/>
              </a:ext>
            </a:extLst>
          </p:cNvPr>
          <p:cNvSpPr/>
          <p:nvPr/>
        </p:nvSpPr>
        <p:spPr>
          <a:xfrm>
            <a:off x="2259384" y="4261083"/>
            <a:ext cx="36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4.5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0" name="Rectangle 191">
            <a:extLst>
              <a:ext uri="{FF2B5EF4-FFF2-40B4-BE49-F238E27FC236}">
                <a16:creationId xmlns:a16="http://schemas.microsoft.com/office/drawing/2014/main" id="{0B777E06-5CBC-A2A6-D0E2-63AC63BC88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7919" y="4282441"/>
            <a:ext cx="17953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첨부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4B05214A-2AD4-E26E-9A32-25AD8228F3B6}"/>
              </a:ext>
            </a:extLst>
          </p:cNvPr>
          <p:cNvSpPr>
            <a:spLocks noChangeAspect="1"/>
          </p:cNvSpPr>
          <p:nvPr/>
        </p:nvSpPr>
        <p:spPr>
          <a:xfrm>
            <a:off x="2855250" y="2240868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0CACB546-FC71-1F85-835F-48D0B5800EE8}"/>
              </a:ext>
            </a:extLst>
          </p:cNvPr>
          <p:cNvSpPr>
            <a:spLocks noChangeAspect="1"/>
          </p:cNvSpPr>
          <p:nvPr/>
        </p:nvSpPr>
        <p:spPr>
          <a:xfrm>
            <a:off x="512127" y="2853383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7404E42F-92E9-9187-36C1-E3CC275F77CC}"/>
              </a:ext>
            </a:extLst>
          </p:cNvPr>
          <p:cNvSpPr>
            <a:spLocks noChangeAspect="1"/>
          </p:cNvSpPr>
          <p:nvPr/>
        </p:nvSpPr>
        <p:spPr>
          <a:xfrm>
            <a:off x="512127" y="3305102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04029233-F7BB-00EF-7028-73A90AB30096}"/>
              </a:ext>
            </a:extLst>
          </p:cNvPr>
          <p:cNvSpPr>
            <a:spLocks noChangeAspect="1"/>
          </p:cNvSpPr>
          <p:nvPr/>
        </p:nvSpPr>
        <p:spPr>
          <a:xfrm>
            <a:off x="512127" y="4270016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18B42DBB-9061-2A67-1366-C9D7695E83DE}"/>
              </a:ext>
            </a:extLst>
          </p:cNvPr>
          <p:cNvGrpSpPr/>
          <p:nvPr/>
        </p:nvGrpSpPr>
        <p:grpSpPr>
          <a:xfrm>
            <a:off x="2028272" y="2852936"/>
            <a:ext cx="3660710" cy="144016"/>
            <a:chOff x="2008170" y="2687952"/>
            <a:chExt cx="3660710" cy="144016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9D40B280-88A8-8C79-D220-17CBE6CFFA4F}"/>
                </a:ext>
              </a:extLst>
            </p:cNvPr>
            <p:cNvSpPr/>
            <p:nvPr/>
          </p:nvSpPr>
          <p:spPr>
            <a:xfrm>
              <a:off x="3443301" y="2687960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보험료납입확인서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7B82C218-1D89-82CF-AEE1-C08D150F7E66}"/>
                </a:ext>
              </a:extLst>
            </p:cNvPr>
            <p:cNvSpPr/>
            <p:nvPr/>
          </p:nvSpPr>
          <p:spPr>
            <a:xfrm>
              <a:off x="5096299" y="2687952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제출</a:t>
              </a: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3698BB3A-9BCE-7CA3-9440-A2F238D15151}"/>
                </a:ext>
              </a:extLst>
            </p:cNvPr>
            <p:cNvSpPr/>
            <p:nvPr/>
          </p:nvSpPr>
          <p:spPr>
            <a:xfrm>
              <a:off x="5404706" y="2687952"/>
              <a:ext cx="264174" cy="144016"/>
            </a:xfrm>
            <a:prstGeom prst="rect">
              <a:avLst/>
            </a:prstGeom>
            <a:solidFill>
              <a:srgbClr val="66FF66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받기</a:t>
              </a:r>
            </a:p>
          </p:txBody>
        </p:sp>
        <p:sp>
          <p:nvSpPr>
            <p:cNvPr id="39" name="Rectangle 191">
              <a:extLst>
                <a:ext uri="{FF2B5EF4-FFF2-40B4-BE49-F238E27FC236}">
                  <a16:creationId xmlns:a16="http://schemas.microsoft.com/office/drawing/2014/main" id="{EF86517A-E820-DF0C-0E8E-1E1D7CC03D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1673" y="2706099"/>
              <a:ext cx="179536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첨부</a:t>
              </a:r>
            </a:p>
          </p:txBody>
        </p:sp>
        <p:sp>
          <p:nvSpPr>
            <p:cNvPr id="40" name="Rectangle 191">
              <a:extLst>
                <a:ext uri="{FF2B5EF4-FFF2-40B4-BE49-F238E27FC236}">
                  <a16:creationId xmlns:a16="http://schemas.microsoft.com/office/drawing/2014/main" id="{DD224412-A19F-1AA0-4918-C7D4036A06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8170" y="2706099"/>
              <a:ext cx="750205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700" kern="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납부액</a:t>
              </a:r>
              <a:r>
                <a:rPr lang="en-US" altLang="ko-KR" sz="700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700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부</a:t>
              </a:r>
              <a:r>
                <a:rPr lang="en-US" altLang="ko-KR" sz="700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700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모 합산</a:t>
              </a:r>
              <a:r>
                <a:rPr lang="en-US" altLang="ko-KR" sz="700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C514818D-8BFA-16C5-1D03-E13DF7B65199}"/>
                </a:ext>
              </a:extLst>
            </p:cNvPr>
            <p:cNvSpPr/>
            <p:nvPr/>
          </p:nvSpPr>
          <p:spPr>
            <a:xfrm>
              <a:off x="2784941" y="2687960"/>
              <a:ext cx="432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dirty="0">
                  <a:solidFill>
                    <a:prstClr val="black">
                      <a:lumMod val="95000"/>
                      <a:lumOff val="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30,000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5C67E739-88D8-9B19-1865-838BC5782EB4}"/>
              </a:ext>
            </a:extLst>
          </p:cNvPr>
          <p:cNvGrpSpPr/>
          <p:nvPr/>
        </p:nvGrpSpPr>
        <p:grpSpPr>
          <a:xfrm>
            <a:off x="2032786" y="3084862"/>
            <a:ext cx="2704513" cy="144016"/>
            <a:chOff x="1897884" y="2847629"/>
            <a:chExt cx="2704513" cy="144016"/>
          </a:xfrm>
        </p:grpSpPr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35F6B0CB-B549-82F7-B8FF-E1E4063F0591}"/>
                </a:ext>
              </a:extLst>
            </p:cNvPr>
            <p:cNvSpPr/>
            <p:nvPr/>
          </p:nvSpPr>
          <p:spPr>
            <a:xfrm>
              <a:off x="1897884" y="2847637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추천서</a:t>
              </a:r>
              <a:r>
                <a:rPr kumimoji="0" lang="en-US" altLang="ko-KR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C78A6AF0-900A-AD2C-F9AA-E143CEE304CE}"/>
                </a:ext>
              </a:extLst>
            </p:cNvPr>
            <p:cNvSpPr/>
            <p:nvPr/>
          </p:nvSpPr>
          <p:spPr>
            <a:xfrm>
              <a:off x="3550882" y="2847629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제출</a:t>
              </a: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38DA9F00-B266-62C6-1B78-923A2A23415F}"/>
                </a:ext>
              </a:extLst>
            </p:cNvPr>
            <p:cNvSpPr/>
            <p:nvPr/>
          </p:nvSpPr>
          <p:spPr>
            <a:xfrm>
              <a:off x="3859392" y="2847629"/>
              <a:ext cx="264174" cy="144016"/>
            </a:xfrm>
            <a:prstGeom prst="rect">
              <a:avLst/>
            </a:prstGeom>
            <a:solidFill>
              <a:srgbClr val="66FF66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F138864D-1B06-09BC-6ACF-8FD640917E47}"/>
                </a:ext>
              </a:extLst>
            </p:cNvPr>
            <p:cNvSpPr/>
            <p:nvPr/>
          </p:nvSpPr>
          <p:spPr>
            <a:xfrm>
              <a:off x="4176942" y="2847629"/>
              <a:ext cx="425455" cy="14401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양식받기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961301A0-BFBB-9B17-0B23-FC50CF861F44}"/>
              </a:ext>
            </a:extLst>
          </p:cNvPr>
          <p:cNvGrpSpPr/>
          <p:nvPr/>
        </p:nvGrpSpPr>
        <p:grpSpPr>
          <a:xfrm>
            <a:off x="2037669" y="5434238"/>
            <a:ext cx="2386963" cy="144016"/>
            <a:chOff x="1897884" y="4476806"/>
            <a:chExt cx="2386963" cy="144016"/>
          </a:xfrm>
        </p:grpSpPr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900BF8F4-19EF-C5A2-110D-76369ADD28DE}"/>
                </a:ext>
              </a:extLst>
            </p:cNvPr>
            <p:cNvSpPr/>
            <p:nvPr/>
          </p:nvSpPr>
          <p:spPr>
            <a:xfrm>
              <a:off x="1897884" y="4476814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350FAD46-46C5-D64E-5963-46BFE879175E}"/>
                </a:ext>
              </a:extLst>
            </p:cNvPr>
            <p:cNvSpPr/>
            <p:nvPr/>
          </p:nvSpPr>
          <p:spPr>
            <a:xfrm>
              <a:off x="3550882" y="4476806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추가</a:t>
              </a: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8F3D52EB-B41D-EE5C-4ED1-63C10C4E7A21}"/>
                </a:ext>
              </a:extLst>
            </p:cNvPr>
            <p:cNvSpPr/>
            <p:nvPr/>
          </p:nvSpPr>
          <p:spPr>
            <a:xfrm>
              <a:off x="3859392" y="4476806"/>
              <a:ext cx="425455" cy="14401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양식받기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826150B4-ABFF-45A5-8A99-DF1117D8DEB0}"/>
              </a:ext>
            </a:extLst>
          </p:cNvPr>
          <p:cNvSpPr/>
          <p:nvPr/>
        </p:nvSpPr>
        <p:spPr>
          <a:xfrm>
            <a:off x="668524" y="5409244"/>
            <a:ext cx="6121214" cy="21600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21C27341-0F79-746D-B845-D5CED5386B11}"/>
              </a:ext>
            </a:extLst>
          </p:cNvPr>
          <p:cNvSpPr>
            <a:spLocks noChangeAspect="1"/>
          </p:cNvSpPr>
          <p:nvPr/>
        </p:nvSpPr>
        <p:spPr>
          <a:xfrm>
            <a:off x="512127" y="5433073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9435FD66-203B-8D53-1F1B-B41D8A1B8658}"/>
              </a:ext>
            </a:extLst>
          </p:cNvPr>
          <p:cNvSpPr/>
          <p:nvPr/>
        </p:nvSpPr>
        <p:spPr>
          <a:xfrm>
            <a:off x="668524" y="2804444"/>
            <a:ext cx="6121214" cy="482211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613621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E3FD1-4AC9-CAA1-C871-8A4FB8B1F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CFAD3CF-7F27-6DD9-FA00-6FDD2329A177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고등학생장학금 신청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328D804-9CFA-A665-5840-C19CE22E2813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프로그램신청관리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고등학생장학금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장학금신청</a:t>
            </a: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6EE20608-F57D-C92A-651B-A8CC289F8E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6271107"/>
              </p:ext>
            </p:extLst>
          </p:nvPr>
        </p:nvGraphicFramePr>
        <p:xfrm>
          <a:off x="6969418" y="2548005"/>
          <a:ext cx="2772114" cy="1030779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프로그램신청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대학생장학금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조회 화면 목록에서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신청하기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클릭 시 보이는 화면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첨부파일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추가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] : 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추가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파일 선택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첨부 설정완료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파일받기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파일명 클릭 시 첨부된 파일 다운로드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[x]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 첨부된 해당 파일 삭제 처리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양식받기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시 추천서 양식 파일을 다운 받는다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444C9F52-15C9-310C-10BE-EBACC5FEFB72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pau_application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BE3DA3E-0C4C-CE88-CD7B-3ADDC1803781}"/>
              </a:ext>
            </a:extLst>
          </p:cNvPr>
          <p:cNvSpPr/>
          <p:nvPr/>
        </p:nvSpPr>
        <p:spPr>
          <a:xfrm>
            <a:off x="165100" y="1376363"/>
            <a:ext cx="6732116" cy="5113337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7821B7C-3FE9-D11A-3023-8BD477F2E035}"/>
              </a:ext>
            </a:extLst>
          </p:cNvPr>
          <p:cNvSpPr/>
          <p:nvPr/>
        </p:nvSpPr>
        <p:spPr>
          <a:xfrm>
            <a:off x="292846" y="1448780"/>
            <a:ext cx="1099660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800" b="1" dirty="0">
                <a:solidFill>
                  <a:prstClr val="black"/>
                </a:solidFill>
              </a:rPr>
              <a:t>대학생 장학금 신청정보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CA212F1-91A3-14BE-4517-E49B5E6EF2C2}"/>
              </a:ext>
            </a:extLst>
          </p:cNvPr>
          <p:cNvGraphicFramePr>
            <a:graphicFrameLocks noGrp="1"/>
          </p:cNvGraphicFramePr>
          <p:nvPr/>
        </p:nvGraphicFramePr>
        <p:xfrm>
          <a:off x="272480" y="1637639"/>
          <a:ext cx="6517258" cy="4225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2148">
                  <a:extLst>
                    <a:ext uri="{9D8B030D-6E8A-4147-A177-3AD203B41FA5}">
                      <a16:colId xmlns:a16="http://schemas.microsoft.com/office/drawing/2014/main" val="3668863434"/>
                    </a:ext>
                  </a:extLst>
                </a:gridCol>
                <a:gridCol w="47890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구분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대학생 장학금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894265"/>
                  </a:ext>
                </a:extLst>
              </a:tr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</a:t>
                      </a:r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하반기 대학생 장학금 신청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접수기간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2025.09.20 10:00 </a:t>
                      </a:r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~ 2025.09.30 10:00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4735">
                <a:tc rowSpan="2"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전형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4735">
                <a:tc gridSpan="2"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1090955"/>
                  </a:ext>
                </a:extLst>
              </a:tr>
              <a:tr h="234735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전형별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보험료 납입확인서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2230354"/>
                  </a:ext>
                </a:extLst>
              </a:tr>
              <a:tr h="234735">
                <a:tc rowSpan="1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공통 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추천서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주민등록초본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1958612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주민등록등본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164179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재학증명서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799673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고등학교 졸업증명서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3894158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성적증빙자료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037610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국민기초생활보장수급자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차상위계층확인서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한부모가족보호대상확인서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장애인증명서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첨부파일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8089092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8418894"/>
                  </a:ext>
                </a:extLst>
              </a:tr>
            </a:tbl>
          </a:graphicData>
        </a:graphic>
      </p:graphicFrame>
      <p:grpSp>
        <p:nvGrpSpPr>
          <p:cNvPr id="33" name="그룹 32">
            <a:extLst>
              <a:ext uri="{FF2B5EF4-FFF2-40B4-BE49-F238E27FC236}">
                <a16:creationId xmlns:a16="http://schemas.microsoft.com/office/drawing/2014/main" id="{71DD8021-34F5-A50C-43EB-69D48B571C43}"/>
              </a:ext>
            </a:extLst>
          </p:cNvPr>
          <p:cNvGrpSpPr/>
          <p:nvPr/>
        </p:nvGrpSpPr>
        <p:grpSpPr>
          <a:xfrm>
            <a:off x="2067284" y="5689301"/>
            <a:ext cx="1105196" cy="128396"/>
            <a:chOff x="3438680" y="4305150"/>
            <a:chExt cx="1105196" cy="128396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A134FFD-1ECA-D204-3D99-286B8FB378C9}"/>
                </a:ext>
              </a:extLst>
            </p:cNvPr>
            <p:cNvSpPr txBox="1"/>
            <p:nvPr/>
          </p:nvSpPr>
          <p:spPr>
            <a:xfrm>
              <a:off x="3438680" y="4305150"/>
              <a:ext cx="971420" cy="10772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신청 관련 부가 서류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35" name="Picture 10">
              <a:extLst>
                <a:ext uri="{FF2B5EF4-FFF2-40B4-BE49-F238E27FC236}">
                  <a16:creationId xmlns:a16="http://schemas.microsoft.com/office/drawing/2014/main" id="{A2A7FAF3-4EA8-F5F2-31EB-DDB9E7F463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7418" y="4312303"/>
              <a:ext cx="106458" cy="121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86C69A0B-68DB-07DC-C006-CD799E2481BA}"/>
              </a:ext>
            </a:extLst>
          </p:cNvPr>
          <p:cNvGrpSpPr/>
          <p:nvPr/>
        </p:nvGrpSpPr>
        <p:grpSpPr>
          <a:xfrm>
            <a:off x="3253697" y="5689301"/>
            <a:ext cx="1105196" cy="128396"/>
            <a:chOff x="3438680" y="4305150"/>
            <a:chExt cx="1105196" cy="128396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732D0DD-481B-C64E-00B2-F582FDFC2E59}"/>
                </a:ext>
              </a:extLst>
            </p:cNvPr>
            <p:cNvSpPr txBox="1"/>
            <p:nvPr/>
          </p:nvSpPr>
          <p:spPr>
            <a:xfrm>
              <a:off x="3438680" y="4305150"/>
              <a:ext cx="971420" cy="10772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신청 관련 부가 서류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38" name="Picture 10">
              <a:extLst>
                <a:ext uri="{FF2B5EF4-FFF2-40B4-BE49-F238E27FC236}">
                  <a16:creationId xmlns:a16="http://schemas.microsoft.com/office/drawing/2014/main" id="{898D5188-2824-9A20-7439-FF2ED83032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7418" y="4312303"/>
              <a:ext cx="106458" cy="121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22" name="그룹 121">
            <a:extLst>
              <a:ext uri="{FF2B5EF4-FFF2-40B4-BE49-F238E27FC236}">
                <a16:creationId xmlns:a16="http://schemas.microsoft.com/office/drawing/2014/main" id="{3D5C34AA-D6D4-A92B-0F33-6AE6B770131A}"/>
              </a:ext>
            </a:extLst>
          </p:cNvPr>
          <p:cNvGrpSpPr/>
          <p:nvPr/>
        </p:nvGrpSpPr>
        <p:grpSpPr>
          <a:xfrm>
            <a:off x="3185155" y="2388933"/>
            <a:ext cx="595518" cy="144462"/>
            <a:chOff x="2716253" y="2405617"/>
            <a:chExt cx="595518" cy="144462"/>
          </a:xfrm>
        </p:grpSpPr>
        <p:sp>
          <p:nvSpPr>
            <p:cNvPr id="123" name="Rectangle 191">
              <a:extLst>
                <a:ext uri="{FF2B5EF4-FFF2-40B4-BE49-F238E27FC236}">
                  <a16:creationId xmlns:a16="http://schemas.microsoft.com/office/drawing/2014/main" id="{9DD57F19-87D2-AFC4-BB50-E262A76F02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448841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근로자자녀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graphicFrame>
          <p:nvGraphicFramePr>
            <p:cNvPr id="124" name="개체 123">
              <a:extLst>
                <a:ext uri="{FF2B5EF4-FFF2-40B4-BE49-F238E27FC236}">
                  <a16:creationId xmlns:a16="http://schemas.microsoft.com/office/drawing/2014/main" id="{309EE07C-6692-36AA-00D8-7D52FA91E69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3" imgW="145435" imgH="145435" progId="Visio.Drawing.11">
                    <p:embed/>
                  </p:oleObj>
                </mc:Choice>
                <mc:Fallback>
                  <p:oleObj name="Visio" r:id="rId3" imgW="145435" imgH="145435" progId="Visio.Drawing.11">
                    <p:embed/>
                    <p:pic>
                      <p:nvPicPr>
                        <p:cNvPr id="124" name="개체 123">
                          <a:extLst>
                            <a:ext uri="{FF2B5EF4-FFF2-40B4-BE49-F238E27FC236}">
                              <a16:creationId xmlns:a16="http://schemas.microsoft.com/office/drawing/2014/main" id="{3755931F-5E18-AA1A-E77E-024C23563F8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675981EA-5D57-49E8-E266-5FA59B42DA11}"/>
              </a:ext>
            </a:extLst>
          </p:cNvPr>
          <p:cNvGrpSpPr/>
          <p:nvPr/>
        </p:nvGrpSpPr>
        <p:grpSpPr>
          <a:xfrm>
            <a:off x="3835439" y="2388933"/>
            <a:ext cx="775054" cy="144462"/>
            <a:chOff x="2716253" y="2405617"/>
            <a:chExt cx="775054" cy="144462"/>
          </a:xfrm>
        </p:grpSpPr>
        <p:sp>
          <p:nvSpPr>
            <p:cNvPr id="126" name="Rectangle 191">
              <a:extLst>
                <a:ext uri="{FF2B5EF4-FFF2-40B4-BE49-F238E27FC236}">
                  <a16:creationId xmlns:a16="http://schemas.microsoft.com/office/drawing/2014/main" id="{0483BB21-3A1F-21D1-CDA3-1F9DC3D055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628377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다자녀가정자녀</a:t>
              </a:r>
            </a:p>
          </p:txBody>
        </p:sp>
        <p:graphicFrame>
          <p:nvGraphicFramePr>
            <p:cNvPr id="127" name="개체 126">
              <a:extLst>
                <a:ext uri="{FF2B5EF4-FFF2-40B4-BE49-F238E27FC236}">
                  <a16:creationId xmlns:a16="http://schemas.microsoft.com/office/drawing/2014/main" id="{4785B924-288F-AEDF-EBEA-9EE2BF6781C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3" imgW="145435" imgH="145435" progId="Visio.Drawing.11">
                    <p:embed/>
                  </p:oleObj>
                </mc:Choice>
                <mc:Fallback>
                  <p:oleObj name="Visio" r:id="rId3" imgW="145435" imgH="145435" progId="Visio.Drawing.11">
                    <p:embed/>
                    <p:pic>
                      <p:nvPicPr>
                        <p:cNvPr id="127" name="개체 126">
                          <a:extLst>
                            <a:ext uri="{FF2B5EF4-FFF2-40B4-BE49-F238E27FC236}">
                              <a16:creationId xmlns:a16="http://schemas.microsoft.com/office/drawing/2014/main" id="{D0766CB7-DAE4-6E2A-0FAB-2365A98E98D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8" name="그룹 127">
            <a:extLst>
              <a:ext uri="{FF2B5EF4-FFF2-40B4-BE49-F238E27FC236}">
                <a16:creationId xmlns:a16="http://schemas.microsoft.com/office/drawing/2014/main" id="{C33AB6DC-D09B-7573-F740-A55DBB074DF5}"/>
              </a:ext>
            </a:extLst>
          </p:cNvPr>
          <p:cNvGrpSpPr/>
          <p:nvPr/>
        </p:nvGrpSpPr>
        <p:grpSpPr>
          <a:xfrm>
            <a:off x="4666100" y="2388933"/>
            <a:ext cx="775054" cy="144462"/>
            <a:chOff x="2716253" y="2405617"/>
            <a:chExt cx="775054" cy="144462"/>
          </a:xfrm>
        </p:grpSpPr>
        <p:sp>
          <p:nvSpPr>
            <p:cNvPr id="129" name="Rectangle 191">
              <a:extLst>
                <a:ext uri="{FF2B5EF4-FFF2-40B4-BE49-F238E27FC236}">
                  <a16:creationId xmlns:a16="http://schemas.microsoft.com/office/drawing/2014/main" id="{FABD5200-16F0-84F9-98E5-319CD8F24D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628377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다문화가정자녀</a:t>
              </a:r>
            </a:p>
          </p:txBody>
        </p:sp>
        <p:graphicFrame>
          <p:nvGraphicFramePr>
            <p:cNvPr id="130" name="개체 129">
              <a:extLst>
                <a:ext uri="{FF2B5EF4-FFF2-40B4-BE49-F238E27FC236}">
                  <a16:creationId xmlns:a16="http://schemas.microsoft.com/office/drawing/2014/main" id="{9379A963-A032-0E0E-EA62-C3EE008E925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3" imgW="145435" imgH="145435" progId="Visio.Drawing.11">
                    <p:embed/>
                  </p:oleObj>
                </mc:Choice>
                <mc:Fallback>
                  <p:oleObj name="Visio" r:id="rId3" imgW="145435" imgH="145435" progId="Visio.Drawing.11">
                    <p:embed/>
                    <p:pic>
                      <p:nvPicPr>
                        <p:cNvPr id="130" name="개체 129">
                          <a:extLst>
                            <a:ext uri="{FF2B5EF4-FFF2-40B4-BE49-F238E27FC236}">
                              <a16:creationId xmlns:a16="http://schemas.microsoft.com/office/drawing/2014/main" id="{F58F5F49-6D9D-5240-827A-FEE0A552B54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A43DFE83-ACD9-DB7B-5D4A-74BAC802C2BC}"/>
              </a:ext>
            </a:extLst>
          </p:cNvPr>
          <p:cNvSpPr/>
          <p:nvPr/>
        </p:nvSpPr>
        <p:spPr>
          <a:xfrm>
            <a:off x="2032003" y="4501177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dirty="0" err="1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국민기초생활보장수급자</a:t>
            </a:r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24146A9C-43F9-8B47-A988-F5B013E1B174}"/>
              </a:ext>
            </a:extLst>
          </p:cNvPr>
          <p:cNvSpPr/>
          <p:nvPr/>
        </p:nvSpPr>
        <p:spPr>
          <a:xfrm>
            <a:off x="3685001" y="4501169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D6902E7D-C870-E703-07CC-38C13F8B3ADD}"/>
              </a:ext>
            </a:extLst>
          </p:cNvPr>
          <p:cNvSpPr/>
          <p:nvPr/>
        </p:nvSpPr>
        <p:spPr>
          <a:xfrm>
            <a:off x="2032003" y="4733721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차상위계층확인서</a:t>
            </a:r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A3907680-1030-1D98-553A-DF9CA138DA19}"/>
              </a:ext>
            </a:extLst>
          </p:cNvPr>
          <p:cNvSpPr/>
          <p:nvPr/>
        </p:nvSpPr>
        <p:spPr>
          <a:xfrm>
            <a:off x="3685001" y="4733713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EE9CD964-B7E4-A6DE-6107-C1D42DC715F6}"/>
              </a:ext>
            </a:extLst>
          </p:cNvPr>
          <p:cNvSpPr/>
          <p:nvPr/>
        </p:nvSpPr>
        <p:spPr>
          <a:xfrm>
            <a:off x="2032003" y="4959222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D2E1FF35-CC51-CB65-0BE3-0F0600AA5E53}"/>
              </a:ext>
            </a:extLst>
          </p:cNvPr>
          <p:cNvSpPr/>
          <p:nvPr/>
        </p:nvSpPr>
        <p:spPr>
          <a:xfrm>
            <a:off x="3685001" y="4959214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24B8CB6A-329D-5684-50E5-D7234A7E57C3}"/>
              </a:ext>
            </a:extLst>
          </p:cNvPr>
          <p:cNvSpPr/>
          <p:nvPr/>
        </p:nvSpPr>
        <p:spPr>
          <a:xfrm>
            <a:off x="2032003" y="5205355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76D962B4-EE24-FD85-564C-A78FD9D92D7B}"/>
              </a:ext>
            </a:extLst>
          </p:cNvPr>
          <p:cNvSpPr/>
          <p:nvPr/>
        </p:nvSpPr>
        <p:spPr>
          <a:xfrm>
            <a:off x="3685001" y="5205347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grpSp>
        <p:nvGrpSpPr>
          <p:cNvPr id="150" name="그룹 149">
            <a:extLst>
              <a:ext uri="{FF2B5EF4-FFF2-40B4-BE49-F238E27FC236}">
                <a16:creationId xmlns:a16="http://schemas.microsoft.com/office/drawing/2014/main" id="{F6E1C296-D306-A9EE-4715-43940EF33EA5}"/>
              </a:ext>
            </a:extLst>
          </p:cNvPr>
          <p:cNvGrpSpPr/>
          <p:nvPr/>
        </p:nvGrpSpPr>
        <p:grpSpPr>
          <a:xfrm>
            <a:off x="2032003" y="3557114"/>
            <a:ext cx="2225682" cy="145176"/>
            <a:chOff x="3327015" y="2690196"/>
            <a:chExt cx="2225682" cy="145176"/>
          </a:xfrm>
        </p:grpSpPr>
        <p:sp>
          <p:nvSpPr>
            <p:cNvPr id="151" name="직사각형 150">
              <a:extLst>
                <a:ext uri="{FF2B5EF4-FFF2-40B4-BE49-F238E27FC236}">
                  <a16:creationId xmlns:a16="http://schemas.microsoft.com/office/drawing/2014/main" id="{87E7C9BC-22E2-4B4D-8A5C-5DFB89F583B4}"/>
                </a:ext>
              </a:extLst>
            </p:cNvPr>
            <p:cNvSpPr/>
            <p:nvPr/>
          </p:nvSpPr>
          <p:spPr>
            <a:xfrm>
              <a:off x="3327015" y="2691364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주민등록등본</a:t>
              </a:r>
              <a:r>
                <a:rPr kumimoji="0" lang="en-US" altLang="ko-KR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52" name="직사각형 151">
              <a:extLst>
                <a:ext uri="{FF2B5EF4-FFF2-40B4-BE49-F238E27FC236}">
                  <a16:creationId xmlns:a16="http://schemas.microsoft.com/office/drawing/2014/main" id="{E634D15E-BF17-5277-5D2A-774FE8E538D5}"/>
                </a:ext>
              </a:extLst>
            </p:cNvPr>
            <p:cNvSpPr/>
            <p:nvPr/>
          </p:nvSpPr>
          <p:spPr>
            <a:xfrm>
              <a:off x="4980013" y="2691356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제출</a:t>
              </a:r>
            </a:p>
          </p:txBody>
        </p:sp>
        <p:sp>
          <p:nvSpPr>
            <p:cNvPr id="153" name="직사각형 152">
              <a:extLst>
                <a:ext uri="{FF2B5EF4-FFF2-40B4-BE49-F238E27FC236}">
                  <a16:creationId xmlns:a16="http://schemas.microsoft.com/office/drawing/2014/main" id="{315919DE-A115-8C36-7AA2-08296DC82658}"/>
                </a:ext>
              </a:extLst>
            </p:cNvPr>
            <p:cNvSpPr/>
            <p:nvPr/>
          </p:nvSpPr>
          <p:spPr>
            <a:xfrm>
              <a:off x="5288523" y="2690196"/>
              <a:ext cx="264174" cy="144016"/>
            </a:xfrm>
            <a:prstGeom prst="rect">
              <a:avLst/>
            </a:prstGeom>
            <a:solidFill>
              <a:srgbClr val="66FF66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EC9BF255-CD7F-ED15-2D86-BE2F15BCE071}"/>
              </a:ext>
            </a:extLst>
          </p:cNvPr>
          <p:cNvSpPr/>
          <p:nvPr/>
        </p:nvSpPr>
        <p:spPr>
          <a:xfrm>
            <a:off x="3993511" y="4501210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4501C7A1-576F-5DB5-151B-6FAF5C2B15E0}"/>
              </a:ext>
            </a:extLst>
          </p:cNvPr>
          <p:cNvSpPr/>
          <p:nvPr/>
        </p:nvSpPr>
        <p:spPr>
          <a:xfrm>
            <a:off x="3993511" y="4733095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id="{300BD117-24E3-C62C-B3F3-0A6B1B9E3299}"/>
              </a:ext>
            </a:extLst>
          </p:cNvPr>
          <p:cNvSpPr/>
          <p:nvPr/>
        </p:nvSpPr>
        <p:spPr>
          <a:xfrm>
            <a:off x="3993511" y="4953319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7" name="직사각형 156">
            <a:extLst>
              <a:ext uri="{FF2B5EF4-FFF2-40B4-BE49-F238E27FC236}">
                <a16:creationId xmlns:a16="http://schemas.microsoft.com/office/drawing/2014/main" id="{0202A6FC-70AC-88FB-181D-B19A4098BEA3}"/>
              </a:ext>
            </a:extLst>
          </p:cNvPr>
          <p:cNvSpPr/>
          <p:nvPr/>
        </p:nvSpPr>
        <p:spPr>
          <a:xfrm>
            <a:off x="3993511" y="5207215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58" name="그룹 157">
            <a:extLst>
              <a:ext uri="{FF2B5EF4-FFF2-40B4-BE49-F238E27FC236}">
                <a16:creationId xmlns:a16="http://schemas.microsoft.com/office/drawing/2014/main" id="{4F671C36-6309-29A9-48A5-6DCE3596792A}"/>
              </a:ext>
            </a:extLst>
          </p:cNvPr>
          <p:cNvGrpSpPr/>
          <p:nvPr/>
        </p:nvGrpSpPr>
        <p:grpSpPr>
          <a:xfrm>
            <a:off x="2047550" y="2630380"/>
            <a:ext cx="1394613" cy="144462"/>
            <a:chOff x="2415444" y="3432217"/>
            <a:chExt cx="1394613" cy="144462"/>
          </a:xfrm>
        </p:grpSpPr>
        <p:sp>
          <p:nvSpPr>
            <p:cNvPr id="159" name="Rectangle 191">
              <a:extLst>
                <a:ext uri="{FF2B5EF4-FFF2-40B4-BE49-F238E27FC236}">
                  <a16:creationId xmlns:a16="http://schemas.microsoft.com/office/drawing/2014/main" id="{E94D2125-F7CA-B816-6F5E-80F7BDF5AB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5444" y="3444195"/>
              <a:ext cx="1394613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지역인재육성</a:t>
              </a: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(                         )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160" name="그룹 159">
              <a:extLst>
                <a:ext uri="{FF2B5EF4-FFF2-40B4-BE49-F238E27FC236}">
                  <a16:creationId xmlns:a16="http://schemas.microsoft.com/office/drawing/2014/main" id="{199DF413-12DC-E0EA-A787-1E2427377C2C}"/>
                </a:ext>
              </a:extLst>
            </p:cNvPr>
            <p:cNvGrpSpPr/>
            <p:nvPr/>
          </p:nvGrpSpPr>
          <p:grpSpPr>
            <a:xfrm>
              <a:off x="3332820" y="3432217"/>
              <a:ext cx="408030" cy="144462"/>
              <a:chOff x="2716253" y="2405617"/>
              <a:chExt cx="408030" cy="144462"/>
            </a:xfrm>
          </p:grpSpPr>
          <p:sp>
            <p:nvSpPr>
              <p:cNvPr id="164" name="Rectangle 191">
                <a:extLst>
                  <a:ext uri="{FF2B5EF4-FFF2-40B4-BE49-F238E27FC236}">
                    <a16:creationId xmlns:a16="http://schemas.microsoft.com/office/drawing/2014/main" id="{DA5F8F12-6F7B-F9D6-ACEC-143F25C7C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54979" y="2416036"/>
                <a:ext cx="269304" cy="10772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EAEAEA"/>
                    </a:solidFill>
                  </a14:hiddenFill>
                </a:ext>
                <a:ext uri="{91240B29-F687-4F45-9708-019B960494DF}">
                  <a14:hiddenLine xmlns:a14="http://schemas.microsoft.com/office/drawing/2010/main" w="635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7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만학도</a:t>
                </a:r>
                <a:endPara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graphicFrame>
            <p:nvGraphicFramePr>
              <p:cNvPr id="165" name="개체 164">
                <a:extLst>
                  <a:ext uri="{FF2B5EF4-FFF2-40B4-BE49-F238E27FC236}">
                    <a16:creationId xmlns:a16="http://schemas.microsoft.com/office/drawing/2014/main" id="{D15FDA5F-A896-CA34-DED1-79355C70AEB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716253" y="2405617"/>
              <a:ext cx="144462" cy="1444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Visio" r:id="rId3" imgW="145435" imgH="145435" progId="Visio.Drawing.11">
                      <p:embed/>
                    </p:oleObj>
                  </mc:Choice>
                  <mc:Fallback>
                    <p:oleObj name="Visio" r:id="rId3" imgW="145435" imgH="145435" progId="Visio.Drawing.11">
                      <p:embed/>
                      <p:pic>
                        <p:nvPicPr>
                          <p:cNvPr id="165" name="개체 164">
                            <a:extLst>
                              <a:ext uri="{FF2B5EF4-FFF2-40B4-BE49-F238E27FC236}">
                                <a16:creationId xmlns:a16="http://schemas.microsoft.com/office/drawing/2014/main" id="{BD3DD41F-6242-A78C-2A59-D5501BA1FCB7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16253" y="2405617"/>
                            <a:ext cx="144462" cy="1444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EAEAEA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6350" algn="ctr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61" name="그룹 160">
              <a:extLst>
                <a:ext uri="{FF2B5EF4-FFF2-40B4-BE49-F238E27FC236}">
                  <a16:creationId xmlns:a16="http://schemas.microsoft.com/office/drawing/2014/main" id="{D597A256-7935-564F-A765-A643716733EA}"/>
                </a:ext>
              </a:extLst>
            </p:cNvPr>
            <p:cNvGrpSpPr/>
            <p:nvPr/>
          </p:nvGrpSpPr>
          <p:grpSpPr>
            <a:xfrm>
              <a:off x="3000833" y="3432217"/>
              <a:ext cx="318262" cy="144462"/>
              <a:chOff x="2716253" y="2405617"/>
              <a:chExt cx="318262" cy="144462"/>
            </a:xfrm>
          </p:grpSpPr>
          <p:sp>
            <p:nvSpPr>
              <p:cNvPr id="162" name="Rectangle 191">
                <a:extLst>
                  <a:ext uri="{FF2B5EF4-FFF2-40B4-BE49-F238E27FC236}">
                    <a16:creationId xmlns:a16="http://schemas.microsoft.com/office/drawing/2014/main" id="{5260F456-347A-AD9F-5B74-62BDE3D609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54979" y="2416036"/>
                <a:ext cx="179536" cy="10772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EAEAEA"/>
                    </a:solidFill>
                  </a14:hiddenFill>
                </a:ext>
                <a:ext uri="{91240B29-F687-4F45-9708-019B960494DF}">
                  <a14:hiddenLine xmlns:a14="http://schemas.microsoft.com/office/drawing/2010/main" w="635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7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일반</a:t>
                </a:r>
              </a:p>
            </p:txBody>
          </p:sp>
          <p:graphicFrame>
            <p:nvGraphicFramePr>
              <p:cNvPr id="163" name="개체 162">
                <a:extLst>
                  <a:ext uri="{FF2B5EF4-FFF2-40B4-BE49-F238E27FC236}">
                    <a16:creationId xmlns:a16="http://schemas.microsoft.com/office/drawing/2014/main" id="{2B9B8852-C08F-54BA-E7FD-F236A2E2DF6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716253" y="2405617"/>
              <a:ext cx="144462" cy="1444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Visio" r:id="rId3" imgW="145435" imgH="145435" progId="Visio.Drawing.11">
                      <p:embed/>
                    </p:oleObj>
                  </mc:Choice>
                  <mc:Fallback>
                    <p:oleObj name="Visio" r:id="rId3" imgW="145435" imgH="145435" progId="Visio.Drawing.11">
                      <p:embed/>
                      <p:pic>
                        <p:nvPicPr>
                          <p:cNvPr id="163" name="개체 162">
                            <a:extLst>
                              <a:ext uri="{FF2B5EF4-FFF2-40B4-BE49-F238E27FC236}">
                                <a16:creationId xmlns:a16="http://schemas.microsoft.com/office/drawing/2014/main" id="{7650B989-9572-FBAF-3B38-A78984FB6BC1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16253" y="2405617"/>
                            <a:ext cx="144462" cy="1444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EAEAEA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6350" algn="ctr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166" name="그룹 165">
            <a:extLst>
              <a:ext uri="{FF2B5EF4-FFF2-40B4-BE49-F238E27FC236}">
                <a16:creationId xmlns:a16="http://schemas.microsoft.com/office/drawing/2014/main" id="{969BC68B-5C94-E87F-602F-4B70309FC710}"/>
              </a:ext>
            </a:extLst>
          </p:cNvPr>
          <p:cNvGrpSpPr/>
          <p:nvPr/>
        </p:nvGrpSpPr>
        <p:grpSpPr>
          <a:xfrm>
            <a:off x="2032003" y="3789040"/>
            <a:ext cx="2225682" cy="145176"/>
            <a:chOff x="3327015" y="2690196"/>
            <a:chExt cx="2225682" cy="145176"/>
          </a:xfrm>
        </p:grpSpPr>
        <p:sp>
          <p:nvSpPr>
            <p:cNvPr id="193" name="직사각형 192">
              <a:extLst>
                <a:ext uri="{FF2B5EF4-FFF2-40B4-BE49-F238E27FC236}">
                  <a16:creationId xmlns:a16="http://schemas.microsoft.com/office/drawing/2014/main" id="{052B0850-59E3-90A9-73C2-8CBDF6EED6FD}"/>
                </a:ext>
              </a:extLst>
            </p:cNvPr>
            <p:cNvSpPr/>
            <p:nvPr/>
          </p:nvSpPr>
          <p:spPr>
            <a:xfrm>
              <a:off x="3327015" y="2691364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재학증명서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4" name="직사각형 193">
              <a:extLst>
                <a:ext uri="{FF2B5EF4-FFF2-40B4-BE49-F238E27FC236}">
                  <a16:creationId xmlns:a16="http://schemas.microsoft.com/office/drawing/2014/main" id="{0B2CC4B2-047F-DC1D-E2A6-B2C223FF07C3}"/>
                </a:ext>
              </a:extLst>
            </p:cNvPr>
            <p:cNvSpPr/>
            <p:nvPr/>
          </p:nvSpPr>
          <p:spPr>
            <a:xfrm>
              <a:off x="4980013" y="2691356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제출</a:t>
              </a:r>
            </a:p>
          </p:txBody>
        </p:sp>
        <p:sp>
          <p:nvSpPr>
            <p:cNvPr id="197" name="직사각형 196">
              <a:extLst>
                <a:ext uri="{FF2B5EF4-FFF2-40B4-BE49-F238E27FC236}">
                  <a16:creationId xmlns:a16="http://schemas.microsoft.com/office/drawing/2014/main" id="{995E389A-946F-0514-117F-856EA46B517B}"/>
                </a:ext>
              </a:extLst>
            </p:cNvPr>
            <p:cNvSpPr/>
            <p:nvPr/>
          </p:nvSpPr>
          <p:spPr>
            <a:xfrm>
              <a:off x="5288523" y="2690196"/>
              <a:ext cx="264174" cy="144016"/>
            </a:xfrm>
            <a:prstGeom prst="rect">
              <a:avLst/>
            </a:prstGeom>
            <a:solidFill>
              <a:srgbClr val="66FF66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98" name="그룹 197">
            <a:extLst>
              <a:ext uri="{FF2B5EF4-FFF2-40B4-BE49-F238E27FC236}">
                <a16:creationId xmlns:a16="http://schemas.microsoft.com/office/drawing/2014/main" id="{CBE1AC4F-5BB4-E626-1B66-5B6BD5C14F34}"/>
              </a:ext>
            </a:extLst>
          </p:cNvPr>
          <p:cNvGrpSpPr/>
          <p:nvPr/>
        </p:nvGrpSpPr>
        <p:grpSpPr>
          <a:xfrm>
            <a:off x="2032003" y="4025166"/>
            <a:ext cx="2225682" cy="145176"/>
            <a:chOff x="3327015" y="2690196"/>
            <a:chExt cx="2225682" cy="145176"/>
          </a:xfrm>
        </p:grpSpPr>
        <p:sp>
          <p:nvSpPr>
            <p:cNvPr id="199" name="직사각형 198">
              <a:extLst>
                <a:ext uri="{FF2B5EF4-FFF2-40B4-BE49-F238E27FC236}">
                  <a16:creationId xmlns:a16="http://schemas.microsoft.com/office/drawing/2014/main" id="{924A7DD7-C098-B3DB-79F2-743B5F458DE9}"/>
                </a:ext>
              </a:extLst>
            </p:cNvPr>
            <p:cNvSpPr/>
            <p:nvPr/>
          </p:nvSpPr>
          <p:spPr>
            <a:xfrm>
              <a:off x="3327015" y="2691364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고등학교졸업증명서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00" name="직사각형 199">
              <a:extLst>
                <a:ext uri="{FF2B5EF4-FFF2-40B4-BE49-F238E27FC236}">
                  <a16:creationId xmlns:a16="http://schemas.microsoft.com/office/drawing/2014/main" id="{2BCAE27E-B5CE-E9A5-BE14-F4B59CDD3C3F}"/>
                </a:ext>
              </a:extLst>
            </p:cNvPr>
            <p:cNvSpPr/>
            <p:nvPr/>
          </p:nvSpPr>
          <p:spPr>
            <a:xfrm>
              <a:off x="4980013" y="2691356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제출</a:t>
              </a:r>
            </a:p>
          </p:txBody>
        </p:sp>
        <p:sp>
          <p:nvSpPr>
            <p:cNvPr id="201" name="직사각형 200">
              <a:extLst>
                <a:ext uri="{FF2B5EF4-FFF2-40B4-BE49-F238E27FC236}">
                  <a16:creationId xmlns:a16="http://schemas.microsoft.com/office/drawing/2014/main" id="{EFB0F70F-5191-8302-02E5-16A6444A96EC}"/>
                </a:ext>
              </a:extLst>
            </p:cNvPr>
            <p:cNvSpPr/>
            <p:nvPr/>
          </p:nvSpPr>
          <p:spPr>
            <a:xfrm>
              <a:off x="5288523" y="2690196"/>
              <a:ext cx="264174" cy="144016"/>
            </a:xfrm>
            <a:prstGeom prst="rect">
              <a:avLst/>
            </a:prstGeom>
            <a:solidFill>
              <a:srgbClr val="66FF66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206" name="그룹 205">
            <a:extLst>
              <a:ext uri="{FF2B5EF4-FFF2-40B4-BE49-F238E27FC236}">
                <a16:creationId xmlns:a16="http://schemas.microsoft.com/office/drawing/2014/main" id="{C6F29A7B-CD31-F5C0-67CB-1557A531A90B}"/>
              </a:ext>
            </a:extLst>
          </p:cNvPr>
          <p:cNvGrpSpPr/>
          <p:nvPr/>
        </p:nvGrpSpPr>
        <p:grpSpPr>
          <a:xfrm>
            <a:off x="2025603" y="2388933"/>
            <a:ext cx="505750" cy="144462"/>
            <a:chOff x="2716253" y="2405617"/>
            <a:chExt cx="505750" cy="144462"/>
          </a:xfrm>
        </p:grpSpPr>
        <p:sp>
          <p:nvSpPr>
            <p:cNvPr id="207" name="Rectangle 191">
              <a:extLst>
                <a:ext uri="{FF2B5EF4-FFF2-40B4-BE49-F238E27FC236}">
                  <a16:creationId xmlns:a16="http://schemas.microsoft.com/office/drawing/2014/main" id="{61641366-2536-66B4-DF1B-FA33C0E614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359073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우수인재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graphicFrame>
          <p:nvGraphicFramePr>
            <p:cNvPr id="208" name="개체 207">
              <a:extLst>
                <a:ext uri="{FF2B5EF4-FFF2-40B4-BE49-F238E27FC236}">
                  <a16:creationId xmlns:a16="http://schemas.microsoft.com/office/drawing/2014/main" id="{75DAC499-842A-70D8-8816-09CAEC9B806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3" imgW="145435" imgH="145435" progId="Visio.Drawing.11">
                    <p:embed/>
                  </p:oleObj>
                </mc:Choice>
                <mc:Fallback>
                  <p:oleObj name="Visio" r:id="rId3" imgW="145435" imgH="145435" progId="Visio.Drawing.11">
                    <p:embed/>
                    <p:pic>
                      <p:nvPicPr>
                        <p:cNvPr id="208" name="개체 207">
                          <a:extLst>
                            <a:ext uri="{FF2B5EF4-FFF2-40B4-BE49-F238E27FC236}">
                              <a16:creationId xmlns:a16="http://schemas.microsoft.com/office/drawing/2014/main" id="{9EAA3413-EE4B-2967-53A8-3F6ED70E2D1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9" name="그룹 208">
            <a:extLst>
              <a:ext uri="{FF2B5EF4-FFF2-40B4-BE49-F238E27FC236}">
                <a16:creationId xmlns:a16="http://schemas.microsoft.com/office/drawing/2014/main" id="{0EDD0C46-5A66-6922-5E86-A78C14B9018F}"/>
              </a:ext>
            </a:extLst>
          </p:cNvPr>
          <p:cNvGrpSpPr/>
          <p:nvPr/>
        </p:nvGrpSpPr>
        <p:grpSpPr>
          <a:xfrm>
            <a:off x="2604106" y="2394819"/>
            <a:ext cx="506433" cy="144463"/>
            <a:chOff x="3327015" y="1527346"/>
            <a:chExt cx="506433" cy="144463"/>
          </a:xfrm>
        </p:grpSpPr>
        <p:sp>
          <p:nvSpPr>
            <p:cNvPr id="210" name="Rectangle 191">
              <a:extLst>
                <a:ext uri="{FF2B5EF4-FFF2-40B4-BE49-F238E27FC236}">
                  <a16:creationId xmlns:a16="http://schemas.microsoft.com/office/drawing/2014/main" id="{C462EFB2-DAC1-3A82-8158-39A107C8FE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4375" y="1539830"/>
              <a:ext cx="359073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희망인재</a:t>
              </a:r>
            </a:p>
          </p:txBody>
        </p:sp>
        <p:graphicFrame>
          <p:nvGraphicFramePr>
            <p:cNvPr id="211" name="개체 210">
              <a:extLst>
                <a:ext uri="{FF2B5EF4-FFF2-40B4-BE49-F238E27FC236}">
                  <a16:creationId xmlns:a16="http://schemas.microsoft.com/office/drawing/2014/main" id="{493BD746-E733-6B3A-1BB8-141AFCD6CD3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27015" y="1527346"/>
            <a:ext cx="144462" cy="144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5" imgW="145435" imgH="145435" progId="Visio.Drawing.11">
                    <p:embed/>
                  </p:oleObj>
                </mc:Choice>
                <mc:Fallback>
                  <p:oleObj name="Visio" r:id="rId5" imgW="145435" imgH="145435" progId="Visio.Drawing.11">
                    <p:embed/>
                    <p:pic>
                      <p:nvPicPr>
                        <p:cNvPr id="211" name="개체 210">
                          <a:extLst>
                            <a:ext uri="{FF2B5EF4-FFF2-40B4-BE49-F238E27FC236}">
                              <a16:creationId xmlns:a16="http://schemas.microsoft.com/office/drawing/2014/main" id="{AA4B1F09-E90F-72AA-EBD2-FDF5A108742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27015" y="1527346"/>
                          <a:ext cx="144462" cy="1444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4" name="직사각형 213">
            <a:extLst>
              <a:ext uri="{FF2B5EF4-FFF2-40B4-BE49-F238E27FC236}">
                <a16:creationId xmlns:a16="http://schemas.microsoft.com/office/drawing/2014/main" id="{18E788DF-9FBC-9AED-6B98-5150A864B45A}"/>
              </a:ext>
            </a:extLst>
          </p:cNvPr>
          <p:cNvSpPr/>
          <p:nvPr/>
        </p:nvSpPr>
        <p:spPr>
          <a:xfrm>
            <a:off x="6397011" y="5967304"/>
            <a:ext cx="392727" cy="19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목록</a:t>
            </a:r>
          </a:p>
        </p:txBody>
      </p:sp>
      <p:sp>
        <p:nvSpPr>
          <p:cNvPr id="215" name="직사각형 214">
            <a:extLst>
              <a:ext uri="{FF2B5EF4-FFF2-40B4-BE49-F238E27FC236}">
                <a16:creationId xmlns:a16="http://schemas.microsoft.com/office/drawing/2014/main" id="{0D9D9EA6-B139-74DA-1B8C-10B9E4AE4BA1}"/>
              </a:ext>
            </a:extLst>
          </p:cNvPr>
          <p:cNvSpPr/>
          <p:nvPr/>
        </p:nvSpPr>
        <p:spPr>
          <a:xfrm>
            <a:off x="5936915" y="5967304"/>
            <a:ext cx="392727" cy="198000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신청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23CC833-82F1-9951-4322-D500F0954540}"/>
              </a:ext>
            </a:extLst>
          </p:cNvPr>
          <p:cNvSpPr/>
          <p:nvPr/>
        </p:nvSpPr>
        <p:spPr>
          <a:xfrm>
            <a:off x="3032195" y="3319445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주민등록초본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434BAFE-425C-AECD-8066-3C4FD06E3BBE}"/>
              </a:ext>
            </a:extLst>
          </p:cNvPr>
          <p:cNvSpPr/>
          <p:nvPr/>
        </p:nvSpPr>
        <p:spPr>
          <a:xfrm>
            <a:off x="4685193" y="3319437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6767EC0-926E-5DBA-F638-5A2A0F51D1BD}"/>
              </a:ext>
            </a:extLst>
          </p:cNvPr>
          <p:cNvSpPr/>
          <p:nvPr/>
        </p:nvSpPr>
        <p:spPr>
          <a:xfrm>
            <a:off x="4993600" y="3319429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</a:p>
        </p:txBody>
      </p:sp>
      <p:sp>
        <p:nvSpPr>
          <p:cNvPr id="15" name="Rectangle 191">
            <a:extLst>
              <a:ext uri="{FF2B5EF4-FFF2-40B4-BE49-F238E27FC236}">
                <a16:creationId xmlns:a16="http://schemas.microsoft.com/office/drawing/2014/main" id="{431E6120-6694-3904-4586-7040466CF9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0841" y="3328401"/>
            <a:ext cx="17953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첨부</a:t>
            </a:r>
          </a:p>
        </p:txBody>
      </p:sp>
      <p:sp>
        <p:nvSpPr>
          <p:cNvPr id="16" name="Rectangle 191">
            <a:extLst>
              <a:ext uri="{FF2B5EF4-FFF2-40B4-BE49-F238E27FC236}">
                <a16:creationId xmlns:a16="http://schemas.microsoft.com/office/drawing/2014/main" id="{9CD82FEB-6F57-ACF2-275F-FA59F0BB52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5603" y="3336778"/>
            <a:ext cx="359073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거주기간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07E0D38-09DA-85CC-F224-667194C045F4}"/>
              </a:ext>
            </a:extLst>
          </p:cNvPr>
          <p:cNvSpPr/>
          <p:nvPr/>
        </p:nvSpPr>
        <p:spPr>
          <a:xfrm>
            <a:off x="2408935" y="3315420"/>
            <a:ext cx="36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년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104247F-1A86-56A5-FCAF-E84912C557DD}"/>
              </a:ext>
            </a:extLst>
          </p:cNvPr>
          <p:cNvSpPr/>
          <p:nvPr/>
        </p:nvSpPr>
        <p:spPr>
          <a:xfrm>
            <a:off x="2887374" y="4261083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성적증빙자료</a:t>
            </a:r>
            <a:r>
              <a:rPr kumimoji="0" lang="en-US" altLang="ko-KR" sz="7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.zip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55923DE-487B-6D44-5C55-C14B226C3630}"/>
              </a:ext>
            </a:extLst>
          </p:cNvPr>
          <p:cNvSpPr/>
          <p:nvPr/>
        </p:nvSpPr>
        <p:spPr>
          <a:xfrm>
            <a:off x="4540372" y="4261075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C61E748-CAF1-D20A-FFE5-5F23971B8E8D}"/>
              </a:ext>
            </a:extLst>
          </p:cNvPr>
          <p:cNvSpPr/>
          <p:nvPr/>
        </p:nvSpPr>
        <p:spPr>
          <a:xfrm>
            <a:off x="4848882" y="4261075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Rectangle 191">
            <a:extLst>
              <a:ext uri="{FF2B5EF4-FFF2-40B4-BE49-F238E27FC236}">
                <a16:creationId xmlns:a16="http://schemas.microsoft.com/office/drawing/2014/main" id="{6BCA2AD2-934C-8B98-D26D-847260D3C8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4750" y="4282441"/>
            <a:ext cx="17953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성적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C7E6E99-E241-B2C9-04C8-C75A0DAA5C9D}"/>
              </a:ext>
            </a:extLst>
          </p:cNvPr>
          <p:cNvSpPr/>
          <p:nvPr/>
        </p:nvSpPr>
        <p:spPr>
          <a:xfrm>
            <a:off x="2259384" y="4261083"/>
            <a:ext cx="36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4.5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0" name="Rectangle 191">
            <a:extLst>
              <a:ext uri="{FF2B5EF4-FFF2-40B4-BE49-F238E27FC236}">
                <a16:creationId xmlns:a16="http://schemas.microsoft.com/office/drawing/2014/main" id="{0D9A6576-463B-41F4-0FF6-1F433CD99A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7919" y="4282441"/>
            <a:ext cx="17953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첨부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73BA63F5-3F96-D866-63DE-0BB022EE1E46}"/>
              </a:ext>
            </a:extLst>
          </p:cNvPr>
          <p:cNvSpPr>
            <a:spLocks noChangeAspect="1"/>
          </p:cNvSpPr>
          <p:nvPr/>
        </p:nvSpPr>
        <p:spPr>
          <a:xfrm>
            <a:off x="2855250" y="2240868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6B0B26BD-1B86-305D-A52C-154532C71F1D}"/>
              </a:ext>
            </a:extLst>
          </p:cNvPr>
          <p:cNvSpPr>
            <a:spLocks noChangeAspect="1"/>
          </p:cNvSpPr>
          <p:nvPr/>
        </p:nvSpPr>
        <p:spPr>
          <a:xfrm>
            <a:off x="512127" y="2853383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8C236F99-221E-411D-187A-898D289E31BD}"/>
              </a:ext>
            </a:extLst>
          </p:cNvPr>
          <p:cNvSpPr>
            <a:spLocks noChangeAspect="1"/>
          </p:cNvSpPr>
          <p:nvPr/>
        </p:nvSpPr>
        <p:spPr>
          <a:xfrm>
            <a:off x="512127" y="3305102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1EB104DA-C885-A060-0177-8D48CAB01ACF}"/>
              </a:ext>
            </a:extLst>
          </p:cNvPr>
          <p:cNvSpPr>
            <a:spLocks noChangeAspect="1"/>
          </p:cNvSpPr>
          <p:nvPr/>
        </p:nvSpPr>
        <p:spPr>
          <a:xfrm>
            <a:off x="512127" y="4270016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11855C8C-8629-D3F0-0DC2-317D40600CE7}"/>
              </a:ext>
            </a:extLst>
          </p:cNvPr>
          <p:cNvGrpSpPr/>
          <p:nvPr/>
        </p:nvGrpSpPr>
        <p:grpSpPr>
          <a:xfrm>
            <a:off x="2028272" y="2852936"/>
            <a:ext cx="3660710" cy="144016"/>
            <a:chOff x="2008170" y="2687952"/>
            <a:chExt cx="3660710" cy="144016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67DE88DB-EB42-78EB-1212-FB463625C533}"/>
                </a:ext>
              </a:extLst>
            </p:cNvPr>
            <p:cNvSpPr/>
            <p:nvPr/>
          </p:nvSpPr>
          <p:spPr>
            <a:xfrm>
              <a:off x="3443301" y="2687960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보험료납입확인서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9F92905E-7FAF-A724-4E2E-E0F2C5F51C9E}"/>
                </a:ext>
              </a:extLst>
            </p:cNvPr>
            <p:cNvSpPr/>
            <p:nvPr/>
          </p:nvSpPr>
          <p:spPr>
            <a:xfrm>
              <a:off x="5096299" y="2687952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제출</a:t>
              </a: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586192A7-EC52-AB88-1BE9-CB26F34B499D}"/>
                </a:ext>
              </a:extLst>
            </p:cNvPr>
            <p:cNvSpPr/>
            <p:nvPr/>
          </p:nvSpPr>
          <p:spPr>
            <a:xfrm>
              <a:off x="5404706" y="2687952"/>
              <a:ext cx="264174" cy="144016"/>
            </a:xfrm>
            <a:prstGeom prst="rect">
              <a:avLst/>
            </a:prstGeom>
            <a:solidFill>
              <a:srgbClr val="66FF66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받기</a:t>
              </a:r>
            </a:p>
          </p:txBody>
        </p:sp>
        <p:sp>
          <p:nvSpPr>
            <p:cNvPr id="39" name="Rectangle 191">
              <a:extLst>
                <a:ext uri="{FF2B5EF4-FFF2-40B4-BE49-F238E27FC236}">
                  <a16:creationId xmlns:a16="http://schemas.microsoft.com/office/drawing/2014/main" id="{026AA683-AB52-27CC-072F-5F938756D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1673" y="2706099"/>
              <a:ext cx="179536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첨부</a:t>
              </a:r>
            </a:p>
          </p:txBody>
        </p:sp>
        <p:sp>
          <p:nvSpPr>
            <p:cNvPr id="40" name="Rectangle 191">
              <a:extLst>
                <a:ext uri="{FF2B5EF4-FFF2-40B4-BE49-F238E27FC236}">
                  <a16:creationId xmlns:a16="http://schemas.microsoft.com/office/drawing/2014/main" id="{2F137640-8A9E-034A-55E5-CEDA15AF0D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8170" y="2706099"/>
              <a:ext cx="750205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700" kern="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납부액</a:t>
              </a:r>
              <a:r>
                <a:rPr lang="en-US" altLang="ko-KR" sz="700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700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부</a:t>
              </a:r>
              <a:r>
                <a:rPr lang="en-US" altLang="ko-KR" sz="700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700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모 합산</a:t>
              </a:r>
              <a:r>
                <a:rPr lang="en-US" altLang="ko-KR" sz="700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A5A63489-90AF-A548-98F7-C079A729F93D}"/>
                </a:ext>
              </a:extLst>
            </p:cNvPr>
            <p:cNvSpPr/>
            <p:nvPr/>
          </p:nvSpPr>
          <p:spPr>
            <a:xfrm>
              <a:off x="2784941" y="2687960"/>
              <a:ext cx="432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dirty="0">
                  <a:solidFill>
                    <a:prstClr val="black">
                      <a:lumMod val="95000"/>
                      <a:lumOff val="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30,000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A122730D-99B1-68B6-845F-8332967BF0CC}"/>
              </a:ext>
            </a:extLst>
          </p:cNvPr>
          <p:cNvGrpSpPr/>
          <p:nvPr/>
        </p:nvGrpSpPr>
        <p:grpSpPr>
          <a:xfrm>
            <a:off x="2032786" y="3084862"/>
            <a:ext cx="2704513" cy="144016"/>
            <a:chOff x="1897884" y="2847629"/>
            <a:chExt cx="2704513" cy="144016"/>
          </a:xfrm>
        </p:grpSpPr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01A32512-BB26-39EC-543E-AA523762E67B}"/>
                </a:ext>
              </a:extLst>
            </p:cNvPr>
            <p:cNvSpPr/>
            <p:nvPr/>
          </p:nvSpPr>
          <p:spPr>
            <a:xfrm>
              <a:off x="1897884" y="2847637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추천서</a:t>
              </a:r>
              <a:r>
                <a:rPr kumimoji="0" lang="en-US" altLang="ko-KR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ABE96595-9263-9466-FCF5-9437F1E4B83C}"/>
                </a:ext>
              </a:extLst>
            </p:cNvPr>
            <p:cNvSpPr/>
            <p:nvPr/>
          </p:nvSpPr>
          <p:spPr>
            <a:xfrm>
              <a:off x="3550882" y="2847629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제출</a:t>
              </a: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BD9A15EB-7CD0-3E7B-7C62-53A0A41A5C8C}"/>
                </a:ext>
              </a:extLst>
            </p:cNvPr>
            <p:cNvSpPr/>
            <p:nvPr/>
          </p:nvSpPr>
          <p:spPr>
            <a:xfrm>
              <a:off x="3859392" y="2847629"/>
              <a:ext cx="264174" cy="144016"/>
            </a:xfrm>
            <a:prstGeom prst="rect">
              <a:avLst/>
            </a:prstGeom>
            <a:solidFill>
              <a:srgbClr val="66FF66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DCC74BD9-3B25-E068-B4A5-CC4512F00D56}"/>
                </a:ext>
              </a:extLst>
            </p:cNvPr>
            <p:cNvSpPr/>
            <p:nvPr/>
          </p:nvSpPr>
          <p:spPr>
            <a:xfrm>
              <a:off x="4176942" y="2847629"/>
              <a:ext cx="425455" cy="14401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양식받기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BA0DCEAB-96B6-160D-A8A5-E3F94C922762}"/>
              </a:ext>
            </a:extLst>
          </p:cNvPr>
          <p:cNvGrpSpPr/>
          <p:nvPr/>
        </p:nvGrpSpPr>
        <p:grpSpPr>
          <a:xfrm>
            <a:off x="2037669" y="5434238"/>
            <a:ext cx="2386963" cy="144016"/>
            <a:chOff x="1897884" y="4476806"/>
            <a:chExt cx="2386963" cy="144016"/>
          </a:xfrm>
        </p:grpSpPr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95E2308C-E0D6-DCA3-B06F-942028012168}"/>
                </a:ext>
              </a:extLst>
            </p:cNvPr>
            <p:cNvSpPr/>
            <p:nvPr/>
          </p:nvSpPr>
          <p:spPr>
            <a:xfrm>
              <a:off x="1897884" y="4476814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3242CF3F-EE6F-EC0F-F71D-ECC86B57D1ED}"/>
                </a:ext>
              </a:extLst>
            </p:cNvPr>
            <p:cNvSpPr/>
            <p:nvPr/>
          </p:nvSpPr>
          <p:spPr>
            <a:xfrm>
              <a:off x="3550882" y="4476806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추가</a:t>
              </a: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52537A08-E3B0-0130-52BF-A547C670A393}"/>
                </a:ext>
              </a:extLst>
            </p:cNvPr>
            <p:cNvSpPr/>
            <p:nvPr/>
          </p:nvSpPr>
          <p:spPr>
            <a:xfrm>
              <a:off x="3859392" y="4476806"/>
              <a:ext cx="425455" cy="14401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양식받기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72221FD-E1A6-F8F1-2199-2AF0CFC0A1BC}"/>
              </a:ext>
            </a:extLst>
          </p:cNvPr>
          <p:cNvSpPr/>
          <p:nvPr/>
        </p:nvSpPr>
        <p:spPr>
          <a:xfrm>
            <a:off x="668524" y="5409244"/>
            <a:ext cx="6121214" cy="21600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5CC9A848-286E-173C-823C-DA4D9B42808A}"/>
              </a:ext>
            </a:extLst>
          </p:cNvPr>
          <p:cNvSpPr>
            <a:spLocks noChangeAspect="1"/>
          </p:cNvSpPr>
          <p:nvPr/>
        </p:nvSpPr>
        <p:spPr>
          <a:xfrm>
            <a:off x="512127" y="5433073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FB12FA6E-45A1-5126-AE73-BCCDC92EA536}"/>
              </a:ext>
            </a:extLst>
          </p:cNvPr>
          <p:cNvSpPr/>
          <p:nvPr/>
        </p:nvSpPr>
        <p:spPr>
          <a:xfrm>
            <a:off x="668524" y="2804444"/>
            <a:ext cx="6121214" cy="482211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228129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C1FF1-2CFC-2C1F-657F-7BDCB1007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395C51B-04E9-D237-E1BC-BABA3F241BBF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고등학생장학금 신청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9A722D4-864E-602A-E7B3-94FA92E8723E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프로그램신청관리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고등학생장학금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장학금신청</a:t>
            </a: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36F616C0-4F6F-B71C-5FCF-AF4059BF2D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3489015"/>
              </p:ext>
            </p:extLst>
          </p:nvPr>
        </p:nvGraphicFramePr>
        <p:xfrm>
          <a:off x="6969418" y="2548005"/>
          <a:ext cx="2772114" cy="3281219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프로그램신청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대학생장학금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조회 화면 목록에서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신청하기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클릭 시 보이는 화면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전형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근로자자녀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전형별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기업체 재직 증명서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가족관계증명서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한국노총오산시지부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장학생 추천서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기업체 재직 증명서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재직기간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신청 회원 부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모의 재직기간을 입력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첨부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제출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제출 서류 파일 선택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첨부완료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받기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시 첨부된 제출 서류 파일 다운로드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가족관계증명서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가족인원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신청 회원의 가족인원 수를 입력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첨부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제출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제출 서류 파일 선택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첨부완료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받기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시 첨부된 제출 서류 파일 다운로드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추천서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첨부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제출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제출 서류 파일 선택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첨부완료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받기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시 첨부된 제출 서류 파일 다운로드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양식받기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시 추천서 양식 파일을 다운 받는다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주민등록초본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거주기간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신청 회원의 거주기간을 입력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첨부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제출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제출 서류 파일 선택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첨부완료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받기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시 첨부된 제출 서류 파일 다운로드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9477B377-5D1E-4351-FD5A-77A213AEDD10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pau_application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F4C48E0-E5E0-5F64-281B-758064B0F155}"/>
              </a:ext>
            </a:extLst>
          </p:cNvPr>
          <p:cNvSpPr/>
          <p:nvPr/>
        </p:nvSpPr>
        <p:spPr>
          <a:xfrm>
            <a:off x="165100" y="1376363"/>
            <a:ext cx="6732116" cy="5292997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1F7920D-E39C-A18B-F9D8-25F9B7AF920E}"/>
              </a:ext>
            </a:extLst>
          </p:cNvPr>
          <p:cNvSpPr/>
          <p:nvPr/>
        </p:nvSpPr>
        <p:spPr>
          <a:xfrm>
            <a:off x="292846" y="1448780"/>
            <a:ext cx="1099660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800" b="1" dirty="0">
                <a:solidFill>
                  <a:prstClr val="black"/>
                </a:solidFill>
              </a:rPr>
              <a:t>대학생 장학금 신청정보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5BDAEA5-A87A-1EF8-3647-4263CD27F9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162937"/>
              </p:ext>
            </p:extLst>
          </p:nvPr>
        </p:nvGraphicFramePr>
        <p:xfrm>
          <a:off x="272480" y="1628406"/>
          <a:ext cx="6517258" cy="4694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3668863434"/>
                    </a:ext>
                  </a:extLst>
                </a:gridCol>
                <a:gridCol w="46090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구분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대학생 장학금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894265"/>
                  </a:ext>
                </a:extLst>
              </a:tr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</a:t>
                      </a:r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하반기 대학생 장학금 신청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접수기간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2025.09.20 10:00 </a:t>
                      </a:r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~ 2025.09.30 10:00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4735">
                <a:tc rowSpan="2"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전형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4735">
                <a:tc gridSpan="2"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1090955"/>
                  </a:ext>
                </a:extLst>
              </a:tr>
              <a:tr h="234735">
                <a:tc rowSpan="3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전형별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기업체 재직증명서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2230354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가족관계증명서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1414596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한국노총오산시지부장학생추천서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3500795"/>
                  </a:ext>
                </a:extLst>
              </a:tr>
              <a:tr h="234735">
                <a:tc rowSpan="1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공통 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추천서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주민등록초본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1958612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주민등록등본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164179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재학증명서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799673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고등학교 졸업증명서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3894158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성적증빙자료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037610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국민기초생활보장수급자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차상위계층확인서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한부모가족보호대상확인서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장애인증명서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첨부파일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8089092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8418894"/>
                  </a:ext>
                </a:extLst>
              </a:tr>
            </a:tbl>
          </a:graphicData>
        </a:graphic>
      </p:graphicFrame>
      <p:grpSp>
        <p:nvGrpSpPr>
          <p:cNvPr id="92" name="그룹 91">
            <a:extLst>
              <a:ext uri="{FF2B5EF4-FFF2-40B4-BE49-F238E27FC236}">
                <a16:creationId xmlns:a16="http://schemas.microsoft.com/office/drawing/2014/main" id="{53E14F2C-75DD-88A2-6B85-0A34839DA673}"/>
              </a:ext>
            </a:extLst>
          </p:cNvPr>
          <p:cNvGrpSpPr/>
          <p:nvPr/>
        </p:nvGrpSpPr>
        <p:grpSpPr>
          <a:xfrm>
            <a:off x="2788366" y="2371270"/>
            <a:ext cx="505750" cy="144462"/>
            <a:chOff x="2716253" y="2405617"/>
            <a:chExt cx="505750" cy="144462"/>
          </a:xfrm>
        </p:grpSpPr>
        <p:sp>
          <p:nvSpPr>
            <p:cNvPr id="93" name="Rectangle 191">
              <a:extLst>
                <a:ext uri="{FF2B5EF4-FFF2-40B4-BE49-F238E27FC236}">
                  <a16:creationId xmlns:a16="http://schemas.microsoft.com/office/drawing/2014/main" id="{E6F85ECC-E5B1-0E4D-1407-6CBA1B38CE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359073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희망인재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graphicFrame>
          <p:nvGraphicFramePr>
            <p:cNvPr id="94" name="개체 93">
              <a:extLst>
                <a:ext uri="{FF2B5EF4-FFF2-40B4-BE49-F238E27FC236}">
                  <a16:creationId xmlns:a16="http://schemas.microsoft.com/office/drawing/2014/main" id="{62AB51B4-B505-5358-4690-666E17A2361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2" imgW="145435" imgH="145435" progId="Visio.Drawing.11">
                    <p:embed/>
                  </p:oleObj>
                </mc:Choice>
                <mc:Fallback>
                  <p:oleObj name="Visio" r:id="rId2" imgW="145435" imgH="145435" progId="Visio.Drawing.11">
                    <p:embed/>
                    <p:pic>
                      <p:nvPicPr>
                        <p:cNvPr id="12" name="개체 11">
                          <a:extLst>
                            <a:ext uri="{FF2B5EF4-FFF2-40B4-BE49-F238E27FC236}">
                              <a16:creationId xmlns:a16="http://schemas.microsoft.com/office/drawing/2014/main" id="{50632CDD-31FA-20FB-D93E-785FDBF9D70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A650D50F-155C-4527-A077-3A8BF7822629}"/>
              </a:ext>
            </a:extLst>
          </p:cNvPr>
          <p:cNvGrpSpPr/>
          <p:nvPr/>
        </p:nvGrpSpPr>
        <p:grpSpPr>
          <a:xfrm>
            <a:off x="4015459" y="2371270"/>
            <a:ext cx="775054" cy="144462"/>
            <a:chOff x="2716253" y="2405617"/>
            <a:chExt cx="775054" cy="144462"/>
          </a:xfrm>
        </p:grpSpPr>
        <p:sp>
          <p:nvSpPr>
            <p:cNvPr id="96" name="Rectangle 191">
              <a:extLst>
                <a:ext uri="{FF2B5EF4-FFF2-40B4-BE49-F238E27FC236}">
                  <a16:creationId xmlns:a16="http://schemas.microsoft.com/office/drawing/2014/main" id="{AFBD7B83-563F-47E5-DBCB-46B99820E8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628377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다자녀가정자녀</a:t>
              </a:r>
            </a:p>
          </p:txBody>
        </p:sp>
        <p:graphicFrame>
          <p:nvGraphicFramePr>
            <p:cNvPr id="97" name="개체 96">
              <a:extLst>
                <a:ext uri="{FF2B5EF4-FFF2-40B4-BE49-F238E27FC236}">
                  <a16:creationId xmlns:a16="http://schemas.microsoft.com/office/drawing/2014/main" id="{CFD89188-6E3B-18CA-D76F-003FA9E1D8C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2" imgW="145435" imgH="145435" progId="Visio.Drawing.11">
                    <p:embed/>
                  </p:oleObj>
                </mc:Choice>
                <mc:Fallback>
                  <p:oleObj name="Visio" r:id="rId2" imgW="145435" imgH="145435" progId="Visio.Drawing.11">
                    <p:embed/>
                    <p:pic>
                      <p:nvPicPr>
                        <p:cNvPr id="18" name="개체 17">
                          <a:extLst>
                            <a:ext uri="{FF2B5EF4-FFF2-40B4-BE49-F238E27FC236}">
                              <a16:creationId xmlns:a16="http://schemas.microsoft.com/office/drawing/2014/main" id="{A22B6FB6-7011-FBC9-3CF3-4ABAEA28557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AB16FB75-996D-DE68-2ECB-E4A2AF4194BC}"/>
              </a:ext>
            </a:extLst>
          </p:cNvPr>
          <p:cNvGrpSpPr/>
          <p:nvPr/>
        </p:nvGrpSpPr>
        <p:grpSpPr>
          <a:xfrm>
            <a:off x="4846120" y="2371270"/>
            <a:ext cx="775054" cy="144462"/>
            <a:chOff x="2716253" y="2405617"/>
            <a:chExt cx="775054" cy="144462"/>
          </a:xfrm>
        </p:grpSpPr>
        <p:sp>
          <p:nvSpPr>
            <p:cNvPr id="99" name="Rectangle 191">
              <a:extLst>
                <a:ext uri="{FF2B5EF4-FFF2-40B4-BE49-F238E27FC236}">
                  <a16:creationId xmlns:a16="http://schemas.microsoft.com/office/drawing/2014/main" id="{1188EB14-751E-0776-D246-F9AED8CBC2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628377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다문화가정자녀</a:t>
              </a:r>
            </a:p>
          </p:txBody>
        </p:sp>
        <p:graphicFrame>
          <p:nvGraphicFramePr>
            <p:cNvPr id="100" name="개체 99">
              <a:extLst>
                <a:ext uri="{FF2B5EF4-FFF2-40B4-BE49-F238E27FC236}">
                  <a16:creationId xmlns:a16="http://schemas.microsoft.com/office/drawing/2014/main" id="{8921A0C8-8CBE-636A-612A-4EAFF0F10D5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2" imgW="145435" imgH="145435" progId="Visio.Drawing.11">
                    <p:embed/>
                  </p:oleObj>
                </mc:Choice>
                <mc:Fallback>
                  <p:oleObj name="Visio" r:id="rId2" imgW="145435" imgH="145435" progId="Visio.Drawing.11">
                    <p:embed/>
                    <p:pic>
                      <p:nvPicPr>
                        <p:cNvPr id="22" name="개체 21">
                          <a:extLst>
                            <a:ext uri="{FF2B5EF4-FFF2-40B4-BE49-F238E27FC236}">
                              <a16:creationId xmlns:a16="http://schemas.microsoft.com/office/drawing/2014/main" id="{F1F3C3A0-8F86-361F-E901-68B9E78C87D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F37A17B0-3F12-66BA-9A3C-6003492173E3}"/>
              </a:ext>
            </a:extLst>
          </p:cNvPr>
          <p:cNvSpPr/>
          <p:nvPr/>
        </p:nvSpPr>
        <p:spPr>
          <a:xfrm>
            <a:off x="2212023" y="4961278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dirty="0" err="1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국민기초생활보장수급자</a:t>
            </a:r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A0390469-BDA7-787A-7AC2-9CF63E487E6C}"/>
              </a:ext>
            </a:extLst>
          </p:cNvPr>
          <p:cNvSpPr/>
          <p:nvPr/>
        </p:nvSpPr>
        <p:spPr>
          <a:xfrm>
            <a:off x="3865021" y="4961270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289019F2-4BE2-B509-4B4E-42C3561A8094}"/>
              </a:ext>
            </a:extLst>
          </p:cNvPr>
          <p:cNvSpPr/>
          <p:nvPr/>
        </p:nvSpPr>
        <p:spPr>
          <a:xfrm>
            <a:off x="2212023" y="5193822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차상위계층확인서</a:t>
            </a:r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090C08AA-9615-AD16-D518-C037CA17AD87}"/>
              </a:ext>
            </a:extLst>
          </p:cNvPr>
          <p:cNvSpPr/>
          <p:nvPr/>
        </p:nvSpPr>
        <p:spPr>
          <a:xfrm>
            <a:off x="3865021" y="5193814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0754FF2B-D593-79DF-81FB-C99AB0C361F2}"/>
              </a:ext>
            </a:extLst>
          </p:cNvPr>
          <p:cNvSpPr/>
          <p:nvPr/>
        </p:nvSpPr>
        <p:spPr>
          <a:xfrm>
            <a:off x="2212023" y="5423074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AF954A1B-42C7-FBBD-FE5A-FCC4F7CCB1AF}"/>
              </a:ext>
            </a:extLst>
          </p:cNvPr>
          <p:cNvSpPr/>
          <p:nvPr/>
        </p:nvSpPr>
        <p:spPr>
          <a:xfrm>
            <a:off x="3865021" y="5423066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D87A2D31-01A0-A5D9-45D4-5804CCFF059A}"/>
              </a:ext>
            </a:extLst>
          </p:cNvPr>
          <p:cNvSpPr/>
          <p:nvPr/>
        </p:nvSpPr>
        <p:spPr>
          <a:xfrm>
            <a:off x="2212023" y="5661256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48423539-CE38-A310-9999-76AF03DFDCC9}"/>
              </a:ext>
            </a:extLst>
          </p:cNvPr>
          <p:cNvSpPr/>
          <p:nvPr/>
        </p:nvSpPr>
        <p:spPr>
          <a:xfrm>
            <a:off x="3865021" y="5661248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CE291EE9-8F84-21A1-400B-D70B3B5470B3}"/>
              </a:ext>
            </a:extLst>
          </p:cNvPr>
          <p:cNvGrpSpPr/>
          <p:nvPr/>
        </p:nvGrpSpPr>
        <p:grpSpPr>
          <a:xfrm>
            <a:off x="2229343" y="6149402"/>
            <a:ext cx="1105196" cy="128396"/>
            <a:chOff x="3438680" y="4305150"/>
            <a:chExt cx="1105196" cy="128396"/>
          </a:xfrm>
        </p:grpSpPr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46DD4440-9E53-5E07-5208-EBEA7F81BB0F}"/>
                </a:ext>
              </a:extLst>
            </p:cNvPr>
            <p:cNvSpPr txBox="1"/>
            <p:nvPr/>
          </p:nvSpPr>
          <p:spPr>
            <a:xfrm>
              <a:off x="3438680" y="4305150"/>
              <a:ext cx="971420" cy="10772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신청 관련 부가 서류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19" name="Picture 10">
              <a:extLst>
                <a:ext uri="{FF2B5EF4-FFF2-40B4-BE49-F238E27FC236}">
                  <a16:creationId xmlns:a16="http://schemas.microsoft.com/office/drawing/2014/main" id="{823593F9-C01B-24D3-5196-27E87A30B1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7418" y="4312303"/>
              <a:ext cx="106458" cy="121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20" name="그룹 119">
            <a:extLst>
              <a:ext uri="{FF2B5EF4-FFF2-40B4-BE49-F238E27FC236}">
                <a16:creationId xmlns:a16="http://schemas.microsoft.com/office/drawing/2014/main" id="{C49781D0-B6F1-38A2-C172-BD9767718D00}"/>
              </a:ext>
            </a:extLst>
          </p:cNvPr>
          <p:cNvGrpSpPr/>
          <p:nvPr/>
        </p:nvGrpSpPr>
        <p:grpSpPr>
          <a:xfrm>
            <a:off x="3415756" y="6149402"/>
            <a:ext cx="1105196" cy="128396"/>
            <a:chOff x="3438680" y="4305150"/>
            <a:chExt cx="1105196" cy="128396"/>
          </a:xfrm>
        </p:grpSpPr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CAF59772-37A2-62D2-0065-C63EBA72C5B3}"/>
                </a:ext>
              </a:extLst>
            </p:cNvPr>
            <p:cNvSpPr txBox="1"/>
            <p:nvPr/>
          </p:nvSpPr>
          <p:spPr>
            <a:xfrm>
              <a:off x="3438680" y="4305150"/>
              <a:ext cx="971420" cy="10772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신청 관련 부가 서류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67" name="Picture 10">
              <a:extLst>
                <a:ext uri="{FF2B5EF4-FFF2-40B4-BE49-F238E27FC236}">
                  <a16:creationId xmlns:a16="http://schemas.microsoft.com/office/drawing/2014/main" id="{AD360C06-1DF9-362B-62CB-7A019D926D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7418" y="4312303"/>
              <a:ext cx="106458" cy="121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71" name="그룹 170">
            <a:extLst>
              <a:ext uri="{FF2B5EF4-FFF2-40B4-BE49-F238E27FC236}">
                <a16:creationId xmlns:a16="http://schemas.microsoft.com/office/drawing/2014/main" id="{67E44B2A-CDD5-AF6B-6745-5B91687CB38A}"/>
              </a:ext>
            </a:extLst>
          </p:cNvPr>
          <p:cNvGrpSpPr/>
          <p:nvPr/>
        </p:nvGrpSpPr>
        <p:grpSpPr>
          <a:xfrm>
            <a:off x="2212023" y="4017215"/>
            <a:ext cx="2225682" cy="145176"/>
            <a:chOff x="3327015" y="2690196"/>
            <a:chExt cx="2225682" cy="145176"/>
          </a:xfrm>
        </p:grpSpPr>
        <p:sp>
          <p:nvSpPr>
            <p:cNvPr id="172" name="직사각형 171">
              <a:extLst>
                <a:ext uri="{FF2B5EF4-FFF2-40B4-BE49-F238E27FC236}">
                  <a16:creationId xmlns:a16="http://schemas.microsoft.com/office/drawing/2014/main" id="{F11601CE-0AB4-33BB-E5A9-396D9C8481C6}"/>
                </a:ext>
              </a:extLst>
            </p:cNvPr>
            <p:cNvSpPr/>
            <p:nvPr/>
          </p:nvSpPr>
          <p:spPr>
            <a:xfrm>
              <a:off x="3327015" y="2691364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주민등록등본</a:t>
              </a:r>
              <a:r>
                <a:rPr kumimoji="0" lang="en-US" altLang="ko-KR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3" name="직사각형 172">
              <a:extLst>
                <a:ext uri="{FF2B5EF4-FFF2-40B4-BE49-F238E27FC236}">
                  <a16:creationId xmlns:a16="http://schemas.microsoft.com/office/drawing/2014/main" id="{1A88E2DC-8BBA-73DC-FBC8-21582C2F26DE}"/>
                </a:ext>
              </a:extLst>
            </p:cNvPr>
            <p:cNvSpPr/>
            <p:nvPr/>
          </p:nvSpPr>
          <p:spPr>
            <a:xfrm>
              <a:off x="4980013" y="2691356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제출</a:t>
              </a:r>
            </a:p>
          </p:txBody>
        </p:sp>
        <p:sp>
          <p:nvSpPr>
            <p:cNvPr id="174" name="직사각형 173">
              <a:extLst>
                <a:ext uri="{FF2B5EF4-FFF2-40B4-BE49-F238E27FC236}">
                  <a16:creationId xmlns:a16="http://schemas.microsoft.com/office/drawing/2014/main" id="{97BD2155-B49A-829A-F988-DF0E7ADBEE45}"/>
                </a:ext>
              </a:extLst>
            </p:cNvPr>
            <p:cNvSpPr/>
            <p:nvPr/>
          </p:nvSpPr>
          <p:spPr>
            <a:xfrm>
              <a:off x="5288523" y="2690196"/>
              <a:ext cx="264174" cy="144016"/>
            </a:xfrm>
            <a:prstGeom prst="rect">
              <a:avLst/>
            </a:prstGeom>
            <a:solidFill>
              <a:srgbClr val="66FF66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75" name="직사각형 174">
            <a:extLst>
              <a:ext uri="{FF2B5EF4-FFF2-40B4-BE49-F238E27FC236}">
                <a16:creationId xmlns:a16="http://schemas.microsoft.com/office/drawing/2014/main" id="{17291DA2-DD89-A71A-EB8D-D4B5D3451858}"/>
              </a:ext>
            </a:extLst>
          </p:cNvPr>
          <p:cNvSpPr/>
          <p:nvPr/>
        </p:nvSpPr>
        <p:spPr>
          <a:xfrm>
            <a:off x="4173531" y="4961311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5B72AAFD-288A-5FE9-598B-D440AD64A1B6}"/>
              </a:ext>
            </a:extLst>
          </p:cNvPr>
          <p:cNvSpPr/>
          <p:nvPr/>
        </p:nvSpPr>
        <p:spPr>
          <a:xfrm>
            <a:off x="4173531" y="5193196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7" name="직사각형 176">
            <a:extLst>
              <a:ext uri="{FF2B5EF4-FFF2-40B4-BE49-F238E27FC236}">
                <a16:creationId xmlns:a16="http://schemas.microsoft.com/office/drawing/2014/main" id="{DED8C32D-A519-2776-5E96-9FC90BB6320E}"/>
              </a:ext>
            </a:extLst>
          </p:cNvPr>
          <p:cNvSpPr/>
          <p:nvPr/>
        </p:nvSpPr>
        <p:spPr>
          <a:xfrm>
            <a:off x="4173531" y="5417171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8" name="직사각형 177">
            <a:extLst>
              <a:ext uri="{FF2B5EF4-FFF2-40B4-BE49-F238E27FC236}">
                <a16:creationId xmlns:a16="http://schemas.microsoft.com/office/drawing/2014/main" id="{4E045AAC-7AA6-655E-D6F8-1ED62E65A4F6}"/>
              </a:ext>
            </a:extLst>
          </p:cNvPr>
          <p:cNvSpPr/>
          <p:nvPr/>
        </p:nvSpPr>
        <p:spPr>
          <a:xfrm>
            <a:off x="4173531" y="5663116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79" name="그룹 178">
            <a:extLst>
              <a:ext uri="{FF2B5EF4-FFF2-40B4-BE49-F238E27FC236}">
                <a16:creationId xmlns:a16="http://schemas.microsoft.com/office/drawing/2014/main" id="{025A84A8-480B-EEB0-51D6-B477643A0CB8}"/>
              </a:ext>
            </a:extLst>
          </p:cNvPr>
          <p:cNvGrpSpPr/>
          <p:nvPr/>
        </p:nvGrpSpPr>
        <p:grpSpPr>
          <a:xfrm>
            <a:off x="2227570" y="2612717"/>
            <a:ext cx="1394613" cy="144462"/>
            <a:chOff x="2415444" y="3432217"/>
            <a:chExt cx="1394613" cy="144462"/>
          </a:xfrm>
        </p:grpSpPr>
        <p:sp>
          <p:nvSpPr>
            <p:cNvPr id="180" name="Rectangle 191">
              <a:extLst>
                <a:ext uri="{FF2B5EF4-FFF2-40B4-BE49-F238E27FC236}">
                  <a16:creationId xmlns:a16="http://schemas.microsoft.com/office/drawing/2014/main" id="{AE8B1A7A-9106-85DB-1B12-A500715A97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5444" y="3444195"/>
              <a:ext cx="1394613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지역인재육성</a:t>
              </a: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(                         )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181" name="그룹 180">
              <a:extLst>
                <a:ext uri="{FF2B5EF4-FFF2-40B4-BE49-F238E27FC236}">
                  <a16:creationId xmlns:a16="http://schemas.microsoft.com/office/drawing/2014/main" id="{E0DF0755-60AF-27DC-04E2-7825E3A1ECF8}"/>
                </a:ext>
              </a:extLst>
            </p:cNvPr>
            <p:cNvGrpSpPr/>
            <p:nvPr/>
          </p:nvGrpSpPr>
          <p:grpSpPr>
            <a:xfrm>
              <a:off x="3332820" y="3432217"/>
              <a:ext cx="408030" cy="144462"/>
              <a:chOff x="2716253" y="2405617"/>
              <a:chExt cx="408030" cy="144462"/>
            </a:xfrm>
          </p:grpSpPr>
          <p:sp>
            <p:nvSpPr>
              <p:cNvPr id="185" name="Rectangle 191">
                <a:extLst>
                  <a:ext uri="{FF2B5EF4-FFF2-40B4-BE49-F238E27FC236}">
                    <a16:creationId xmlns:a16="http://schemas.microsoft.com/office/drawing/2014/main" id="{926A8DF7-D111-A937-A313-96810FF6E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54979" y="2416036"/>
                <a:ext cx="269304" cy="10772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EAEAEA"/>
                    </a:solidFill>
                  </a14:hiddenFill>
                </a:ext>
                <a:ext uri="{91240B29-F687-4F45-9708-019B960494DF}">
                  <a14:hiddenLine xmlns:a14="http://schemas.microsoft.com/office/drawing/2010/main" w="635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7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만학도</a:t>
                </a:r>
                <a:endPara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graphicFrame>
            <p:nvGraphicFramePr>
              <p:cNvPr id="186" name="개체 185">
                <a:extLst>
                  <a:ext uri="{FF2B5EF4-FFF2-40B4-BE49-F238E27FC236}">
                    <a16:creationId xmlns:a16="http://schemas.microsoft.com/office/drawing/2014/main" id="{AF39094B-3931-62F4-8E9A-BC46DAE74B1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716253" y="2405617"/>
              <a:ext cx="144462" cy="1444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Visio" r:id="rId2" imgW="145435" imgH="145435" progId="Visio.Drawing.11">
                      <p:embed/>
                    </p:oleObj>
                  </mc:Choice>
                  <mc:Fallback>
                    <p:oleObj name="Visio" r:id="rId2" imgW="145435" imgH="145435" progId="Visio.Drawing.11">
                      <p:embed/>
                      <p:pic>
                        <p:nvPicPr>
                          <p:cNvPr id="73" name="개체 72">
                            <a:extLst>
                              <a:ext uri="{FF2B5EF4-FFF2-40B4-BE49-F238E27FC236}">
                                <a16:creationId xmlns:a16="http://schemas.microsoft.com/office/drawing/2014/main" id="{9D9C9EBD-61CF-C63E-B1B0-A3EE8BD6157E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16253" y="2405617"/>
                            <a:ext cx="144462" cy="1444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EAEAEA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6350" algn="ctr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82" name="그룹 181">
              <a:extLst>
                <a:ext uri="{FF2B5EF4-FFF2-40B4-BE49-F238E27FC236}">
                  <a16:creationId xmlns:a16="http://schemas.microsoft.com/office/drawing/2014/main" id="{E7C6EB54-F745-8EC6-494C-66004F037AF6}"/>
                </a:ext>
              </a:extLst>
            </p:cNvPr>
            <p:cNvGrpSpPr/>
            <p:nvPr/>
          </p:nvGrpSpPr>
          <p:grpSpPr>
            <a:xfrm>
              <a:off x="3000833" y="3432217"/>
              <a:ext cx="318262" cy="144462"/>
              <a:chOff x="2716253" y="2405617"/>
              <a:chExt cx="318262" cy="144462"/>
            </a:xfrm>
          </p:grpSpPr>
          <p:sp>
            <p:nvSpPr>
              <p:cNvPr id="183" name="Rectangle 191">
                <a:extLst>
                  <a:ext uri="{FF2B5EF4-FFF2-40B4-BE49-F238E27FC236}">
                    <a16:creationId xmlns:a16="http://schemas.microsoft.com/office/drawing/2014/main" id="{A428CB85-CD16-DAF8-6BC0-B45E5AB96B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54979" y="2416036"/>
                <a:ext cx="179536" cy="10772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EAEAEA"/>
                    </a:solidFill>
                  </a14:hiddenFill>
                </a:ext>
                <a:ext uri="{91240B29-F687-4F45-9708-019B960494DF}">
                  <a14:hiddenLine xmlns:a14="http://schemas.microsoft.com/office/drawing/2010/main" w="635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7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일반</a:t>
                </a:r>
              </a:p>
            </p:txBody>
          </p:sp>
          <p:graphicFrame>
            <p:nvGraphicFramePr>
              <p:cNvPr id="184" name="개체 183">
                <a:extLst>
                  <a:ext uri="{FF2B5EF4-FFF2-40B4-BE49-F238E27FC236}">
                    <a16:creationId xmlns:a16="http://schemas.microsoft.com/office/drawing/2014/main" id="{685A3BC3-EC2B-387D-E732-CFDB6ADCA31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716253" y="2405617"/>
              <a:ext cx="144462" cy="1444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Visio" r:id="rId2" imgW="145435" imgH="145435" progId="Visio.Drawing.11">
                      <p:embed/>
                    </p:oleObj>
                  </mc:Choice>
                  <mc:Fallback>
                    <p:oleObj name="Visio" r:id="rId2" imgW="145435" imgH="145435" progId="Visio.Drawing.11">
                      <p:embed/>
                      <p:pic>
                        <p:nvPicPr>
                          <p:cNvPr id="71" name="개체 70">
                            <a:extLst>
                              <a:ext uri="{FF2B5EF4-FFF2-40B4-BE49-F238E27FC236}">
                                <a16:creationId xmlns:a16="http://schemas.microsoft.com/office/drawing/2014/main" id="{CC38DF8D-18DA-3BA0-465F-17E4444C48BF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16253" y="2405617"/>
                            <a:ext cx="144462" cy="1444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EAEAEA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6350" algn="ctr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187" name="그룹 186">
            <a:extLst>
              <a:ext uri="{FF2B5EF4-FFF2-40B4-BE49-F238E27FC236}">
                <a16:creationId xmlns:a16="http://schemas.microsoft.com/office/drawing/2014/main" id="{611FCF16-9D8F-B2C9-CDFC-D845621A7AA1}"/>
              </a:ext>
            </a:extLst>
          </p:cNvPr>
          <p:cNvGrpSpPr/>
          <p:nvPr/>
        </p:nvGrpSpPr>
        <p:grpSpPr>
          <a:xfrm>
            <a:off x="2212023" y="4249141"/>
            <a:ext cx="2225682" cy="145176"/>
            <a:chOff x="3327015" y="2690196"/>
            <a:chExt cx="2225682" cy="145176"/>
          </a:xfrm>
        </p:grpSpPr>
        <p:sp>
          <p:nvSpPr>
            <p:cNvPr id="188" name="직사각형 187">
              <a:extLst>
                <a:ext uri="{FF2B5EF4-FFF2-40B4-BE49-F238E27FC236}">
                  <a16:creationId xmlns:a16="http://schemas.microsoft.com/office/drawing/2014/main" id="{5869FD8F-13A3-8799-99F9-EDFE29F0C787}"/>
                </a:ext>
              </a:extLst>
            </p:cNvPr>
            <p:cNvSpPr/>
            <p:nvPr/>
          </p:nvSpPr>
          <p:spPr>
            <a:xfrm>
              <a:off x="3327015" y="2691364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재학증명서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9" name="직사각형 188">
              <a:extLst>
                <a:ext uri="{FF2B5EF4-FFF2-40B4-BE49-F238E27FC236}">
                  <a16:creationId xmlns:a16="http://schemas.microsoft.com/office/drawing/2014/main" id="{04E4E867-8822-94CC-4A97-BD186DC513C2}"/>
                </a:ext>
              </a:extLst>
            </p:cNvPr>
            <p:cNvSpPr/>
            <p:nvPr/>
          </p:nvSpPr>
          <p:spPr>
            <a:xfrm>
              <a:off x="4980013" y="2691356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제출</a:t>
              </a:r>
            </a:p>
          </p:txBody>
        </p:sp>
        <p:sp>
          <p:nvSpPr>
            <p:cNvPr id="190" name="직사각형 189">
              <a:extLst>
                <a:ext uri="{FF2B5EF4-FFF2-40B4-BE49-F238E27FC236}">
                  <a16:creationId xmlns:a16="http://schemas.microsoft.com/office/drawing/2014/main" id="{7065F245-C69B-917C-18C5-F4BFBAC79D08}"/>
                </a:ext>
              </a:extLst>
            </p:cNvPr>
            <p:cNvSpPr/>
            <p:nvPr/>
          </p:nvSpPr>
          <p:spPr>
            <a:xfrm>
              <a:off x="5288523" y="2690196"/>
              <a:ext cx="264174" cy="144016"/>
            </a:xfrm>
            <a:prstGeom prst="rect">
              <a:avLst/>
            </a:prstGeom>
            <a:solidFill>
              <a:srgbClr val="66FF66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91" name="그룹 190">
            <a:extLst>
              <a:ext uri="{FF2B5EF4-FFF2-40B4-BE49-F238E27FC236}">
                <a16:creationId xmlns:a16="http://schemas.microsoft.com/office/drawing/2014/main" id="{464C1848-3384-2E24-62FC-91C548E9F920}"/>
              </a:ext>
            </a:extLst>
          </p:cNvPr>
          <p:cNvGrpSpPr/>
          <p:nvPr/>
        </p:nvGrpSpPr>
        <p:grpSpPr>
          <a:xfrm>
            <a:off x="2212023" y="4477316"/>
            <a:ext cx="2225682" cy="145176"/>
            <a:chOff x="3327015" y="2690196"/>
            <a:chExt cx="2225682" cy="145176"/>
          </a:xfrm>
        </p:grpSpPr>
        <p:sp>
          <p:nvSpPr>
            <p:cNvPr id="192" name="직사각형 191">
              <a:extLst>
                <a:ext uri="{FF2B5EF4-FFF2-40B4-BE49-F238E27FC236}">
                  <a16:creationId xmlns:a16="http://schemas.microsoft.com/office/drawing/2014/main" id="{3D097AF7-CF58-B50A-738D-C2775F5D7C42}"/>
                </a:ext>
              </a:extLst>
            </p:cNvPr>
            <p:cNvSpPr/>
            <p:nvPr/>
          </p:nvSpPr>
          <p:spPr>
            <a:xfrm>
              <a:off x="3327015" y="2691364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고등학교졸업증명서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5" name="직사각형 194">
              <a:extLst>
                <a:ext uri="{FF2B5EF4-FFF2-40B4-BE49-F238E27FC236}">
                  <a16:creationId xmlns:a16="http://schemas.microsoft.com/office/drawing/2014/main" id="{E10BEEC8-C4DA-858C-9B04-00026EBABB3C}"/>
                </a:ext>
              </a:extLst>
            </p:cNvPr>
            <p:cNvSpPr/>
            <p:nvPr/>
          </p:nvSpPr>
          <p:spPr>
            <a:xfrm>
              <a:off x="4980013" y="2691356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제출</a:t>
              </a:r>
            </a:p>
          </p:txBody>
        </p:sp>
        <p:sp>
          <p:nvSpPr>
            <p:cNvPr id="196" name="직사각형 195">
              <a:extLst>
                <a:ext uri="{FF2B5EF4-FFF2-40B4-BE49-F238E27FC236}">
                  <a16:creationId xmlns:a16="http://schemas.microsoft.com/office/drawing/2014/main" id="{6ED07C36-CBA9-3352-8B5E-810657700694}"/>
                </a:ext>
              </a:extLst>
            </p:cNvPr>
            <p:cNvSpPr/>
            <p:nvPr/>
          </p:nvSpPr>
          <p:spPr>
            <a:xfrm>
              <a:off x="5288523" y="2690196"/>
              <a:ext cx="264174" cy="144016"/>
            </a:xfrm>
            <a:prstGeom prst="rect">
              <a:avLst/>
            </a:prstGeom>
            <a:solidFill>
              <a:srgbClr val="66FF66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218" name="그룹 217">
            <a:extLst>
              <a:ext uri="{FF2B5EF4-FFF2-40B4-BE49-F238E27FC236}">
                <a16:creationId xmlns:a16="http://schemas.microsoft.com/office/drawing/2014/main" id="{F9E25493-0612-3561-39BD-CE27D72C5620}"/>
              </a:ext>
            </a:extLst>
          </p:cNvPr>
          <p:cNvGrpSpPr/>
          <p:nvPr/>
        </p:nvGrpSpPr>
        <p:grpSpPr>
          <a:xfrm>
            <a:off x="2212539" y="2371270"/>
            <a:ext cx="505750" cy="144462"/>
            <a:chOff x="2716253" y="2405617"/>
            <a:chExt cx="505750" cy="144462"/>
          </a:xfrm>
        </p:grpSpPr>
        <p:sp>
          <p:nvSpPr>
            <p:cNvPr id="219" name="Rectangle 191">
              <a:extLst>
                <a:ext uri="{FF2B5EF4-FFF2-40B4-BE49-F238E27FC236}">
                  <a16:creationId xmlns:a16="http://schemas.microsoft.com/office/drawing/2014/main" id="{7F22ABC5-B9C6-5D04-355B-C03A63167D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359073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우수인재</a:t>
              </a:r>
            </a:p>
          </p:txBody>
        </p:sp>
        <p:graphicFrame>
          <p:nvGraphicFramePr>
            <p:cNvPr id="220" name="개체 219">
              <a:extLst>
                <a:ext uri="{FF2B5EF4-FFF2-40B4-BE49-F238E27FC236}">
                  <a16:creationId xmlns:a16="http://schemas.microsoft.com/office/drawing/2014/main" id="{A33863C3-5AB5-17B4-0201-C31FBB7020B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2" imgW="145435" imgH="145435" progId="Visio.Drawing.11">
                    <p:embed/>
                  </p:oleObj>
                </mc:Choice>
                <mc:Fallback>
                  <p:oleObj name="Visio" r:id="rId2" imgW="145435" imgH="145435" progId="Visio.Drawing.11">
                    <p:embed/>
                    <p:pic>
                      <p:nvPicPr>
                        <p:cNvPr id="98" name="개체 97">
                          <a:extLst>
                            <a:ext uri="{FF2B5EF4-FFF2-40B4-BE49-F238E27FC236}">
                              <a16:creationId xmlns:a16="http://schemas.microsoft.com/office/drawing/2014/main" id="{2F5D2CBC-2FB7-57A6-C359-17C35233F7F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1" name="그룹 220">
            <a:extLst>
              <a:ext uri="{FF2B5EF4-FFF2-40B4-BE49-F238E27FC236}">
                <a16:creationId xmlns:a16="http://schemas.microsoft.com/office/drawing/2014/main" id="{6C735B94-5FD1-6345-2D4B-E2386C981FB5}"/>
              </a:ext>
            </a:extLst>
          </p:cNvPr>
          <p:cNvGrpSpPr/>
          <p:nvPr/>
        </p:nvGrpSpPr>
        <p:grpSpPr>
          <a:xfrm>
            <a:off x="3359132" y="2377156"/>
            <a:ext cx="596201" cy="144463"/>
            <a:chOff x="3327015" y="1527346"/>
            <a:chExt cx="596201" cy="144463"/>
          </a:xfrm>
        </p:grpSpPr>
        <p:sp>
          <p:nvSpPr>
            <p:cNvPr id="222" name="Rectangle 191">
              <a:extLst>
                <a:ext uri="{FF2B5EF4-FFF2-40B4-BE49-F238E27FC236}">
                  <a16:creationId xmlns:a16="http://schemas.microsoft.com/office/drawing/2014/main" id="{67080E3E-7103-FE83-B420-559344FACA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4375" y="1539830"/>
              <a:ext cx="448841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근로자자녀</a:t>
              </a:r>
            </a:p>
          </p:txBody>
        </p:sp>
        <p:graphicFrame>
          <p:nvGraphicFramePr>
            <p:cNvPr id="223" name="개체 222">
              <a:extLst>
                <a:ext uri="{FF2B5EF4-FFF2-40B4-BE49-F238E27FC236}">
                  <a16:creationId xmlns:a16="http://schemas.microsoft.com/office/drawing/2014/main" id="{5174FF47-A2F4-AF85-6B1E-08DD84E896B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27015" y="1527346"/>
            <a:ext cx="144462" cy="144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5" imgW="145435" imgH="145435" progId="Visio.Drawing.11">
                    <p:embed/>
                  </p:oleObj>
                </mc:Choice>
                <mc:Fallback>
                  <p:oleObj name="Visio" r:id="rId5" imgW="145435" imgH="145435" progId="Visio.Drawing.11">
                    <p:embed/>
                    <p:pic>
                      <p:nvPicPr>
                        <p:cNvPr id="101" name="개체 100">
                          <a:extLst>
                            <a:ext uri="{FF2B5EF4-FFF2-40B4-BE49-F238E27FC236}">
                              <a16:creationId xmlns:a16="http://schemas.microsoft.com/office/drawing/2014/main" id="{8C736ADF-1894-571F-1CA1-D82BE9E00E6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27015" y="1527346"/>
                          <a:ext cx="144462" cy="1444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7" name="직사각형 226">
            <a:extLst>
              <a:ext uri="{FF2B5EF4-FFF2-40B4-BE49-F238E27FC236}">
                <a16:creationId xmlns:a16="http://schemas.microsoft.com/office/drawing/2014/main" id="{938BF87E-58FC-25B7-837B-1754A14353B9}"/>
              </a:ext>
            </a:extLst>
          </p:cNvPr>
          <p:cNvSpPr/>
          <p:nvPr/>
        </p:nvSpPr>
        <p:spPr>
          <a:xfrm>
            <a:off x="2212023" y="3313045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한국노총오산시지부장학생추천서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8" name="직사각형 227">
            <a:extLst>
              <a:ext uri="{FF2B5EF4-FFF2-40B4-BE49-F238E27FC236}">
                <a16:creationId xmlns:a16="http://schemas.microsoft.com/office/drawing/2014/main" id="{109AAC6F-747F-7D83-09E7-68C28FDE5A31}"/>
              </a:ext>
            </a:extLst>
          </p:cNvPr>
          <p:cNvSpPr/>
          <p:nvPr/>
        </p:nvSpPr>
        <p:spPr>
          <a:xfrm>
            <a:off x="3865021" y="3313037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229" name="직사각형 228">
            <a:extLst>
              <a:ext uri="{FF2B5EF4-FFF2-40B4-BE49-F238E27FC236}">
                <a16:creationId xmlns:a16="http://schemas.microsoft.com/office/drawing/2014/main" id="{45B17D3D-E8EA-4854-80AB-4FDDCC47692A}"/>
              </a:ext>
            </a:extLst>
          </p:cNvPr>
          <p:cNvSpPr/>
          <p:nvPr/>
        </p:nvSpPr>
        <p:spPr>
          <a:xfrm>
            <a:off x="4173531" y="3313037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1" name="직사각형 230">
            <a:extLst>
              <a:ext uri="{FF2B5EF4-FFF2-40B4-BE49-F238E27FC236}">
                <a16:creationId xmlns:a16="http://schemas.microsoft.com/office/drawing/2014/main" id="{F94C585C-63CD-FD81-D370-4AF104486EB3}"/>
              </a:ext>
            </a:extLst>
          </p:cNvPr>
          <p:cNvSpPr/>
          <p:nvPr/>
        </p:nvSpPr>
        <p:spPr>
          <a:xfrm>
            <a:off x="6397011" y="6391401"/>
            <a:ext cx="392727" cy="19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목록</a:t>
            </a:r>
          </a:p>
        </p:txBody>
      </p:sp>
      <p:sp>
        <p:nvSpPr>
          <p:cNvPr id="232" name="직사각형 231">
            <a:extLst>
              <a:ext uri="{FF2B5EF4-FFF2-40B4-BE49-F238E27FC236}">
                <a16:creationId xmlns:a16="http://schemas.microsoft.com/office/drawing/2014/main" id="{436FDE2E-51B7-E728-C5B8-425BFF4A20F8}"/>
              </a:ext>
            </a:extLst>
          </p:cNvPr>
          <p:cNvSpPr/>
          <p:nvPr/>
        </p:nvSpPr>
        <p:spPr>
          <a:xfrm>
            <a:off x="5936915" y="6391401"/>
            <a:ext cx="392727" cy="198000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신청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33785B9-1B7F-0C32-BBD5-F8D699D5D107}"/>
              </a:ext>
            </a:extLst>
          </p:cNvPr>
          <p:cNvSpPr/>
          <p:nvPr/>
        </p:nvSpPr>
        <p:spPr>
          <a:xfrm>
            <a:off x="3288421" y="2843165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기업체재직증명서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ABAB09A-359F-D2B1-875A-C67C93575E90}"/>
              </a:ext>
            </a:extLst>
          </p:cNvPr>
          <p:cNvSpPr/>
          <p:nvPr/>
        </p:nvSpPr>
        <p:spPr>
          <a:xfrm>
            <a:off x="4941419" y="2843157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456468C-4391-1135-53CE-0D73B26E80C7}"/>
              </a:ext>
            </a:extLst>
          </p:cNvPr>
          <p:cNvSpPr/>
          <p:nvPr/>
        </p:nvSpPr>
        <p:spPr>
          <a:xfrm>
            <a:off x="5249826" y="2843149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</a:p>
        </p:txBody>
      </p:sp>
      <p:sp>
        <p:nvSpPr>
          <p:cNvPr id="7" name="Rectangle 191">
            <a:extLst>
              <a:ext uri="{FF2B5EF4-FFF2-40B4-BE49-F238E27FC236}">
                <a16:creationId xmlns:a16="http://schemas.microsoft.com/office/drawing/2014/main" id="{A75CE7DE-3F2B-33C4-4084-24C584668C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6669" y="2865602"/>
            <a:ext cx="359073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재직기간</a:t>
            </a:r>
            <a:endParaRPr kumimoji="0" lang="ko-KR" altLang="en-US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532DF3A-5700-3840-86C1-BB843D05B50E}"/>
              </a:ext>
            </a:extLst>
          </p:cNvPr>
          <p:cNvSpPr/>
          <p:nvPr/>
        </p:nvSpPr>
        <p:spPr>
          <a:xfrm>
            <a:off x="2600562" y="2844244"/>
            <a:ext cx="432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Rectangle 191">
            <a:extLst>
              <a:ext uri="{FF2B5EF4-FFF2-40B4-BE49-F238E27FC236}">
                <a16:creationId xmlns:a16="http://schemas.microsoft.com/office/drawing/2014/main" id="{4A85EB88-444C-FBD8-B287-27D9ED7E51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0765" y="2865602"/>
            <a:ext cx="17953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첨부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FFDFBE2-71DC-706D-F14E-6107A17D4298}"/>
              </a:ext>
            </a:extLst>
          </p:cNvPr>
          <p:cNvSpPr/>
          <p:nvPr/>
        </p:nvSpPr>
        <p:spPr>
          <a:xfrm>
            <a:off x="3288421" y="3080024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가족관계증명서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CD73C57-24D8-1F36-5615-7CA086E85008}"/>
              </a:ext>
            </a:extLst>
          </p:cNvPr>
          <p:cNvSpPr/>
          <p:nvPr/>
        </p:nvSpPr>
        <p:spPr>
          <a:xfrm>
            <a:off x="4941419" y="3080016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6AF8CCB-3565-FA9D-F761-905B72BAB65C}"/>
              </a:ext>
            </a:extLst>
          </p:cNvPr>
          <p:cNvSpPr/>
          <p:nvPr/>
        </p:nvSpPr>
        <p:spPr>
          <a:xfrm>
            <a:off x="5249826" y="3080008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</a:p>
        </p:txBody>
      </p:sp>
      <p:sp>
        <p:nvSpPr>
          <p:cNvPr id="15" name="Rectangle 191">
            <a:extLst>
              <a:ext uri="{FF2B5EF4-FFF2-40B4-BE49-F238E27FC236}">
                <a16:creationId xmlns:a16="http://schemas.microsoft.com/office/drawing/2014/main" id="{218164BD-50AC-ACEF-B19D-5BE3FA21F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6669" y="3098697"/>
            <a:ext cx="359073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가족인원</a:t>
            </a:r>
            <a:endParaRPr kumimoji="0" lang="ko-KR" altLang="en-US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56DC51C-3810-FA84-0C23-81D857EF7404}"/>
              </a:ext>
            </a:extLst>
          </p:cNvPr>
          <p:cNvSpPr/>
          <p:nvPr/>
        </p:nvSpPr>
        <p:spPr>
          <a:xfrm>
            <a:off x="2600562" y="3077339"/>
            <a:ext cx="432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명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Rectangle 191">
            <a:extLst>
              <a:ext uri="{FF2B5EF4-FFF2-40B4-BE49-F238E27FC236}">
                <a16:creationId xmlns:a16="http://schemas.microsoft.com/office/drawing/2014/main" id="{77F7F4F3-F5CB-4444-FC18-CA8A624F2F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0765" y="3098697"/>
            <a:ext cx="17953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첨부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4BBC144-CEEB-5AE4-6576-BF2352FAE974}"/>
              </a:ext>
            </a:extLst>
          </p:cNvPr>
          <p:cNvSpPr/>
          <p:nvPr/>
        </p:nvSpPr>
        <p:spPr>
          <a:xfrm>
            <a:off x="3221532" y="3781243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주민등록초본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0835B28-425B-3C06-AC4F-E65E47F7EB0D}"/>
              </a:ext>
            </a:extLst>
          </p:cNvPr>
          <p:cNvSpPr/>
          <p:nvPr/>
        </p:nvSpPr>
        <p:spPr>
          <a:xfrm>
            <a:off x="4874530" y="3781235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CC27219-4D77-2C81-E9C4-2A577CEB2CE0}"/>
              </a:ext>
            </a:extLst>
          </p:cNvPr>
          <p:cNvSpPr/>
          <p:nvPr/>
        </p:nvSpPr>
        <p:spPr>
          <a:xfrm>
            <a:off x="5182937" y="3781227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</a:p>
        </p:txBody>
      </p:sp>
      <p:sp>
        <p:nvSpPr>
          <p:cNvPr id="22" name="Rectangle 191">
            <a:extLst>
              <a:ext uri="{FF2B5EF4-FFF2-40B4-BE49-F238E27FC236}">
                <a16:creationId xmlns:a16="http://schemas.microsoft.com/office/drawing/2014/main" id="{8C7C1E89-EA14-BCD1-E2D2-DDD47680EE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7261" y="3796519"/>
            <a:ext cx="17953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첨부</a:t>
            </a:r>
          </a:p>
        </p:txBody>
      </p:sp>
      <p:sp>
        <p:nvSpPr>
          <p:cNvPr id="23" name="Rectangle 191">
            <a:extLst>
              <a:ext uri="{FF2B5EF4-FFF2-40B4-BE49-F238E27FC236}">
                <a16:creationId xmlns:a16="http://schemas.microsoft.com/office/drawing/2014/main" id="{A2780521-4B60-FB0C-F2FD-229F0E3A9F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2023" y="3796945"/>
            <a:ext cx="359073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거주기간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8799E6D-B4EE-4C2F-9A71-850A09B1DC69}"/>
              </a:ext>
            </a:extLst>
          </p:cNvPr>
          <p:cNvSpPr/>
          <p:nvPr/>
        </p:nvSpPr>
        <p:spPr>
          <a:xfrm>
            <a:off x="2595355" y="3775587"/>
            <a:ext cx="36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년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A111031-E74E-4F1B-BFCB-1BF0378390E7}"/>
              </a:ext>
            </a:extLst>
          </p:cNvPr>
          <p:cNvSpPr/>
          <p:nvPr/>
        </p:nvSpPr>
        <p:spPr>
          <a:xfrm>
            <a:off x="3042483" y="4722273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성적증빙자료</a:t>
            </a:r>
            <a:r>
              <a:rPr kumimoji="0" lang="en-US" altLang="ko-KR" sz="7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.zip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06ABC1D-FDD1-CA1C-401D-6572D981296A}"/>
              </a:ext>
            </a:extLst>
          </p:cNvPr>
          <p:cNvSpPr/>
          <p:nvPr/>
        </p:nvSpPr>
        <p:spPr>
          <a:xfrm>
            <a:off x="4695481" y="4722265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F421A61-5E2E-4A63-1A73-F5D1475FC1F7}"/>
              </a:ext>
            </a:extLst>
          </p:cNvPr>
          <p:cNvSpPr/>
          <p:nvPr/>
        </p:nvSpPr>
        <p:spPr>
          <a:xfrm>
            <a:off x="5003991" y="4722265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Rectangle 191">
            <a:extLst>
              <a:ext uri="{FF2B5EF4-FFF2-40B4-BE49-F238E27FC236}">
                <a16:creationId xmlns:a16="http://schemas.microsoft.com/office/drawing/2014/main" id="{E43A5B18-4993-C12A-0270-4F19F1CB8C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59" y="4743631"/>
            <a:ext cx="17953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성적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9F2B296-AB7E-8CDB-1F33-45BB3F7FDB30}"/>
              </a:ext>
            </a:extLst>
          </p:cNvPr>
          <p:cNvSpPr/>
          <p:nvPr/>
        </p:nvSpPr>
        <p:spPr>
          <a:xfrm>
            <a:off x="2414493" y="4722273"/>
            <a:ext cx="36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4.5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0" name="Rectangle 191">
            <a:extLst>
              <a:ext uri="{FF2B5EF4-FFF2-40B4-BE49-F238E27FC236}">
                <a16:creationId xmlns:a16="http://schemas.microsoft.com/office/drawing/2014/main" id="{463D1D07-2F85-44A7-BF5A-1AC9649DA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3028" y="4743631"/>
            <a:ext cx="17953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첨부</a:t>
            </a: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35D314E2-A923-087C-16A6-E1C5809438BD}"/>
              </a:ext>
            </a:extLst>
          </p:cNvPr>
          <p:cNvSpPr>
            <a:spLocks noChangeAspect="1"/>
          </p:cNvSpPr>
          <p:nvPr/>
        </p:nvSpPr>
        <p:spPr>
          <a:xfrm>
            <a:off x="3677541" y="2240868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D6D01EE4-C0D0-B2EB-137A-219559EC1EBA}"/>
              </a:ext>
            </a:extLst>
          </p:cNvPr>
          <p:cNvSpPr>
            <a:spLocks noChangeAspect="1"/>
          </p:cNvSpPr>
          <p:nvPr/>
        </p:nvSpPr>
        <p:spPr>
          <a:xfrm>
            <a:off x="512127" y="2853383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04F63142-88D5-0ECC-446D-6739630AB554}"/>
              </a:ext>
            </a:extLst>
          </p:cNvPr>
          <p:cNvSpPr>
            <a:spLocks noChangeAspect="1"/>
          </p:cNvSpPr>
          <p:nvPr/>
        </p:nvSpPr>
        <p:spPr>
          <a:xfrm>
            <a:off x="512127" y="3077053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6E7FC8AB-021C-C859-0B05-7A148F7A7D14}"/>
              </a:ext>
            </a:extLst>
          </p:cNvPr>
          <p:cNvSpPr>
            <a:spLocks noChangeAspect="1"/>
          </p:cNvSpPr>
          <p:nvPr/>
        </p:nvSpPr>
        <p:spPr>
          <a:xfrm>
            <a:off x="512127" y="3314565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4E968701-6242-FBFD-9193-BBC4D0ED7FD7}"/>
              </a:ext>
            </a:extLst>
          </p:cNvPr>
          <p:cNvSpPr>
            <a:spLocks noChangeAspect="1"/>
          </p:cNvSpPr>
          <p:nvPr/>
        </p:nvSpPr>
        <p:spPr>
          <a:xfrm>
            <a:off x="512127" y="3781328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C3E5F83C-494B-FB30-64D7-BC9CBC21CFCA}"/>
              </a:ext>
            </a:extLst>
          </p:cNvPr>
          <p:cNvSpPr>
            <a:spLocks noChangeAspect="1"/>
          </p:cNvSpPr>
          <p:nvPr/>
        </p:nvSpPr>
        <p:spPr>
          <a:xfrm>
            <a:off x="512127" y="4719778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2437E76E-A59F-2011-965F-E8C31EE95EC4}"/>
              </a:ext>
            </a:extLst>
          </p:cNvPr>
          <p:cNvGrpSpPr/>
          <p:nvPr/>
        </p:nvGrpSpPr>
        <p:grpSpPr>
          <a:xfrm>
            <a:off x="2216669" y="3547708"/>
            <a:ext cx="2704513" cy="144016"/>
            <a:chOff x="1897884" y="2847629"/>
            <a:chExt cx="2704513" cy="144016"/>
          </a:xfrm>
        </p:grpSpPr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79D01892-66F8-93F3-1158-8BCAFA22B64F}"/>
                </a:ext>
              </a:extLst>
            </p:cNvPr>
            <p:cNvSpPr/>
            <p:nvPr/>
          </p:nvSpPr>
          <p:spPr>
            <a:xfrm>
              <a:off x="1897884" y="2847637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추천서</a:t>
              </a:r>
              <a:r>
                <a:rPr kumimoji="0" lang="en-US" altLang="ko-KR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2ABE4FDA-EA97-4B59-C286-CC9941739AE0}"/>
                </a:ext>
              </a:extLst>
            </p:cNvPr>
            <p:cNvSpPr/>
            <p:nvPr/>
          </p:nvSpPr>
          <p:spPr>
            <a:xfrm>
              <a:off x="3550882" y="2847629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제출</a:t>
              </a: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6BB2C3F6-16A2-C312-D996-1B6C2FF65CA9}"/>
                </a:ext>
              </a:extLst>
            </p:cNvPr>
            <p:cNvSpPr/>
            <p:nvPr/>
          </p:nvSpPr>
          <p:spPr>
            <a:xfrm>
              <a:off x="3859392" y="2847629"/>
              <a:ext cx="264174" cy="144016"/>
            </a:xfrm>
            <a:prstGeom prst="rect">
              <a:avLst/>
            </a:prstGeom>
            <a:solidFill>
              <a:srgbClr val="66FF66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BB70B688-80D9-9FC6-5A3F-5BD3DD5E7DAF}"/>
                </a:ext>
              </a:extLst>
            </p:cNvPr>
            <p:cNvSpPr/>
            <p:nvPr/>
          </p:nvSpPr>
          <p:spPr>
            <a:xfrm>
              <a:off x="4176942" y="2847629"/>
              <a:ext cx="425455" cy="14401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양식받기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70D7FEC3-05A9-44EE-92A8-0E97A14DDF27}"/>
              </a:ext>
            </a:extLst>
          </p:cNvPr>
          <p:cNvGrpSpPr/>
          <p:nvPr/>
        </p:nvGrpSpPr>
        <p:grpSpPr>
          <a:xfrm>
            <a:off x="2211356" y="5888637"/>
            <a:ext cx="2386963" cy="144016"/>
            <a:chOff x="1897884" y="4476806"/>
            <a:chExt cx="2386963" cy="144016"/>
          </a:xfrm>
        </p:grpSpPr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4F85E795-338D-4CAA-CD86-24C9F637C17A}"/>
                </a:ext>
              </a:extLst>
            </p:cNvPr>
            <p:cNvSpPr/>
            <p:nvPr/>
          </p:nvSpPr>
          <p:spPr>
            <a:xfrm>
              <a:off x="1897884" y="4476814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52FA707A-F6FD-8096-DB85-BAC342261B95}"/>
                </a:ext>
              </a:extLst>
            </p:cNvPr>
            <p:cNvSpPr/>
            <p:nvPr/>
          </p:nvSpPr>
          <p:spPr>
            <a:xfrm>
              <a:off x="3550882" y="4476806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추가</a:t>
              </a: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CE759C6D-CDAB-D20D-F988-F51688E9BD97}"/>
                </a:ext>
              </a:extLst>
            </p:cNvPr>
            <p:cNvSpPr/>
            <p:nvPr/>
          </p:nvSpPr>
          <p:spPr>
            <a:xfrm>
              <a:off x="3859392" y="4476806"/>
              <a:ext cx="425455" cy="14401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양식받기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CC266BC9-C273-F66F-8C4A-3C69DA8B955D}"/>
              </a:ext>
            </a:extLst>
          </p:cNvPr>
          <p:cNvSpPr/>
          <p:nvPr/>
        </p:nvSpPr>
        <p:spPr>
          <a:xfrm>
            <a:off x="668524" y="5869345"/>
            <a:ext cx="6121214" cy="21600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DA450B70-8AC8-B4E5-A307-46F12E3D621B}"/>
              </a:ext>
            </a:extLst>
          </p:cNvPr>
          <p:cNvSpPr>
            <a:spLocks noChangeAspect="1"/>
          </p:cNvSpPr>
          <p:nvPr/>
        </p:nvSpPr>
        <p:spPr>
          <a:xfrm>
            <a:off x="512127" y="5893174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9FDD232E-D399-CA15-05DD-4E33548F5235}"/>
              </a:ext>
            </a:extLst>
          </p:cNvPr>
          <p:cNvSpPr/>
          <p:nvPr/>
        </p:nvSpPr>
        <p:spPr>
          <a:xfrm>
            <a:off x="668524" y="3515649"/>
            <a:ext cx="6121214" cy="21600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347E99EE-F867-9256-C2A1-C95E1A23DB1B}"/>
              </a:ext>
            </a:extLst>
          </p:cNvPr>
          <p:cNvSpPr>
            <a:spLocks noChangeAspect="1"/>
          </p:cNvSpPr>
          <p:nvPr/>
        </p:nvSpPr>
        <p:spPr>
          <a:xfrm>
            <a:off x="512127" y="3539478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382785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36E20-224C-AD44-9D84-D8792AB39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73556C7-3D6E-3347-123E-88CDB2E8655B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고등학생장학금 신청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73080BA-B2CA-0911-CC04-306FEA82C265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프로그램신청관리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고등학생장학금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장학금신청</a:t>
            </a: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569CD6B4-F459-FD60-B641-2E21317FD3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822197"/>
              </p:ext>
            </p:extLst>
          </p:nvPr>
        </p:nvGraphicFramePr>
        <p:xfrm>
          <a:off x="6969418" y="2548005"/>
          <a:ext cx="2772114" cy="1665779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프로그램신청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대학생장학금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조회 화면 목록에서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신청하기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클릭 시 보이는 화면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성적증빙자료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성적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성적증빙자료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기반 성적을 직접 입력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첨부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제출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제출 서류 파일 선택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첨부완료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받기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시 첨부된 제출 서류 파일 다운로드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첨부파일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추가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] : 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추가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파일 선택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첨부 설정완료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파일받기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파일명 클릭 시 첨부된 파일 다운로드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[x]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 첨부된 해당 파일 삭제 처리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양식받기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시 추천서 양식 파일을 다운 받는다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A8670B2D-44E2-2E95-8AC5-9C12BEB67914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pau_application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19CC681-AF58-2847-E847-6F86CC456353}"/>
              </a:ext>
            </a:extLst>
          </p:cNvPr>
          <p:cNvSpPr/>
          <p:nvPr/>
        </p:nvSpPr>
        <p:spPr>
          <a:xfrm>
            <a:off x="165100" y="1376363"/>
            <a:ext cx="6732116" cy="5292997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C973A54-A87B-8BF8-6AC6-6012FEAD76FC}"/>
              </a:ext>
            </a:extLst>
          </p:cNvPr>
          <p:cNvSpPr/>
          <p:nvPr/>
        </p:nvSpPr>
        <p:spPr>
          <a:xfrm>
            <a:off x="292846" y="1448780"/>
            <a:ext cx="1099660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800" b="1" dirty="0">
                <a:solidFill>
                  <a:prstClr val="black"/>
                </a:solidFill>
              </a:rPr>
              <a:t>대학생 장학금 신청정보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4533C6EF-456E-EB35-A569-DCE9B8A9731D}"/>
              </a:ext>
            </a:extLst>
          </p:cNvPr>
          <p:cNvGraphicFramePr>
            <a:graphicFrameLocks noGrp="1"/>
          </p:cNvGraphicFramePr>
          <p:nvPr/>
        </p:nvGraphicFramePr>
        <p:xfrm>
          <a:off x="272480" y="1628406"/>
          <a:ext cx="6517258" cy="4694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3668863434"/>
                    </a:ext>
                  </a:extLst>
                </a:gridCol>
                <a:gridCol w="46090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구분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대학생 장학금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894265"/>
                  </a:ext>
                </a:extLst>
              </a:tr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</a:t>
                      </a:r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하반기 대학생 장학금 신청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접수기간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2025.09.20 10:00 </a:t>
                      </a:r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~ 2025.09.30 10:00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4735">
                <a:tc rowSpan="2"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전형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4735">
                <a:tc gridSpan="2"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1090955"/>
                  </a:ext>
                </a:extLst>
              </a:tr>
              <a:tr h="234735">
                <a:tc rowSpan="3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전형별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기업체 재직증명서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2230354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가족관계증명서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1414596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한국노총오산시지부장학생추천서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3500795"/>
                  </a:ext>
                </a:extLst>
              </a:tr>
              <a:tr h="234735">
                <a:tc rowSpan="1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공통 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추천서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주민등록초본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1958612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주민등록등본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164179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재학증명서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799673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고등학교 졸업증명서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3894158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성적증빙자료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037610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국민기초생활보장수급자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차상위계층확인서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한부모가족보호대상확인서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장애인증명서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첨부파일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8089092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8418894"/>
                  </a:ext>
                </a:extLst>
              </a:tr>
            </a:tbl>
          </a:graphicData>
        </a:graphic>
      </p:graphicFrame>
      <p:grpSp>
        <p:nvGrpSpPr>
          <p:cNvPr id="92" name="그룹 91">
            <a:extLst>
              <a:ext uri="{FF2B5EF4-FFF2-40B4-BE49-F238E27FC236}">
                <a16:creationId xmlns:a16="http://schemas.microsoft.com/office/drawing/2014/main" id="{DA6BBAFC-8314-6894-BFD6-600450987C5E}"/>
              </a:ext>
            </a:extLst>
          </p:cNvPr>
          <p:cNvGrpSpPr/>
          <p:nvPr/>
        </p:nvGrpSpPr>
        <p:grpSpPr>
          <a:xfrm>
            <a:off x="2788366" y="2371270"/>
            <a:ext cx="505750" cy="144462"/>
            <a:chOff x="2716253" y="2405617"/>
            <a:chExt cx="505750" cy="144462"/>
          </a:xfrm>
        </p:grpSpPr>
        <p:sp>
          <p:nvSpPr>
            <p:cNvPr id="93" name="Rectangle 191">
              <a:extLst>
                <a:ext uri="{FF2B5EF4-FFF2-40B4-BE49-F238E27FC236}">
                  <a16:creationId xmlns:a16="http://schemas.microsoft.com/office/drawing/2014/main" id="{2818A153-82E1-B40E-ED3F-8C8BD29440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359073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희망인재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graphicFrame>
          <p:nvGraphicFramePr>
            <p:cNvPr id="94" name="개체 93">
              <a:extLst>
                <a:ext uri="{FF2B5EF4-FFF2-40B4-BE49-F238E27FC236}">
                  <a16:creationId xmlns:a16="http://schemas.microsoft.com/office/drawing/2014/main" id="{1D82645D-7915-D087-87B4-08DC9862FEE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2" imgW="145435" imgH="145435" progId="Visio.Drawing.11">
                    <p:embed/>
                  </p:oleObj>
                </mc:Choice>
                <mc:Fallback>
                  <p:oleObj name="Visio" r:id="rId2" imgW="145435" imgH="145435" progId="Visio.Drawing.11">
                    <p:embed/>
                    <p:pic>
                      <p:nvPicPr>
                        <p:cNvPr id="94" name="개체 93">
                          <a:extLst>
                            <a:ext uri="{FF2B5EF4-FFF2-40B4-BE49-F238E27FC236}">
                              <a16:creationId xmlns:a16="http://schemas.microsoft.com/office/drawing/2014/main" id="{62AB51B4-B505-5358-4690-666E17A2361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1DF12F35-EDBB-2E1B-CBF9-A30C69C4A821}"/>
              </a:ext>
            </a:extLst>
          </p:cNvPr>
          <p:cNvGrpSpPr/>
          <p:nvPr/>
        </p:nvGrpSpPr>
        <p:grpSpPr>
          <a:xfrm>
            <a:off x="4015459" y="2371270"/>
            <a:ext cx="775054" cy="144462"/>
            <a:chOff x="2716253" y="2405617"/>
            <a:chExt cx="775054" cy="144462"/>
          </a:xfrm>
        </p:grpSpPr>
        <p:sp>
          <p:nvSpPr>
            <p:cNvPr id="96" name="Rectangle 191">
              <a:extLst>
                <a:ext uri="{FF2B5EF4-FFF2-40B4-BE49-F238E27FC236}">
                  <a16:creationId xmlns:a16="http://schemas.microsoft.com/office/drawing/2014/main" id="{DB0B181D-9E11-1FAC-A1AA-31BB7A39B2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628377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다자녀가정자녀</a:t>
              </a:r>
            </a:p>
          </p:txBody>
        </p:sp>
        <p:graphicFrame>
          <p:nvGraphicFramePr>
            <p:cNvPr id="97" name="개체 96">
              <a:extLst>
                <a:ext uri="{FF2B5EF4-FFF2-40B4-BE49-F238E27FC236}">
                  <a16:creationId xmlns:a16="http://schemas.microsoft.com/office/drawing/2014/main" id="{DC4D5626-3230-155E-4504-377DE0223A8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2" imgW="145435" imgH="145435" progId="Visio.Drawing.11">
                    <p:embed/>
                  </p:oleObj>
                </mc:Choice>
                <mc:Fallback>
                  <p:oleObj name="Visio" r:id="rId2" imgW="145435" imgH="145435" progId="Visio.Drawing.11">
                    <p:embed/>
                    <p:pic>
                      <p:nvPicPr>
                        <p:cNvPr id="97" name="개체 96">
                          <a:extLst>
                            <a:ext uri="{FF2B5EF4-FFF2-40B4-BE49-F238E27FC236}">
                              <a16:creationId xmlns:a16="http://schemas.microsoft.com/office/drawing/2014/main" id="{CFD89188-6E3B-18CA-D76F-003FA9E1D8C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6DAB9FD2-56B3-59C3-AC0E-468E9149A074}"/>
              </a:ext>
            </a:extLst>
          </p:cNvPr>
          <p:cNvGrpSpPr/>
          <p:nvPr/>
        </p:nvGrpSpPr>
        <p:grpSpPr>
          <a:xfrm>
            <a:off x="4846120" y="2371270"/>
            <a:ext cx="775054" cy="144462"/>
            <a:chOff x="2716253" y="2405617"/>
            <a:chExt cx="775054" cy="144462"/>
          </a:xfrm>
        </p:grpSpPr>
        <p:sp>
          <p:nvSpPr>
            <p:cNvPr id="99" name="Rectangle 191">
              <a:extLst>
                <a:ext uri="{FF2B5EF4-FFF2-40B4-BE49-F238E27FC236}">
                  <a16:creationId xmlns:a16="http://schemas.microsoft.com/office/drawing/2014/main" id="{F355F74B-45F8-AA04-5769-D342D7935B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628377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다문화가정자녀</a:t>
              </a:r>
            </a:p>
          </p:txBody>
        </p:sp>
        <p:graphicFrame>
          <p:nvGraphicFramePr>
            <p:cNvPr id="100" name="개체 99">
              <a:extLst>
                <a:ext uri="{FF2B5EF4-FFF2-40B4-BE49-F238E27FC236}">
                  <a16:creationId xmlns:a16="http://schemas.microsoft.com/office/drawing/2014/main" id="{5D61713E-0D6E-9D63-FDA9-B363F6DD9AD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2" imgW="145435" imgH="145435" progId="Visio.Drawing.11">
                    <p:embed/>
                  </p:oleObj>
                </mc:Choice>
                <mc:Fallback>
                  <p:oleObj name="Visio" r:id="rId2" imgW="145435" imgH="145435" progId="Visio.Drawing.11">
                    <p:embed/>
                    <p:pic>
                      <p:nvPicPr>
                        <p:cNvPr id="100" name="개체 99">
                          <a:extLst>
                            <a:ext uri="{FF2B5EF4-FFF2-40B4-BE49-F238E27FC236}">
                              <a16:creationId xmlns:a16="http://schemas.microsoft.com/office/drawing/2014/main" id="{8921A0C8-8CBE-636A-612A-4EAFF0F10D5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B03A633D-6DF3-8196-71D0-072C4987A0ED}"/>
              </a:ext>
            </a:extLst>
          </p:cNvPr>
          <p:cNvSpPr/>
          <p:nvPr/>
        </p:nvSpPr>
        <p:spPr>
          <a:xfrm>
            <a:off x="2212023" y="4961278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dirty="0" err="1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국민기초생활보장수급자</a:t>
            </a:r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CE40B0F7-3488-5E4A-9073-476C43B848BC}"/>
              </a:ext>
            </a:extLst>
          </p:cNvPr>
          <p:cNvSpPr/>
          <p:nvPr/>
        </p:nvSpPr>
        <p:spPr>
          <a:xfrm>
            <a:off x="3865021" y="4961270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0C6FBB64-032F-B564-C074-11D151D1136A}"/>
              </a:ext>
            </a:extLst>
          </p:cNvPr>
          <p:cNvSpPr/>
          <p:nvPr/>
        </p:nvSpPr>
        <p:spPr>
          <a:xfrm>
            <a:off x="2212023" y="5193822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차상위계층확인서</a:t>
            </a:r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17B40DBC-04E0-0A56-D4A6-92D334B99A0C}"/>
              </a:ext>
            </a:extLst>
          </p:cNvPr>
          <p:cNvSpPr/>
          <p:nvPr/>
        </p:nvSpPr>
        <p:spPr>
          <a:xfrm>
            <a:off x="3865021" y="5193814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A525F38F-9F78-CB8C-C84A-A12F32A203A1}"/>
              </a:ext>
            </a:extLst>
          </p:cNvPr>
          <p:cNvSpPr/>
          <p:nvPr/>
        </p:nvSpPr>
        <p:spPr>
          <a:xfrm>
            <a:off x="2212023" y="5423074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E5070B86-A3B8-3518-6AC1-093D33E8FAB7}"/>
              </a:ext>
            </a:extLst>
          </p:cNvPr>
          <p:cNvSpPr/>
          <p:nvPr/>
        </p:nvSpPr>
        <p:spPr>
          <a:xfrm>
            <a:off x="3865021" y="5423066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6F37965B-AF19-C0CE-4EED-4ABFEC5B78A5}"/>
              </a:ext>
            </a:extLst>
          </p:cNvPr>
          <p:cNvSpPr/>
          <p:nvPr/>
        </p:nvSpPr>
        <p:spPr>
          <a:xfrm>
            <a:off x="2212023" y="5661256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A1049D07-4140-CA28-4DD8-8DED4E3FEEDD}"/>
              </a:ext>
            </a:extLst>
          </p:cNvPr>
          <p:cNvSpPr/>
          <p:nvPr/>
        </p:nvSpPr>
        <p:spPr>
          <a:xfrm>
            <a:off x="3865021" y="5661248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8F9B5224-8051-0941-CAD8-EB2A438AD4D6}"/>
              </a:ext>
            </a:extLst>
          </p:cNvPr>
          <p:cNvGrpSpPr/>
          <p:nvPr/>
        </p:nvGrpSpPr>
        <p:grpSpPr>
          <a:xfrm>
            <a:off x="2229343" y="6149402"/>
            <a:ext cx="1105196" cy="128396"/>
            <a:chOff x="3438680" y="4305150"/>
            <a:chExt cx="1105196" cy="128396"/>
          </a:xfrm>
        </p:grpSpPr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BB5A8700-2349-A2CB-4274-689D7EDADC3C}"/>
                </a:ext>
              </a:extLst>
            </p:cNvPr>
            <p:cNvSpPr txBox="1"/>
            <p:nvPr/>
          </p:nvSpPr>
          <p:spPr>
            <a:xfrm>
              <a:off x="3438680" y="4305150"/>
              <a:ext cx="971420" cy="10772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신청 관련 부가 서류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19" name="Picture 10">
              <a:extLst>
                <a:ext uri="{FF2B5EF4-FFF2-40B4-BE49-F238E27FC236}">
                  <a16:creationId xmlns:a16="http://schemas.microsoft.com/office/drawing/2014/main" id="{B3AE5074-40DE-7B21-10A7-9D4CE1E0716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7418" y="4312303"/>
              <a:ext cx="106458" cy="121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20" name="그룹 119">
            <a:extLst>
              <a:ext uri="{FF2B5EF4-FFF2-40B4-BE49-F238E27FC236}">
                <a16:creationId xmlns:a16="http://schemas.microsoft.com/office/drawing/2014/main" id="{C675DE0D-3A5C-32EB-62AB-6C3E8CCC7DB3}"/>
              </a:ext>
            </a:extLst>
          </p:cNvPr>
          <p:cNvGrpSpPr/>
          <p:nvPr/>
        </p:nvGrpSpPr>
        <p:grpSpPr>
          <a:xfrm>
            <a:off x="3415756" y="6149402"/>
            <a:ext cx="1105196" cy="128396"/>
            <a:chOff x="3438680" y="4305150"/>
            <a:chExt cx="1105196" cy="128396"/>
          </a:xfrm>
        </p:grpSpPr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C9811CE7-93D4-6CF6-9076-EF91EECDA705}"/>
                </a:ext>
              </a:extLst>
            </p:cNvPr>
            <p:cNvSpPr txBox="1"/>
            <p:nvPr/>
          </p:nvSpPr>
          <p:spPr>
            <a:xfrm>
              <a:off x="3438680" y="4305150"/>
              <a:ext cx="971420" cy="10772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신청 관련 부가 서류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67" name="Picture 10">
              <a:extLst>
                <a:ext uri="{FF2B5EF4-FFF2-40B4-BE49-F238E27FC236}">
                  <a16:creationId xmlns:a16="http://schemas.microsoft.com/office/drawing/2014/main" id="{5E9944FC-FC76-21F0-9435-077A0F99D0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7418" y="4312303"/>
              <a:ext cx="106458" cy="121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71" name="그룹 170">
            <a:extLst>
              <a:ext uri="{FF2B5EF4-FFF2-40B4-BE49-F238E27FC236}">
                <a16:creationId xmlns:a16="http://schemas.microsoft.com/office/drawing/2014/main" id="{40D806B1-54BA-29FF-ADED-CF3CE975D79F}"/>
              </a:ext>
            </a:extLst>
          </p:cNvPr>
          <p:cNvGrpSpPr/>
          <p:nvPr/>
        </p:nvGrpSpPr>
        <p:grpSpPr>
          <a:xfrm>
            <a:off x="2212023" y="4017215"/>
            <a:ext cx="2225682" cy="145176"/>
            <a:chOff x="3327015" y="2690196"/>
            <a:chExt cx="2225682" cy="145176"/>
          </a:xfrm>
        </p:grpSpPr>
        <p:sp>
          <p:nvSpPr>
            <p:cNvPr id="172" name="직사각형 171">
              <a:extLst>
                <a:ext uri="{FF2B5EF4-FFF2-40B4-BE49-F238E27FC236}">
                  <a16:creationId xmlns:a16="http://schemas.microsoft.com/office/drawing/2014/main" id="{1A43D448-543D-9849-C9DA-2A606809874C}"/>
                </a:ext>
              </a:extLst>
            </p:cNvPr>
            <p:cNvSpPr/>
            <p:nvPr/>
          </p:nvSpPr>
          <p:spPr>
            <a:xfrm>
              <a:off x="3327015" y="2691364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주민등록등본</a:t>
              </a:r>
              <a:r>
                <a:rPr kumimoji="0" lang="en-US" altLang="ko-KR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3" name="직사각형 172">
              <a:extLst>
                <a:ext uri="{FF2B5EF4-FFF2-40B4-BE49-F238E27FC236}">
                  <a16:creationId xmlns:a16="http://schemas.microsoft.com/office/drawing/2014/main" id="{0DAACCE6-DE50-456B-1B3A-EC0E40BC56E4}"/>
                </a:ext>
              </a:extLst>
            </p:cNvPr>
            <p:cNvSpPr/>
            <p:nvPr/>
          </p:nvSpPr>
          <p:spPr>
            <a:xfrm>
              <a:off x="4980013" y="2691356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제출</a:t>
              </a:r>
            </a:p>
          </p:txBody>
        </p:sp>
        <p:sp>
          <p:nvSpPr>
            <p:cNvPr id="174" name="직사각형 173">
              <a:extLst>
                <a:ext uri="{FF2B5EF4-FFF2-40B4-BE49-F238E27FC236}">
                  <a16:creationId xmlns:a16="http://schemas.microsoft.com/office/drawing/2014/main" id="{08ECA035-4C6A-018A-21E3-946567ECB6BD}"/>
                </a:ext>
              </a:extLst>
            </p:cNvPr>
            <p:cNvSpPr/>
            <p:nvPr/>
          </p:nvSpPr>
          <p:spPr>
            <a:xfrm>
              <a:off x="5288523" y="2690196"/>
              <a:ext cx="264174" cy="144016"/>
            </a:xfrm>
            <a:prstGeom prst="rect">
              <a:avLst/>
            </a:prstGeom>
            <a:solidFill>
              <a:srgbClr val="66FF66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75" name="직사각형 174">
            <a:extLst>
              <a:ext uri="{FF2B5EF4-FFF2-40B4-BE49-F238E27FC236}">
                <a16:creationId xmlns:a16="http://schemas.microsoft.com/office/drawing/2014/main" id="{0420BAB9-835E-04F0-AD5B-0584A2DF57A4}"/>
              </a:ext>
            </a:extLst>
          </p:cNvPr>
          <p:cNvSpPr/>
          <p:nvPr/>
        </p:nvSpPr>
        <p:spPr>
          <a:xfrm>
            <a:off x="4173531" y="4961311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64860575-9306-9947-EC67-F3EB86CF8446}"/>
              </a:ext>
            </a:extLst>
          </p:cNvPr>
          <p:cNvSpPr/>
          <p:nvPr/>
        </p:nvSpPr>
        <p:spPr>
          <a:xfrm>
            <a:off x="4173531" y="5193196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7" name="직사각형 176">
            <a:extLst>
              <a:ext uri="{FF2B5EF4-FFF2-40B4-BE49-F238E27FC236}">
                <a16:creationId xmlns:a16="http://schemas.microsoft.com/office/drawing/2014/main" id="{7C1AF6A0-8F3F-3945-EB01-DCDF9F6D548B}"/>
              </a:ext>
            </a:extLst>
          </p:cNvPr>
          <p:cNvSpPr/>
          <p:nvPr/>
        </p:nvSpPr>
        <p:spPr>
          <a:xfrm>
            <a:off x="4173531" y="5417171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8" name="직사각형 177">
            <a:extLst>
              <a:ext uri="{FF2B5EF4-FFF2-40B4-BE49-F238E27FC236}">
                <a16:creationId xmlns:a16="http://schemas.microsoft.com/office/drawing/2014/main" id="{F3CCB1B3-46F2-5A9D-E836-BD1793527C12}"/>
              </a:ext>
            </a:extLst>
          </p:cNvPr>
          <p:cNvSpPr/>
          <p:nvPr/>
        </p:nvSpPr>
        <p:spPr>
          <a:xfrm>
            <a:off x="4173531" y="5663116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79" name="그룹 178">
            <a:extLst>
              <a:ext uri="{FF2B5EF4-FFF2-40B4-BE49-F238E27FC236}">
                <a16:creationId xmlns:a16="http://schemas.microsoft.com/office/drawing/2014/main" id="{797DA896-65EF-C160-F359-12999BC3BD70}"/>
              </a:ext>
            </a:extLst>
          </p:cNvPr>
          <p:cNvGrpSpPr/>
          <p:nvPr/>
        </p:nvGrpSpPr>
        <p:grpSpPr>
          <a:xfrm>
            <a:off x="2227570" y="2612717"/>
            <a:ext cx="1394613" cy="144462"/>
            <a:chOff x="2415444" y="3432217"/>
            <a:chExt cx="1394613" cy="144462"/>
          </a:xfrm>
        </p:grpSpPr>
        <p:sp>
          <p:nvSpPr>
            <p:cNvPr id="180" name="Rectangle 191">
              <a:extLst>
                <a:ext uri="{FF2B5EF4-FFF2-40B4-BE49-F238E27FC236}">
                  <a16:creationId xmlns:a16="http://schemas.microsoft.com/office/drawing/2014/main" id="{6FE03389-16DD-0BF5-1480-371500198A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5444" y="3444195"/>
              <a:ext cx="1394613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지역인재육성</a:t>
              </a: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(                         )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181" name="그룹 180">
              <a:extLst>
                <a:ext uri="{FF2B5EF4-FFF2-40B4-BE49-F238E27FC236}">
                  <a16:creationId xmlns:a16="http://schemas.microsoft.com/office/drawing/2014/main" id="{55417613-D64A-E01C-0C9F-2834E2C36020}"/>
                </a:ext>
              </a:extLst>
            </p:cNvPr>
            <p:cNvGrpSpPr/>
            <p:nvPr/>
          </p:nvGrpSpPr>
          <p:grpSpPr>
            <a:xfrm>
              <a:off x="3332820" y="3432217"/>
              <a:ext cx="408030" cy="144462"/>
              <a:chOff x="2716253" y="2405617"/>
              <a:chExt cx="408030" cy="144462"/>
            </a:xfrm>
          </p:grpSpPr>
          <p:sp>
            <p:nvSpPr>
              <p:cNvPr id="185" name="Rectangle 191">
                <a:extLst>
                  <a:ext uri="{FF2B5EF4-FFF2-40B4-BE49-F238E27FC236}">
                    <a16:creationId xmlns:a16="http://schemas.microsoft.com/office/drawing/2014/main" id="{3F6523F2-2D57-C2F1-3BD5-1E9F51676D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54979" y="2416036"/>
                <a:ext cx="269304" cy="10772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EAEAEA"/>
                    </a:solidFill>
                  </a14:hiddenFill>
                </a:ext>
                <a:ext uri="{91240B29-F687-4F45-9708-019B960494DF}">
                  <a14:hiddenLine xmlns:a14="http://schemas.microsoft.com/office/drawing/2010/main" w="635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7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만학도</a:t>
                </a:r>
                <a:endPara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graphicFrame>
            <p:nvGraphicFramePr>
              <p:cNvPr id="186" name="개체 185">
                <a:extLst>
                  <a:ext uri="{FF2B5EF4-FFF2-40B4-BE49-F238E27FC236}">
                    <a16:creationId xmlns:a16="http://schemas.microsoft.com/office/drawing/2014/main" id="{C9820C00-654E-C25E-50AF-18574113881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716253" y="2405617"/>
              <a:ext cx="144462" cy="1444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Visio" r:id="rId2" imgW="145435" imgH="145435" progId="Visio.Drawing.11">
                      <p:embed/>
                    </p:oleObj>
                  </mc:Choice>
                  <mc:Fallback>
                    <p:oleObj name="Visio" r:id="rId2" imgW="145435" imgH="145435" progId="Visio.Drawing.11">
                      <p:embed/>
                      <p:pic>
                        <p:nvPicPr>
                          <p:cNvPr id="186" name="개체 185">
                            <a:extLst>
                              <a:ext uri="{FF2B5EF4-FFF2-40B4-BE49-F238E27FC236}">
                                <a16:creationId xmlns:a16="http://schemas.microsoft.com/office/drawing/2014/main" id="{AF39094B-3931-62F4-8E9A-BC46DAE74B17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16253" y="2405617"/>
                            <a:ext cx="144462" cy="1444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EAEAEA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6350" algn="ctr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82" name="그룹 181">
              <a:extLst>
                <a:ext uri="{FF2B5EF4-FFF2-40B4-BE49-F238E27FC236}">
                  <a16:creationId xmlns:a16="http://schemas.microsoft.com/office/drawing/2014/main" id="{6109802E-8D3D-177A-A9C7-81B2796862DC}"/>
                </a:ext>
              </a:extLst>
            </p:cNvPr>
            <p:cNvGrpSpPr/>
            <p:nvPr/>
          </p:nvGrpSpPr>
          <p:grpSpPr>
            <a:xfrm>
              <a:off x="3000833" y="3432217"/>
              <a:ext cx="318262" cy="144462"/>
              <a:chOff x="2716253" y="2405617"/>
              <a:chExt cx="318262" cy="144462"/>
            </a:xfrm>
          </p:grpSpPr>
          <p:sp>
            <p:nvSpPr>
              <p:cNvPr id="183" name="Rectangle 191">
                <a:extLst>
                  <a:ext uri="{FF2B5EF4-FFF2-40B4-BE49-F238E27FC236}">
                    <a16:creationId xmlns:a16="http://schemas.microsoft.com/office/drawing/2014/main" id="{75CAB9BE-95BC-74E0-5FBF-141FBE89CF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54979" y="2416036"/>
                <a:ext cx="179536" cy="10772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EAEAEA"/>
                    </a:solidFill>
                  </a14:hiddenFill>
                </a:ext>
                <a:ext uri="{91240B29-F687-4F45-9708-019B960494DF}">
                  <a14:hiddenLine xmlns:a14="http://schemas.microsoft.com/office/drawing/2010/main" w="635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7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일반</a:t>
                </a:r>
              </a:p>
            </p:txBody>
          </p:sp>
          <p:graphicFrame>
            <p:nvGraphicFramePr>
              <p:cNvPr id="184" name="개체 183">
                <a:extLst>
                  <a:ext uri="{FF2B5EF4-FFF2-40B4-BE49-F238E27FC236}">
                    <a16:creationId xmlns:a16="http://schemas.microsoft.com/office/drawing/2014/main" id="{A3AA9A1C-CB16-2D58-4F7D-2585FB2E878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716253" y="2405617"/>
              <a:ext cx="144462" cy="1444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Visio" r:id="rId2" imgW="145435" imgH="145435" progId="Visio.Drawing.11">
                      <p:embed/>
                    </p:oleObj>
                  </mc:Choice>
                  <mc:Fallback>
                    <p:oleObj name="Visio" r:id="rId2" imgW="145435" imgH="145435" progId="Visio.Drawing.11">
                      <p:embed/>
                      <p:pic>
                        <p:nvPicPr>
                          <p:cNvPr id="184" name="개체 183">
                            <a:extLst>
                              <a:ext uri="{FF2B5EF4-FFF2-40B4-BE49-F238E27FC236}">
                                <a16:creationId xmlns:a16="http://schemas.microsoft.com/office/drawing/2014/main" id="{685A3BC3-EC2B-387D-E732-CFDB6ADCA31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16253" y="2405617"/>
                            <a:ext cx="144462" cy="1444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EAEAEA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6350" algn="ctr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187" name="그룹 186">
            <a:extLst>
              <a:ext uri="{FF2B5EF4-FFF2-40B4-BE49-F238E27FC236}">
                <a16:creationId xmlns:a16="http://schemas.microsoft.com/office/drawing/2014/main" id="{513B9E65-87EC-B8C1-4D21-89BF6306AB68}"/>
              </a:ext>
            </a:extLst>
          </p:cNvPr>
          <p:cNvGrpSpPr/>
          <p:nvPr/>
        </p:nvGrpSpPr>
        <p:grpSpPr>
          <a:xfrm>
            <a:off x="2212023" y="4249141"/>
            <a:ext cx="2225682" cy="145176"/>
            <a:chOff x="3327015" y="2690196"/>
            <a:chExt cx="2225682" cy="145176"/>
          </a:xfrm>
        </p:grpSpPr>
        <p:sp>
          <p:nvSpPr>
            <p:cNvPr id="188" name="직사각형 187">
              <a:extLst>
                <a:ext uri="{FF2B5EF4-FFF2-40B4-BE49-F238E27FC236}">
                  <a16:creationId xmlns:a16="http://schemas.microsoft.com/office/drawing/2014/main" id="{A0F4514A-12F6-2B37-5880-0A0E65219359}"/>
                </a:ext>
              </a:extLst>
            </p:cNvPr>
            <p:cNvSpPr/>
            <p:nvPr/>
          </p:nvSpPr>
          <p:spPr>
            <a:xfrm>
              <a:off x="3327015" y="2691364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재학증명서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9" name="직사각형 188">
              <a:extLst>
                <a:ext uri="{FF2B5EF4-FFF2-40B4-BE49-F238E27FC236}">
                  <a16:creationId xmlns:a16="http://schemas.microsoft.com/office/drawing/2014/main" id="{8E9072FB-F6C4-50A5-3EE0-A61AD65E7AF8}"/>
                </a:ext>
              </a:extLst>
            </p:cNvPr>
            <p:cNvSpPr/>
            <p:nvPr/>
          </p:nvSpPr>
          <p:spPr>
            <a:xfrm>
              <a:off x="4980013" y="2691356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제출</a:t>
              </a:r>
            </a:p>
          </p:txBody>
        </p:sp>
        <p:sp>
          <p:nvSpPr>
            <p:cNvPr id="190" name="직사각형 189">
              <a:extLst>
                <a:ext uri="{FF2B5EF4-FFF2-40B4-BE49-F238E27FC236}">
                  <a16:creationId xmlns:a16="http://schemas.microsoft.com/office/drawing/2014/main" id="{48482D23-9824-4E8B-D466-A5E40FC57DF8}"/>
                </a:ext>
              </a:extLst>
            </p:cNvPr>
            <p:cNvSpPr/>
            <p:nvPr/>
          </p:nvSpPr>
          <p:spPr>
            <a:xfrm>
              <a:off x="5288523" y="2690196"/>
              <a:ext cx="264174" cy="144016"/>
            </a:xfrm>
            <a:prstGeom prst="rect">
              <a:avLst/>
            </a:prstGeom>
            <a:solidFill>
              <a:srgbClr val="66FF66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91" name="그룹 190">
            <a:extLst>
              <a:ext uri="{FF2B5EF4-FFF2-40B4-BE49-F238E27FC236}">
                <a16:creationId xmlns:a16="http://schemas.microsoft.com/office/drawing/2014/main" id="{699DB973-ECA3-5C79-EACF-275B0FC03236}"/>
              </a:ext>
            </a:extLst>
          </p:cNvPr>
          <p:cNvGrpSpPr/>
          <p:nvPr/>
        </p:nvGrpSpPr>
        <p:grpSpPr>
          <a:xfrm>
            <a:off x="2212023" y="4477316"/>
            <a:ext cx="2225682" cy="145176"/>
            <a:chOff x="3327015" y="2690196"/>
            <a:chExt cx="2225682" cy="145176"/>
          </a:xfrm>
        </p:grpSpPr>
        <p:sp>
          <p:nvSpPr>
            <p:cNvPr id="192" name="직사각형 191">
              <a:extLst>
                <a:ext uri="{FF2B5EF4-FFF2-40B4-BE49-F238E27FC236}">
                  <a16:creationId xmlns:a16="http://schemas.microsoft.com/office/drawing/2014/main" id="{3D20E9E4-9ADE-3B0C-72FC-8851FAC12D6A}"/>
                </a:ext>
              </a:extLst>
            </p:cNvPr>
            <p:cNvSpPr/>
            <p:nvPr/>
          </p:nvSpPr>
          <p:spPr>
            <a:xfrm>
              <a:off x="3327015" y="2691364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고등학교졸업증명서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5" name="직사각형 194">
              <a:extLst>
                <a:ext uri="{FF2B5EF4-FFF2-40B4-BE49-F238E27FC236}">
                  <a16:creationId xmlns:a16="http://schemas.microsoft.com/office/drawing/2014/main" id="{7B5813BD-9FDC-3480-8F17-BDB31B0F7433}"/>
                </a:ext>
              </a:extLst>
            </p:cNvPr>
            <p:cNvSpPr/>
            <p:nvPr/>
          </p:nvSpPr>
          <p:spPr>
            <a:xfrm>
              <a:off x="4980013" y="2691356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제출</a:t>
              </a:r>
            </a:p>
          </p:txBody>
        </p:sp>
        <p:sp>
          <p:nvSpPr>
            <p:cNvPr id="196" name="직사각형 195">
              <a:extLst>
                <a:ext uri="{FF2B5EF4-FFF2-40B4-BE49-F238E27FC236}">
                  <a16:creationId xmlns:a16="http://schemas.microsoft.com/office/drawing/2014/main" id="{F47ED983-90A3-683E-A551-425CD2D3A8F6}"/>
                </a:ext>
              </a:extLst>
            </p:cNvPr>
            <p:cNvSpPr/>
            <p:nvPr/>
          </p:nvSpPr>
          <p:spPr>
            <a:xfrm>
              <a:off x="5288523" y="2690196"/>
              <a:ext cx="264174" cy="144016"/>
            </a:xfrm>
            <a:prstGeom prst="rect">
              <a:avLst/>
            </a:prstGeom>
            <a:solidFill>
              <a:srgbClr val="66FF66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218" name="그룹 217">
            <a:extLst>
              <a:ext uri="{FF2B5EF4-FFF2-40B4-BE49-F238E27FC236}">
                <a16:creationId xmlns:a16="http://schemas.microsoft.com/office/drawing/2014/main" id="{72FC7B32-1604-63F5-662B-719D31BB7D9E}"/>
              </a:ext>
            </a:extLst>
          </p:cNvPr>
          <p:cNvGrpSpPr/>
          <p:nvPr/>
        </p:nvGrpSpPr>
        <p:grpSpPr>
          <a:xfrm>
            <a:off x="2212539" y="2371270"/>
            <a:ext cx="505750" cy="144462"/>
            <a:chOff x="2716253" y="2405617"/>
            <a:chExt cx="505750" cy="144462"/>
          </a:xfrm>
        </p:grpSpPr>
        <p:sp>
          <p:nvSpPr>
            <p:cNvPr id="219" name="Rectangle 191">
              <a:extLst>
                <a:ext uri="{FF2B5EF4-FFF2-40B4-BE49-F238E27FC236}">
                  <a16:creationId xmlns:a16="http://schemas.microsoft.com/office/drawing/2014/main" id="{A86D9C69-77BB-9721-EA43-1E6AB2BB86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359073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우수인재</a:t>
              </a:r>
            </a:p>
          </p:txBody>
        </p:sp>
        <p:graphicFrame>
          <p:nvGraphicFramePr>
            <p:cNvPr id="220" name="개체 219">
              <a:extLst>
                <a:ext uri="{FF2B5EF4-FFF2-40B4-BE49-F238E27FC236}">
                  <a16:creationId xmlns:a16="http://schemas.microsoft.com/office/drawing/2014/main" id="{23DAD32F-9571-B59A-4831-C17503E4F17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2" imgW="145435" imgH="145435" progId="Visio.Drawing.11">
                    <p:embed/>
                  </p:oleObj>
                </mc:Choice>
                <mc:Fallback>
                  <p:oleObj name="Visio" r:id="rId2" imgW="145435" imgH="145435" progId="Visio.Drawing.11">
                    <p:embed/>
                    <p:pic>
                      <p:nvPicPr>
                        <p:cNvPr id="220" name="개체 219">
                          <a:extLst>
                            <a:ext uri="{FF2B5EF4-FFF2-40B4-BE49-F238E27FC236}">
                              <a16:creationId xmlns:a16="http://schemas.microsoft.com/office/drawing/2014/main" id="{A33863C3-5AB5-17B4-0201-C31FBB7020B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1" name="그룹 220">
            <a:extLst>
              <a:ext uri="{FF2B5EF4-FFF2-40B4-BE49-F238E27FC236}">
                <a16:creationId xmlns:a16="http://schemas.microsoft.com/office/drawing/2014/main" id="{4DE694E9-7ABD-B65A-9E33-31B5428D466F}"/>
              </a:ext>
            </a:extLst>
          </p:cNvPr>
          <p:cNvGrpSpPr/>
          <p:nvPr/>
        </p:nvGrpSpPr>
        <p:grpSpPr>
          <a:xfrm>
            <a:off x="3359132" y="2377156"/>
            <a:ext cx="596201" cy="144463"/>
            <a:chOff x="3327015" y="1527346"/>
            <a:chExt cx="596201" cy="144463"/>
          </a:xfrm>
        </p:grpSpPr>
        <p:sp>
          <p:nvSpPr>
            <p:cNvPr id="222" name="Rectangle 191">
              <a:extLst>
                <a:ext uri="{FF2B5EF4-FFF2-40B4-BE49-F238E27FC236}">
                  <a16:creationId xmlns:a16="http://schemas.microsoft.com/office/drawing/2014/main" id="{0FA4A8AA-BE31-E486-DE5E-35C4F795E6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4375" y="1539830"/>
              <a:ext cx="448841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근로자자녀</a:t>
              </a:r>
            </a:p>
          </p:txBody>
        </p:sp>
        <p:graphicFrame>
          <p:nvGraphicFramePr>
            <p:cNvPr id="223" name="개체 222">
              <a:extLst>
                <a:ext uri="{FF2B5EF4-FFF2-40B4-BE49-F238E27FC236}">
                  <a16:creationId xmlns:a16="http://schemas.microsoft.com/office/drawing/2014/main" id="{2557BDD1-A5AB-CCD7-6DF3-9D8849AB265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27015" y="1527346"/>
            <a:ext cx="144462" cy="144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5" imgW="145435" imgH="145435" progId="Visio.Drawing.11">
                    <p:embed/>
                  </p:oleObj>
                </mc:Choice>
                <mc:Fallback>
                  <p:oleObj name="Visio" r:id="rId5" imgW="145435" imgH="145435" progId="Visio.Drawing.11">
                    <p:embed/>
                    <p:pic>
                      <p:nvPicPr>
                        <p:cNvPr id="223" name="개체 222">
                          <a:extLst>
                            <a:ext uri="{FF2B5EF4-FFF2-40B4-BE49-F238E27FC236}">
                              <a16:creationId xmlns:a16="http://schemas.microsoft.com/office/drawing/2014/main" id="{5174FF47-A2F4-AF85-6B1E-08DD84E896B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27015" y="1527346"/>
                          <a:ext cx="144462" cy="1444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7" name="직사각형 226">
            <a:extLst>
              <a:ext uri="{FF2B5EF4-FFF2-40B4-BE49-F238E27FC236}">
                <a16:creationId xmlns:a16="http://schemas.microsoft.com/office/drawing/2014/main" id="{358F7C48-FF43-D5FA-3E1F-8EF2863668F7}"/>
              </a:ext>
            </a:extLst>
          </p:cNvPr>
          <p:cNvSpPr/>
          <p:nvPr/>
        </p:nvSpPr>
        <p:spPr>
          <a:xfrm>
            <a:off x="2212023" y="3313045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한국노총오산시지부장학생추천서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8" name="직사각형 227">
            <a:extLst>
              <a:ext uri="{FF2B5EF4-FFF2-40B4-BE49-F238E27FC236}">
                <a16:creationId xmlns:a16="http://schemas.microsoft.com/office/drawing/2014/main" id="{31B0499E-E96B-4D61-7501-25BC90E483E1}"/>
              </a:ext>
            </a:extLst>
          </p:cNvPr>
          <p:cNvSpPr/>
          <p:nvPr/>
        </p:nvSpPr>
        <p:spPr>
          <a:xfrm>
            <a:off x="3865021" y="3313037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229" name="직사각형 228">
            <a:extLst>
              <a:ext uri="{FF2B5EF4-FFF2-40B4-BE49-F238E27FC236}">
                <a16:creationId xmlns:a16="http://schemas.microsoft.com/office/drawing/2014/main" id="{8508EC89-44AD-EAF6-D6A3-3B114E3FDB62}"/>
              </a:ext>
            </a:extLst>
          </p:cNvPr>
          <p:cNvSpPr/>
          <p:nvPr/>
        </p:nvSpPr>
        <p:spPr>
          <a:xfrm>
            <a:off x="4173531" y="3313037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1" name="직사각형 230">
            <a:extLst>
              <a:ext uri="{FF2B5EF4-FFF2-40B4-BE49-F238E27FC236}">
                <a16:creationId xmlns:a16="http://schemas.microsoft.com/office/drawing/2014/main" id="{57F4DD09-D704-9CD0-9349-730C7F2D558C}"/>
              </a:ext>
            </a:extLst>
          </p:cNvPr>
          <p:cNvSpPr/>
          <p:nvPr/>
        </p:nvSpPr>
        <p:spPr>
          <a:xfrm>
            <a:off x="6397011" y="6391401"/>
            <a:ext cx="392727" cy="19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목록</a:t>
            </a:r>
          </a:p>
        </p:txBody>
      </p:sp>
      <p:sp>
        <p:nvSpPr>
          <p:cNvPr id="232" name="직사각형 231">
            <a:extLst>
              <a:ext uri="{FF2B5EF4-FFF2-40B4-BE49-F238E27FC236}">
                <a16:creationId xmlns:a16="http://schemas.microsoft.com/office/drawing/2014/main" id="{F9AB2520-5C2B-000A-50C6-467BD9A6E864}"/>
              </a:ext>
            </a:extLst>
          </p:cNvPr>
          <p:cNvSpPr/>
          <p:nvPr/>
        </p:nvSpPr>
        <p:spPr>
          <a:xfrm>
            <a:off x="5936915" y="6391401"/>
            <a:ext cx="392727" cy="198000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신청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C7FFBA7-257A-25C9-59AE-854BD504AC4D}"/>
              </a:ext>
            </a:extLst>
          </p:cNvPr>
          <p:cNvSpPr/>
          <p:nvPr/>
        </p:nvSpPr>
        <p:spPr>
          <a:xfrm>
            <a:off x="3288421" y="2843165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기업체재직증명서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E230E07-E91B-7B9D-9E04-918A163049D4}"/>
              </a:ext>
            </a:extLst>
          </p:cNvPr>
          <p:cNvSpPr/>
          <p:nvPr/>
        </p:nvSpPr>
        <p:spPr>
          <a:xfrm>
            <a:off x="4941419" y="2843157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6810E02-8152-35C3-88C9-B233A7CAE981}"/>
              </a:ext>
            </a:extLst>
          </p:cNvPr>
          <p:cNvSpPr/>
          <p:nvPr/>
        </p:nvSpPr>
        <p:spPr>
          <a:xfrm>
            <a:off x="5249826" y="2843149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</a:p>
        </p:txBody>
      </p:sp>
      <p:sp>
        <p:nvSpPr>
          <p:cNvPr id="7" name="Rectangle 191">
            <a:extLst>
              <a:ext uri="{FF2B5EF4-FFF2-40B4-BE49-F238E27FC236}">
                <a16:creationId xmlns:a16="http://schemas.microsoft.com/office/drawing/2014/main" id="{1B5CBCAC-7A26-0489-AAD3-CD1E03168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6669" y="2865602"/>
            <a:ext cx="359073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재직기간</a:t>
            </a:r>
            <a:endParaRPr kumimoji="0" lang="ko-KR" altLang="en-US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52DE659-C4D4-F5A7-9E47-F371ED275804}"/>
              </a:ext>
            </a:extLst>
          </p:cNvPr>
          <p:cNvSpPr/>
          <p:nvPr/>
        </p:nvSpPr>
        <p:spPr>
          <a:xfrm>
            <a:off x="2600562" y="2844244"/>
            <a:ext cx="432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Rectangle 191">
            <a:extLst>
              <a:ext uri="{FF2B5EF4-FFF2-40B4-BE49-F238E27FC236}">
                <a16:creationId xmlns:a16="http://schemas.microsoft.com/office/drawing/2014/main" id="{9D8BB6F4-4908-B0F5-3653-D011C00711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0765" y="2865602"/>
            <a:ext cx="17953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첨부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229CD0F-2750-CE5E-3BDE-D948C03C3C0F}"/>
              </a:ext>
            </a:extLst>
          </p:cNvPr>
          <p:cNvSpPr/>
          <p:nvPr/>
        </p:nvSpPr>
        <p:spPr>
          <a:xfrm>
            <a:off x="3288421" y="3080024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가족관계증명서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2167DEB-6111-E080-FA11-104F757924F7}"/>
              </a:ext>
            </a:extLst>
          </p:cNvPr>
          <p:cNvSpPr/>
          <p:nvPr/>
        </p:nvSpPr>
        <p:spPr>
          <a:xfrm>
            <a:off x="4941419" y="3080016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3E8A3D8-497B-0EBF-749F-5678E603105C}"/>
              </a:ext>
            </a:extLst>
          </p:cNvPr>
          <p:cNvSpPr/>
          <p:nvPr/>
        </p:nvSpPr>
        <p:spPr>
          <a:xfrm>
            <a:off x="5249826" y="3080008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</a:p>
        </p:txBody>
      </p:sp>
      <p:sp>
        <p:nvSpPr>
          <p:cNvPr id="15" name="Rectangle 191">
            <a:extLst>
              <a:ext uri="{FF2B5EF4-FFF2-40B4-BE49-F238E27FC236}">
                <a16:creationId xmlns:a16="http://schemas.microsoft.com/office/drawing/2014/main" id="{7FB220A5-095D-BA09-F1FA-89531B023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6669" y="3098697"/>
            <a:ext cx="359073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가족인원</a:t>
            </a:r>
            <a:endParaRPr kumimoji="0" lang="ko-KR" altLang="en-US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18E5E57-DA97-848A-1CF5-B1CB32F6969B}"/>
              </a:ext>
            </a:extLst>
          </p:cNvPr>
          <p:cNvSpPr/>
          <p:nvPr/>
        </p:nvSpPr>
        <p:spPr>
          <a:xfrm>
            <a:off x="2600562" y="3077339"/>
            <a:ext cx="432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명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Rectangle 191">
            <a:extLst>
              <a:ext uri="{FF2B5EF4-FFF2-40B4-BE49-F238E27FC236}">
                <a16:creationId xmlns:a16="http://schemas.microsoft.com/office/drawing/2014/main" id="{8D27904E-162A-FAF0-F9D4-E529238044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0765" y="3098697"/>
            <a:ext cx="17953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첨부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7FD59E7-DAA7-FC3E-DB40-3306CA343154}"/>
              </a:ext>
            </a:extLst>
          </p:cNvPr>
          <p:cNvSpPr/>
          <p:nvPr/>
        </p:nvSpPr>
        <p:spPr>
          <a:xfrm>
            <a:off x="3221532" y="3781243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주민등록초본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2A276D1-7704-FA6B-72F9-BDFD07EC8B7C}"/>
              </a:ext>
            </a:extLst>
          </p:cNvPr>
          <p:cNvSpPr/>
          <p:nvPr/>
        </p:nvSpPr>
        <p:spPr>
          <a:xfrm>
            <a:off x="4874530" y="3781235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E61BAE8-1289-17A4-56C7-BE15681A03AF}"/>
              </a:ext>
            </a:extLst>
          </p:cNvPr>
          <p:cNvSpPr/>
          <p:nvPr/>
        </p:nvSpPr>
        <p:spPr>
          <a:xfrm>
            <a:off x="5182937" y="3781227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</a:p>
        </p:txBody>
      </p:sp>
      <p:sp>
        <p:nvSpPr>
          <p:cNvPr id="22" name="Rectangle 191">
            <a:extLst>
              <a:ext uri="{FF2B5EF4-FFF2-40B4-BE49-F238E27FC236}">
                <a16:creationId xmlns:a16="http://schemas.microsoft.com/office/drawing/2014/main" id="{168FC76F-2B46-F2BF-B0F1-0AFCA8BD6F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7261" y="3796519"/>
            <a:ext cx="17953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첨부</a:t>
            </a:r>
          </a:p>
        </p:txBody>
      </p:sp>
      <p:sp>
        <p:nvSpPr>
          <p:cNvPr id="23" name="Rectangle 191">
            <a:extLst>
              <a:ext uri="{FF2B5EF4-FFF2-40B4-BE49-F238E27FC236}">
                <a16:creationId xmlns:a16="http://schemas.microsoft.com/office/drawing/2014/main" id="{CC20022E-17C6-D742-4F88-6792BEF4D9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2023" y="3796945"/>
            <a:ext cx="359073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거주기간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C341A0F-DD50-9209-7F70-8595A07F1FD9}"/>
              </a:ext>
            </a:extLst>
          </p:cNvPr>
          <p:cNvSpPr/>
          <p:nvPr/>
        </p:nvSpPr>
        <p:spPr>
          <a:xfrm>
            <a:off x="2595355" y="3775587"/>
            <a:ext cx="36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년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F1BD045-FB49-DF89-0A6E-F85164B61067}"/>
              </a:ext>
            </a:extLst>
          </p:cNvPr>
          <p:cNvSpPr/>
          <p:nvPr/>
        </p:nvSpPr>
        <p:spPr>
          <a:xfrm>
            <a:off x="3042483" y="4722273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성적증빙자료</a:t>
            </a:r>
            <a:r>
              <a:rPr kumimoji="0" lang="en-US" altLang="ko-KR" sz="7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.zip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80EEDF2-7379-76DE-891E-E86CA2E7F886}"/>
              </a:ext>
            </a:extLst>
          </p:cNvPr>
          <p:cNvSpPr/>
          <p:nvPr/>
        </p:nvSpPr>
        <p:spPr>
          <a:xfrm>
            <a:off x="4695481" y="4722265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3156343-8424-6064-B2E0-2DBE0F1F7D72}"/>
              </a:ext>
            </a:extLst>
          </p:cNvPr>
          <p:cNvSpPr/>
          <p:nvPr/>
        </p:nvSpPr>
        <p:spPr>
          <a:xfrm>
            <a:off x="5003991" y="4722265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Rectangle 191">
            <a:extLst>
              <a:ext uri="{FF2B5EF4-FFF2-40B4-BE49-F238E27FC236}">
                <a16:creationId xmlns:a16="http://schemas.microsoft.com/office/drawing/2014/main" id="{08C98A26-759E-B54D-5C54-BEF2A874EB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59" y="4743631"/>
            <a:ext cx="17953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성적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18F499A-6C11-D1F8-B0B8-CC5B82ABCF9F}"/>
              </a:ext>
            </a:extLst>
          </p:cNvPr>
          <p:cNvSpPr/>
          <p:nvPr/>
        </p:nvSpPr>
        <p:spPr>
          <a:xfrm>
            <a:off x="2414493" y="4722273"/>
            <a:ext cx="36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4.5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0" name="Rectangle 191">
            <a:extLst>
              <a:ext uri="{FF2B5EF4-FFF2-40B4-BE49-F238E27FC236}">
                <a16:creationId xmlns:a16="http://schemas.microsoft.com/office/drawing/2014/main" id="{99C84C87-01C6-EB91-DCA6-5C02D9C99A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3028" y="4743631"/>
            <a:ext cx="17953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첨부</a:t>
            </a: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0F7281EE-9D60-2EA1-F813-F1C3AA93696F}"/>
              </a:ext>
            </a:extLst>
          </p:cNvPr>
          <p:cNvSpPr>
            <a:spLocks noChangeAspect="1"/>
          </p:cNvSpPr>
          <p:nvPr/>
        </p:nvSpPr>
        <p:spPr>
          <a:xfrm>
            <a:off x="3677541" y="2240868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57751CA7-F11D-7777-79B7-ED16D6CB8DB1}"/>
              </a:ext>
            </a:extLst>
          </p:cNvPr>
          <p:cNvSpPr>
            <a:spLocks noChangeAspect="1"/>
          </p:cNvSpPr>
          <p:nvPr/>
        </p:nvSpPr>
        <p:spPr>
          <a:xfrm>
            <a:off x="512127" y="2853383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43DBAB15-3266-D708-428D-9BFB80D89617}"/>
              </a:ext>
            </a:extLst>
          </p:cNvPr>
          <p:cNvSpPr>
            <a:spLocks noChangeAspect="1"/>
          </p:cNvSpPr>
          <p:nvPr/>
        </p:nvSpPr>
        <p:spPr>
          <a:xfrm>
            <a:off x="512127" y="3077053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CF7938CE-D3EA-2499-7AAB-8E488A240017}"/>
              </a:ext>
            </a:extLst>
          </p:cNvPr>
          <p:cNvSpPr>
            <a:spLocks noChangeAspect="1"/>
          </p:cNvSpPr>
          <p:nvPr/>
        </p:nvSpPr>
        <p:spPr>
          <a:xfrm>
            <a:off x="512127" y="3314565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0311A12B-17DA-02D9-9B37-2D3026A2AE17}"/>
              </a:ext>
            </a:extLst>
          </p:cNvPr>
          <p:cNvSpPr>
            <a:spLocks noChangeAspect="1"/>
          </p:cNvSpPr>
          <p:nvPr/>
        </p:nvSpPr>
        <p:spPr>
          <a:xfrm>
            <a:off x="512127" y="3781328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D7465B0D-177A-12F6-6D06-95E9231CA8DE}"/>
              </a:ext>
            </a:extLst>
          </p:cNvPr>
          <p:cNvSpPr>
            <a:spLocks noChangeAspect="1"/>
          </p:cNvSpPr>
          <p:nvPr/>
        </p:nvSpPr>
        <p:spPr>
          <a:xfrm>
            <a:off x="512127" y="4719778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3E079CCF-E9F7-B7C4-7AF4-8991C8A57E78}"/>
              </a:ext>
            </a:extLst>
          </p:cNvPr>
          <p:cNvGrpSpPr/>
          <p:nvPr/>
        </p:nvGrpSpPr>
        <p:grpSpPr>
          <a:xfrm>
            <a:off x="2216669" y="3547708"/>
            <a:ext cx="2704513" cy="144016"/>
            <a:chOff x="1897884" y="2847629"/>
            <a:chExt cx="2704513" cy="144016"/>
          </a:xfrm>
        </p:grpSpPr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C429E130-B148-5FF6-974B-449DDCEBC288}"/>
                </a:ext>
              </a:extLst>
            </p:cNvPr>
            <p:cNvSpPr/>
            <p:nvPr/>
          </p:nvSpPr>
          <p:spPr>
            <a:xfrm>
              <a:off x="1897884" y="2847637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추천서</a:t>
              </a:r>
              <a:r>
                <a:rPr kumimoji="0" lang="en-US" altLang="ko-KR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C4CC9CAD-9637-90CB-09E0-D8B509B995BE}"/>
                </a:ext>
              </a:extLst>
            </p:cNvPr>
            <p:cNvSpPr/>
            <p:nvPr/>
          </p:nvSpPr>
          <p:spPr>
            <a:xfrm>
              <a:off x="3550882" y="2847629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제출</a:t>
              </a: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BECF2636-A8FA-CE35-38CE-4B5AA694CB29}"/>
                </a:ext>
              </a:extLst>
            </p:cNvPr>
            <p:cNvSpPr/>
            <p:nvPr/>
          </p:nvSpPr>
          <p:spPr>
            <a:xfrm>
              <a:off x="3859392" y="2847629"/>
              <a:ext cx="264174" cy="144016"/>
            </a:xfrm>
            <a:prstGeom prst="rect">
              <a:avLst/>
            </a:prstGeom>
            <a:solidFill>
              <a:srgbClr val="66FF66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A156FCFB-C538-5992-F43B-0D4237F6A232}"/>
                </a:ext>
              </a:extLst>
            </p:cNvPr>
            <p:cNvSpPr/>
            <p:nvPr/>
          </p:nvSpPr>
          <p:spPr>
            <a:xfrm>
              <a:off x="4176942" y="2847629"/>
              <a:ext cx="425455" cy="14401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양식받기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0A69DEA4-1A0E-4232-5B76-0983A1140B8C}"/>
              </a:ext>
            </a:extLst>
          </p:cNvPr>
          <p:cNvGrpSpPr/>
          <p:nvPr/>
        </p:nvGrpSpPr>
        <p:grpSpPr>
          <a:xfrm>
            <a:off x="2211356" y="5888637"/>
            <a:ext cx="2386963" cy="144016"/>
            <a:chOff x="1897884" y="4476806"/>
            <a:chExt cx="2386963" cy="144016"/>
          </a:xfrm>
        </p:grpSpPr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ECE64FA9-D103-83F4-BBF8-68DB7F0C087E}"/>
                </a:ext>
              </a:extLst>
            </p:cNvPr>
            <p:cNvSpPr/>
            <p:nvPr/>
          </p:nvSpPr>
          <p:spPr>
            <a:xfrm>
              <a:off x="1897884" y="4476814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FE5CA818-F9DD-1526-9B39-0710AA85C8C8}"/>
                </a:ext>
              </a:extLst>
            </p:cNvPr>
            <p:cNvSpPr/>
            <p:nvPr/>
          </p:nvSpPr>
          <p:spPr>
            <a:xfrm>
              <a:off x="3550882" y="4476806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추가</a:t>
              </a: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C5CE159D-DBFA-2189-0931-36283B5B3C96}"/>
                </a:ext>
              </a:extLst>
            </p:cNvPr>
            <p:cNvSpPr/>
            <p:nvPr/>
          </p:nvSpPr>
          <p:spPr>
            <a:xfrm>
              <a:off x="3859392" y="4476806"/>
              <a:ext cx="425455" cy="14401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양식받기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7CCF795F-108C-D365-3B29-51959B768A80}"/>
              </a:ext>
            </a:extLst>
          </p:cNvPr>
          <p:cNvSpPr/>
          <p:nvPr/>
        </p:nvSpPr>
        <p:spPr>
          <a:xfrm>
            <a:off x="668524" y="5869345"/>
            <a:ext cx="6121214" cy="21600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800B7BCE-1340-4083-4B5C-5FD6B41D58E3}"/>
              </a:ext>
            </a:extLst>
          </p:cNvPr>
          <p:cNvSpPr>
            <a:spLocks noChangeAspect="1"/>
          </p:cNvSpPr>
          <p:nvPr/>
        </p:nvSpPr>
        <p:spPr>
          <a:xfrm>
            <a:off x="512127" y="5893174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F7D4FDB8-F62B-D821-5FEB-F5346835BA5F}"/>
              </a:ext>
            </a:extLst>
          </p:cNvPr>
          <p:cNvSpPr/>
          <p:nvPr/>
        </p:nvSpPr>
        <p:spPr>
          <a:xfrm>
            <a:off x="668524" y="3515649"/>
            <a:ext cx="6121214" cy="21600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5E6D8585-34C4-56B6-4932-379F4E858276}"/>
              </a:ext>
            </a:extLst>
          </p:cNvPr>
          <p:cNvSpPr>
            <a:spLocks noChangeAspect="1"/>
          </p:cNvSpPr>
          <p:nvPr/>
        </p:nvSpPr>
        <p:spPr>
          <a:xfrm>
            <a:off x="512127" y="3539478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701758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070A0-1AD5-A031-E551-8B7E9E3EA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A666A17-7D28-DF17-D865-E64FDA848047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고등학생장학금 신청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53F312A-6039-546E-AC42-476CE2D02E2D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프로그램신청관리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고등학생장학금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장학금신청</a:t>
            </a: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0A7AD824-B87A-B507-A5B3-E6241807AA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56463"/>
              </p:ext>
            </p:extLst>
          </p:nvPr>
        </p:nvGraphicFramePr>
        <p:xfrm>
          <a:off x="6969418" y="2548005"/>
          <a:ext cx="2772114" cy="3387899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프로그램신청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대학생장학금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조회 화면 목록에서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신청하기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클릭 시 보이는 화면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전형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다자녀가정자녀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전형별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지방세 세목별 과세증명서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보험료 납입확인서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가족관계증명서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지방세 세목별 과세증명서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재산세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부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모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학생 합산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)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과제증명서 기반 재산세를 입력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첨부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제출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제출 서류 파일 선택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첨부완료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받기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시 첨부된 제출 서류 파일 다운로드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보험료 납입확인서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납부액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부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모 합산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)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건강보험료 납부액을 입력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첨부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제출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제출 서류 파일 선택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첨부완료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받기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시 첨부된 제출 서류 파일 다운로드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가족관계증명서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가족인원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신청 회원의 가족인원 수를 입력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첨부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제출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제출 서류 파일 선택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첨부완료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받기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시 첨부된 제출 서류 파일 다운로드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추천서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첨부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제출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제출 서류 파일 선택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첨부완료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받기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시 첨부된 제출 서류 파일 다운로드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양식받기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시 추천서 양식 파일을 다운 받는다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FD166052-6274-D4BE-6912-A5CA33DBD909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pau_application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9B8292F-9771-CEDD-D7DC-8B450A74C75D}"/>
              </a:ext>
            </a:extLst>
          </p:cNvPr>
          <p:cNvSpPr/>
          <p:nvPr/>
        </p:nvSpPr>
        <p:spPr>
          <a:xfrm>
            <a:off x="165100" y="1376363"/>
            <a:ext cx="6732116" cy="5292997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27E5242-63A2-B79D-8E88-32256347ED73}"/>
              </a:ext>
            </a:extLst>
          </p:cNvPr>
          <p:cNvSpPr/>
          <p:nvPr/>
        </p:nvSpPr>
        <p:spPr>
          <a:xfrm>
            <a:off x="292846" y="1448780"/>
            <a:ext cx="1099660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800" b="1" dirty="0">
                <a:solidFill>
                  <a:prstClr val="black"/>
                </a:solidFill>
              </a:rPr>
              <a:t>대학생 장학금 신청정보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59186B4-7B8C-05B1-BF29-3DC54CBF15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5778949"/>
              </p:ext>
            </p:extLst>
          </p:nvPr>
        </p:nvGraphicFramePr>
        <p:xfrm>
          <a:off x="272480" y="1628800"/>
          <a:ext cx="6517258" cy="4694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3668863434"/>
                    </a:ext>
                  </a:extLst>
                </a:gridCol>
                <a:gridCol w="48970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구분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대학생 장학금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894265"/>
                  </a:ext>
                </a:extLst>
              </a:tr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</a:t>
                      </a:r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하반기 대학생 장학금 신청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접수기간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2025.09.20 10:00 </a:t>
                      </a:r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~ 2025.09.30 10:00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4735">
                <a:tc rowSpan="2"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전형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4735">
                <a:tc gridSpan="2"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1090955"/>
                  </a:ext>
                </a:extLst>
              </a:tr>
              <a:tr h="234735">
                <a:tc rowSpan="3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전형별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지방세 세목별 과세증명서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2230354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보험료 납입확인서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1414596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가족관계증명서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3500795"/>
                  </a:ext>
                </a:extLst>
              </a:tr>
              <a:tr h="234735">
                <a:tc rowSpan="1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공통 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추천서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주민등록초본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1958612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주민등록등본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164179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재학증명서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799673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고등학교 졸업증명서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3894158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성적증빙자료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037610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국민기초생활보장수급자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차상위계층확인서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한부모가족보호대상확인서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장애인증명서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첨부파일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8089092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8418894"/>
                  </a:ext>
                </a:extLst>
              </a:tr>
            </a:tbl>
          </a:graphicData>
        </a:graphic>
      </p:graphicFrame>
      <p:grpSp>
        <p:nvGrpSpPr>
          <p:cNvPr id="93" name="그룹 92">
            <a:extLst>
              <a:ext uri="{FF2B5EF4-FFF2-40B4-BE49-F238E27FC236}">
                <a16:creationId xmlns:a16="http://schemas.microsoft.com/office/drawing/2014/main" id="{0C527E5F-D15D-0392-2E42-64971E2B1B2E}"/>
              </a:ext>
            </a:extLst>
          </p:cNvPr>
          <p:cNvGrpSpPr/>
          <p:nvPr/>
        </p:nvGrpSpPr>
        <p:grpSpPr>
          <a:xfrm>
            <a:off x="2497056" y="2380094"/>
            <a:ext cx="505750" cy="144462"/>
            <a:chOff x="2716253" y="2405617"/>
            <a:chExt cx="505750" cy="144462"/>
          </a:xfrm>
        </p:grpSpPr>
        <p:sp>
          <p:nvSpPr>
            <p:cNvPr id="94" name="Rectangle 191">
              <a:extLst>
                <a:ext uri="{FF2B5EF4-FFF2-40B4-BE49-F238E27FC236}">
                  <a16:creationId xmlns:a16="http://schemas.microsoft.com/office/drawing/2014/main" id="{B6A22B0D-8068-C212-9880-F146840613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359073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희망인재</a:t>
              </a:r>
            </a:p>
          </p:txBody>
        </p:sp>
        <p:graphicFrame>
          <p:nvGraphicFramePr>
            <p:cNvPr id="95" name="개체 94">
              <a:extLst>
                <a:ext uri="{FF2B5EF4-FFF2-40B4-BE49-F238E27FC236}">
                  <a16:creationId xmlns:a16="http://schemas.microsoft.com/office/drawing/2014/main" id="{B0C876D3-7D68-80CB-F914-FC85FBD328B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2" imgW="145435" imgH="145435" progId="Visio.Drawing.11">
                    <p:embed/>
                  </p:oleObj>
                </mc:Choice>
                <mc:Fallback>
                  <p:oleObj name="Visio" r:id="rId2" imgW="145435" imgH="145435" progId="Visio.Drawing.11">
                    <p:embed/>
                    <p:pic>
                      <p:nvPicPr>
                        <p:cNvPr id="7" name="개체 6">
                          <a:extLst>
                            <a:ext uri="{FF2B5EF4-FFF2-40B4-BE49-F238E27FC236}">
                              <a16:creationId xmlns:a16="http://schemas.microsoft.com/office/drawing/2014/main" id="{B0C876D3-7D68-80CB-F914-FC85FBD328B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D24BDA35-3713-1B65-F793-232A648361FF}"/>
              </a:ext>
            </a:extLst>
          </p:cNvPr>
          <p:cNvGrpSpPr/>
          <p:nvPr/>
        </p:nvGrpSpPr>
        <p:grpSpPr>
          <a:xfrm>
            <a:off x="4554810" y="2380094"/>
            <a:ext cx="775054" cy="144462"/>
            <a:chOff x="2716253" y="2405617"/>
            <a:chExt cx="775054" cy="144462"/>
          </a:xfrm>
        </p:grpSpPr>
        <p:sp>
          <p:nvSpPr>
            <p:cNvPr id="97" name="Rectangle 191">
              <a:extLst>
                <a:ext uri="{FF2B5EF4-FFF2-40B4-BE49-F238E27FC236}">
                  <a16:creationId xmlns:a16="http://schemas.microsoft.com/office/drawing/2014/main" id="{684A33E2-5F21-5CC7-9BDD-8B6EAC080F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628377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다문화가정자녀</a:t>
              </a:r>
            </a:p>
          </p:txBody>
        </p:sp>
        <p:graphicFrame>
          <p:nvGraphicFramePr>
            <p:cNvPr id="98" name="개체 97">
              <a:extLst>
                <a:ext uri="{FF2B5EF4-FFF2-40B4-BE49-F238E27FC236}">
                  <a16:creationId xmlns:a16="http://schemas.microsoft.com/office/drawing/2014/main" id="{4C8D92DD-D76B-EA93-6CCF-E6A832354B2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2" imgW="145435" imgH="145435" progId="Visio.Drawing.11">
                    <p:embed/>
                  </p:oleObj>
                </mc:Choice>
                <mc:Fallback>
                  <p:oleObj name="Visio" r:id="rId2" imgW="145435" imgH="145435" progId="Visio.Drawing.11">
                    <p:embed/>
                    <p:pic>
                      <p:nvPicPr>
                        <p:cNvPr id="10" name="개체 9">
                          <a:extLst>
                            <a:ext uri="{FF2B5EF4-FFF2-40B4-BE49-F238E27FC236}">
                              <a16:creationId xmlns:a16="http://schemas.microsoft.com/office/drawing/2014/main" id="{4C8D92DD-D76B-EA93-6CCF-E6A832354B2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81869439-0608-0E46-E2DD-5A91904C9127}"/>
              </a:ext>
            </a:extLst>
          </p:cNvPr>
          <p:cNvSpPr/>
          <p:nvPr/>
        </p:nvSpPr>
        <p:spPr>
          <a:xfrm>
            <a:off x="1920713" y="4961278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dirty="0" err="1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국민기초생활보장수급자</a:t>
            </a:r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B2A724D9-42FE-FDFE-467B-E1EDAFAEA7A8}"/>
              </a:ext>
            </a:extLst>
          </p:cNvPr>
          <p:cNvSpPr/>
          <p:nvPr/>
        </p:nvSpPr>
        <p:spPr>
          <a:xfrm>
            <a:off x="3573711" y="4961270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9B371EBC-BD6D-B508-B9CA-D83C4ECD5FB8}"/>
              </a:ext>
            </a:extLst>
          </p:cNvPr>
          <p:cNvSpPr/>
          <p:nvPr/>
        </p:nvSpPr>
        <p:spPr>
          <a:xfrm>
            <a:off x="1920713" y="5193822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차상위계층확인서</a:t>
            </a:r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32EE53B6-BAA7-F5C5-DE37-A9003C36B4F7}"/>
              </a:ext>
            </a:extLst>
          </p:cNvPr>
          <p:cNvSpPr/>
          <p:nvPr/>
        </p:nvSpPr>
        <p:spPr>
          <a:xfrm>
            <a:off x="3573711" y="5193814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8B9F0F1B-7EB7-AA59-F2BC-874006DD65D6}"/>
              </a:ext>
            </a:extLst>
          </p:cNvPr>
          <p:cNvSpPr/>
          <p:nvPr/>
        </p:nvSpPr>
        <p:spPr>
          <a:xfrm>
            <a:off x="1920713" y="5431025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111FBFE6-B314-B71A-E0B7-111C991E6BC6}"/>
              </a:ext>
            </a:extLst>
          </p:cNvPr>
          <p:cNvSpPr/>
          <p:nvPr/>
        </p:nvSpPr>
        <p:spPr>
          <a:xfrm>
            <a:off x="3573711" y="5431017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F7C43F57-3388-2654-C43A-046C8711BBDF}"/>
              </a:ext>
            </a:extLst>
          </p:cNvPr>
          <p:cNvSpPr/>
          <p:nvPr/>
        </p:nvSpPr>
        <p:spPr>
          <a:xfrm>
            <a:off x="1920713" y="5661256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FD927C0D-C6CF-7D33-FD6C-9052AA8FA3F2}"/>
              </a:ext>
            </a:extLst>
          </p:cNvPr>
          <p:cNvSpPr/>
          <p:nvPr/>
        </p:nvSpPr>
        <p:spPr>
          <a:xfrm>
            <a:off x="3573711" y="5661248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607ECC62-4871-F440-1289-D5142CF811B7}"/>
              </a:ext>
            </a:extLst>
          </p:cNvPr>
          <p:cNvGrpSpPr/>
          <p:nvPr/>
        </p:nvGrpSpPr>
        <p:grpSpPr>
          <a:xfrm>
            <a:off x="1955994" y="6145423"/>
            <a:ext cx="1105196" cy="128396"/>
            <a:chOff x="3438680" y="4305150"/>
            <a:chExt cx="1105196" cy="128396"/>
          </a:xfrm>
        </p:grpSpPr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5983F986-C653-F28F-ACFD-8C543A9B3E5D}"/>
                </a:ext>
              </a:extLst>
            </p:cNvPr>
            <p:cNvSpPr txBox="1"/>
            <p:nvPr/>
          </p:nvSpPr>
          <p:spPr>
            <a:xfrm>
              <a:off x="3438680" y="4305150"/>
              <a:ext cx="971420" cy="10772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신청 관련 부가 서류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17" name="Picture 10">
              <a:extLst>
                <a:ext uri="{FF2B5EF4-FFF2-40B4-BE49-F238E27FC236}">
                  <a16:creationId xmlns:a16="http://schemas.microsoft.com/office/drawing/2014/main" id="{6A2F04F7-EB9F-57C2-FFE0-CFB91FB7D7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7418" y="4312303"/>
              <a:ext cx="106458" cy="121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06AA154F-13CF-6085-298A-65C783E4ED71}"/>
              </a:ext>
            </a:extLst>
          </p:cNvPr>
          <p:cNvGrpSpPr/>
          <p:nvPr/>
        </p:nvGrpSpPr>
        <p:grpSpPr>
          <a:xfrm>
            <a:off x="3142407" y="6145423"/>
            <a:ext cx="1105196" cy="128396"/>
            <a:chOff x="3438680" y="4305150"/>
            <a:chExt cx="1105196" cy="128396"/>
          </a:xfrm>
        </p:grpSpPr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707F352E-E71C-6E28-0AF1-77A70613AB0F}"/>
                </a:ext>
              </a:extLst>
            </p:cNvPr>
            <p:cNvSpPr txBox="1"/>
            <p:nvPr/>
          </p:nvSpPr>
          <p:spPr>
            <a:xfrm>
              <a:off x="3438680" y="4305150"/>
              <a:ext cx="971420" cy="10772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신청 관련 부가 서류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20" name="Picture 10">
              <a:extLst>
                <a:ext uri="{FF2B5EF4-FFF2-40B4-BE49-F238E27FC236}">
                  <a16:creationId xmlns:a16="http://schemas.microsoft.com/office/drawing/2014/main" id="{C81A3910-41DC-E38C-3415-36BA012F1A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7418" y="4312303"/>
              <a:ext cx="106458" cy="121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69" name="그룹 168">
            <a:extLst>
              <a:ext uri="{FF2B5EF4-FFF2-40B4-BE49-F238E27FC236}">
                <a16:creationId xmlns:a16="http://schemas.microsoft.com/office/drawing/2014/main" id="{1AB4B97F-58F2-DD4E-8756-E1CBF42F6CCF}"/>
              </a:ext>
            </a:extLst>
          </p:cNvPr>
          <p:cNvGrpSpPr/>
          <p:nvPr/>
        </p:nvGrpSpPr>
        <p:grpSpPr>
          <a:xfrm>
            <a:off x="1920713" y="4012319"/>
            <a:ext cx="2225682" cy="145176"/>
            <a:chOff x="3327015" y="2690196"/>
            <a:chExt cx="2225682" cy="145176"/>
          </a:xfrm>
        </p:grpSpPr>
        <p:sp>
          <p:nvSpPr>
            <p:cNvPr id="170" name="직사각형 169">
              <a:extLst>
                <a:ext uri="{FF2B5EF4-FFF2-40B4-BE49-F238E27FC236}">
                  <a16:creationId xmlns:a16="http://schemas.microsoft.com/office/drawing/2014/main" id="{8D3E6479-E4DE-3BC8-AD4A-8D6A3426CB80}"/>
                </a:ext>
              </a:extLst>
            </p:cNvPr>
            <p:cNvSpPr/>
            <p:nvPr/>
          </p:nvSpPr>
          <p:spPr>
            <a:xfrm>
              <a:off x="3327015" y="2691364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주민등록등본</a:t>
              </a:r>
              <a:r>
                <a:rPr kumimoji="0" lang="en-US" altLang="ko-KR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1" name="직사각형 170">
              <a:extLst>
                <a:ext uri="{FF2B5EF4-FFF2-40B4-BE49-F238E27FC236}">
                  <a16:creationId xmlns:a16="http://schemas.microsoft.com/office/drawing/2014/main" id="{7752AD3F-BBEA-2D70-B896-50AFB4CBB0FB}"/>
                </a:ext>
              </a:extLst>
            </p:cNvPr>
            <p:cNvSpPr/>
            <p:nvPr/>
          </p:nvSpPr>
          <p:spPr>
            <a:xfrm>
              <a:off x="4980013" y="2691356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제출</a:t>
              </a:r>
            </a:p>
          </p:txBody>
        </p:sp>
        <p:sp>
          <p:nvSpPr>
            <p:cNvPr id="172" name="직사각형 171">
              <a:extLst>
                <a:ext uri="{FF2B5EF4-FFF2-40B4-BE49-F238E27FC236}">
                  <a16:creationId xmlns:a16="http://schemas.microsoft.com/office/drawing/2014/main" id="{C6F50A0B-2535-BD8E-3978-8740C128A7A7}"/>
                </a:ext>
              </a:extLst>
            </p:cNvPr>
            <p:cNvSpPr/>
            <p:nvPr/>
          </p:nvSpPr>
          <p:spPr>
            <a:xfrm>
              <a:off x="5288523" y="2690196"/>
              <a:ext cx="264174" cy="144016"/>
            </a:xfrm>
            <a:prstGeom prst="rect">
              <a:avLst/>
            </a:prstGeom>
            <a:solidFill>
              <a:srgbClr val="66FF66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7D34F85D-6918-2EED-EA18-917694305F5F}"/>
              </a:ext>
            </a:extLst>
          </p:cNvPr>
          <p:cNvSpPr/>
          <p:nvPr/>
        </p:nvSpPr>
        <p:spPr>
          <a:xfrm>
            <a:off x="3882221" y="4961311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3CA14CC2-77EA-2D63-A5AA-40FF9753D906}"/>
              </a:ext>
            </a:extLst>
          </p:cNvPr>
          <p:cNvSpPr/>
          <p:nvPr/>
        </p:nvSpPr>
        <p:spPr>
          <a:xfrm>
            <a:off x="3882221" y="5193196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5" name="직사각형 174">
            <a:extLst>
              <a:ext uri="{FF2B5EF4-FFF2-40B4-BE49-F238E27FC236}">
                <a16:creationId xmlns:a16="http://schemas.microsoft.com/office/drawing/2014/main" id="{6A50846B-BF74-7BE3-9FAF-24BE7114586A}"/>
              </a:ext>
            </a:extLst>
          </p:cNvPr>
          <p:cNvSpPr/>
          <p:nvPr/>
        </p:nvSpPr>
        <p:spPr>
          <a:xfrm>
            <a:off x="3882221" y="5425122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CDC2C43A-EE87-9AD8-78B0-EA74E7768029}"/>
              </a:ext>
            </a:extLst>
          </p:cNvPr>
          <p:cNvSpPr/>
          <p:nvPr/>
        </p:nvSpPr>
        <p:spPr>
          <a:xfrm>
            <a:off x="3882221" y="5663116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77" name="그룹 176">
            <a:extLst>
              <a:ext uri="{FF2B5EF4-FFF2-40B4-BE49-F238E27FC236}">
                <a16:creationId xmlns:a16="http://schemas.microsoft.com/office/drawing/2014/main" id="{211BB3B9-8A52-FB0C-9423-B71B9AA343F3}"/>
              </a:ext>
            </a:extLst>
          </p:cNvPr>
          <p:cNvGrpSpPr/>
          <p:nvPr/>
        </p:nvGrpSpPr>
        <p:grpSpPr>
          <a:xfrm>
            <a:off x="1936260" y="2621541"/>
            <a:ext cx="1394613" cy="144462"/>
            <a:chOff x="2415444" y="3432217"/>
            <a:chExt cx="1394613" cy="144462"/>
          </a:xfrm>
        </p:grpSpPr>
        <p:sp>
          <p:nvSpPr>
            <p:cNvPr id="178" name="Rectangle 191">
              <a:extLst>
                <a:ext uri="{FF2B5EF4-FFF2-40B4-BE49-F238E27FC236}">
                  <a16:creationId xmlns:a16="http://schemas.microsoft.com/office/drawing/2014/main" id="{224DBAFC-0E9B-F0E0-1B55-8BC3E932D5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5444" y="3444195"/>
              <a:ext cx="1394613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지역인재육성</a:t>
              </a: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(                         )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B47D10FB-61F8-9615-8D36-55F0D9856686}"/>
                </a:ext>
              </a:extLst>
            </p:cNvPr>
            <p:cNvGrpSpPr/>
            <p:nvPr/>
          </p:nvGrpSpPr>
          <p:grpSpPr>
            <a:xfrm>
              <a:off x="3332820" y="3432217"/>
              <a:ext cx="408030" cy="144462"/>
              <a:chOff x="2716253" y="2405617"/>
              <a:chExt cx="408030" cy="144462"/>
            </a:xfrm>
          </p:grpSpPr>
          <p:sp>
            <p:nvSpPr>
              <p:cNvPr id="183" name="Rectangle 191">
                <a:extLst>
                  <a:ext uri="{FF2B5EF4-FFF2-40B4-BE49-F238E27FC236}">
                    <a16:creationId xmlns:a16="http://schemas.microsoft.com/office/drawing/2014/main" id="{6E66C03F-CB87-39A4-8956-50866A2E8D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54979" y="2416036"/>
                <a:ext cx="269304" cy="10772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EAEAEA"/>
                    </a:solidFill>
                  </a14:hiddenFill>
                </a:ext>
                <a:ext uri="{91240B29-F687-4F45-9708-019B960494DF}">
                  <a14:hiddenLine xmlns:a14="http://schemas.microsoft.com/office/drawing/2010/main" w="635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7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만학도</a:t>
                </a:r>
                <a:endPara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graphicFrame>
            <p:nvGraphicFramePr>
              <p:cNvPr id="184" name="개체 183">
                <a:extLst>
                  <a:ext uri="{FF2B5EF4-FFF2-40B4-BE49-F238E27FC236}">
                    <a16:creationId xmlns:a16="http://schemas.microsoft.com/office/drawing/2014/main" id="{6DA1A76B-9D20-F165-8FC9-0C91DBFBB47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716253" y="2405617"/>
              <a:ext cx="144462" cy="1444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Visio" r:id="rId2" imgW="145435" imgH="145435" progId="Visio.Drawing.11">
                      <p:embed/>
                    </p:oleObj>
                  </mc:Choice>
                  <mc:Fallback>
                    <p:oleObj name="Visio" r:id="rId2" imgW="145435" imgH="145435" progId="Visio.Drawing.11">
                      <p:embed/>
                      <p:pic>
                        <p:nvPicPr>
                          <p:cNvPr id="61" name="개체 60">
                            <a:extLst>
                              <a:ext uri="{FF2B5EF4-FFF2-40B4-BE49-F238E27FC236}">
                                <a16:creationId xmlns:a16="http://schemas.microsoft.com/office/drawing/2014/main" id="{6DA1A76B-9D20-F165-8FC9-0C91DBFBB47D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16253" y="2405617"/>
                            <a:ext cx="144462" cy="1444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EAEAEA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6350" algn="ctr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80" name="그룹 179">
              <a:extLst>
                <a:ext uri="{FF2B5EF4-FFF2-40B4-BE49-F238E27FC236}">
                  <a16:creationId xmlns:a16="http://schemas.microsoft.com/office/drawing/2014/main" id="{02617A0E-4B93-1304-40F9-A711545BE59B}"/>
                </a:ext>
              </a:extLst>
            </p:cNvPr>
            <p:cNvGrpSpPr/>
            <p:nvPr/>
          </p:nvGrpSpPr>
          <p:grpSpPr>
            <a:xfrm>
              <a:off x="3000833" y="3432217"/>
              <a:ext cx="318262" cy="144462"/>
              <a:chOff x="2716253" y="2405617"/>
              <a:chExt cx="318262" cy="144462"/>
            </a:xfrm>
          </p:grpSpPr>
          <p:sp>
            <p:nvSpPr>
              <p:cNvPr id="181" name="Rectangle 191">
                <a:extLst>
                  <a:ext uri="{FF2B5EF4-FFF2-40B4-BE49-F238E27FC236}">
                    <a16:creationId xmlns:a16="http://schemas.microsoft.com/office/drawing/2014/main" id="{D3FAD6BE-3559-F085-70DA-AA8FF76A0B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54979" y="2416036"/>
                <a:ext cx="179536" cy="10772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EAEAEA"/>
                    </a:solidFill>
                  </a14:hiddenFill>
                </a:ext>
                <a:ext uri="{91240B29-F687-4F45-9708-019B960494DF}">
                  <a14:hiddenLine xmlns:a14="http://schemas.microsoft.com/office/drawing/2010/main" w="635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7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일반</a:t>
                </a:r>
              </a:p>
            </p:txBody>
          </p:sp>
          <p:graphicFrame>
            <p:nvGraphicFramePr>
              <p:cNvPr id="182" name="개체 181">
                <a:extLst>
                  <a:ext uri="{FF2B5EF4-FFF2-40B4-BE49-F238E27FC236}">
                    <a16:creationId xmlns:a16="http://schemas.microsoft.com/office/drawing/2014/main" id="{1FAE0F0E-AC7F-5027-E7A0-6900D56B6D1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716253" y="2405617"/>
              <a:ext cx="144462" cy="1444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Visio" r:id="rId2" imgW="145435" imgH="145435" progId="Visio.Drawing.11">
                      <p:embed/>
                    </p:oleObj>
                  </mc:Choice>
                  <mc:Fallback>
                    <p:oleObj name="Visio" r:id="rId2" imgW="145435" imgH="145435" progId="Visio.Drawing.11">
                      <p:embed/>
                      <p:pic>
                        <p:nvPicPr>
                          <p:cNvPr id="59" name="개체 58">
                            <a:extLst>
                              <a:ext uri="{FF2B5EF4-FFF2-40B4-BE49-F238E27FC236}">
                                <a16:creationId xmlns:a16="http://schemas.microsoft.com/office/drawing/2014/main" id="{1FAE0F0E-AC7F-5027-E7A0-6900D56B6D1D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16253" y="2405617"/>
                            <a:ext cx="144462" cy="1444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EAEAEA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6350" algn="ctr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185" name="그룹 184">
            <a:extLst>
              <a:ext uri="{FF2B5EF4-FFF2-40B4-BE49-F238E27FC236}">
                <a16:creationId xmlns:a16="http://schemas.microsoft.com/office/drawing/2014/main" id="{94A5EEB5-4ECB-4708-3EA0-4EEDE569C386}"/>
              </a:ext>
            </a:extLst>
          </p:cNvPr>
          <p:cNvGrpSpPr/>
          <p:nvPr/>
        </p:nvGrpSpPr>
        <p:grpSpPr>
          <a:xfrm>
            <a:off x="1920713" y="4236007"/>
            <a:ext cx="2225682" cy="145176"/>
            <a:chOff x="3327015" y="2690196"/>
            <a:chExt cx="2225682" cy="145176"/>
          </a:xfrm>
        </p:grpSpPr>
        <p:sp>
          <p:nvSpPr>
            <p:cNvPr id="186" name="직사각형 185">
              <a:extLst>
                <a:ext uri="{FF2B5EF4-FFF2-40B4-BE49-F238E27FC236}">
                  <a16:creationId xmlns:a16="http://schemas.microsoft.com/office/drawing/2014/main" id="{1C541DA7-45BF-0E6A-A12D-EAA77733D26E}"/>
                </a:ext>
              </a:extLst>
            </p:cNvPr>
            <p:cNvSpPr/>
            <p:nvPr/>
          </p:nvSpPr>
          <p:spPr>
            <a:xfrm>
              <a:off x="3327015" y="2691364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재학증명서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7" name="직사각형 186">
              <a:extLst>
                <a:ext uri="{FF2B5EF4-FFF2-40B4-BE49-F238E27FC236}">
                  <a16:creationId xmlns:a16="http://schemas.microsoft.com/office/drawing/2014/main" id="{7A06E731-0373-66A5-D810-EE7568C0DBAA}"/>
                </a:ext>
              </a:extLst>
            </p:cNvPr>
            <p:cNvSpPr/>
            <p:nvPr/>
          </p:nvSpPr>
          <p:spPr>
            <a:xfrm>
              <a:off x="4980013" y="2691356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제출</a:t>
              </a:r>
            </a:p>
          </p:txBody>
        </p:sp>
        <p:sp>
          <p:nvSpPr>
            <p:cNvPr id="188" name="직사각형 187">
              <a:extLst>
                <a:ext uri="{FF2B5EF4-FFF2-40B4-BE49-F238E27FC236}">
                  <a16:creationId xmlns:a16="http://schemas.microsoft.com/office/drawing/2014/main" id="{F9A65DCA-C173-1568-CDE3-8C6A622E09EA}"/>
                </a:ext>
              </a:extLst>
            </p:cNvPr>
            <p:cNvSpPr/>
            <p:nvPr/>
          </p:nvSpPr>
          <p:spPr>
            <a:xfrm>
              <a:off x="5288523" y="2690196"/>
              <a:ext cx="264174" cy="144016"/>
            </a:xfrm>
            <a:prstGeom prst="rect">
              <a:avLst/>
            </a:prstGeom>
            <a:solidFill>
              <a:srgbClr val="66FF66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89" name="그룹 188">
            <a:extLst>
              <a:ext uri="{FF2B5EF4-FFF2-40B4-BE49-F238E27FC236}">
                <a16:creationId xmlns:a16="http://schemas.microsoft.com/office/drawing/2014/main" id="{977B49FE-7C64-C023-626C-E67C5F23E445}"/>
              </a:ext>
            </a:extLst>
          </p:cNvPr>
          <p:cNvGrpSpPr/>
          <p:nvPr/>
        </p:nvGrpSpPr>
        <p:grpSpPr>
          <a:xfrm>
            <a:off x="1920713" y="4489018"/>
            <a:ext cx="2225682" cy="145176"/>
            <a:chOff x="3327015" y="2690196"/>
            <a:chExt cx="2225682" cy="145176"/>
          </a:xfrm>
        </p:grpSpPr>
        <p:sp>
          <p:nvSpPr>
            <p:cNvPr id="190" name="직사각형 189">
              <a:extLst>
                <a:ext uri="{FF2B5EF4-FFF2-40B4-BE49-F238E27FC236}">
                  <a16:creationId xmlns:a16="http://schemas.microsoft.com/office/drawing/2014/main" id="{90EF70D7-C234-F826-261D-5BF54CBD1F1B}"/>
                </a:ext>
              </a:extLst>
            </p:cNvPr>
            <p:cNvSpPr/>
            <p:nvPr/>
          </p:nvSpPr>
          <p:spPr>
            <a:xfrm>
              <a:off x="3327015" y="2691364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고등학교졸업증명서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1" name="직사각형 190">
              <a:extLst>
                <a:ext uri="{FF2B5EF4-FFF2-40B4-BE49-F238E27FC236}">
                  <a16:creationId xmlns:a16="http://schemas.microsoft.com/office/drawing/2014/main" id="{ECBA1891-0911-93ED-72DC-F3708F70C497}"/>
                </a:ext>
              </a:extLst>
            </p:cNvPr>
            <p:cNvSpPr/>
            <p:nvPr/>
          </p:nvSpPr>
          <p:spPr>
            <a:xfrm>
              <a:off x="4980013" y="2691356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제출</a:t>
              </a:r>
            </a:p>
          </p:txBody>
        </p:sp>
        <p:sp>
          <p:nvSpPr>
            <p:cNvPr id="192" name="직사각형 191">
              <a:extLst>
                <a:ext uri="{FF2B5EF4-FFF2-40B4-BE49-F238E27FC236}">
                  <a16:creationId xmlns:a16="http://schemas.microsoft.com/office/drawing/2014/main" id="{03E4E104-748A-D24B-A522-DEB74EC16A73}"/>
                </a:ext>
              </a:extLst>
            </p:cNvPr>
            <p:cNvSpPr/>
            <p:nvPr/>
          </p:nvSpPr>
          <p:spPr>
            <a:xfrm>
              <a:off x="5288523" y="2690196"/>
              <a:ext cx="264174" cy="144016"/>
            </a:xfrm>
            <a:prstGeom prst="rect">
              <a:avLst/>
            </a:prstGeom>
            <a:solidFill>
              <a:srgbClr val="66FF66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216" name="그룹 215">
            <a:extLst>
              <a:ext uri="{FF2B5EF4-FFF2-40B4-BE49-F238E27FC236}">
                <a16:creationId xmlns:a16="http://schemas.microsoft.com/office/drawing/2014/main" id="{904AD852-A15F-014C-3C95-35CDA71037C2}"/>
              </a:ext>
            </a:extLst>
          </p:cNvPr>
          <p:cNvGrpSpPr/>
          <p:nvPr/>
        </p:nvGrpSpPr>
        <p:grpSpPr>
          <a:xfrm>
            <a:off x="1921229" y="2380094"/>
            <a:ext cx="505750" cy="144462"/>
            <a:chOff x="2716253" y="2405617"/>
            <a:chExt cx="505750" cy="144462"/>
          </a:xfrm>
        </p:grpSpPr>
        <p:sp>
          <p:nvSpPr>
            <p:cNvPr id="217" name="Rectangle 191">
              <a:extLst>
                <a:ext uri="{FF2B5EF4-FFF2-40B4-BE49-F238E27FC236}">
                  <a16:creationId xmlns:a16="http://schemas.microsoft.com/office/drawing/2014/main" id="{3B5796A4-6CEC-D7F1-A6FA-223213156B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359073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우수인재</a:t>
              </a:r>
            </a:p>
          </p:txBody>
        </p:sp>
        <p:graphicFrame>
          <p:nvGraphicFramePr>
            <p:cNvPr id="218" name="개체 217">
              <a:extLst>
                <a:ext uri="{FF2B5EF4-FFF2-40B4-BE49-F238E27FC236}">
                  <a16:creationId xmlns:a16="http://schemas.microsoft.com/office/drawing/2014/main" id="{B2153947-F2E2-451A-A068-20C4D7EACD5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2" imgW="145435" imgH="145435" progId="Visio.Drawing.11">
                    <p:embed/>
                  </p:oleObj>
                </mc:Choice>
                <mc:Fallback>
                  <p:oleObj name="Visio" r:id="rId2" imgW="145435" imgH="145435" progId="Visio.Drawing.11">
                    <p:embed/>
                    <p:pic>
                      <p:nvPicPr>
                        <p:cNvPr id="77" name="개체 76">
                          <a:extLst>
                            <a:ext uri="{FF2B5EF4-FFF2-40B4-BE49-F238E27FC236}">
                              <a16:creationId xmlns:a16="http://schemas.microsoft.com/office/drawing/2014/main" id="{B2153947-F2E2-451A-A068-20C4D7EACD5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5" name="그룹 224">
            <a:extLst>
              <a:ext uri="{FF2B5EF4-FFF2-40B4-BE49-F238E27FC236}">
                <a16:creationId xmlns:a16="http://schemas.microsoft.com/office/drawing/2014/main" id="{CC42CDF7-E2ED-83B3-881A-B82FD0EC14E7}"/>
              </a:ext>
            </a:extLst>
          </p:cNvPr>
          <p:cNvGrpSpPr/>
          <p:nvPr/>
        </p:nvGrpSpPr>
        <p:grpSpPr>
          <a:xfrm>
            <a:off x="3071771" y="2380094"/>
            <a:ext cx="595518" cy="144462"/>
            <a:chOff x="2716253" y="2405617"/>
            <a:chExt cx="595518" cy="144462"/>
          </a:xfrm>
        </p:grpSpPr>
        <p:sp>
          <p:nvSpPr>
            <p:cNvPr id="226" name="Rectangle 191">
              <a:extLst>
                <a:ext uri="{FF2B5EF4-FFF2-40B4-BE49-F238E27FC236}">
                  <a16:creationId xmlns:a16="http://schemas.microsoft.com/office/drawing/2014/main" id="{D5BDD1B9-E37F-3B8F-D94A-C01F18CF6A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448841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근로자자녀</a:t>
              </a:r>
            </a:p>
          </p:txBody>
        </p:sp>
        <p:graphicFrame>
          <p:nvGraphicFramePr>
            <p:cNvPr id="227" name="개체 226">
              <a:extLst>
                <a:ext uri="{FF2B5EF4-FFF2-40B4-BE49-F238E27FC236}">
                  <a16:creationId xmlns:a16="http://schemas.microsoft.com/office/drawing/2014/main" id="{D38D739F-95FD-88CF-8A40-54FA24B30C8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2" imgW="145435" imgH="145435" progId="Visio.Drawing.11">
                    <p:embed/>
                  </p:oleObj>
                </mc:Choice>
                <mc:Fallback>
                  <p:oleObj name="Visio" r:id="rId2" imgW="145435" imgH="145435" progId="Visio.Drawing.11">
                    <p:embed/>
                    <p:pic>
                      <p:nvPicPr>
                        <p:cNvPr id="86" name="개체 85">
                          <a:extLst>
                            <a:ext uri="{FF2B5EF4-FFF2-40B4-BE49-F238E27FC236}">
                              <a16:creationId xmlns:a16="http://schemas.microsoft.com/office/drawing/2014/main" id="{D38D739F-95FD-88CF-8A40-54FA24B30C8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8" name="그룹 227">
            <a:extLst>
              <a:ext uri="{FF2B5EF4-FFF2-40B4-BE49-F238E27FC236}">
                <a16:creationId xmlns:a16="http://schemas.microsoft.com/office/drawing/2014/main" id="{A1678AD5-B667-A8AD-3AED-69FDCA52B6C6}"/>
              </a:ext>
            </a:extLst>
          </p:cNvPr>
          <p:cNvGrpSpPr/>
          <p:nvPr/>
        </p:nvGrpSpPr>
        <p:grpSpPr>
          <a:xfrm>
            <a:off x="3721700" y="2385980"/>
            <a:ext cx="775737" cy="144463"/>
            <a:chOff x="3327015" y="1527346"/>
            <a:chExt cx="775737" cy="144463"/>
          </a:xfrm>
        </p:grpSpPr>
        <p:sp>
          <p:nvSpPr>
            <p:cNvPr id="229" name="Rectangle 191">
              <a:extLst>
                <a:ext uri="{FF2B5EF4-FFF2-40B4-BE49-F238E27FC236}">
                  <a16:creationId xmlns:a16="http://schemas.microsoft.com/office/drawing/2014/main" id="{A702D6DF-EFDF-1DDC-FE07-74DFABE57C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4375" y="1539830"/>
              <a:ext cx="628377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다자녀가정자녀</a:t>
              </a:r>
            </a:p>
          </p:txBody>
        </p:sp>
        <p:graphicFrame>
          <p:nvGraphicFramePr>
            <p:cNvPr id="230" name="개체 229">
              <a:extLst>
                <a:ext uri="{FF2B5EF4-FFF2-40B4-BE49-F238E27FC236}">
                  <a16:creationId xmlns:a16="http://schemas.microsoft.com/office/drawing/2014/main" id="{CD8D0FE9-D92B-8FD3-BD73-AFCF03C37CA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27015" y="1527346"/>
            <a:ext cx="144462" cy="144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5" imgW="145435" imgH="145435" progId="Visio.Drawing.11">
                    <p:embed/>
                  </p:oleObj>
                </mc:Choice>
                <mc:Fallback>
                  <p:oleObj name="Visio" r:id="rId5" imgW="145435" imgH="145435" progId="Visio.Drawing.11">
                    <p:embed/>
                    <p:pic>
                      <p:nvPicPr>
                        <p:cNvPr id="89" name="개체 88">
                          <a:extLst>
                            <a:ext uri="{FF2B5EF4-FFF2-40B4-BE49-F238E27FC236}">
                              <a16:creationId xmlns:a16="http://schemas.microsoft.com/office/drawing/2014/main" id="{CD8D0FE9-D92B-8FD3-BD73-AFCF03C37CA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27015" y="1527346"/>
                          <a:ext cx="144462" cy="1444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1" name="직사각형 230">
            <a:extLst>
              <a:ext uri="{FF2B5EF4-FFF2-40B4-BE49-F238E27FC236}">
                <a16:creationId xmlns:a16="http://schemas.microsoft.com/office/drawing/2014/main" id="{8A6F3ED2-D6B4-44E6-BF6A-63DAD6CF5D76}"/>
              </a:ext>
            </a:extLst>
          </p:cNvPr>
          <p:cNvSpPr/>
          <p:nvPr/>
        </p:nvSpPr>
        <p:spPr>
          <a:xfrm>
            <a:off x="6397011" y="6391401"/>
            <a:ext cx="392727" cy="19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목록</a:t>
            </a:r>
          </a:p>
        </p:txBody>
      </p:sp>
      <p:sp>
        <p:nvSpPr>
          <p:cNvPr id="232" name="직사각형 231">
            <a:extLst>
              <a:ext uri="{FF2B5EF4-FFF2-40B4-BE49-F238E27FC236}">
                <a16:creationId xmlns:a16="http://schemas.microsoft.com/office/drawing/2014/main" id="{AB22E310-19C6-D08F-7A57-A9A25FBD3340}"/>
              </a:ext>
            </a:extLst>
          </p:cNvPr>
          <p:cNvSpPr/>
          <p:nvPr/>
        </p:nvSpPr>
        <p:spPr>
          <a:xfrm>
            <a:off x="5936915" y="6391401"/>
            <a:ext cx="392727" cy="198000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신청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F768D73-9D6E-8283-6FFC-E637BED71351}"/>
              </a:ext>
            </a:extLst>
          </p:cNvPr>
          <p:cNvSpPr/>
          <p:nvPr/>
        </p:nvSpPr>
        <p:spPr>
          <a:xfrm>
            <a:off x="2873969" y="3316875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가족관계증명서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9D46455-1F0C-8968-3A4C-C1894EEA04B6}"/>
              </a:ext>
            </a:extLst>
          </p:cNvPr>
          <p:cNvSpPr/>
          <p:nvPr/>
        </p:nvSpPr>
        <p:spPr>
          <a:xfrm>
            <a:off x="4526967" y="3316867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818244F-D66D-5F8E-8558-767868CF559A}"/>
              </a:ext>
            </a:extLst>
          </p:cNvPr>
          <p:cNvSpPr/>
          <p:nvPr/>
        </p:nvSpPr>
        <p:spPr>
          <a:xfrm>
            <a:off x="4835374" y="3316859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</a:p>
        </p:txBody>
      </p:sp>
      <p:sp>
        <p:nvSpPr>
          <p:cNvPr id="22" name="Rectangle 191">
            <a:extLst>
              <a:ext uri="{FF2B5EF4-FFF2-40B4-BE49-F238E27FC236}">
                <a16:creationId xmlns:a16="http://schemas.microsoft.com/office/drawing/2014/main" id="{8D809F3E-7849-96E1-19F2-70DF1A8BE4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1039" y="3339443"/>
            <a:ext cx="269304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자녀수</a:t>
            </a:r>
            <a:endParaRPr kumimoji="0" lang="ko-KR" altLang="en-US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DAEEBD1-35D9-4519-8DC1-E9C72551030A}"/>
              </a:ext>
            </a:extLst>
          </p:cNvPr>
          <p:cNvSpPr/>
          <p:nvPr/>
        </p:nvSpPr>
        <p:spPr>
          <a:xfrm>
            <a:off x="2219071" y="3318085"/>
            <a:ext cx="36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명</a:t>
            </a:r>
          </a:p>
        </p:txBody>
      </p:sp>
      <p:sp>
        <p:nvSpPr>
          <p:cNvPr id="24" name="Rectangle 191">
            <a:extLst>
              <a:ext uri="{FF2B5EF4-FFF2-40B4-BE49-F238E27FC236}">
                <a16:creationId xmlns:a16="http://schemas.microsoft.com/office/drawing/2014/main" id="{18C28F98-0C8F-5349-F142-593FC350CC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3168" y="3329642"/>
            <a:ext cx="17953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첨부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4DD2C7E-E8DC-ADAE-A4BA-75E09F4436FF}"/>
              </a:ext>
            </a:extLst>
          </p:cNvPr>
          <p:cNvSpPr/>
          <p:nvPr/>
        </p:nvSpPr>
        <p:spPr>
          <a:xfrm>
            <a:off x="2930222" y="3785690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주민등록초본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FF09519-AF73-37B7-7CED-C66AEF01FE45}"/>
              </a:ext>
            </a:extLst>
          </p:cNvPr>
          <p:cNvSpPr/>
          <p:nvPr/>
        </p:nvSpPr>
        <p:spPr>
          <a:xfrm>
            <a:off x="4583220" y="3785682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A72B01C-7290-DEB6-CE30-499A75FA30B7}"/>
              </a:ext>
            </a:extLst>
          </p:cNvPr>
          <p:cNvSpPr/>
          <p:nvPr/>
        </p:nvSpPr>
        <p:spPr>
          <a:xfrm>
            <a:off x="4891627" y="3785674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</a:p>
        </p:txBody>
      </p:sp>
      <p:sp>
        <p:nvSpPr>
          <p:cNvPr id="28" name="Rectangle 191">
            <a:extLst>
              <a:ext uri="{FF2B5EF4-FFF2-40B4-BE49-F238E27FC236}">
                <a16:creationId xmlns:a16="http://schemas.microsoft.com/office/drawing/2014/main" id="{A9ECE3BE-549B-3523-C1A5-533FBABFDB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5951" y="3800966"/>
            <a:ext cx="17953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첨부</a:t>
            </a:r>
          </a:p>
        </p:txBody>
      </p:sp>
      <p:sp>
        <p:nvSpPr>
          <p:cNvPr id="29" name="Rectangle 191">
            <a:extLst>
              <a:ext uri="{FF2B5EF4-FFF2-40B4-BE49-F238E27FC236}">
                <a16:creationId xmlns:a16="http://schemas.microsoft.com/office/drawing/2014/main" id="{1FEC6294-D8A4-F223-62BD-8A7C326CDE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0713" y="3801392"/>
            <a:ext cx="359073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거주기간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35773BF-8AB8-9259-8EC9-408790CF34D7}"/>
              </a:ext>
            </a:extLst>
          </p:cNvPr>
          <p:cNvSpPr/>
          <p:nvPr/>
        </p:nvSpPr>
        <p:spPr>
          <a:xfrm>
            <a:off x="2304045" y="3780034"/>
            <a:ext cx="36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년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D86D38F-00FD-671D-AF87-A4D00CEBFC08}"/>
              </a:ext>
            </a:extLst>
          </p:cNvPr>
          <p:cNvSpPr/>
          <p:nvPr/>
        </p:nvSpPr>
        <p:spPr>
          <a:xfrm>
            <a:off x="2753337" y="4723777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성적증빙자료</a:t>
            </a:r>
            <a:r>
              <a:rPr kumimoji="0" lang="en-US" altLang="ko-KR" sz="7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.zip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1708DA4-4ADD-AAE3-D86C-F73B604805D4}"/>
              </a:ext>
            </a:extLst>
          </p:cNvPr>
          <p:cNvSpPr/>
          <p:nvPr/>
        </p:nvSpPr>
        <p:spPr>
          <a:xfrm>
            <a:off x="4406335" y="4723769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44BBFDD-A0EE-5FFF-EEF5-58FDFD6CEDC3}"/>
              </a:ext>
            </a:extLst>
          </p:cNvPr>
          <p:cNvSpPr/>
          <p:nvPr/>
        </p:nvSpPr>
        <p:spPr>
          <a:xfrm>
            <a:off x="4714845" y="4723769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4" name="Rectangle 191">
            <a:extLst>
              <a:ext uri="{FF2B5EF4-FFF2-40B4-BE49-F238E27FC236}">
                <a16:creationId xmlns:a16="http://schemas.microsoft.com/office/drawing/2014/main" id="{51E995CB-0204-0D80-98AC-839E88A641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0713" y="4745135"/>
            <a:ext cx="17953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성적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75F9377-52F5-04C4-E18D-079F38FECB42}"/>
              </a:ext>
            </a:extLst>
          </p:cNvPr>
          <p:cNvSpPr/>
          <p:nvPr/>
        </p:nvSpPr>
        <p:spPr>
          <a:xfrm>
            <a:off x="2125347" y="4723777"/>
            <a:ext cx="36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4.5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6" name="Rectangle 191">
            <a:extLst>
              <a:ext uri="{FF2B5EF4-FFF2-40B4-BE49-F238E27FC236}">
                <a16:creationId xmlns:a16="http://schemas.microsoft.com/office/drawing/2014/main" id="{75034C78-134F-AE48-6F2C-6522F6CEBF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3882" y="4745135"/>
            <a:ext cx="17953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첨부</a:t>
            </a: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C789AF77-1000-BA76-3115-E7EDF2A61BF8}"/>
              </a:ext>
            </a:extLst>
          </p:cNvPr>
          <p:cNvSpPr>
            <a:spLocks noChangeAspect="1"/>
          </p:cNvSpPr>
          <p:nvPr/>
        </p:nvSpPr>
        <p:spPr>
          <a:xfrm>
            <a:off x="4146395" y="2240868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6A0AAECE-9264-1970-7D2C-2915BBF2DED0}"/>
              </a:ext>
            </a:extLst>
          </p:cNvPr>
          <p:cNvSpPr>
            <a:spLocks noChangeAspect="1"/>
          </p:cNvSpPr>
          <p:nvPr/>
        </p:nvSpPr>
        <p:spPr>
          <a:xfrm>
            <a:off x="512127" y="2853383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10A0FF5A-3C1B-8BE3-85CE-57648EAD85CB}"/>
              </a:ext>
            </a:extLst>
          </p:cNvPr>
          <p:cNvSpPr>
            <a:spLocks noChangeAspect="1"/>
          </p:cNvSpPr>
          <p:nvPr/>
        </p:nvSpPr>
        <p:spPr>
          <a:xfrm>
            <a:off x="512127" y="3066258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5B7AC0D0-7C80-F8EE-CAB7-3B36CA51BC38}"/>
              </a:ext>
            </a:extLst>
          </p:cNvPr>
          <p:cNvSpPr>
            <a:spLocks noChangeAspect="1"/>
          </p:cNvSpPr>
          <p:nvPr/>
        </p:nvSpPr>
        <p:spPr>
          <a:xfrm>
            <a:off x="512127" y="3319067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A6ABCB51-474D-BEFA-B6C6-99886AD2C99C}"/>
              </a:ext>
            </a:extLst>
          </p:cNvPr>
          <p:cNvSpPr>
            <a:spLocks noChangeAspect="1"/>
          </p:cNvSpPr>
          <p:nvPr/>
        </p:nvSpPr>
        <p:spPr>
          <a:xfrm>
            <a:off x="512127" y="3782578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F2C04E50-7CE0-63F3-7CA9-6E9891887A92}"/>
              </a:ext>
            </a:extLst>
          </p:cNvPr>
          <p:cNvSpPr>
            <a:spLocks noChangeAspect="1"/>
          </p:cNvSpPr>
          <p:nvPr/>
        </p:nvSpPr>
        <p:spPr>
          <a:xfrm>
            <a:off x="512127" y="4720410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0F24F4C3-7FB9-7ECB-5577-933F60D26962}"/>
              </a:ext>
            </a:extLst>
          </p:cNvPr>
          <p:cNvGrpSpPr/>
          <p:nvPr/>
        </p:nvGrpSpPr>
        <p:grpSpPr>
          <a:xfrm>
            <a:off x="1928664" y="3081111"/>
            <a:ext cx="3660710" cy="144016"/>
            <a:chOff x="2008170" y="2687952"/>
            <a:chExt cx="3660710" cy="144016"/>
          </a:xfrm>
        </p:grpSpPr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76E9D8C6-D035-8AD4-2BD9-5632CC40E61F}"/>
                </a:ext>
              </a:extLst>
            </p:cNvPr>
            <p:cNvSpPr/>
            <p:nvPr/>
          </p:nvSpPr>
          <p:spPr>
            <a:xfrm>
              <a:off x="3443301" y="2687960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보험료납입확인서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8FDD6240-E7F2-0D3F-7946-4C1E902D0141}"/>
                </a:ext>
              </a:extLst>
            </p:cNvPr>
            <p:cNvSpPr/>
            <p:nvPr/>
          </p:nvSpPr>
          <p:spPr>
            <a:xfrm>
              <a:off x="5096299" y="2687952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제출</a:t>
              </a: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FDC9A878-30F2-21B6-AAAD-A84805345E1E}"/>
                </a:ext>
              </a:extLst>
            </p:cNvPr>
            <p:cNvSpPr/>
            <p:nvPr/>
          </p:nvSpPr>
          <p:spPr>
            <a:xfrm>
              <a:off x="5404706" y="2687952"/>
              <a:ext cx="264174" cy="144016"/>
            </a:xfrm>
            <a:prstGeom prst="rect">
              <a:avLst/>
            </a:prstGeom>
            <a:solidFill>
              <a:srgbClr val="66FF66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받기</a:t>
              </a:r>
            </a:p>
          </p:txBody>
        </p:sp>
        <p:sp>
          <p:nvSpPr>
            <p:cNvPr id="48" name="Rectangle 191">
              <a:extLst>
                <a:ext uri="{FF2B5EF4-FFF2-40B4-BE49-F238E27FC236}">
                  <a16:creationId xmlns:a16="http://schemas.microsoft.com/office/drawing/2014/main" id="{ED99E539-3D43-21E7-DA46-337D9ABDCC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1673" y="2706099"/>
              <a:ext cx="179536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첨부</a:t>
              </a:r>
            </a:p>
          </p:txBody>
        </p:sp>
        <p:sp>
          <p:nvSpPr>
            <p:cNvPr id="49" name="Rectangle 191">
              <a:extLst>
                <a:ext uri="{FF2B5EF4-FFF2-40B4-BE49-F238E27FC236}">
                  <a16:creationId xmlns:a16="http://schemas.microsoft.com/office/drawing/2014/main" id="{62F1ADA0-606E-A247-B68C-381C93F200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8170" y="2706099"/>
              <a:ext cx="750205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700" kern="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납부액</a:t>
              </a:r>
              <a:r>
                <a:rPr lang="en-US" altLang="ko-KR" sz="700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700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부</a:t>
              </a:r>
              <a:r>
                <a:rPr lang="en-US" altLang="ko-KR" sz="700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700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모 합산</a:t>
              </a:r>
              <a:r>
                <a:rPr lang="en-US" altLang="ko-KR" sz="700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9F12D531-7DCA-2179-B220-9F730D85B504}"/>
                </a:ext>
              </a:extLst>
            </p:cNvPr>
            <p:cNvSpPr/>
            <p:nvPr/>
          </p:nvSpPr>
          <p:spPr>
            <a:xfrm>
              <a:off x="2784941" y="2687960"/>
              <a:ext cx="432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dirty="0">
                  <a:solidFill>
                    <a:prstClr val="black">
                      <a:lumMod val="95000"/>
                      <a:lumOff val="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30,000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CB944C58-E736-0E92-F8A3-A834DFA2255F}"/>
              </a:ext>
            </a:extLst>
          </p:cNvPr>
          <p:cNvGrpSpPr/>
          <p:nvPr/>
        </p:nvGrpSpPr>
        <p:grpSpPr>
          <a:xfrm>
            <a:off x="1940815" y="2841234"/>
            <a:ext cx="3933984" cy="144016"/>
            <a:chOff x="1394306" y="2609825"/>
            <a:chExt cx="3933984" cy="144016"/>
          </a:xfrm>
        </p:grpSpPr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952B8E62-EBA5-646F-C1AC-D21C0FAB74F5}"/>
                </a:ext>
              </a:extLst>
            </p:cNvPr>
            <p:cNvSpPr/>
            <p:nvPr/>
          </p:nvSpPr>
          <p:spPr>
            <a:xfrm>
              <a:off x="3102711" y="2609833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지방세세목별과세증명서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.zip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B670A14E-3A5A-D4B7-F167-0911B46D9894}"/>
                </a:ext>
              </a:extLst>
            </p:cNvPr>
            <p:cNvSpPr/>
            <p:nvPr/>
          </p:nvSpPr>
          <p:spPr>
            <a:xfrm>
              <a:off x="4755709" y="2609825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제출</a:t>
              </a:r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A5AA5975-4227-901B-3D1B-C066BD23FD52}"/>
                </a:ext>
              </a:extLst>
            </p:cNvPr>
            <p:cNvSpPr/>
            <p:nvPr/>
          </p:nvSpPr>
          <p:spPr>
            <a:xfrm>
              <a:off x="5064116" y="2609825"/>
              <a:ext cx="264174" cy="144016"/>
            </a:xfrm>
            <a:prstGeom prst="rect">
              <a:avLst/>
            </a:prstGeom>
            <a:solidFill>
              <a:srgbClr val="66FF66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받기</a:t>
              </a:r>
            </a:p>
          </p:txBody>
        </p:sp>
        <p:sp>
          <p:nvSpPr>
            <p:cNvPr id="55" name="Rectangle 191">
              <a:extLst>
                <a:ext uri="{FF2B5EF4-FFF2-40B4-BE49-F238E27FC236}">
                  <a16:creationId xmlns:a16="http://schemas.microsoft.com/office/drawing/2014/main" id="{C04221E5-0C44-5EEE-D1B3-B7733EF672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0850" y="2627972"/>
              <a:ext cx="179536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첨부</a:t>
              </a:r>
            </a:p>
          </p:txBody>
        </p:sp>
        <p:sp>
          <p:nvSpPr>
            <p:cNvPr id="56" name="Rectangle 191">
              <a:extLst>
                <a:ext uri="{FF2B5EF4-FFF2-40B4-BE49-F238E27FC236}">
                  <a16:creationId xmlns:a16="http://schemas.microsoft.com/office/drawing/2014/main" id="{E72D6AC5-FCD6-0F5B-9D94-F99DC6DFB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4306" y="2627972"/>
              <a:ext cx="965008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700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재산세</a:t>
              </a:r>
              <a:r>
                <a:rPr lang="en-US" altLang="ko-KR" sz="700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700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부</a:t>
              </a:r>
              <a:r>
                <a:rPr lang="en-US" altLang="ko-KR" sz="700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700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모</a:t>
              </a:r>
              <a:r>
                <a:rPr lang="en-US" altLang="ko-KR" sz="700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700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학생 합산</a:t>
              </a:r>
              <a:r>
                <a:rPr lang="en-US" altLang="ko-KR" sz="700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AED6D18E-E150-C0A8-FB76-CA01ED54053B}"/>
                </a:ext>
              </a:extLst>
            </p:cNvPr>
            <p:cNvSpPr/>
            <p:nvPr/>
          </p:nvSpPr>
          <p:spPr>
            <a:xfrm>
              <a:off x="2371417" y="2609833"/>
              <a:ext cx="4752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dirty="0">
                  <a:solidFill>
                    <a:prstClr val="black">
                      <a:lumMod val="95000"/>
                      <a:lumOff val="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200,000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5CCA25D3-CC7F-345C-02A2-0504ACDC1753}"/>
              </a:ext>
            </a:extLst>
          </p:cNvPr>
          <p:cNvGrpSpPr/>
          <p:nvPr/>
        </p:nvGrpSpPr>
        <p:grpSpPr>
          <a:xfrm>
            <a:off x="1921496" y="3547708"/>
            <a:ext cx="2704513" cy="144016"/>
            <a:chOff x="1897884" y="2847629"/>
            <a:chExt cx="2704513" cy="144016"/>
          </a:xfrm>
        </p:grpSpPr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031F7E59-18AE-9B81-303C-BFFE0598EC55}"/>
                </a:ext>
              </a:extLst>
            </p:cNvPr>
            <p:cNvSpPr/>
            <p:nvPr/>
          </p:nvSpPr>
          <p:spPr>
            <a:xfrm>
              <a:off x="1897884" y="2847637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추천서</a:t>
              </a:r>
              <a:r>
                <a:rPr kumimoji="0" lang="en-US" altLang="ko-KR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22973130-C768-DAA5-8376-4A2865E3F5C0}"/>
                </a:ext>
              </a:extLst>
            </p:cNvPr>
            <p:cNvSpPr/>
            <p:nvPr/>
          </p:nvSpPr>
          <p:spPr>
            <a:xfrm>
              <a:off x="3550882" y="2847629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제출</a:t>
              </a: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204A9058-0C5E-C1C5-6890-56FDCCDE5443}"/>
                </a:ext>
              </a:extLst>
            </p:cNvPr>
            <p:cNvSpPr/>
            <p:nvPr/>
          </p:nvSpPr>
          <p:spPr>
            <a:xfrm>
              <a:off x="3859392" y="2847629"/>
              <a:ext cx="264174" cy="144016"/>
            </a:xfrm>
            <a:prstGeom prst="rect">
              <a:avLst/>
            </a:prstGeom>
            <a:solidFill>
              <a:srgbClr val="66FF66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644C0D84-DD5A-8632-53CA-9BDC4A2FBC9E}"/>
                </a:ext>
              </a:extLst>
            </p:cNvPr>
            <p:cNvSpPr/>
            <p:nvPr/>
          </p:nvSpPr>
          <p:spPr>
            <a:xfrm>
              <a:off x="4176942" y="2847629"/>
              <a:ext cx="425455" cy="14401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양식받기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A20D2822-5FE9-AA8A-B2A1-6B65DB095BF4}"/>
              </a:ext>
            </a:extLst>
          </p:cNvPr>
          <p:cNvGrpSpPr/>
          <p:nvPr/>
        </p:nvGrpSpPr>
        <p:grpSpPr>
          <a:xfrm>
            <a:off x="1924086" y="5888637"/>
            <a:ext cx="2386963" cy="144016"/>
            <a:chOff x="1897884" y="4476806"/>
            <a:chExt cx="2386963" cy="144016"/>
          </a:xfrm>
        </p:grpSpPr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59F41EC3-4196-ED27-4A19-C118B4E6ACE4}"/>
                </a:ext>
              </a:extLst>
            </p:cNvPr>
            <p:cNvSpPr/>
            <p:nvPr/>
          </p:nvSpPr>
          <p:spPr>
            <a:xfrm>
              <a:off x="1897884" y="4476814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05248C8F-3BE6-18FA-AA47-F37E12ECCE3B}"/>
                </a:ext>
              </a:extLst>
            </p:cNvPr>
            <p:cNvSpPr/>
            <p:nvPr/>
          </p:nvSpPr>
          <p:spPr>
            <a:xfrm>
              <a:off x="3550882" y="4476806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추가</a:t>
              </a:r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F1F605F9-54D6-AEED-3478-2A00CFD3FF24}"/>
                </a:ext>
              </a:extLst>
            </p:cNvPr>
            <p:cNvSpPr/>
            <p:nvPr/>
          </p:nvSpPr>
          <p:spPr>
            <a:xfrm>
              <a:off x="3859392" y="4476806"/>
              <a:ext cx="425455" cy="14401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양식받기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158F05B2-694D-1DFD-D562-39B998863612}"/>
              </a:ext>
            </a:extLst>
          </p:cNvPr>
          <p:cNvSpPr/>
          <p:nvPr/>
        </p:nvSpPr>
        <p:spPr>
          <a:xfrm>
            <a:off x="668524" y="5861394"/>
            <a:ext cx="6121214" cy="21600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D60A484E-E297-D4B1-0D26-16935982D7E8}"/>
              </a:ext>
            </a:extLst>
          </p:cNvPr>
          <p:cNvSpPr>
            <a:spLocks noChangeAspect="1"/>
          </p:cNvSpPr>
          <p:nvPr/>
        </p:nvSpPr>
        <p:spPr>
          <a:xfrm>
            <a:off x="512127" y="5905345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4221F398-CE55-085D-4B9B-6E2060C8CDD6}"/>
              </a:ext>
            </a:extLst>
          </p:cNvPr>
          <p:cNvSpPr/>
          <p:nvPr/>
        </p:nvSpPr>
        <p:spPr>
          <a:xfrm>
            <a:off x="668524" y="3523531"/>
            <a:ext cx="6121214" cy="21600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7CD90554-F1DA-71FA-78D5-90AA992220B3}"/>
              </a:ext>
            </a:extLst>
          </p:cNvPr>
          <p:cNvSpPr>
            <a:spLocks noChangeAspect="1"/>
          </p:cNvSpPr>
          <p:nvPr/>
        </p:nvSpPr>
        <p:spPr>
          <a:xfrm>
            <a:off x="512127" y="3560691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F7EBFF7B-59AC-3ECB-4586-412E183BD438}"/>
              </a:ext>
            </a:extLst>
          </p:cNvPr>
          <p:cNvSpPr/>
          <p:nvPr/>
        </p:nvSpPr>
        <p:spPr>
          <a:xfrm>
            <a:off x="668524" y="2800431"/>
            <a:ext cx="6121214" cy="476993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038330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35765-3653-E506-4AA9-3DE5D88D8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E28C7C2-AFCF-BC15-BEDE-F6CADE7FEC7C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고등학생장학금 신청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4F0B288-69BC-0D1F-C647-A8B6CA34F060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프로그램신청관리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고등학생장학금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장학금신청</a:t>
            </a: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31365B5F-2841-258B-1C8B-F9D430034E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5265689"/>
              </p:ext>
            </p:extLst>
          </p:nvPr>
        </p:nvGraphicFramePr>
        <p:xfrm>
          <a:off x="6969418" y="2548005"/>
          <a:ext cx="2772114" cy="2300779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프로그램신청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대학생장학금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조회 화면 목록에서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신청하기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클릭 시 보이는 화면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주민등록초본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거주기간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신청 회원의 거주기간을 입력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첨부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제출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제출 서류 파일 선택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첨부완료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받기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시 첨부된 제출 서류 파일 다운로드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성적증빙자료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성적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성적증빙자료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기반 성적을 직접 입력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첨부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제출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제출 서류 파일 선택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첨부완료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받기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시 첨부된 제출 서류 파일 다운로드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첨부파일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추가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] : 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추가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파일 선택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첨부 설정완료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파일받기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파일명 클릭 시 첨부된 파일 다운로드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[x]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 첨부된 해당 파일 삭제 처리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양식받기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시 추천서 양식 파일을 다운 받는다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4A4FB96D-36E5-5F89-26AE-50DCEAF9A5C4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pau_application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84AA612-938B-58E5-106E-F34B0D014493}"/>
              </a:ext>
            </a:extLst>
          </p:cNvPr>
          <p:cNvSpPr/>
          <p:nvPr/>
        </p:nvSpPr>
        <p:spPr>
          <a:xfrm>
            <a:off x="165100" y="1376363"/>
            <a:ext cx="6732116" cy="5292997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7FD26D2-D8BE-02BA-B4AA-A4B2F19D4510}"/>
              </a:ext>
            </a:extLst>
          </p:cNvPr>
          <p:cNvSpPr/>
          <p:nvPr/>
        </p:nvSpPr>
        <p:spPr>
          <a:xfrm>
            <a:off x="292846" y="1448780"/>
            <a:ext cx="1099660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800" b="1" dirty="0">
                <a:solidFill>
                  <a:prstClr val="black"/>
                </a:solidFill>
              </a:rPr>
              <a:t>대학생 장학금 신청정보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209652B-1188-068E-16C1-02E47C27DFBF}"/>
              </a:ext>
            </a:extLst>
          </p:cNvPr>
          <p:cNvGraphicFramePr>
            <a:graphicFrameLocks noGrp="1"/>
          </p:cNvGraphicFramePr>
          <p:nvPr/>
        </p:nvGraphicFramePr>
        <p:xfrm>
          <a:off x="272480" y="1628800"/>
          <a:ext cx="6517258" cy="4694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3668863434"/>
                    </a:ext>
                  </a:extLst>
                </a:gridCol>
                <a:gridCol w="48970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구분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대학생 장학금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894265"/>
                  </a:ext>
                </a:extLst>
              </a:tr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</a:t>
                      </a:r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하반기 대학생 장학금 신청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접수기간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2025.09.20 10:00 </a:t>
                      </a:r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~ 2025.09.30 10:00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4735">
                <a:tc rowSpan="2"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전형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4735">
                <a:tc gridSpan="2"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1090955"/>
                  </a:ext>
                </a:extLst>
              </a:tr>
              <a:tr h="234735">
                <a:tc rowSpan="3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전형별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지방세 세목별 과세증명서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2230354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보험료 납입확인서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1414596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가족관계증명서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3500795"/>
                  </a:ext>
                </a:extLst>
              </a:tr>
              <a:tr h="234735">
                <a:tc rowSpan="1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공통 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추천서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주민등록초본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1958612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주민등록등본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164179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재학증명서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799673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고등학교 졸업증명서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3894158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성적증빙자료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037610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국민기초생활보장수급자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차상위계층확인서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한부모가족보호대상확인서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장애인증명서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첨부파일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8089092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8418894"/>
                  </a:ext>
                </a:extLst>
              </a:tr>
            </a:tbl>
          </a:graphicData>
        </a:graphic>
      </p:graphicFrame>
      <p:grpSp>
        <p:nvGrpSpPr>
          <p:cNvPr id="93" name="그룹 92">
            <a:extLst>
              <a:ext uri="{FF2B5EF4-FFF2-40B4-BE49-F238E27FC236}">
                <a16:creationId xmlns:a16="http://schemas.microsoft.com/office/drawing/2014/main" id="{1E46969D-C443-49C7-3779-3545E5182218}"/>
              </a:ext>
            </a:extLst>
          </p:cNvPr>
          <p:cNvGrpSpPr/>
          <p:nvPr/>
        </p:nvGrpSpPr>
        <p:grpSpPr>
          <a:xfrm>
            <a:off x="2497056" y="2380094"/>
            <a:ext cx="505750" cy="144462"/>
            <a:chOff x="2716253" y="2405617"/>
            <a:chExt cx="505750" cy="144462"/>
          </a:xfrm>
        </p:grpSpPr>
        <p:sp>
          <p:nvSpPr>
            <p:cNvPr id="94" name="Rectangle 191">
              <a:extLst>
                <a:ext uri="{FF2B5EF4-FFF2-40B4-BE49-F238E27FC236}">
                  <a16:creationId xmlns:a16="http://schemas.microsoft.com/office/drawing/2014/main" id="{F77C2190-E2C2-60C2-20B7-2053F58335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359073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희망인재</a:t>
              </a:r>
            </a:p>
          </p:txBody>
        </p:sp>
        <p:graphicFrame>
          <p:nvGraphicFramePr>
            <p:cNvPr id="95" name="개체 94">
              <a:extLst>
                <a:ext uri="{FF2B5EF4-FFF2-40B4-BE49-F238E27FC236}">
                  <a16:creationId xmlns:a16="http://schemas.microsoft.com/office/drawing/2014/main" id="{ABB24D75-EDC2-B009-D78A-B93E1719D9D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2" imgW="145435" imgH="145435" progId="Visio.Drawing.11">
                    <p:embed/>
                  </p:oleObj>
                </mc:Choice>
                <mc:Fallback>
                  <p:oleObj name="Visio" r:id="rId2" imgW="145435" imgH="145435" progId="Visio.Drawing.11">
                    <p:embed/>
                    <p:pic>
                      <p:nvPicPr>
                        <p:cNvPr id="95" name="개체 94">
                          <a:extLst>
                            <a:ext uri="{FF2B5EF4-FFF2-40B4-BE49-F238E27FC236}">
                              <a16:creationId xmlns:a16="http://schemas.microsoft.com/office/drawing/2014/main" id="{B0C876D3-7D68-80CB-F914-FC85FBD328B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4AF05E70-C4D3-7CC3-1C51-51EB90716330}"/>
              </a:ext>
            </a:extLst>
          </p:cNvPr>
          <p:cNvGrpSpPr/>
          <p:nvPr/>
        </p:nvGrpSpPr>
        <p:grpSpPr>
          <a:xfrm>
            <a:off x="4554810" y="2380094"/>
            <a:ext cx="775054" cy="144462"/>
            <a:chOff x="2716253" y="2405617"/>
            <a:chExt cx="775054" cy="144462"/>
          </a:xfrm>
        </p:grpSpPr>
        <p:sp>
          <p:nvSpPr>
            <p:cNvPr id="97" name="Rectangle 191">
              <a:extLst>
                <a:ext uri="{FF2B5EF4-FFF2-40B4-BE49-F238E27FC236}">
                  <a16:creationId xmlns:a16="http://schemas.microsoft.com/office/drawing/2014/main" id="{2CB90837-A00B-289A-0C58-B96C7BB9D2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628377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다문화가정자녀</a:t>
              </a:r>
            </a:p>
          </p:txBody>
        </p:sp>
        <p:graphicFrame>
          <p:nvGraphicFramePr>
            <p:cNvPr id="98" name="개체 97">
              <a:extLst>
                <a:ext uri="{FF2B5EF4-FFF2-40B4-BE49-F238E27FC236}">
                  <a16:creationId xmlns:a16="http://schemas.microsoft.com/office/drawing/2014/main" id="{212FA372-FF78-DF07-3ED9-511BBF9FD01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2" imgW="145435" imgH="145435" progId="Visio.Drawing.11">
                    <p:embed/>
                  </p:oleObj>
                </mc:Choice>
                <mc:Fallback>
                  <p:oleObj name="Visio" r:id="rId2" imgW="145435" imgH="145435" progId="Visio.Drawing.11">
                    <p:embed/>
                    <p:pic>
                      <p:nvPicPr>
                        <p:cNvPr id="98" name="개체 97">
                          <a:extLst>
                            <a:ext uri="{FF2B5EF4-FFF2-40B4-BE49-F238E27FC236}">
                              <a16:creationId xmlns:a16="http://schemas.microsoft.com/office/drawing/2014/main" id="{4C8D92DD-D76B-EA93-6CCF-E6A832354B2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268C7CFD-AC6F-8ABC-553F-A35BC5C0EE6E}"/>
              </a:ext>
            </a:extLst>
          </p:cNvPr>
          <p:cNvSpPr/>
          <p:nvPr/>
        </p:nvSpPr>
        <p:spPr>
          <a:xfrm>
            <a:off x="1920713" y="4961278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dirty="0" err="1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국민기초생활보장수급자</a:t>
            </a:r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0FEC0C36-24B7-01EC-977A-50AA1F31412A}"/>
              </a:ext>
            </a:extLst>
          </p:cNvPr>
          <p:cNvSpPr/>
          <p:nvPr/>
        </p:nvSpPr>
        <p:spPr>
          <a:xfrm>
            <a:off x="3573711" y="4961270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10FF58F3-C9F5-C276-2A12-96988560BB4E}"/>
              </a:ext>
            </a:extLst>
          </p:cNvPr>
          <p:cNvSpPr/>
          <p:nvPr/>
        </p:nvSpPr>
        <p:spPr>
          <a:xfrm>
            <a:off x="1920713" y="5193822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차상위계층확인서</a:t>
            </a:r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5281AD4E-73CC-5C77-5052-A1F318F3F109}"/>
              </a:ext>
            </a:extLst>
          </p:cNvPr>
          <p:cNvSpPr/>
          <p:nvPr/>
        </p:nvSpPr>
        <p:spPr>
          <a:xfrm>
            <a:off x="3573711" y="5193814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D2F15129-74A0-3710-B64D-061EC5500912}"/>
              </a:ext>
            </a:extLst>
          </p:cNvPr>
          <p:cNvSpPr/>
          <p:nvPr/>
        </p:nvSpPr>
        <p:spPr>
          <a:xfrm>
            <a:off x="1920713" y="5431025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00008071-7396-922F-03DB-AC9C400CD4FC}"/>
              </a:ext>
            </a:extLst>
          </p:cNvPr>
          <p:cNvSpPr/>
          <p:nvPr/>
        </p:nvSpPr>
        <p:spPr>
          <a:xfrm>
            <a:off x="3573711" y="5431017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F2F62E67-514C-8E6D-BBF2-78A3866829D8}"/>
              </a:ext>
            </a:extLst>
          </p:cNvPr>
          <p:cNvSpPr/>
          <p:nvPr/>
        </p:nvSpPr>
        <p:spPr>
          <a:xfrm>
            <a:off x="1920713" y="5661256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75C6375E-F614-4195-8DDB-C86B027360D9}"/>
              </a:ext>
            </a:extLst>
          </p:cNvPr>
          <p:cNvSpPr/>
          <p:nvPr/>
        </p:nvSpPr>
        <p:spPr>
          <a:xfrm>
            <a:off x="3573711" y="5661248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610753B3-5925-1776-4886-2BECD9B893EC}"/>
              </a:ext>
            </a:extLst>
          </p:cNvPr>
          <p:cNvGrpSpPr/>
          <p:nvPr/>
        </p:nvGrpSpPr>
        <p:grpSpPr>
          <a:xfrm>
            <a:off x="1955994" y="6145423"/>
            <a:ext cx="1105196" cy="128396"/>
            <a:chOff x="3438680" y="4305150"/>
            <a:chExt cx="1105196" cy="128396"/>
          </a:xfrm>
        </p:grpSpPr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EA84D466-7553-7B03-7CB1-28AA8B9C4555}"/>
                </a:ext>
              </a:extLst>
            </p:cNvPr>
            <p:cNvSpPr txBox="1"/>
            <p:nvPr/>
          </p:nvSpPr>
          <p:spPr>
            <a:xfrm>
              <a:off x="3438680" y="4305150"/>
              <a:ext cx="971420" cy="10772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신청 관련 부가 서류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17" name="Picture 10">
              <a:extLst>
                <a:ext uri="{FF2B5EF4-FFF2-40B4-BE49-F238E27FC236}">
                  <a16:creationId xmlns:a16="http://schemas.microsoft.com/office/drawing/2014/main" id="{3319C022-F4CF-6D65-6E22-C0950B4131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7418" y="4312303"/>
              <a:ext cx="106458" cy="121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064CA82B-3854-D014-1341-93206C1929BB}"/>
              </a:ext>
            </a:extLst>
          </p:cNvPr>
          <p:cNvGrpSpPr/>
          <p:nvPr/>
        </p:nvGrpSpPr>
        <p:grpSpPr>
          <a:xfrm>
            <a:off x="3142407" y="6145423"/>
            <a:ext cx="1105196" cy="128396"/>
            <a:chOff x="3438680" y="4305150"/>
            <a:chExt cx="1105196" cy="128396"/>
          </a:xfrm>
        </p:grpSpPr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7507A71B-70DC-23E1-EA97-8110AC9851FA}"/>
                </a:ext>
              </a:extLst>
            </p:cNvPr>
            <p:cNvSpPr txBox="1"/>
            <p:nvPr/>
          </p:nvSpPr>
          <p:spPr>
            <a:xfrm>
              <a:off x="3438680" y="4305150"/>
              <a:ext cx="971420" cy="10772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신청 관련 부가 서류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20" name="Picture 10">
              <a:extLst>
                <a:ext uri="{FF2B5EF4-FFF2-40B4-BE49-F238E27FC236}">
                  <a16:creationId xmlns:a16="http://schemas.microsoft.com/office/drawing/2014/main" id="{D7682A37-DD93-08EA-311C-892E040E63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7418" y="4312303"/>
              <a:ext cx="106458" cy="121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69" name="그룹 168">
            <a:extLst>
              <a:ext uri="{FF2B5EF4-FFF2-40B4-BE49-F238E27FC236}">
                <a16:creationId xmlns:a16="http://schemas.microsoft.com/office/drawing/2014/main" id="{D2DBB0ED-3E0B-FAD4-9988-768B9A51F04A}"/>
              </a:ext>
            </a:extLst>
          </p:cNvPr>
          <p:cNvGrpSpPr/>
          <p:nvPr/>
        </p:nvGrpSpPr>
        <p:grpSpPr>
          <a:xfrm>
            <a:off x="1920713" y="4012319"/>
            <a:ext cx="2225682" cy="145176"/>
            <a:chOff x="3327015" y="2690196"/>
            <a:chExt cx="2225682" cy="145176"/>
          </a:xfrm>
        </p:grpSpPr>
        <p:sp>
          <p:nvSpPr>
            <p:cNvPr id="170" name="직사각형 169">
              <a:extLst>
                <a:ext uri="{FF2B5EF4-FFF2-40B4-BE49-F238E27FC236}">
                  <a16:creationId xmlns:a16="http://schemas.microsoft.com/office/drawing/2014/main" id="{E7A7E520-5D14-AFF9-C17F-51E39DD4B298}"/>
                </a:ext>
              </a:extLst>
            </p:cNvPr>
            <p:cNvSpPr/>
            <p:nvPr/>
          </p:nvSpPr>
          <p:spPr>
            <a:xfrm>
              <a:off x="3327015" y="2691364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주민등록등본</a:t>
              </a:r>
              <a:r>
                <a:rPr kumimoji="0" lang="en-US" altLang="ko-KR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1" name="직사각형 170">
              <a:extLst>
                <a:ext uri="{FF2B5EF4-FFF2-40B4-BE49-F238E27FC236}">
                  <a16:creationId xmlns:a16="http://schemas.microsoft.com/office/drawing/2014/main" id="{BFF0FD7C-D834-47B6-E11C-6793AB051C02}"/>
                </a:ext>
              </a:extLst>
            </p:cNvPr>
            <p:cNvSpPr/>
            <p:nvPr/>
          </p:nvSpPr>
          <p:spPr>
            <a:xfrm>
              <a:off x="4980013" y="2691356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제출</a:t>
              </a:r>
            </a:p>
          </p:txBody>
        </p:sp>
        <p:sp>
          <p:nvSpPr>
            <p:cNvPr id="172" name="직사각형 171">
              <a:extLst>
                <a:ext uri="{FF2B5EF4-FFF2-40B4-BE49-F238E27FC236}">
                  <a16:creationId xmlns:a16="http://schemas.microsoft.com/office/drawing/2014/main" id="{8A560E9D-E7B0-18E8-1ED3-F96BDA000044}"/>
                </a:ext>
              </a:extLst>
            </p:cNvPr>
            <p:cNvSpPr/>
            <p:nvPr/>
          </p:nvSpPr>
          <p:spPr>
            <a:xfrm>
              <a:off x="5288523" y="2690196"/>
              <a:ext cx="264174" cy="144016"/>
            </a:xfrm>
            <a:prstGeom prst="rect">
              <a:avLst/>
            </a:prstGeom>
            <a:solidFill>
              <a:srgbClr val="66FF66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EDE49F09-4715-ACED-CA75-6886A9AB4DCF}"/>
              </a:ext>
            </a:extLst>
          </p:cNvPr>
          <p:cNvSpPr/>
          <p:nvPr/>
        </p:nvSpPr>
        <p:spPr>
          <a:xfrm>
            <a:off x="3882221" y="4961311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E512E2DE-40D1-616E-8B9A-6DB2CC94F401}"/>
              </a:ext>
            </a:extLst>
          </p:cNvPr>
          <p:cNvSpPr/>
          <p:nvPr/>
        </p:nvSpPr>
        <p:spPr>
          <a:xfrm>
            <a:off x="3882221" y="5193196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5" name="직사각형 174">
            <a:extLst>
              <a:ext uri="{FF2B5EF4-FFF2-40B4-BE49-F238E27FC236}">
                <a16:creationId xmlns:a16="http://schemas.microsoft.com/office/drawing/2014/main" id="{D07ECC75-C08B-7131-78E9-2A35B9E7AFE7}"/>
              </a:ext>
            </a:extLst>
          </p:cNvPr>
          <p:cNvSpPr/>
          <p:nvPr/>
        </p:nvSpPr>
        <p:spPr>
          <a:xfrm>
            <a:off x="3882221" y="5425122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25B3F363-4A9E-FAF6-97F5-ACB1A649B87F}"/>
              </a:ext>
            </a:extLst>
          </p:cNvPr>
          <p:cNvSpPr/>
          <p:nvPr/>
        </p:nvSpPr>
        <p:spPr>
          <a:xfrm>
            <a:off x="3882221" y="5663116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77" name="그룹 176">
            <a:extLst>
              <a:ext uri="{FF2B5EF4-FFF2-40B4-BE49-F238E27FC236}">
                <a16:creationId xmlns:a16="http://schemas.microsoft.com/office/drawing/2014/main" id="{D579CB06-42F8-0F1C-DA6F-CBF6F65FEAB6}"/>
              </a:ext>
            </a:extLst>
          </p:cNvPr>
          <p:cNvGrpSpPr/>
          <p:nvPr/>
        </p:nvGrpSpPr>
        <p:grpSpPr>
          <a:xfrm>
            <a:off x="1936260" y="2621541"/>
            <a:ext cx="1394613" cy="144462"/>
            <a:chOff x="2415444" y="3432217"/>
            <a:chExt cx="1394613" cy="144462"/>
          </a:xfrm>
        </p:grpSpPr>
        <p:sp>
          <p:nvSpPr>
            <p:cNvPr id="178" name="Rectangle 191">
              <a:extLst>
                <a:ext uri="{FF2B5EF4-FFF2-40B4-BE49-F238E27FC236}">
                  <a16:creationId xmlns:a16="http://schemas.microsoft.com/office/drawing/2014/main" id="{04EE3407-E3DD-066F-E9E8-5D68E493A3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5444" y="3444195"/>
              <a:ext cx="1394613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지역인재육성</a:t>
              </a: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(                         )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3BF916C3-5CE1-66A9-19D3-CEAEB3ED57AA}"/>
                </a:ext>
              </a:extLst>
            </p:cNvPr>
            <p:cNvGrpSpPr/>
            <p:nvPr/>
          </p:nvGrpSpPr>
          <p:grpSpPr>
            <a:xfrm>
              <a:off x="3332820" y="3432217"/>
              <a:ext cx="408030" cy="144462"/>
              <a:chOff x="2716253" y="2405617"/>
              <a:chExt cx="408030" cy="144462"/>
            </a:xfrm>
          </p:grpSpPr>
          <p:sp>
            <p:nvSpPr>
              <p:cNvPr id="183" name="Rectangle 191">
                <a:extLst>
                  <a:ext uri="{FF2B5EF4-FFF2-40B4-BE49-F238E27FC236}">
                    <a16:creationId xmlns:a16="http://schemas.microsoft.com/office/drawing/2014/main" id="{A381C436-2C95-4F3E-94CF-0855A95A05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54979" y="2416036"/>
                <a:ext cx="269304" cy="10772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EAEAEA"/>
                    </a:solidFill>
                  </a14:hiddenFill>
                </a:ext>
                <a:ext uri="{91240B29-F687-4F45-9708-019B960494DF}">
                  <a14:hiddenLine xmlns:a14="http://schemas.microsoft.com/office/drawing/2010/main" w="635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7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만학도</a:t>
                </a:r>
                <a:endPara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graphicFrame>
            <p:nvGraphicFramePr>
              <p:cNvPr id="184" name="개체 183">
                <a:extLst>
                  <a:ext uri="{FF2B5EF4-FFF2-40B4-BE49-F238E27FC236}">
                    <a16:creationId xmlns:a16="http://schemas.microsoft.com/office/drawing/2014/main" id="{6A57C85C-923D-DA7D-5407-116AB3AEE70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716253" y="2405617"/>
              <a:ext cx="144462" cy="1444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Visio" r:id="rId2" imgW="145435" imgH="145435" progId="Visio.Drawing.11">
                      <p:embed/>
                    </p:oleObj>
                  </mc:Choice>
                  <mc:Fallback>
                    <p:oleObj name="Visio" r:id="rId2" imgW="145435" imgH="145435" progId="Visio.Drawing.11">
                      <p:embed/>
                      <p:pic>
                        <p:nvPicPr>
                          <p:cNvPr id="184" name="개체 183">
                            <a:extLst>
                              <a:ext uri="{FF2B5EF4-FFF2-40B4-BE49-F238E27FC236}">
                                <a16:creationId xmlns:a16="http://schemas.microsoft.com/office/drawing/2014/main" id="{6DA1A76B-9D20-F165-8FC9-0C91DBFBB47D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16253" y="2405617"/>
                            <a:ext cx="144462" cy="1444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EAEAEA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6350" algn="ctr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80" name="그룹 179">
              <a:extLst>
                <a:ext uri="{FF2B5EF4-FFF2-40B4-BE49-F238E27FC236}">
                  <a16:creationId xmlns:a16="http://schemas.microsoft.com/office/drawing/2014/main" id="{5AFFC734-E99A-EFA4-F42A-F7B738987CB2}"/>
                </a:ext>
              </a:extLst>
            </p:cNvPr>
            <p:cNvGrpSpPr/>
            <p:nvPr/>
          </p:nvGrpSpPr>
          <p:grpSpPr>
            <a:xfrm>
              <a:off x="3000833" y="3432217"/>
              <a:ext cx="318262" cy="144462"/>
              <a:chOff x="2716253" y="2405617"/>
              <a:chExt cx="318262" cy="144462"/>
            </a:xfrm>
          </p:grpSpPr>
          <p:sp>
            <p:nvSpPr>
              <p:cNvPr id="181" name="Rectangle 191">
                <a:extLst>
                  <a:ext uri="{FF2B5EF4-FFF2-40B4-BE49-F238E27FC236}">
                    <a16:creationId xmlns:a16="http://schemas.microsoft.com/office/drawing/2014/main" id="{E9E037C4-DD50-D8CC-39D1-5A15B997D4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54979" y="2416036"/>
                <a:ext cx="179536" cy="10772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EAEAEA"/>
                    </a:solidFill>
                  </a14:hiddenFill>
                </a:ext>
                <a:ext uri="{91240B29-F687-4F45-9708-019B960494DF}">
                  <a14:hiddenLine xmlns:a14="http://schemas.microsoft.com/office/drawing/2010/main" w="635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7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일반</a:t>
                </a:r>
              </a:p>
            </p:txBody>
          </p:sp>
          <p:graphicFrame>
            <p:nvGraphicFramePr>
              <p:cNvPr id="182" name="개체 181">
                <a:extLst>
                  <a:ext uri="{FF2B5EF4-FFF2-40B4-BE49-F238E27FC236}">
                    <a16:creationId xmlns:a16="http://schemas.microsoft.com/office/drawing/2014/main" id="{3352951D-60F3-127A-AF8C-CA89FD9411E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716253" y="2405617"/>
              <a:ext cx="144462" cy="1444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Visio" r:id="rId2" imgW="145435" imgH="145435" progId="Visio.Drawing.11">
                      <p:embed/>
                    </p:oleObj>
                  </mc:Choice>
                  <mc:Fallback>
                    <p:oleObj name="Visio" r:id="rId2" imgW="145435" imgH="145435" progId="Visio.Drawing.11">
                      <p:embed/>
                      <p:pic>
                        <p:nvPicPr>
                          <p:cNvPr id="182" name="개체 181">
                            <a:extLst>
                              <a:ext uri="{FF2B5EF4-FFF2-40B4-BE49-F238E27FC236}">
                                <a16:creationId xmlns:a16="http://schemas.microsoft.com/office/drawing/2014/main" id="{1FAE0F0E-AC7F-5027-E7A0-6900D56B6D1D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16253" y="2405617"/>
                            <a:ext cx="144462" cy="1444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EAEAEA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6350" algn="ctr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185" name="그룹 184">
            <a:extLst>
              <a:ext uri="{FF2B5EF4-FFF2-40B4-BE49-F238E27FC236}">
                <a16:creationId xmlns:a16="http://schemas.microsoft.com/office/drawing/2014/main" id="{55CB65B7-EE45-E98F-273C-D6FCCB207057}"/>
              </a:ext>
            </a:extLst>
          </p:cNvPr>
          <p:cNvGrpSpPr/>
          <p:nvPr/>
        </p:nvGrpSpPr>
        <p:grpSpPr>
          <a:xfrm>
            <a:off x="1920713" y="4236007"/>
            <a:ext cx="2225682" cy="145176"/>
            <a:chOff x="3327015" y="2690196"/>
            <a:chExt cx="2225682" cy="145176"/>
          </a:xfrm>
        </p:grpSpPr>
        <p:sp>
          <p:nvSpPr>
            <p:cNvPr id="186" name="직사각형 185">
              <a:extLst>
                <a:ext uri="{FF2B5EF4-FFF2-40B4-BE49-F238E27FC236}">
                  <a16:creationId xmlns:a16="http://schemas.microsoft.com/office/drawing/2014/main" id="{02D870FA-2DFA-2C3B-717C-1E4095660595}"/>
                </a:ext>
              </a:extLst>
            </p:cNvPr>
            <p:cNvSpPr/>
            <p:nvPr/>
          </p:nvSpPr>
          <p:spPr>
            <a:xfrm>
              <a:off x="3327015" y="2691364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재학증명서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7" name="직사각형 186">
              <a:extLst>
                <a:ext uri="{FF2B5EF4-FFF2-40B4-BE49-F238E27FC236}">
                  <a16:creationId xmlns:a16="http://schemas.microsoft.com/office/drawing/2014/main" id="{34EC28B2-DD27-B514-8715-F80518CA68B2}"/>
                </a:ext>
              </a:extLst>
            </p:cNvPr>
            <p:cNvSpPr/>
            <p:nvPr/>
          </p:nvSpPr>
          <p:spPr>
            <a:xfrm>
              <a:off x="4980013" y="2691356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제출</a:t>
              </a:r>
            </a:p>
          </p:txBody>
        </p:sp>
        <p:sp>
          <p:nvSpPr>
            <p:cNvPr id="188" name="직사각형 187">
              <a:extLst>
                <a:ext uri="{FF2B5EF4-FFF2-40B4-BE49-F238E27FC236}">
                  <a16:creationId xmlns:a16="http://schemas.microsoft.com/office/drawing/2014/main" id="{381DC9B2-917C-B639-8DC9-029B8EB31405}"/>
                </a:ext>
              </a:extLst>
            </p:cNvPr>
            <p:cNvSpPr/>
            <p:nvPr/>
          </p:nvSpPr>
          <p:spPr>
            <a:xfrm>
              <a:off x="5288523" y="2690196"/>
              <a:ext cx="264174" cy="144016"/>
            </a:xfrm>
            <a:prstGeom prst="rect">
              <a:avLst/>
            </a:prstGeom>
            <a:solidFill>
              <a:srgbClr val="66FF66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89" name="그룹 188">
            <a:extLst>
              <a:ext uri="{FF2B5EF4-FFF2-40B4-BE49-F238E27FC236}">
                <a16:creationId xmlns:a16="http://schemas.microsoft.com/office/drawing/2014/main" id="{CDAD60B8-73F0-B871-79C0-9AE5A3F87941}"/>
              </a:ext>
            </a:extLst>
          </p:cNvPr>
          <p:cNvGrpSpPr/>
          <p:nvPr/>
        </p:nvGrpSpPr>
        <p:grpSpPr>
          <a:xfrm>
            <a:off x="1920713" y="4489018"/>
            <a:ext cx="2225682" cy="145176"/>
            <a:chOff x="3327015" y="2690196"/>
            <a:chExt cx="2225682" cy="145176"/>
          </a:xfrm>
        </p:grpSpPr>
        <p:sp>
          <p:nvSpPr>
            <p:cNvPr id="190" name="직사각형 189">
              <a:extLst>
                <a:ext uri="{FF2B5EF4-FFF2-40B4-BE49-F238E27FC236}">
                  <a16:creationId xmlns:a16="http://schemas.microsoft.com/office/drawing/2014/main" id="{036F9889-0DF3-275D-4887-C8A2669F12F9}"/>
                </a:ext>
              </a:extLst>
            </p:cNvPr>
            <p:cNvSpPr/>
            <p:nvPr/>
          </p:nvSpPr>
          <p:spPr>
            <a:xfrm>
              <a:off x="3327015" y="2691364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고등학교졸업증명서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1" name="직사각형 190">
              <a:extLst>
                <a:ext uri="{FF2B5EF4-FFF2-40B4-BE49-F238E27FC236}">
                  <a16:creationId xmlns:a16="http://schemas.microsoft.com/office/drawing/2014/main" id="{53DE10A4-DAA2-56CD-8CF3-392246B07427}"/>
                </a:ext>
              </a:extLst>
            </p:cNvPr>
            <p:cNvSpPr/>
            <p:nvPr/>
          </p:nvSpPr>
          <p:spPr>
            <a:xfrm>
              <a:off x="4980013" y="2691356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제출</a:t>
              </a:r>
            </a:p>
          </p:txBody>
        </p:sp>
        <p:sp>
          <p:nvSpPr>
            <p:cNvPr id="192" name="직사각형 191">
              <a:extLst>
                <a:ext uri="{FF2B5EF4-FFF2-40B4-BE49-F238E27FC236}">
                  <a16:creationId xmlns:a16="http://schemas.microsoft.com/office/drawing/2014/main" id="{3533F4CC-A21B-0FC3-2663-08594D7D0176}"/>
                </a:ext>
              </a:extLst>
            </p:cNvPr>
            <p:cNvSpPr/>
            <p:nvPr/>
          </p:nvSpPr>
          <p:spPr>
            <a:xfrm>
              <a:off x="5288523" y="2690196"/>
              <a:ext cx="264174" cy="144016"/>
            </a:xfrm>
            <a:prstGeom prst="rect">
              <a:avLst/>
            </a:prstGeom>
            <a:solidFill>
              <a:srgbClr val="66FF66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216" name="그룹 215">
            <a:extLst>
              <a:ext uri="{FF2B5EF4-FFF2-40B4-BE49-F238E27FC236}">
                <a16:creationId xmlns:a16="http://schemas.microsoft.com/office/drawing/2014/main" id="{F9154AF9-611F-65F4-E449-8B8284CBA155}"/>
              </a:ext>
            </a:extLst>
          </p:cNvPr>
          <p:cNvGrpSpPr/>
          <p:nvPr/>
        </p:nvGrpSpPr>
        <p:grpSpPr>
          <a:xfrm>
            <a:off x="1921229" y="2380094"/>
            <a:ext cx="505750" cy="144462"/>
            <a:chOff x="2716253" y="2405617"/>
            <a:chExt cx="505750" cy="144462"/>
          </a:xfrm>
        </p:grpSpPr>
        <p:sp>
          <p:nvSpPr>
            <p:cNvPr id="217" name="Rectangle 191">
              <a:extLst>
                <a:ext uri="{FF2B5EF4-FFF2-40B4-BE49-F238E27FC236}">
                  <a16:creationId xmlns:a16="http://schemas.microsoft.com/office/drawing/2014/main" id="{E988852F-F159-AE93-DE07-F5911538F5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359073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우수인재</a:t>
              </a:r>
            </a:p>
          </p:txBody>
        </p:sp>
        <p:graphicFrame>
          <p:nvGraphicFramePr>
            <p:cNvPr id="218" name="개체 217">
              <a:extLst>
                <a:ext uri="{FF2B5EF4-FFF2-40B4-BE49-F238E27FC236}">
                  <a16:creationId xmlns:a16="http://schemas.microsoft.com/office/drawing/2014/main" id="{D01942D2-2E8A-578D-F094-436DC164B54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2" imgW="145435" imgH="145435" progId="Visio.Drawing.11">
                    <p:embed/>
                  </p:oleObj>
                </mc:Choice>
                <mc:Fallback>
                  <p:oleObj name="Visio" r:id="rId2" imgW="145435" imgH="145435" progId="Visio.Drawing.11">
                    <p:embed/>
                    <p:pic>
                      <p:nvPicPr>
                        <p:cNvPr id="218" name="개체 217">
                          <a:extLst>
                            <a:ext uri="{FF2B5EF4-FFF2-40B4-BE49-F238E27FC236}">
                              <a16:creationId xmlns:a16="http://schemas.microsoft.com/office/drawing/2014/main" id="{B2153947-F2E2-451A-A068-20C4D7EACD5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5" name="그룹 224">
            <a:extLst>
              <a:ext uri="{FF2B5EF4-FFF2-40B4-BE49-F238E27FC236}">
                <a16:creationId xmlns:a16="http://schemas.microsoft.com/office/drawing/2014/main" id="{768CE311-6C0C-5E6A-77A4-58A30D0D8AC5}"/>
              </a:ext>
            </a:extLst>
          </p:cNvPr>
          <p:cNvGrpSpPr/>
          <p:nvPr/>
        </p:nvGrpSpPr>
        <p:grpSpPr>
          <a:xfrm>
            <a:off x="3071771" y="2380094"/>
            <a:ext cx="595518" cy="144462"/>
            <a:chOff x="2716253" y="2405617"/>
            <a:chExt cx="595518" cy="144462"/>
          </a:xfrm>
        </p:grpSpPr>
        <p:sp>
          <p:nvSpPr>
            <p:cNvPr id="226" name="Rectangle 191">
              <a:extLst>
                <a:ext uri="{FF2B5EF4-FFF2-40B4-BE49-F238E27FC236}">
                  <a16:creationId xmlns:a16="http://schemas.microsoft.com/office/drawing/2014/main" id="{067BB045-C6B4-5E30-53E1-0C3549648F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448841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근로자자녀</a:t>
              </a:r>
            </a:p>
          </p:txBody>
        </p:sp>
        <p:graphicFrame>
          <p:nvGraphicFramePr>
            <p:cNvPr id="227" name="개체 226">
              <a:extLst>
                <a:ext uri="{FF2B5EF4-FFF2-40B4-BE49-F238E27FC236}">
                  <a16:creationId xmlns:a16="http://schemas.microsoft.com/office/drawing/2014/main" id="{15C5B13A-1E63-249F-4D6F-B893403FB35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2" imgW="145435" imgH="145435" progId="Visio.Drawing.11">
                    <p:embed/>
                  </p:oleObj>
                </mc:Choice>
                <mc:Fallback>
                  <p:oleObj name="Visio" r:id="rId2" imgW="145435" imgH="145435" progId="Visio.Drawing.11">
                    <p:embed/>
                    <p:pic>
                      <p:nvPicPr>
                        <p:cNvPr id="227" name="개체 226">
                          <a:extLst>
                            <a:ext uri="{FF2B5EF4-FFF2-40B4-BE49-F238E27FC236}">
                              <a16:creationId xmlns:a16="http://schemas.microsoft.com/office/drawing/2014/main" id="{D38D739F-95FD-88CF-8A40-54FA24B30C8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8" name="그룹 227">
            <a:extLst>
              <a:ext uri="{FF2B5EF4-FFF2-40B4-BE49-F238E27FC236}">
                <a16:creationId xmlns:a16="http://schemas.microsoft.com/office/drawing/2014/main" id="{66CDFE15-D537-5719-7027-A5DF5843EB17}"/>
              </a:ext>
            </a:extLst>
          </p:cNvPr>
          <p:cNvGrpSpPr/>
          <p:nvPr/>
        </p:nvGrpSpPr>
        <p:grpSpPr>
          <a:xfrm>
            <a:off x="3721700" y="2385980"/>
            <a:ext cx="775737" cy="144463"/>
            <a:chOff x="3327015" y="1527346"/>
            <a:chExt cx="775737" cy="144463"/>
          </a:xfrm>
        </p:grpSpPr>
        <p:sp>
          <p:nvSpPr>
            <p:cNvPr id="229" name="Rectangle 191">
              <a:extLst>
                <a:ext uri="{FF2B5EF4-FFF2-40B4-BE49-F238E27FC236}">
                  <a16:creationId xmlns:a16="http://schemas.microsoft.com/office/drawing/2014/main" id="{ECCE23DB-F10C-D813-8CBA-FC24F23222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4375" y="1539830"/>
              <a:ext cx="628377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다자녀가정자녀</a:t>
              </a:r>
            </a:p>
          </p:txBody>
        </p:sp>
        <p:graphicFrame>
          <p:nvGraphicFramePr>
            <p:cNvPr id="230" name="개체 229">
              <a:extLst>
                <a:ext uri="{FF2B5EF4-FFF2-40B4-BE49-F238E27FC236}">
                  <a16:creationId xmlns:a16="http://schemas.microsoft.com/office/drawing/2014/main" id="{FCA6C1D4-78EB-4A72-FBF3-F0C9C0B3597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27015" y="1527346"/>
            <a:ext cx="144462" cy="144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5" imgW="145435" imgH="145435" progId="Visio.Drawing.11">
                    <p:embed/>
                  </p:oleObj>
                </mc:Choice>
                <mc:Fallback>
                  <p:oleObj name="Visio" r:id="rId5" imgW="145435" imgH="145435" progId="Visio.Drawing.11">
                    <p:embed/>
                    <p:pic>
                      <p:nvPicPr>
                        <p:cNvPr id="230" name="개체 229">
                          <a:extLst>
                            <a:ext uri="{FF2B5EF4-FFF2-40B4-BE49-F238E27FC236}">
                              <a16:creationId xmlns:a16="http://schemas.microsoft.com/office/drawing/2014/main" id="{CD8D0FE9-D92B-8FD3-BD73-AFCF03C37CA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27015" y="1527346"/>
                          <a:ext cx="144462" cy="1444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1" name="직사각형 230">
            <a:extLst>
              <a:ext uri="{FF2B5EF4-FFF2-40B4-BE49-F238E27FC236}">
                <a16:creationId xmlns:a16="http://schemas.microsoft.com/office/drawing/2014/main" id="{F624FBD0-E5B8-FCBA-306C-C7FBA1611D39}"/>
              </a:ext>
            </a:extLst>
          </p:cNvPr>
          <p:cNvSpPr/>
          <p:nvPr/>
        </p:nvSpPr>
        <p:spPr>
          <a:xfrm>
            <a:off x="6397011" y="6391401"/>
            <a:ext cx="392727" cy="19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목록</a:t>
            </a:r>
          </a:p>
        </p:txBody>
      </p:sp>
      <p:sp>
        <p:nvSpPr>
          <p:cNvPr id="232" name="직사각형 231">
            <a:extLst>
              <a:ext uri="{FF2B5EF4-FFF2-40B4-BE49-F238E27FC236}">
                <a16:creationId xmlns:a16="http://schemas.microsoft.com/office/drawing/2014/main" id="{6A66430C-84F9-7DBA-9A47-D9CE8691F71E}"/>
              </a:ext>
            </a:extLst>
          </p:cNvPr>
          <p:cNvSpPr/>
          <p:nvPr/>
        </p:nvSpPr>
        <p:spPr>
          <a:xfrm>
            <a:off x="5936915" y="6391401"/>
            <a:ext cx="392727" cy="198000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신청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CB8AC26-820F-B3AC-C7D1-ECEE67BC2EA6}"/>
              </a:ext>
            </a:extLst>
          </p:cNvPr>
          <p:cNvSpPr/>
          <p:nvPr/>
        </p:nvSpPr>
        <p:spPr>
          <a:xfrm>
            <a:off x="2873969" y="3316875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가족관계증명서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F1F66D6-594D-F8A5-A4DD-44FC8FCB6656}"/>
              </a:ext>
            </a:extLst>
          </p:cNvPr>
          <p:cNvSpPr/>
          <p:nvPr/>
        </p:nvSpPr>
        <p:spPr>
          <a:xfrm>
            <a:off x="4526967" y="3316867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073EB28-522A-2A17-53B2-B3BFE1ADDEA9}"/>
              </a:ext>
            </a:extLst>
          </p:cNvPr>
          <p:cNvSpPr/>
          <p:nvPr/>
        </p:nvSpPr>
        <p:spPr>
          <a:xfrm>
            <a:off x="4835374" y="3316859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</a:p>
        </p:txBody>
      </p:sp>
      <p:sp>
        <p:nvSpPr>
          <p:cNvPr id="22" name="Rectangle 191">
            <a:extLst>
              <a:ext uri="{FF2B5EF4-FFF2-40B4-BE49-F238E27FC236}">
                <a16:creationId xmlns:a16="http://schemas.microsoft.com/office/drawing/2014/main" id="{F3F9F44E-187C-7CA6-656D-F3C1405A1F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1039" y="3339443"/>
            <a:ext cx="269304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자녀수</a:t>
            </a:r>
            <a:endParaRPr kumimoji="0" lang="ko-KR" altLang="en-US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52B9336-FB94-96CF-C3D7-5F0096171BAF}"/>
              </a:ext>
            </a:extLst>
          </p:cNvPr>
          <p:cNvSpPr/>
          <p:nvPr/>
        </p:nvSpPr>
        <p:spPr>
          <a:xfrm>
            <a:off x="2219071" y="3318085"/>
            <a:ext cx="36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명</a:t>
            </a:r>
          </a:p>
        </p:txBody>
      </p:sp>
      <p:sp>
        <p:nvSpPr>
          <p:cNvPr id="24" name="Rectangle 191">
            <a:extLst>
              <a:ext uri="{FF2B5EF4-FFF2-40B4-BE49-F238E27FC236}">
                <a16:creationId xmlns:a16="http://schemas.microsoft.com/office/drawing/2014/main" id="{3C1895D6-A5A4-AF3D-9E0B-5B85E01A4F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3168" y="3329642"/>
            <a:ext cx="17953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첨부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E1D4615-83E7-DDBE-E547-3D4DB2326B38}"/>
              </a:ext>
            </a:extLst>
          </p:cNvPr>
          <p:cNvSpPr/>
          <p:nvPr/>
        </p:nvSpPr>
        <p:spPr>
          <a:xfrm>
            <a:off x="2930222" y="3785690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주민등록초본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7449BAA-4AF0-EE55-DE8D-99610A027030}"/>
              </a:ext>
            </a:extLst>
          </p:cNvPr>
          <p:cNvSpPr/>
          <p:nvPr/>
        </p:nvSpPr>
        <p:spPr>
          <a:xfrm>
            <a:off x="4583220" y="3785682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C4CBAEA-B105-5E30-E284-4EE2B00E7798}"/>
              </a:ext>
            </a:extLst>
          </p:cNvPr>
          <p:cNvSpPr/>
          <p:nvPr/>
        </p:nvSpPr>
        <p:spPr>
          <a:xfrm>
            <a:off x="4891627" y="3785674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</a:p>
        </p:txBody>
      </p:sp>
      <p:sp>
        <p:nvSpPr>
          <p:cNvPr id="28" name="Rectangle 191">
            <a:extLst>
              <a:ext uri="{FF2B5EF4-FFF2-40B4-BE49-F238E27FC236}">
                <a16:creationId xmlns:a16="http://schemas.microsoft.com/office/drawing/2014/main" id="{5A6FF4C1-D072-3733-54A2-03AD5646C3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5951" y="3800966"/>
            <a:ext cx="17953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첨부</a:t>
            </a:r>
          </a:p>
        </p:txBody>
      </p:sp>
      <p:sp>
        <p:nvSpPr>
          <p:cNvPr id="29" name="Rectangle 191">
            <a:extLst>
              <a:ext uri="{FF2B5EF4-FFF2-40B4-BE49-F238E27FC236}">
                <a16:creationId xmlns:a16="http://schemas.microsoft.com/office/drawing/2014/main" id="{4C0ED059-9C0A-4F97-078F-48E2E6E951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0713" y="3801392"/>
            <a:ext cx="359073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거주기간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BBFFA07-CB63-B13F-07A8-72DEB2E2BAE5}"/>
              </a:ext>
            </a:extLst>
          </p:cNvPr>
          <p:cNvSpPr/>
          <p:nvPr/>
        </p:nvSpPr>
        <p:spPr>
          <a:xfrm>
            <a:off x="2304045" y="3780034"/>
            <a:ext cx="36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년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88BBAFD-CF36-9DEE-4BA7-E1304C6B173B}"/>
              </a:ext>
            </a:extLst>
          </p:cNvPr>
          <p:cNvSpPr/>
          <p:nvPr/>
        </p:nvSpPr>
        <p:spPr>
          <a:xfrm>
            <a:off x="2753337" y="4723777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성적증빙자료</a:t>
            </a:r>
            <a:r>
              <a:rPr kumimoji="0" lang="en-US" altLang="ko-KR" sz="7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.zip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6347F72-172B-743D-F94C-48DA778F5BC5}"/>
              </a:ext>
            </a:extLst>
          </p:cNvPr>
          <p:cNvSpPr/>
          <p:nvPr/>
        </p:nvSpPr>
        <p:spPr>
          <a:xfrm>
            <a:off x="4406335" y="4723769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485848A-E5A7-105B-8799-4B65260E7FB9}"/>
              </a:ext>
            </a:extLst>
          </p:cNvPr>
          <p:cNvSpPr/>
          <p:nvPr/>
        </p:nvSpPr>
        <p:spPr>
          <a:xfrm>
            <a:off x="4714845" y="4723769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4" name="Rectangle 191">
            <a:extLst>
              <a:ext uri="{FF2B5EF4-FFF2-40B4-BE49-F238E27FC236}">
                <a16:creationId xmlns:a16="http://schemas.microsoft.com/office/drawing/2014/main" id="{68573E25-86D3-18F5-581E-56E0F8FF41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0713" y="4745135"/>
            <a:ext cx="17953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성적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8057E5DC-DF89-7B50-4EB4-855516591C09}"/>
              </a:ext>
            </a:extLst>
          </p:cNvPr>
          <p:cNvSpPr/>
          <p:nvPr/>
        </p:nvSpPr>
        <p:spPr>
          <a:xfrm>
            <a:off x="2125347" y="4723777"/>
            <a:ext cx="36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4.5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6" name="Rectangle 191">
            <a:extLst>
              <a:ext uri="{FF2B5EF4-FFF2-40B4-BE49-F238E27FC236}">
                <a16:creationId xmlns:a16="http://schemas.microsoft.com/office/drawing/2014/main" id="{87B4A321-BA72-784A-8A84-FFAC378B38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3882" y="4745135"/>
            <a:ext cx="17953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첨부</a:t>
            </a: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4DBDC345-6EBC-7CB1-C6B8-75574074911E}"/>
              </a:ext>
            </a:extLst>
          </p:cNvPr>
          <p:cNvSpPr>
            <a:spLocks noChangeAspect="1"/>
          </p:cNvSpPr>
          <p:nvPr/>
        </p:nvSpPr>
        <p:spPr>
          <a:xfrm>
            <a:off x="4146395" y="2240868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A16C2B11-FD53-1B9C-998A-3E489714AA7B}"/>
              </a:ext>
            </a:extLst>
          </p:cNvPr>
          <p:cNvSpPr>
            <a:spLocks noChangeAspect="1"/>
          </p:cNvSpPr>
          <p:nvPr/>
        </p:nvSpPr>
        <p:spPr>
          <a:xfrm>
            <a:off x="512127" y="2853383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EC45DFA1-9EB6-B824-2D44-E25FF8CA42D7}"/>
              </a:ext>
            </a:extLst>
          </p:cNvPr>
          <p:cNvSpPr>
            <a:spLocks noChangeAspect="1"/>
          </p:cNvSpPr>
          <p:nvPr/>
        </p:nvSpPr>
        <p:spPr>
          <a:xfrm>
            <a:off x="512127" y="3066258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84E8F827-A5C2-9648-E4A2-80D815CD1EAB}"/>
              </a:ext>
            </a:extLst>
          </p:cNvPr>
          <p:cNvSpPr>
            <a:spLocks noChangeAspect="1"/>
          </p:cNvSpPr>
          <p:nvPr/>
        </p:nvSpPr>
        <p:spPr>
          <a:xfrm>
            <a:off x="512127" y="3319067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C946FDC0-4A32-EFEC-13E5-23AA14B6FDDE}"/>
              </a:ext>
            </a:extLst>
          </p:cNvPr>
          <p:cNvSpPr>
            <a:spLocks noChangeAspect="1"/>
          </p:cNvSpPr>
          <p:nvPr/>
        </p:nvSpPr>
        <p:spPr>
          <a:xfrm>
            <a:off x="512127" y="3782578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5C90280C-46B3-3D4E-03EB-A64421C4A96D}"/>
              </a:ext>
            </a:extLst>
          </p:cNvPr>
          <p:cNvSpPr>
            <a:spLocks noChangeAspect="1"/>
          </p:cNvSpPr>
          <p:nvPr/>
        </p:nvSpPr>
        <p:spPr>
          <a:xfrm>
            <a:off x="512127" y="4720410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B5FFB638-2B18-8440-09F1-849A6E016EBB}"/>
              </a:ext>
            </a:extLst>
          </p:cNvPr>
          <p:cNvGrpSpPr/>
          <p:nvPr/>
        </p:nvGrpSpPr>
        <p:grpSpPr>
          <a:xfrm>
            <a:off x="1928664" y="3081111"/>
            <a:ext cx="3660710" cy="144016"/>
            <a:chOff x="2008170" y="2687952"/>
            <a:chExt cx="3660710" cy="144016"/>
          </a:xfrm>
        </p:grpSpPr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858CB2BA-8DF6-5D19-B256-360F11852E22}"/>
                </a:ext>
              </a:extLst>
            </p:cNvPr>
            <p:cNvSpPr/>
            <p:nvPr/>
          </p:nvSpPr>
          <p:spPr>
            <a:xfrm>
              <a:off x="3443301" y="2687960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보험료납입확인서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2AED7AAD-404F-17B9-7B08-B5237E74B27F}"/>
                </a:ext>
              </a:extLst>
            </p:cNvPr>
            <p:cNvSpPr/>
            <p:nvPr/>
          </p:nvSpPr>
          <p:spPr>
            <a:xfrm>
              <a:off x="5096299" y="2687952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제출</a:t>
              </a: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9856C7B6-B381-5266-CB48-F873A62BA75C}"/>
                </a:ext>
              </a:extLst>
            </p:cNvPr>
            <p:cNvSpPr/>
            <p:nvPr/>
          </p:nvSpPr>
          <p:spPr>
            <a:xfrm>
              <a:off x="5404706" y="2687952"/>
              <a:ext cx="264174" cy="144016"/>
            </a:xfrm>
            <a:prstGeom prst="rect">
              <a:avLst/>
            </a:prstGeom>
            <a:solidFill>
              <a:srgbClr val="66FF66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받기</a:t>
              </a:r>
            </a:p>
          </p:txBody>
        </p:sp>
        <p:sp>
          <p:nvSpPr>
            <p:cNvPr id="48" name="Rectangle 191">
              <a:extLst>
                <a:ext uri="{FF2B5EF4-FFF2-40B4-BE49-F238E27FC236}">
                  <a16:creationId xmlns:a16="http://schemas.microsoft.com/office/drawing/2014/main" id="{11BD378F-6E86-D0EA-E407-6B73EF1183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1673" y="2706099"/>
              <a:ext cx="179536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첨부</a:t>
              </a:r>
            </a:p>
          </p:txBody>
        </p:sp>
        <p:sp>
          <p:nvSpPr>
            <p:cNvPr id="49" name="Rectangle 191">
              <a:extLst>
                <a:ext uri="{FF2B5EF4-FFF2-40B4-BE49-F238E27FC236}">
                  <a16:creationId xmlns:a16="http://schemas.microsoft.com/office/drawing/2014/main" id="{5E19FB6D-396F-60D5-ACF2-B3E21A0597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8170" y="2706099"/>
              <a:ext cx="750205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700" kern="0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납부액</a:t>
              </a:r>
              <a:r>
                <a:rPr lang="en-US" altLang="ko-KR" sz="700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700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부</a:t>
              </a:r>
              <a:r>
                <a:rPr lang="en-US" altLang="ko-KR" sz="700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700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모 합산</a:t>
              </a:r>
              <a:r>
                <a:rPr lang="en-US" altLang="ko-KR" sz="700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04EFD1D3-755B-F73C-CB93-199191CC185D}"/>
                </a:ext>
              </a:extLst>
            </p:cNvPr>
            <p:cNvSpPr/>
            <p:nvPr/>
          </p:nvSpPr>
          <p:spPr>
            <a:xfrm>
              <a:off x="2784941" y="2687960"/>
              <a:ext cx="432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dirty="0">
                  <a:solidFill>
                    <a:prstClr val="black">
                      <a:lumMod val="95000"/>
                      <a:lumOff val="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30,000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D68D04C3-2854-CA3A-D0AD-B7B1B46B59E5}"/>
              </a:ext>
            </a:extLst>
          </p:cNvPr>
          <p:cNvGrpSpPr/>
          <p:nvPr/>
        </p:nvGrpSpPr>
        <p:grpSpPr>
          <a:xfrm>
            <a:off x="1940815" y="2841234"/>
            <a:ext cx="3933984" cy="144016"/>
            <a:chOff x="1394306" y="2609825"/>
            <a:chExt cx="3933984" cy="144016"/>
          </a:xfrm>
        </p:grpSpPr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E123F56E-02B9-4FB4-92C9-DDF7987274E3}"/>
                </a:ext>
              </a:extLst>
            </p:cNvPr>
            <p:cNvSpPr/>
            <p:nvPr/>
          </p:nvSpPr>
          <p:spPr>
            <a:xfrm>
              <a:off x="3102711" y="2609833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지방세세목별과세증명서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.zip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C68DF70B-96CD-AA31-FE36-6F1F03A45AE5}"/>
                </a:ext>
              </a:extLst>
            </p:cNvPr>
            <p:cNvSpPr/>
            <p:nvPr/>
          </p:nvSpPr>
          <p:spPr>
            <a:xfrm>
              <a:off x="4755709" y="2609825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제출</a:t>
              </a:r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630FC0D2-50A3-0B97-9DD0-594F92CEB82D}"/>
                </a:ext>
              </a:extLst>
            </p:cNvPr>
            <p:cNvSpPr/>
            <p:nvPr/>
          </p:nvSpPr>
          <p:spPr>
            <a:xfrm>
              <a:off x="5064116" y="2609825"/>
              <a:ext cx="264174" cy="144016"/>
            </a:xfrm>
            <a:prstGeom prst="rect">
              <a:avLst/>
            </a:prstGeom>
            <a:solidFill>
              <a:srgbClr val="66FF66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받기</a:t>
              </a:r>
            </a:p>
          </p:txBody>
        </p:sp>
        <p:sp>
          <p:nvSpPr>
            <p:cNvPr id="55" name="Rectangle 191">
              <a:extLst>
                <a:ext uri="{FF2B5EF4-FFF2-40B4-BE49-F238E27FC236}">
                  <a16:creationId xmlns:a16="http://schemas.microsoft.com/office/drawing/2014/main" id="{39EDCB46-7198-5A13-7A8B-658BD7E37B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0850" y="2627972"/>
              <a:ext cx="179536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첨부</a:t>
              </a:r>
            </a:p>
          </p:txBody>
        </p:sp>
        <p:sp>
          <p:nvSpPr>
            <p:cNvPr id="56" name="Rectangle 191">
              <a:extLst>
                <a:ext uri="{FF2B5EF4-FFF2-40B4-BE49-F238E27FC236}">
                  <a16:creationId xmlns:a16="http://schemas.microsoft.com/office/drawing/2014/main" id="{E0960970-6199-0C86-80EA-A1C5FED7E2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4306" y="2627972"/>
              <a:ext cx="965008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700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재산세</a:t>
              </a:r>
              <a:r>
                <a:rPr lang="en-US" altLang="ko-KR" sz="700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700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부</a:t>
              </a:r>
              <a:r>
                <a:rPr lang="en-US" altLang="ko-KR" sz="700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700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모</a:t>
              </a:r>
              <a:r>
                <a:rPr lang="en-US" altLang="ko-KR" sz="700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700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학생 합산</a:t>
              </a:r>
              <a:r>
                <a:rPr lang="en-US" altLang="ko-KR" sz="700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E9D4DF6C-4D72-5F1B-4A07-B396A95E78A1}"/>
                </a:ext>
              </a:extLst>
            </p:cNvPr>
            <p:cNvSpPr/>
            <p:nvPr/>
          </p:nvSpPr>
          <p:spPr>
            <a:xfrm>
              <a:off x="2371417" y="2609833"/>
              <a:ext cx="4752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dirty="0">
                  <a:solidFill>
                    <a:prstClr val="black">
                      <a:lumMod val="95000"/>
                      <a:lumOff val="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200,000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2C42166A-5C0E-D088-9395-8E50851F7373}"/>
              </a:ext>
            </a:extLst>
          </p:cNvPr>
          <p:cNvGrpSpPr/>
          <p:nvPr/>
        </p:nvGrpSpPr>
        <p:grpSpPr>
          <a:xfrm>
            <a:off x="1921496" y="3547708"/>
            <a:ext cx="2704513" cy="144016"/>
            <a:chOff x="1897884" y="2847629"/>
            <a:chExt cx="2704513" cy="144016"/>
          </a:xfrm>
        </p:grpSpPr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743510BE-C904-BC46-CCD5-D195F21384B7}"/>
                </a:ext>
              </a:extLst>
            </p:cNvPr>
            <p:cNvSpPr/>
            <p:nvPr/>
          </p:nvSpPr>
          <p:spPr>
            <a:xfrm>
              <a:off x="1897884" y="2847637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추천서</a:t>
              </a:r>
              <a:r>
                <a:rPr kumimoji="0" lang="en-US" altLang="ko-KR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D05A75E8-183C-C021-0975-15AB32268FE6}"/>
                </a:ext>
              </a:extLst>
            </p:cNvPr>
            <p:cNvSpPr/>
            <p:nvPr/>
          </p:nvSpPr>
          <p:spPr>
            <a:xfrm>
              <a:off x="3550882" y="2847629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제출</a:t>
              </a: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3A065AC2-327F-F56B-B61A-32975879E190}"/>
                </a:ext>
              </a:extLst>
            </p:cNvPr>
            <p:cNvSpPr/>
            <p:nvPr/>
          </p:nvSpPr>
          <p:spPr>
            <a:xfrm>
              <a:off x="3859392" y="2847629"/>
              <a:ext cx="264174" cy="144016"/>
            </a:xfrm>
            <a:prstGeom prst="rect">
              <a:avLst/>
            </a:prstGeom>
            <a:solidFill>
              <a:srgbClr val="66FF66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63212ACD-CB8B-7804-CFA4-0202C873435E}"/>
                </a:ext>
              </a:extLst>
            </p:cNvPr>
            <p:cNvSpPr/>
            <p:nvPr/>
          </p:nvSpPr>
          <p:spPr>
            <a:xfrm>
              <a:off x="4176942" y="2847629"/>
              <a:ext cx="425455" cy="14401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양식받기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DEFA3755-4E23-6793-206A-3BB009E97188}"/>
              </a:ext>
            </a:extLst>
          </p:cNvPr>
          <p:cNvGrpSpPr/>
          <p:nvPr/>
        </p:nvGrpSpPr>
        <p:grpSpPr>
          <a:xfrm>
            <a:off x="1924086" y="5888637"/>
            <a:ext cx="2386963" cy="144016"/>
            <a:chOff x="1897884" y="4476806"/>
            <a:chExt cx="2386963" cy="144016"/>
          </a:xfrm>
        </p:grpSpPr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EAFB58BA-6390-35EB-C159-87029E3EDD2A}"/>
                </a:ext>
              </a:extLst>
            </p:cNvPr>
            <p:cNvSpPr/>
            <p:nvPr/>
          </p:nvSpPr>
          <p:spPr>
            <a:xfrm>
              <a:off x="1897884" y="4476814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C5D79C30-A42A-F5AB-9F15-322C9650BF4A}"/>
                </a:ext>
              </a:extLst>
            </p:cNvPr>
            <p:cNvSpPr/>
            <p:nvPr/>
          </p:nvSpPr>
          <p:spPr>
            <a:xfrm>
              <a:off x="3550882" y="4476806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추가</a:t>
              </a:r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445BAB6A-A003-EAE9-E8F8-3BE7E7F894B1}"/>
                </a:ext>
              </a:extLst>
            </p:cNvPr>
            <p:cNvSpPr/>
            <p:nvPr/>
          </p:nvSpPr>
          <p:spPr>
            <a:xfrm>
              <a:off x="3859392" y="4476806"/>
              <a:ext cx="425455" cy="14401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양식받기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79AAA17D-F988-7A6A-CE37-6FAC510321B2}"/>
              </a:ext>
            </a:extLst>
          </p:cNvPr>
          <p:cNvSpPr/>
          <p:nvPr/>
        </p:nvSpPr>
        <p:spPr>
          <a:xfrm>
            <a:off x="668524" y="5861394"/>
            <a:ext cx="6121214" cy="21600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A68215A3-E143-E5F9-D8BE-08F8EF988539}"/>
              </a:ext>
            </a:extLst>
          </p:cNvPr>
          <p:cNvSpPr>
            <a:spLocks noChangeAspect="1"/>
          </p:cNvSpPr>
          <p:nvPr/>
        </p:nvSpPr>
        <p:spPr>
          <a:xfrm>
            <a:off x="512127" y="5905345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0EA1BE65-1736-DFA1-8E62-23B1FE0337B3}"/>
              </a:ext>
            </a:extLst>
          </p:cNvPr>
          <p:cNvSpPr/>
          <p:nvPr/>
        </p:nvSpPr>
        <p:spPr>
          <a:xfrm>
            <a:off x="668524" y="3523531"/>
            <a:ext cx="6121214" cy="21600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D6BAC147-1615-F427-9FD2-22CABBDB21DD}"/>
              </a:ext>
            </a:extLst>
          </p:cNvPr>
          <p:cNvSpPr>
            <a:spLocks noChangeAspect="1"/>
          </p:cNvSpPr>
          <p:nvPr/>
        </p:nvSpPr>
        <p:spPr>
          <a:xfrm>
            <a:off x="512127" y="3560691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5FD89703-17A6-34F0-03A8-3B3DE2562AEB}"/>
              </a:ext>
            </a:extLst>
          </p:cNvPr>
          <p:cNvSpPr/>
          <p:nvPr/>
        </p:nvSpPr>
        <p:spPr>
          <a:xfrm>
            <a:off x="668524" y="2800431"/>
            <a:ext cx="6121214" cy="476993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599617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D6523-117E-0E88-0537-22C94B9EF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CCECC30-761D-236F-AC75-2D13EA462D4C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고등학생장학금 신청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6700F68-6C18-C3D5-E508-9A1A9C838B83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프로그램신청관리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고등학생장학금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장학금신청</a:t>
            </a: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14BCF0CB-73E0-BC8B-5117-E16F4C7D84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272243"/>
              </p:ext>
            </p:extLst>
          </p:nvPr>
        </p:nvGraphicFramePr>
        <p:xfrm>
          <a:off x="6969418" y="2548005"/>
          <a:ext cx="2772114" cy="3199939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프로그램신청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대학생장학금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조회 화면 목록에서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신청하기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클릭 시 보이는 화면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전형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다문화가정자녀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전형별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가족관계증명서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기본증명서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추천서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첨부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제출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제출 서류 파일 선택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첨부완료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받기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시 첨부된 제출 서류 파일 다운로드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양식받기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시 추천서 양식 파일을 다운 받는다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주민등록초본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거주기간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신청 회원의 거주기간을 입력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첨부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제출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제출 서류 파일 선택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첨부완료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받기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시 첨부된 제출 서류 파일 다운로드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성적증빙자료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성적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성적증빙자료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기반 성적을 직접 입력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첨부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제출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제출 서류 파일 선택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첨부완료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받기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시 첨부된 제출 서류 파일 다운로드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첨부파일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추가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] : 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추가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파일 선택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첨부 설정완료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파일받기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파일명 클릭 시 첨부된 파일 다운로드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[x]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 첨부된 해당 파일 삭제 처리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양식받기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시 추천서 양식 파일을 다운 받는다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5397627C-DE76-7C11-09D9-2BE7DEB69F57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pau_application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6E8C312-C7E9-EDCC-8FB0-C6EEFB29623C}"/>
              </a:ext>
            </a:extLst>
          </p:cNvPr>
          <p:cNvSpPr/>
          <p:nvPr/>
        </p:nvSpPr>
        <p:spPr>
          <a:xfrm>
            <a:off x="165100" y="1376363"/>
            <a:ext cx="6732116" cy="5113337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89DA65A-BCB0-9DEA-9046-CDE1ED0844C5}"/>
              </a:ext>
            </a:extLst>
          </p:cNvPr>
          <p:cNvSpPr/>
          <p:nvPr/>
        </p:nvSpPr>
        <p:spPr>
          <a:xfrm>
            <a:off x="292846" y="1448780"/>
            <a:ext cx="1099660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800" b="1" dirty="0">
                <a:solidFill>
                  <a:prstClr val="black"/>
                </a:solidFill>
              </a:rPr>
              <a:t>대학생 장학금 신청정보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2A88B87-FEAA-C24A-EED4-DA9B6A4C81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413174"/>
              </p:ext>
            </p:extLst>
          </p:nvPr>
        </p:nvGraphicFramePr>
        <p:xfrm>
          <a:off x="272480" y="1628800"/>
          <a:ext cx="6517258" cy="44599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054">
                  <a:extLst>
                    <a:ext uri="{9D8B030D-6E8A-4147-A177-3AD203B41FA5}">
                      <a16:colId xmlns:a16="http://schemas.microsoft.com/office/drawing/2014/main" val="3668863434"/>
                    </a:ext>
                  </a:extLst>
                </a:gridCol>
                <a:gridCol w="4921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구분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대학생 장학금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894265"/>
                  </a:ext>
                </a:extLst>
              </a:tr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</a:t>
                      </a:r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하반기 대학생 장학금 신청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접수기간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2025.09.20 10:00 </a:t>
                      </a:r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~ 2025.09.30 10:00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4735">
                <a:tc rowSpan="2"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전형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4735">
                <a:tc gridSpan="2"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1090955"/>
                  </a:ext>
                </a:extLst>
              </a:tr>
              <a:tr h="234735">
                <a:tc row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전형별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가족관계증명서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2230354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기본증명서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1414596"/>
                  </a:ext>
                </a:extLst>
              </a:tr>
              <a:tr h="234735">
                <a:tc rowSpan="1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공통 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추천서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주민등록초본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1958612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주민등록등본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164179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재학증명서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799673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고등학교 졸업증명서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3894158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성적증빙자료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037610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국민기초생활보장수급자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차상위계층확인서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한부모가족보호대상확인서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장애인증명서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첨부파일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8089092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8418894"/>
                  </a:ext>
                </a:extLst>
              </a:tr>
            </a:tbl>
          </a:graphicData>
        </a:graphic>
      </p:graphicFrame>
      <p:grpSp>
        <p:nvGrpSpPr>
          <p:cNvPr id="90" name="그룹 89">
            <a:extLst>
              <a:ext uri="{FF2B5EF4-FFF2-40B4-BE49-F238E27FC236}">
                <a16:creationId xmlns:a16="http://schemas.microsoft.com/office/drawing/2014/main" id="{231D7BCD-8D51-0BFE-9831-69CEFEABDE5B}"/>
              </a:ext>
            </a:extLst>
          </p:cNvPr>
          <p:cNvGrpSpPr/>
          <p:nvPr/>
        </p:nvGrpSpPr>
        <p:grpSpPr>
          <a:xfrm>
            <a:off x="2476954" y="2380094"/>
            <a:ext cx="505750" cy="144462"/>
            <a:chOff x="2716253" y="2405617"/>
            <a:chExt cx="505750" cy="144462"/>
          </a:xfrm>
        </p:grpSpPr>
        <p:sp>
          <p:nvSpPr>
            <p:cNvPr id="91" name="Rectangle 191">
              <a:extLst>
                <a:ext uri="{FF2B5EF4-FFF2-40B4-BE49-F238E27FC236}">
                  <a16:creationId xmlns:a16="http://schemas.microsoft.com/office/drawing/2014/main" id="{52CD3A12-9505-3546-EC7D-36A00DD22E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359073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희망인재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graphicFrame>
          <p:nvGraphicFramePr>
            <p:cNvPr id="92" name="개체 91">
              <a:extLst>
                <a:ext uri="{FF2B5EF4-FFF2-40B4-BE49-F238E27FC236}">
                  <a16:creationId xmlns:a16="http://schemas.microsoft.com/office/drawing/2014/main" id="{4A5B2703-88BC-D261-25C4-44E8E8AB859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2" imgW="145435" imgH="145435" progId="Visio.Drawing.11">
                    <p:embed/>
                  </p:oleObj>
                </mc:Choice>
                <mc:Fallback>
                  <p:oleObj name="Visio" r:id="rId2" imgW="145435" imgH="145435" progId="Visio.Drawing.11">
                    <p:embed/>
                    <p:pic>
                      <p:nvPicPr>
                        <p:cNvPr id="7" name="개체 6">
                          <a:extLst>
                            <a:ext uri="{FF2B5EF4-FFF2-40B4-BE49-F238E27FC236}">
                              <a16:creationId xmlns:a16="http://schemas.microsoft.com/office/drawing/2014/main" id="{4A5B2703-88BC-D261-25C4-44E8E8AB859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8AE52863-AF66-BB78-A10A-DCA92EA9BE5E}"/>
              </a:ext>
            </a:extLst>
          </p:cNvPr>
          <p:cNvGrpSpPr/>
          <p:nvPr/>
        </p:nvGrpSpPr>
        <p:grpSpPr>
          <a:xfrm>
            <a:off x="3704047" y="2380094"/>
            <a:ext cx="775054" cy="144462"/>
            <a:chOff x="2716253" y="2405617"/>
            <a:chExt cx="775054" cy="144462"/>
          </a:xfrm>
        </p:grpSpPr>
        <p:sp>
          <p:nvSpPr>
            <p:cNvPr id="94" name="Rectangle 191">
              <a:extLst>
                <a:ext uri="{FF2B5EF4-FFF2-40B4-BE49-F238E27FC236}">
                  <a16:creationId xmlns:a16="http://schemas.microsoft.com/office/drawing/2014/main" id="{66141200-42EF-CA82-CEFB-EACE87319F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628377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다자녀가정자녀</a:t>
              </a:r>
            </a:p>
          </p:txBody>
        </p:sp>
        <p:graphicFrame>
          <p:nvGraphicFramePr>
            <p:cNvPr id="95" name="개체 94">
              <a:extLst>
                <a:ext uri="{FF2B5EF4-FFF2-40B4-BE49-F238E27FC236}">
                  <a16:creationId xmlns:a16="http://schemas.microsoft.com/office/drawing/2014/main" id="{5A68ACAB-0D60-B527-87B6-181FB1EAD3E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2" imgW="145435" imgH="145435" progId="Visio.Drawing.11">
                    <p:embed/>
                  </p:oleObj>
                </mc:Choice>
                <mc:Fallback>
                  <p:oleObj name="Visio" r:id="rId2" imgW="145435" imgH="145435" progId="Visio.Drawing.11">
                    <p:embed/>
                    <p:pic>
                      <p:nvPicPr>
                        <p:cNvPr id="10" name="개체 9">
                          <a:extLst>
                            <a:ext uri="{FF2B5EF4-FFF2-40B4-BE49-F238E27FC236}">
                              <a16:creationId xmlns:a16="http://schemas.microsoft.com/office/drawing/2014/main" id="{5A68ACAB-0D60-B527-87B6-181FB1EAD3E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909B71EB-1EF0-4913-AF70-63F33928E090}"/>
              </a:ext>
            </a:extLst>
          </p:cNvPr>
          <p:cNvSpPr/>
          <p:nvPr/>
        </p:nvSpPr>
        <p:spPr>
          <a:xfrm>
            <a:off x="1900611" y="4720952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dirty="0" err="1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국민기초생활보장수급자</a:t>
            </a:r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17545913-A9C3-E9E1-ED57-AD232EBD0454}"/>
              </a:ext>
            </a:extLst>
          </p:cNvPr>
          <p:cNvSpPr/>
          <p:nvPr/>
        </p:nvSpPr>
        <p:spPr>
          <a:xfrm>
            <a:off x="3553609" y="4720944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E37BDE65-39B9-10E7-C375-06EFD07B41EA}"/>
              </a:ext>
            </a:extLst>
          </p:cNvPr>
          <p:cNvSpPr/>
          <p:nvPr/>
        </p:nvSpPr>
        <p:spPr>
          <a:xfrm>
            <a:off x="1900611" y="4961896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차상위계층확인서</a:t>
            </a:r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0D5EDE66-7351-9D0F-8592-9A8D1D14D56A}"/>
              </a:ext>
            </a:extLst>
          </p:cNvPr>
          <p:cNvSpPr/>
          <p:nvPr/>
        </p:nvSpPr>
        <p:spPr>
          <a:xfrm>
            <a:off x="3553609" y="4961888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FCB0EFDD-F815-CD30-990E-C6F04564F091}"/>
              </a:ext>
            </a:extLst>
          </p:cNvPr>
          <p:cNvSpPr/>
          <p:nvPr/>
        </p:nvSpPr>
        <p:spPr>
          <a:xfrm>
            <a:off x="1900611" y="5191148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8D5BE32B-4C07-E3A7-7CBB-6E53C0719BCC}"/>
              </a:ext>
            </a:extLst>
          </p:cNvPr>
          <p:cNvSpPr/>
          <p:nvPr/>
        </p:nvSpPr>
        <p:spPr>
          <a:xfrm>
            <a:off x="3553609" y="5191140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AB67A1DC-7D8C-5CAE-1FD3-41BE97FBA72F}"/>
              </a:ext>
            </a:extLst>
          </p:cNvPr>
          <p:cNvSpPr/>
          <p:nvPr/>
        </p:nvSpPr>
        <p:spPr>
          <a:xfrm>
            <a:off x="1900611" y="5425130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A1ABFE1A-07F1-82E5-4789-87F2E4D13AEB}"/>
              </a:ext>
            </a:extLst>
          </p:cNvPr>
          <p:cNvSpPr/>
          <p:nvPr/>
        </p:nvSpPr>
        <p:spPr>
          <a:xfrm>
            <a:off x="3553609" y="5425122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BB2E6432-C542-9D4E-C58F-2C592E5C29EA}"/>
              </a:ext>
            </a:extLst>
          </p:cNvPr>
          <p:cNvGrpSpPr/>
          <p:nvPr/>
        </p:nvGrpSpPr>
        <p:grpSpPr>
          <a:xfrm>
            <a:off x="1935892" y="5924696"/>
            <a:ext cx="1105196" cy="128396"/>
            <a:chOff x="3438680" y="4305150"/>
            <a:chExt cx="1105196" cy="128396"/>
          </a:xfrm>
        </p:grpSpPr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6C0E5BB0-A491-10A9-DF3D-C70D29D0D9AC}"/>
                </a:ext>
              </a:extLst>
            </p:cNvPr>
            <p:cNvSpPr txBox="1"/>
            <p:nvPr/>
          </p:nvSpPr>
          <p:spPr>
            <a:xfrm>
              <a:off x="3438680" y="4305150"/>
              <a:ext cx="971420" cy="10772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신청 관련 부가 서류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12" name="Picture 10">
              <a:extLst>
                <a:ext uri="{FF2B5EF4-FFF2-40B4-BE49-F238E27FC236}">
                  <a16:creationId xmlns:a16="http://schemas.microsoft.com/office/drawing/2014/main" id="{8A54BAD9-8146-B851-49B1-04DC6A4788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7418" y="4312303"/>
              <a:ext cx="106458" cy="121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B2697AE0-D578-6897-045A-D77B3F7B1B82}"/>
              </a:ext>
            </a:extLst>
          </p:cNvPr>
          <p:cNvGrpSpPr/>
          <p:nvPr/>
        </p:nvGrpSpPr>
        <p:grpSpPr>
          <a:xfrm>
            <a:off x="3122305" y="5924696"/>
            <a:ext cx="1105196" cy="128396"/>
            <a:chOff x="3438680" y="4305150"/>
            <a:chExt cx="1105196" cy="128396"/>
          </a:xfrm>
        </p:grpSpPr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C9F73E6B-A1D8-880E-F427-3F258F663429}"/>
                </a:ext>
              </a:extLst>
            </p:cNvPr>
            <p:cNvSpPr txBox="1"/>
            <p:nvPr/>
          </p:nvSpPr>
          <p:spPr>
            <a:xfrm>
              <a:off x="3438680" y="4305150"/>
              <a:ext cx="971420" cy="10772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신청 관련 부가 서류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15" name="Picture 10">
              <a:extLst>
                <a:ext uri="{FF2B5EF4-FFF2-40B4-BE49-F238E27FC236}">
                  <a16:creationId xmlns:a16="http://schemas.microsoft.com/office/drawing/2014/main" id="{AEE2DA04-4EDB-D1C8-65F0-6FBB61E132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7418" y="4312303"/>
              <a:ext cx="106458" cy="121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89B936F2-74BD-6609-F67B-45130741FAA1}"/>
              </a:ext>
            </a:extLst>
          </p:cNvPr>
          <p:cNvGrpSpPr/>
          <p:nvPr/>
        </p:nvGrpSpPr>
        <p:grpSpPr>
          <a:xfrm>
            <a:off x="1900611" y="3775869"/>
            <a:ext cx="2225682" cy="145176"/>
            <a:chOff x="3327015" y="2690196"/>
            <a:chExt cx="2225682" cy="145176"/>
          </a:xfrm>
        </p:grpSpPr>
        <p:sp>
          <p:nvSpPr>
            <p:cNvPr id="119" name="직사각형 118">
              <a:extLst>
                <a:ext uri="{FF2B5EF4-FFF2-40B4-BE49-F238E27FC236}">
                  <a16:creationId xmlns:a16="http://schemas.microsoft.com/office/drawing/2014/main" id="{E6F03E86-7860-366F-00DB-1480398EBC9F}"/>
                </a:ext>
              </a:extLst>
            </p:cNvPr>
            <p:cNvSpPr/>
            <p:nvPr/>
          </p:nvSpPr>
          <p:spPr>
            <a:xfrm>
              <a:off x="3327015" y="2691364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주민등록등본</a:t>
              </a:r>
              <a:r>
                <a:rPr kumimoji="0" lang="en-US" altLang="ko-KR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20" name="직사각형 119">
              <a:extLst>
                <a:ext uri="{FF2B5EF4-FFF2-40B4-BE49-F238E27FC236}">
                  <a16:creationId xmlns:a16="http://schemas.microsoft.com/office/drawing/2014/main" id="{7B32CCC9-6584-21C9-5FE2-AA8946814147}"/>
                </a:ext>
              </a:extLst>
            </p:cNvPr>
            <p:cNvSpPr/>
            <p:nvPr/>
          </p:nvSpPr>
          <p:spPr>
            <a:xfrm>
              <a:off x="4980013" y="2691356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제출</a:t>
              </a:r>
            </a:p>
          </p:txBody>
        </p:sp>
        <p:sp>
          <p:nvSpPr>
            <p:cNvPr id="121" name="직사각형 120">
              <a:extLst>
                <a:ext uri="{FF2B5EF4-FFF2-40B4-BE49-F238E27FC236}">
                  <a16:creationId xmlns:a16="http://schemas.microsoft.com/office/drawing/2014/main" id="{28941B19-DA1F-909C-218B-364AD1FE15C7}"/>
                </a:ext>
              </a:extLst>
            </p:cNvPr>
            <p:cNvSpPr/>
            <p:nvPr/>
          </p:nvSpPr>
          <p:spPr>
            <a:xfrm>
              <a:off x="5288523" y="2690196"/>
              <a:ext cx="264174" cy="144016"/>
            </a:xfrm>
            <a:prstGeom prst="rect">
              <a:avLst/>
            </a:prstGeom>
            <a:solidFill>
              <a:srgbClr val="66FF66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67" name="직사각형 166">
            <a:extLst>
              <a:ext uri="{FF2B5EF4-FFF2-40B4-BE49-F238E27FC236}">
                <a16:creationId xmlns:a16="http://schemas.microsoft.com/office/drawing/2014/main" id="{0FB4FC2B-6342-C046-1E0C-62F2030DE75C}"/>
              </a:ext>
            </a:extLst>
          </p:cNvPr>
          <p:cNvSpPr/>
          <p:nvPr/>
        </p:nvSpPr>
        <p:spPr>
          <a:xfrm>
            <a:off x="3862119" y="4720985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63D80BF3-1931-B2E9-8FBE-8FFC9978ABED}"/>
              </a:ext>
            </a:extLst>
          </p:cNvPr>
          <p:cNvSpPr/>
          <p:nvPr/>
        </p:nvSpPr>
        <p:spPr>
          <a:xfrm>
            <a:off x="3862119" y="4961270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9" name="직사각형 168">
            <a:extLst>
              <a:ext uri="{FF2B5EF4-FFF2-40B4-BE49-F238E27FC236}">
                <a16:creationId xmlns:a16="http://schemas.microsoft.com/office/drawing/2014/main" id="{8639B12C-E2B2-DCD9-5739-A85F9537BAB4}"/>
              </a:ext>
            </a:extLst>
          </p:cNvPr>
          <p:cNvSpPr/>
          <p:nvPr/>
        </p:nvSpPr>
        <p:spPr>
          <a:xfrm>
            <a:off x="3862119" y="5185245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6D4107B9-FE7D-347C-68EF-3D8A79B48E1A}"/>
              </a:ext>
            </a:extLst>
          </p:cNvPr>
          <p:cNvSpPr/>
          <p:nvPr/>
        </p:nvSpPr>
        <p:spPr>
          <a:xfrm>
            <a:off x="3862119" y="5426990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71" name="그룹 170">
            <a:extLst>
              <a:ext uri="{FF2B5EF4-FFF2-40B4-BE49-F238E27FC236}">
                <a16:creationId xmlns:a16="http://schemas.microsoft.com/office/drawing/2014/main" id="{45FE45AD-0798-DC19-2993-C893479C474A}"/>
              </a:ext>
            </a:extLst>
          </p:cNvPr>
          <p:cNvGrpSpPr/>
          <p:nvPr/>
        </p:nvGrpSpPr>
        <p:grpSpPr>
          <a:xfrm>
            <a:off x="1916158" y="2621541"/>
            <a:ext cx="1394613" cy="144462"/>
            <a:chOff x="2415444" y="3432217"/>
            <a:chExt cx="1394613" cy="144462"/>
          </a:xfrm>
        </p:grpSpPr>
        <p:sp>
          <p:nvSpPr>
            <p:cNvPr id="172" name="Rectangle 191">
              <a:extLst>
                <a:ext uri="{FF2B5EF4-FFF2-40B4-BE49-F238E27FC236}">
                  <a16:creationId xmlns:a16="http://schemas.microsoft.com/office/drawing/2014/main" id="{7746C4FE-1344-36C1-A979-CDD7FEB04D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5444" y="3444195"/>
              <a:ext cx="1394613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지역인재육성</a:t>
              </a: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(                         )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173" name="그룹 172">
              <a:extLst>
                <a:ext uri="{FF2B5EF4-FFF2-40B4-BE49-F238E27FC236}">
                  <a16:creationId xmlns:a16="http://schemas.microsoft.com/office/drawing/2014/main" id="{BA24A29B-765F-98FD-201A-BD0BE07D281A}"/>
                </a:ext>
              </a:extLst>
            </p:cNvPr>
            <p:cNvGrpSpPr/>
            <p:nvPr/>
          </p:nvGrpSpPr>
          <p:grpSpPr>
            <a:xfrm>
              <a:off x="3332820" y="3432217"/>
              <a:ext cx="408030" cy="144462"/>
              <a:chOff x="2716253" y="2405617"/>
              <a:chExt cx="408030" cy="144462"/>
            </a:xfrm>
          </p:grpSpPr>
          <p:sp>
            <p:nvSpPr>
              <p:cNvPr id="177" name="Rectangle 191">
                <a:extLst>
                  <a:ext uri="{FF2B5EF4-FFF2-40B4-BE49-F238E27FC236}">
                    <a16:creationId xmlns:a16="http://schemas.microsoft.com/office/drawing/2014/main" id="{AF450856-55FF-85F3-51E5-F4E5D4500E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54979" y="2416036"/>
                <a:ext cx="269304" cy="10772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EAEAEA"/>
                    </a:solidFill>
                  </a14:hiddenFill>
                </a:ext>
                <a:ext uri="{91240B29-F687-4F45-9708-019B960494DF}">
                  <a14:hiddenLine xmlns:a14="http://schemas.microsoft.com/office/drawing/2010/main" w="635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7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만학도</a:t>
                </a:r>
                <a:endPara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graphicFrame>
            <p:nvGraphicFramePr>
              <p:cNvPr id="178" name="개체 177">
                <a:extLst>
                  <a:ext uri="{FF2B5EF4-FFF2-40B4-BE49-F238E27FC236}">
                    <a16:creationId xmlns:a16="http://schemas.microsoft.com/office/drawing/2014/main" id="{BA87B220-A435-5071-C26D-989E3D566B4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716253" y="2405617"/>
              <a:ext cx="144462" cy="1444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Visio" r:id="rId2" imgW="145435" imgH="145435" progId="Visio.Drawing.11">
                      <p:embed/>
                    </p:oleObj>
                  </mc:Choice>
                  <mc:Fallback>
                    <p:oleObj name="Visio" r:id="rId2" imgW="145435" imgH="145435" progId="Visio.Drawing.11">
                      <p:embed/>
                      <p:pic>
                        <p:nvPicPr>
                          <p:cNvPr id="58" name="개체 57">
                            <a:extLst>
                              <a:ext uri="{FF2B5EF4-FFF2-40B4-BE49-F238E27FC236}">
                                <a16:creationId xmlns:a16="http://schemas.microsoft.com/office/drawing/2014/main" id="{BA87B220-A435-5071-C26D-989E3D566B43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16253" y="2405617"/>
                            <a:ext cx="144462" cy="1444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EAEAEA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6350" algn="ctr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74" name="그룹 173">
              <a:extLst>
                <a:ext uri="{FF2B5EF4-FFF2-40B4-BE49-F238E27FC236}">
                  <a16:creationId xmlns:a16="http://schemas.microsoft.com/office/drawing/2014/main" id="{2A0D1417-3503-99DC-EF40-CEC6E1254015}"/>
                </a:ext>
              </a:extLst>
            </p:cNvPr>
            <p:cNvGrpSpPr/>
            <p:nvPr/>
          </p:nvGrpSpPr>
          <p:grpSpPr>
            <a:xfrm>
              <a:off x="3000833" y="3432217"/>
              <a:ext cx="318262" cy="144462"/>
              <a:chOff x="2716253" y="2405617"/>
              <a:chExt cx="318262" cy="144462"/>
            </a:xfrm>
          </p:grpSpPr>
          <p:sp>
            <p:nvSpPr>
              <p:cNvPr id="175" name="Rectangle 191">
                <a:extLst>
                  <a:ext uri="{FF2B5EF4-FFF2-40B4-BE49-F238E27FC236}">
                    <a16:creationId xmlns:a16="http://schemas.microsoft.com/office/drawing/2014/main" id="{31899664-3848-B047-D1CD-D37153BEC6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54979" y="2416036"/>
                <a:ext cx="179536" cy="10772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EAEAEA"/>
                    </a:solidFill>
                  </a14:hiddenFill>
                </a:ext>
                <a:ext uri="{91240B29-F687-4F45-9708-019B960494DF}">
                  <a14:hiddenLine xmlns:a14="http://schemas.microsoft.com/office/drawing/2010/main" w="635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7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일반</a:t>
                </a:r>
              </a:p>
            </p:txBody>
          </p:sp>
          <p:graphicFrame>
            <p:nvGraphicFramePr>
              <p:cNvPr id="176" name="개체 175">
                <a:extLst>
                  <a:ext uri="{FF2B5EF4-FFF2-40B4-BE49-F238E27FC236}">
                    <a16:creationId xmlns:a16="http://schemas.microsoft.com/office/drawing/2014/main" id="{701E35AC-93BF-5CE5-40E3-8A44F69CA44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716253" y="2405617"/>
              <a:ext cx="144462" cy="1444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Visio" r:id="rId2" imgW="145435" imgH="145435" progId="Visio.Drawing.11">
                      <p:embed/>
                    </p:oleObj>
                  </mc:Choice>
                  <mc:Fallback>
                    <p:oleObj name="Visio" r:id="rId2" imgW="145435" imgH="145435" progId="Visio.Drawing.11">
                      <p:embed/>
                      <p:pic>
                        <p:nvPicPr>
                          <p:cNvPr id="56" name="개체 55">
                            <a:extLst>
                              <a:ext uri="{FF2B5EF4-FFF2-40B4-BE49-F238E27FC236}">
                                <a16:creationId xmlns:a16="http://schemas.microsoft.com/office/drawing/2014/main" id="{701E35AC-93BF-5CE5-40E3-8A44F69CA44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16253" y="2405617"/>
                            <a:ext cx="144462" cy="1444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EAEAEA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6350" algn="ctr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179" name="그룹 178">
            <a:extLst>
              <a:ext uri="{FF2B5EF4-FFF2-40B4-BE49-F238E27FC236}">
                <a16:creationId xmlns:a16="http://schemas.microsoft.com/office/drawing/2014/main" id="{3B8A5813-BE4D-0F1E-DF98-D5AA12002EBE}"/>
              </a:ext>
            </a:extLst>
          </p:cNvPr>
          <p:cNvGrpSpPr/>
          <p:nvPr/>
        </p:nvGrpSpPr>
        <p:grpSpPr>
          <a:xfrm>
            <a:off x="1900611" y="4015459"/>
            <a:ext cx="2225682" cy="145176"/>
            <a:chOff x="3327015" y="2690196"/>
            <a:chExt cx="2225682" cy="145176"/>
          </a:xfrm>
        </p:grpSpPr>
        <p:sp>
          <p:nvSpPr>
            <p:cNvPr id="180" name="직사각형 179">
              <a:extLst>
                <a:ext uri="{FF2B5EF4-FFF2-40B4-BE49-F238E27FC236}">
                  <a16:creationId xmlns:a16="http://schemas.microsoft.com/office/drawing/2014/main" id="{5F15A2BF-E75E-D3A8-F2C2-2E4505634194}"/>
                </a:ext>
              </a:extLst>
            </p:cNvPr>
            <p:cNvSpPr/>
            <p:nvPr/>
          </p:nvSpPr>
          <p:spPr>
            <a:xfrm>
              <a:off x="3327015" y="2691364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재학증명서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1" name="직사각형 180">
              <a:extLst>
                <a:ext uri="{FF2B5EF4-FFF2-40B4-BE49-F238E27FC236}">
                  <a16:creationId xmlns:a16="http://schemas.microsoft.com/office/drawing/2014/main" id="{EB1F1563-5B7F-997B-6B61-12BABB152E6C}"/>
                </a:ext>
              </a:extLst>
            </p:cNvPr>
            <p:cNvSpPr/>
            <p:nvPr/>
          </p:nvSpPr>
          <p:spPr>
            <a:xfrm>
              <a:off x="4980013" y="2691356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제출</a:t>
              </a:r>
            </a:p>
          </p:txBody>
        </p:sp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3BE39BDD-BB04-3E34-8E81-7A8F13C88C7E}"/>
                </a:ext>
              </a:extLst>
            </p:cNvPr>
            <p:cNvSpPr/>
            <p:nvPr/>
          </p:nvSpPr>
          <p:spPr>
            <a:xfrm>
              <a:off x="5288523" y="2690196"/>
              <a:ext cx="264174" cy="144016"/>
            </a:xfrm>
            <a:prstGeom prst="rect">
              <a:avLst/>
            </a:prstGeom>
            <a:solidFill>
              <a:srgbClr val="66FF66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83" name="그룹 182">
            <a:extLst>
              <a:ext uri="{FF2B5EF4-FFF2-40B4-BE49-F238E27FC236}">
                <a16:creationId xmlns:a16="http://schemas.microsoft.com/office/drawing/2014/main" id="{9D184BD4-7F4D-23B9-C291-6BEEE26BAA2D}"/>
              </a:ext>
            </a:extLst>
          </p:cNvPr>
          <p:cNvGrpSpPr/>
          <p:nvPr/>
        </p:nvGrpSpPr>
        <p:grpSpPr>
          <a:xfrm>
            <a:off x="1900611" y="4252681"/>
            <a:ext cx="2225682" cy="145176"/>
            <a:chOff x="3327015" y="2690196"/>
            <a:chExt cx="2225682" cy="145176"/>
          </a:xfrm>
        </p:grpSpPr>
        <p:sp>
          <p:nvSpPr>
            <p:cNvPr id="184" name="직사각형 183">
              <a:extLst>
                <a:ext uri="{FF2B5EF4-FFF2-40B4-BE49-F238E27FC236}">
                  <a16:creationId xmlns:a16="http://schemas.microsoft.com/office/drawing/2014/main" id="{D94406BC-4798-E545-C3A0-DE9DC64FD20D}"/>
                </a:ext>
              </a:extLst>
            </p:cNvPr>
            <p:cNvSpPr/>
            <p:nvPr/>
          </p:nvSpPr>
          <p:spPr>
            <a:xfrm>
              <a:off x="3327015" y="2691364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고등학교졸업증명서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5" name="직사각형 184">
              <a:extLst>
                <a:ext uri="{FF2B5EF4-FFF2-40B4-BE49-F238E27FC236}">
                  <a16:creationId xmlns:a16="http://schemas.microsoft.com/office/drawing/2014/main" id="{734F90F4-8CA1-E3F5-F027-3979751B2E86}"/>
                </a:ext>
              </a:extLst>
            </p:cNvPr>
            <p:cNvSpPr/>
            <p:nvPr/>
          </p:nvSpPr>
          <p:spPr>
            <a:xfrm>
              <a:off x="4980013" y="2691356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제출</a:t>
              </a:r>
            </a:p>
          </p:txBody>
        </p:sp>
        <p:sp>
          <p:nvSpPr>
            <p:cNvPr id="186" name="직사각형 185">
              <a:extLst>
                <a:ext uri="{FF2B5EF4-FFF2-40B4-BE49-F238E27FC236}">
                  <a16:creationId xmlns:a16="http://schemas.microsoft.com/office/drawing/2014/main" id="{B68FCA00-F203-E519-0032-3D4972E0BE06}"/>
                </a:ext>
              </a:extLst>
            </p:cNvPr>
            <p:cNvSpPr/>
            <p:nvPr/>
          </p:nvSpPr>
          <p:spPr>
            <a:xfrm>
              <a:off x="5288523" y="2690196"/>
              <a:ext cx="264174" cy="144016"/>
            </a:xfrm>
            <a:prstGeom prst="rect">
              <a:avLst/>
            </a:prstGeom>
            <a:solidFill>
              <a:srgbClr val="66FF66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91" name="그룹 190">
            <a:extLst>
              <a:ext uri="{FF2B5EF4-FFF2-40B4-BE49-F238E27FC236}">
                <a16:creationId xmlns:a16="http://schemas.microsoft.com/office/drawing/2014/main" id="{67F772DC-BCF6-7D45-DA1D-06A85F8C00C7}"/>
              </a:ext>
            </a:extLst>
          </p:cNvPr>
          <p:cNvGrpSpPr/>
          <p:nvPr/>
        </p:nvGrpSpPr>
        <p:grpSpPr>
          <a:xfrm>
            <a:off x="1901127" y="2380094"/>
            <a:ext cx="505750" cy="144462"/>
            <a:chOff x="2716253" y="2405617"/>
            <a:chExt cx="505750" cy="144462"/>
          </a:xfrm>
        </p:grpSpPr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19A257F0-1759-B7A8-B90C-F828329902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359073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우수인재</a:t>
              </a:r>
            </a:p>
          </p:txBody>
        </p:sp>
        <p:graphicFrame>
          <p:nvGraphicFramePr>
            <p:cNvPr id="195" name="개체 194">
              <a:extLst>
                <a:ext uri="{FF2B5EF4-FFF2-40B4-BE49-F238E27FC236}">
                  <a16:creationId xmlns:a16="http://schemas.microsoft.com/office/drawing/2014/main" id="{0A3DC7C9-44D0-2C67-81BD-EB213FBFE7F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2" imgW="145435" imgH="145435" progId="Visio.Drawing.11">
                    <p:embed/>
                  </p:oleObj>
                </mc:Choice>
                <mc:Fallback>
                  <p:oleObj name="Visio" r:id="rId2" imgW="145435" imgH="145435" progId="Visio.Drawing.11">
                    <p:embed/>
                    <p:pic>
                      <p:nvPicPr>
                        <p:cNvPr id="73" name="개체 72">
                          <a:extLst>
                            <a:ext uri="{FF2B5EF4-FFF2-40B4-BE49-F238E27FC236}">
                              <a16:creationId xmlns:a16="http://schemas.microsoft.com/office/drawing/2014/main" id="{0A3DC7C9-44D0-2C67-81BD-EB213FBFE7F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6" name="직사각형 195">
            <a:extLst>
              <a:ext uri="{FF2B5EF4-FFF2-40B4-BE49-F238E27FC236}">
                <a16:creationId xmlns:a16="http://schemas.microsoft.com/office/drawing/2014/main" id="{C6A6E038-EA5B-FA07-6287-88F438F70F79}"/>
              </a:ext>
            </a:extLst>
          </p:cNvPr>
          <p:cNvSpPr/>
          <p:nvPr/>
        </p:nvSpPr>
        <p:spPr>
          <a:xfrm>
            <a:off x="1900611" y="2847482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가족관계증명서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2" name="직사각형 211">
            <a:extLst>
              <a:ext uri="{FF2B5EF4-FFF2-40B4-BE49-F238E27FC236}">
                <a16:creationId xmlns:a16="http://schemas.microsoft.com/office/drawing/2014/main" id="{5A0FFBFD-E6DA-D2E8-838D-6F472E71CB6F}"/>
              </a:ext>
            </a:extLst>
          </p:cNvPr>
          <p:cNvSpPr/>
          <p:nvPr/>
        </p:nvSpPr>
        <p:spPr>
          <a:xfrm>
            <a:off x="3553609" y="2847474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213" name="직사각형 212">
            <a:extLst>
              <a:ext uri="{FF2B5EF4-FFF2-40B4-BE49-F238E27FC236}">
                <a16:creationId xmlns:a16="http://schemas.microsoft.com/office/drawing/2014/main" id="{E3B530F2-8EC2-5073-5A4F-198D7559DB05}"/>
              </a:ext>
            </a:extLst>
          </p:cNvPr>
          <p:cNvSpPr/>
          <p:nvPr/>
        </p:nvSpPr>
        <p:spPr>
          <a:xfrm>
            <a:off x="3862119" y="2847474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48374F4E-746B-C75C-349B-117E950EED35}"/>
              </a:ext>
            </a:extLst>
          </p:cNvPr>
          <p:cNvSpPr/>
          <p:nvPr/>
        </p:nvSpPr>
        <p:spPr>
          <a:xfrm>
            <a:off x="1900611" y="3075657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기본증명서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7" name="직사각형 216">
            <a:extLst>
              <a:ext uri="{FF2B5EF4-FFF2-40B4-BE49-F238E27FC236}">
                <a16:creationId xmlns:a16="http://schemas.microsoft.com/office/drawing/2014/main" id="{07CBBDE0-9A2B-EECE-536E-B6E5AE4B8BD3}"/>
              </a:ext>
            </a:extLst>
          </p:cNvPr>
          <p:cNvSpPr/>
          <p:nvPr/>
        </p:nvSpPr>
        <p:spPr>
          <a:xfrm>
            <a:off x="3553609" y="3075649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218" name="직사각형 217">
            <a:extLst>
              <a:ext uri="{FF2B5EF4-FFF2-40B4-BE49-F238E27FC236}">
                <a16:creationId xmlns:a16="http://schemas.microsoft.com/office/drawing/2014/main" id="{40DCE887-B686-2F1F-9BC0-58C02DCEF928}"/>
              </a:ext>
            </a:extLst>
          </p:cNvPr>
          <p:cNvSpPr/>
          <p:nvPr/>
        </p:nvSpPr>
        <p:spPr>
          <a:xfrm>
            <a:off x="3862119" y="3075649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19" name="그룹 218">
            <a:extLst>
              <a:ext uri="{FF2B5EF4-FFF2-40B4-BE49-F238E27FC236}">
                <a16:creationId xmlns:a16="http://schemas.microsoft.com/office/drawing/2014/main" id="{9DCA76C5-75E0-FC32-4A13-1B62FB4F27F2}"/>
              </a:ext>
            </a:extLst>
          </p:cNvPr>
          <p:cNvGrpSpPr/>
          <p:nvPr/>
        </p:nvGrpSpPr>
        <p:grpSpPr>
          <a:xfrm>
            <a:off x="3051669" y="2380094"/>
            <a:ext cx="595518" cy="144462"/>
            <a:chOff x="2716253" y="2405617"/>
            <a:chExt cx="595518" cy="144462"/>
          </a:xfrm>
        </p:grpSpPr>
        <p:sp>
          <p:nvSpPr>
            <p:cNvPr id="220" name="Rectangle 191">
              <a:extLst>
                <a:ext uri="{FF2B5EF4-FFF2-40B4-BE49-F238E27FC236}">
                  <a16:creationId xmlns:a16="http://schemas.microsoft.com/office/drawing/2014/main" id="{106AB5B4-723C-9BD1-459F-7BABA18750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448841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근로자자녀</a:t>
              </a:r>
            </a:p>
          </p:txBody>
        </p:sp>
        <p:graphicFrame>
          <p:nvGraphicFramePr>
            <p:cNvPr id="221" name="개체 220">
              <a:extLst>
                <a:ext uri="{FF2B5EF4-FFF2-40B4-BE49-F238E27FC236}">
                  <a16:creationId xmlns:a16="http://schemas.microsoft.com/office/drawing/2014/main" id="{FDE436C7-7D2A-DBF5-E5E6-A745F238D87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2" imgW="145435" imgH="145435" progId="Visio.Drawing.11">
                    <p:embed/>
                  </p:oleObj>
                </mc:Choice>
                <mc:Fallback>
                  <p:oleObj name="Visio" r:id="rId2" imgW="145435" imgH="145435" progId="Visio.Drawing.11">
                    <p:embed/>
                    <p:pic>
                      <p:nvPicPr>
                        <p:cNvPr id="83" name="개체 82">
                          <a:extLst>
                            <a:ext uri="{FF2B5EF4-FFF2-40B4-BE49-F238E27FC236}">
                              <a16:creationId xmlns:a16="http://schemas.microsoft.com/office/drawing/2014/main" id="{FDE436C7-7D2A-DBF5-E5E6-A745F238D87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2" name="그룹 221">
            <a:extLst>
              <a:ext uri="{FF2B5EF4-FFF2-40B4-BE49-F238E27FC236}">
                <a16:creationId xmlns:a16="http://schemas.microsoft.com/office/drawing/2014/main" id="{BBEF9420-D490-4B92-61F4-A6324C968AD0}"/>
              </a:ext>
            </a:extLst>
          </p:cNvPr>
          <p:cNvGrpSpPr/>
          <p:nvPr/>
        </p:nvGrpSpPr>
        <p:grpSpPr>
          <a:xfrm>
            <a:off x="4535121" y="2385980"/>
            <a:ext cx="775737" cy="144463"/>
            <a:chOff x="3327015" y="1527346"/>
            <a:chExt cx="775737" cy="144463"/>
          </a:xfrm>
        </p:grpSpPr>
        <p:sp>
          <p:nvSpPr>
            <p:cNvPr id="223" name="Rectangle 191">
              <a:extLst>
                <a:ext uri="{FF2B5EF4-FFF2-40B4-BE49-F238E27FC236}">
                  <a16:creationId xmlns:a16="http://schemas.microsoft.com/office/drawing/2014/main" id="{BE6F8E49-E75D-E649-B1DA-ACCBCFECCF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4375" y="1539830"/>
              <a:ext cx="628377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다문화가정자녀</a:t>
              </a:r>
            </a:p>
          </p:txBody>
        </p:sp>
        <p:graphicFrame>
          <p:nvGraphicFramePr>
            <p:cNvPr id="224" name="개체 223">
              <a:extLst>
                <a:ext uri="{FF2B5EF4-FFF2-40B4-BE49-F238E27FC236}">
                  <a16:creationId xmlns:a16="http://schemas.microsoft.com/office/drawing/2014/main" id="{C3793886-B00B-5EED-4CEB-28487992382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27015" y="1527346"/>
            <a:ext cx="144462" cy="144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5" imgW="145435" imgH="145435" progId="Visio.Drawing.11">
                    <p:embed/>
                  </p:oleObj>
                </mc:Choice>
                <mc:Fallback>
                  <p:oleObj name="Visio" r:id="rId5" imgW="145435" imgH="145435" progId="Visio.Drawing.11">
                    <p:embed/>
                    <p:pic>
                      <p:nvPicPr>
                        <p:cNvPr id="86" name="개체 85">
                          <a:extLst>
                            <a:ext uri="{FF2B5EF4-FFF2-40B4-BE49-F238E27FC236}">
                              <a16:creationId xmlns:a16="http://schemas.microsoft.com/office/drawing/2014/main" id="{C3793886-B00B-5EED-4CEB-28487992382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27015" y="1527346"/>
                          <a:ext cx="144462" cy="1444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5" name="직사각형 224">
            <a:extLst>
              <a:ext uri="{FF2B5EF4-FFF2-40B4-BE49-F238E27FC236}">
                <a16:creationId xmlns:a16="http://schemas.microsoft.com/office/drawing/2014/main" id="{2BFB3DB2-8BDE-2AE7-1B43-C0DA9E2EB55C}"/>
              </a:ext>
            </a:extLst>
          </p:cNvPr>
          <p:cNvSpPr/>
          <p:nvPr/>
        </p:nvSpPr>
        <p:spPr>
          <a:xfrm>
            <a:off x="6397011" y="6183328"/>
            <a:ext cx="392727" cy="19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목록</a:t>
            </a:r>
          </a:p>
        </p:txBody>
      </p:sp>
      <p:sp>
        <p:nvSpPr>
          <p:cNvPr id="226" name="직사각형 225">
            <a:extLst>
              <a:ext uri="{FF2B5EF4-FFF2-40B4-BE49-F238E27FC236}">
                <a16:creationId xmlns:a16="http://schemas.microsoft.com/office/drawing/2014/main" id="{F47D9F24-F4B1-F598-BC02-FA9ED9FD6152}"/>
              </a:ext>
            </a:extLst>
          </p:cNvPr>
          <p:cNvSpPr/>
          <p:nvPr/>
        </p:nvSpPr>
        <p:spPr>
          <a:xfrm>
            <a:off x="5936915" y="6183328"/>
            <a:ext cx="392727" cy="198000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신청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8F58A90-7157-3618-03F5-DB0125A823D9}"/>
              </a:ext>
            </a:extLst>
          </p:cNvPr>
          <p:cNvSpPr/>
          <p:nvPr/>
        </p:nvSpPr>
        <p:spPr>
          <a:xfrm>
            <a:off x="2910120" y="3546561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주민등록초본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F79DA59-E021-8FFA-ABF8-9040FEF36B86}"/>
              </a:ext>
            </a:extLst>
          </p:cNvPr>
          <p:cNvSpPr/>
          <p:nvPr/>
        </p:nvSpPr>
        <p:spPr>
          <a:xfrm>
            <a:off x="4563118" y="3546553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503EC72-A9F4-CFBA-1AAD-9B39F28B8F19}"/>
              </a:ext>
            </a:extLst>
          </p:cNvPr>
          <p:cNvSpPr/>
          <p:nvPr/>
        </p:nvSpPr>
        <p:spPr>
          <a:xfrm>
            <a:off x="4871525" y="3546545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</a:p>
        </p:txBody>
      </p:sp>
      <p:sp>
        <p:nvSpPr>
          <p:cNvPr id="7" name="Rectangle 191">
            <a:extLst>
              <a:ext uri="{FF2B5EF4-FFF2-40B4-BE49-F238E27FC236}">
                <a16:creationId xmlns:a16="http://schemas.microsoft.com/office/drawing/2014/main" id="{3C7E8C96-6785-B46C-E5A6-5B902636DE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5849" y="3561837"/>
            <a:ext cx="17953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첨부</a:t>
            </a:r>
          </a:p>
        </p:txBody>
      </p:sp>
      <p:sp>
        <p:nvSpPr>
          <p:cNvPr id="8" name="Rectangle 191">
            <a:extLst>
              <a:ext uri="{FF2B5EF4-FFF2-40B4-BE49-F238E27FC236}">
                <a16:creationId xmlns:a16="http://schemas.microsoft.com/office/drawing/2014/main" id="{BECAF5D7-806A-BE61-D467-E5D3AEF824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0611" y="3562263"/>
            <a:ext cx="359073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거주기간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77B198C-4354-1E23-ECD8-79A9B942384C}"/>
              </a:ext>
            </a:extLst>
          </p:cNvPr>
          <p:cNvSpPr/>
          <p:nvPr/>
        </p:nvSpPr>
        <p:spPr>
          <a:xfrm>
            <a:off x="2283943" y="3540905"/>
            <a:ext cx="36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년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9FFCA5D-EE22-9648-70AA-B2A58BCBC87E}"/>
              </a:ext>
            </a:extLst>
          </p:cNvPr>
          <p:cNvSpPr/>
          <p:nvPr/>
        </p:nvSpPr>
        <p:spPr>
          <a:xfrm>
            <a:off x="2733235" y="4487410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성적증빙자료</a:t>
            </a:r>
            <a:r>
              <a:rPr kumimoji="0" lang="en-US" altLang="ko-KR" sz="7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.zip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76EBC8A-3018-FAEE-3F30-A79827E055EA}"/>
              </a:ext>
            </a:extLst>
          </p:cNvPr>
          <p:cNvSpPr/>
          <p:nvPr/>
        </p:nvSpPr>
        <p:spPr>
          <a:xfrm>
            <a:off x="4386233" y="4487402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15585B4-166D-95CC-BF3D-2623798711FA}"/>
              </a:ext>
            </a:extLst>
          </p:cNvPr>
          <p:cNvSpPr/>
          <p:nvPr/>
        </p:nvSpPr>
        <p:spPr>
          <a:xfrm>
            <a:off x="4694743" y="4487402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Rectangle 191">
            <a:extLst>
              <a:ext uri="{FF2B5EF4-FFF2-40B4-BE49-F238E27FC236}">
                <a16:creationId xmlns:a16="http://schemas.microsoft.com/office/drawing/2014/main" id="{AE74AFD2-94A8-39CC-C1FF-64BA3381AF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0611" y="4508768"/>
            <a:ext cx="17953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성적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072D9F7-A321-0B82-7989-869D66D0D8B7}"/>
              </a:ext>
            </a:extLst>
          </p:cNvPr>
          <p:cNvSpPr/>
          <p:nvPr/>
        </p:nvSpPr>
        <p:spPr>
          <a:xfrm>
            <a:off x="2105245" y="4487410"/>
            <a:ext cx="36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4.5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Rectangle 191">
            <a:extLst>
              <a:ext uri="{FF2B5EF4-FFF2-40B4-BE49-F238E27FC236}">
                <a16:creationId xmlns:a16="http://schemas.microsoft.com/office/drawing/2014/main" id="{D9B8667B-C84B-0CA1-00D0-7DF74C2DC2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3780" y="4508768"/>
            <a:ext cx="17953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첨부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5B103663-D98E-420B-2C7B-C0A564E4C1DE}"/>
              </a:ext>
            </a:extLst>
          </p:cNvPr>
          <p:cNvSpPr>
            <a:spLocks noChangeAspect="1"/>
          </p:cNvSpPr>
          <p:nvPr/>
        </p:nvSpPr>
        <p:spPr>
          <a:xfrm>
            <a:off x="4881000" y="2240868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447079B7-1905-583E-732C-8466CDEDF37E}"/>
              </a:ext>
            </a:extLst>
          </p:cNvPr>
          <p:cNvSpPr>
            <a:spLocks noChangeAspect="1"/>
          </p:cNvSpPr>
          <p:nvPr/>
        </p:nvSpPr>
        <p:spPr>
          <a:xfrm>
            <a:off x="512127" y="2853383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211BC402-C454-3958-01A4-25AFE5264A17}"/>
              </a:ext>
            </a:extLst>
          </p:cNvPr>
          <p:cNvSpPr>
            <a:spLocks noChangeAspect="1"/>
          </p:cNvSpPr>
          <p:nvPr/>
        </p:nvSpPr>
        <p:spPr>
          <a:xfrm>
            <a:off x="512127" y="3084862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960C6BE0-ABE5-28F7-836B-B21201F155F6}"/>
              </a:ext>
            </a:extLst>
          </p:cNvPr>
          <p:cNvSpPr>
            <a:spLocks noChangeAspect="1"/>
          </p:cNvSpPr>
          <p:nvPr/>
        </p:nvSpPr>
        <p:spPr>
          <a:xfrm>
            <a:off x="512127" y="3547995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2C88692A-EC10-5A74-FA9E-C0D6488E9562}"/>
              </a:ext>
            </a:extLst>
          </p:cNvPr>
          <p:cNvSpPr>
            <a:spLocks noChangeAspect="1"/>
          </p:cNvSpPr>
          <p:nvPr/>
        </p:nvSpPr>
        <p:spPr>
          <a:xfrm>
            <a:off x="512127" y="4495353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25FABD5D-4CB2-35F0-C47A-EC39776EA700}"/>
              </a:ext>
            </a:extLst>
          </p:cNvPr>
          <p:cNvGrpSpPr/>
          <p:nvPr/>
        </p:nvGrpSpPr>
        <p:grpSpPr>
          <a:xfrm>
            <a:off x="1900611" y="3313037"/>
            <a:ext cx="2704513" cy="144016"/>
            <a:chOff x="1897884" y="2847629"/>
            <a:chExt cx="2704513" cy="144016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99F6B973-BE4C-196E-7719-565DEFB22935}"/>
                </a:ext>
              </a:extLst>
            </p:cNvPr>
            <p:cNvSpPr/>
            <p:nvPr/>
          </p:nvSpPr>
          <p:spPr>
            <a:xfrm>
              <a:off x="1897884" y="2847637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추천서</a:t>
              </a:r>
              <a:r>
                <a:rPr kumimoji="0" lang="en-US" altLang="ko-KR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19F148BB-D328-9DE2-238C-9E528C012E1D}"/>
                </a:ext>
              </a:extLst>
            </p:cNvPr>
            <p:cNvSpPr/>
            <p:nvPr/>
          </p:nvSpPr>
          <p:spPr>
            <a:xfrm>
              <a:off x="3550882" y="2847629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제출</a:t>
              </a: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6ADD8A40-C2F7-475B-8B03-9D3233146E84}"/>
                </a:ext>
              </a:extLst>
            </p:cNvPr>
            <p:cNvSpPr/>
            <p:nvPr/>
          </p:nvSpPr>
          <p:spPr>
            <a:xfrm>
              <a:off x="3859392" y="2847629"/>
              <a:ext cx="264174" cy="144016"/>
            </a:xfrm>
            <a:prstGeom prst="rect">
              <a:avLst/>
            </a:prstGeom>
            <a:solidFill>
              <a:srgbClr val="66FF66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1391E8DE-218E-D0D1-D6C9-4E86390F6781}"/>
                </a:ext>
              </a:extLst>
            </p:cNvPr>
            <p:cNvSpPr/>
            <p:nvPr/>
          </p:nvSpPr>
          <p:spPr>
            <a:xfrm>
              <a:off x="4176942" y="2847629"/>
              <a:ext cx="425455" cy="14401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양식받기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959A5047-167E-6E4F-E7E4-7CA9B0516DA2}"/>
              </a:ext>
            </a:extLst>
          </p:cNvPr>
          <p:cNvGrpSpPr/>
          <p:nvPr/>
        </p:nvGrpSpPr>
        <p:grpSpPr>
          <a:xfrm>
            <a:off x="1900611" y="5661248"/>
            <a:ext cx="2386963" cy="144016"/>
            <a:chOff x="1897884" y="4476806"/>
            <a:chExt cx="2386963" cy="144016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CA6BB7C1-E575-A407-6930-690266FF7C08}"/>
                </a:ext>
              </a:extLst>
            </p:cNvPr>
            <p:cNvSpPr/>
            <p:nvPr/>
          </p:nvSpPr>
          <p:spPr>
            <a:xfrm>
              <a:off x="1897884" y="4476814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7963E3B1-26D2-B704-75C9-E3D3DA6EBCFE}"/>
                </a:ext>
              </a:extLst>
            </p:cNvPr>
            <p:cNvSpPr/>
            <p:nvPr/>
          </p:nvSpPr>
          <p:spPr>
            <a:xfrm>
              <a:off x="3550882" y="4476806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추가</a:t>
              </a: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1EAB505F-F832-6E7D-3A2F-02AE8DA87846}"/>
                </a:ext>
              </a:extLst>
            </p:cNvPr>
            <p:cNvSpPr/>
            <p:nvPr/>
          </p:nvSpPr>
          <p:spPr>
            <a:xfrm>
              <a:off x="3859392" y="4476806"/>
              <a:ext cx="425455" cy="14401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양식받기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D5D53AE-E1C5-C99C-E3DF-D2C201855B8C}"/>
              </a:ext>
            </a:extLst>
          </p:cNvPr>
          <p:cNvSpPr/>
          <p:nvPr/>
        </p:nvSpPr>
        <p:spPr>
          <a:xfrm>
            <a:off x="668524" y="5625244"/>
            <a:ext cx="6121214" cy="21600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A540F294-DF96-4EBC-619C-D429E3F79651}"/>
              </a:ext>
            </a:extLst>
          </p:cNvPr>
          <p:cNvSpPr>
            <a:spLocks noChangeAspect="1"/>
          </p:cNvSpPr>
          <p:nvPr/>
        </p:nvSpPr>
        <p:spPr>
          <a:xfrm>
            <a:off x="512127" y="5669195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9F18C80F-45CA-1855-A849-74C69709EDFA}"/>
              </a:ext>
            </a:extLst>
          </p:cNvPr>
          <p:cNvSpPr/>
          <p:nvPr/>
        </p:nvSpPr>
        <p:spPr>
          <a:xfrm>
            <a:off x="668524" y="3279588"/>
            <a:ext cx="6121214" cy="21600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251898B3-D304-66C7-9F10-8DB74EC2BDE6}"/>
              </a:ext>
            </a:extLst>
          </p:cNvPr>
          <p:cNvSpPr>
            <a:spLocks noChangeAspect="1"/>
          </p:cNvSpPr>
          <p:nvPr/>
        </p:nvSpPr>
        <p:spPr>
          <a:xfrm>
            <a:off x="512127" y="3323539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073847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6CC84-E4B4-452B-B2D6-737B07ED3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C80A46D-DF68-D22D-0D30-7FC1157AB0D7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고등학생장학금 신청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2AD021F-C533-65C0-8797-5830819619A3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프로그램신청관리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고등학생장학금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장학금신청</a:t>
            </a: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600CCDD8-F944-BD58-44AD-DE775AF5B2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0881265"/>
              </p:ext>
            </p:extLst>
          </p:nvPr>
        </p:nvGraphicFramePr>
        <p:xfrm>
          <a:off x="6969418" y="2548005"/>
          <a:ext cx="2772114" cy="3199939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프로그램신청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대학생장학금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조회 화면 목록에서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신청하기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클릭 시 보이는 화면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전형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지역인재육성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일반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전형별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성적증빙자료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성적증빙자료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성적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성적증빙자료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기반 성적을 직접 입력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첨부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제출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제출 서류 파일 선택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첨부완료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받기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시 첨부된 제출 서류 파일 다운로드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추천서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첨부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제출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제출 서류 파일 선택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첨부완료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받기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시 첨부된 제출 서류 파일 다운로드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양식받기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시 추천서 양식 파일을 다운 받는다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주민등록초본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거주기간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신청 회원의 거주기간을 입력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첨부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제출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제출 서류 파일 선택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첨부완료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받기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시 첨부된 제출 서류 파일 다운로드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첨부파일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추가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] : 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추가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파일 선택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첨부 설정완료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파일받기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파일명 클릭 시 첨부된 파일 다운로드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[x]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 첨부된 해당 파일 삭제 처리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양식받기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시 추천서 양식 파일을 다운 받는다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49C245CA-8AF8-04A0-472B-188C08E55179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pau_application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CA872B8-86B2-AF1B-4383-D54E6EBAE627}"/>
              </a:ext>
            </a:extLst>
          </p:cNvPr>
          <p:cNvSpPr/>
          <p:nvPr/>
        </p:nvSpPr>
        <p:spPr>
          <a:xfrm>
            <a:off x="165100" y="1376363"/>
            <a:ext cx="6732116" cy="5113337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4882719-5B65-9930-6CDB-ECC200DB2DAD}"/>
              </a:ext>
            </a:extLst>
          </p:cNvPr>
          <p:cNvSpPr/>
          <p:nvPr/>
        </p:nvSpPr>
        <p:spPr>
          <a:xfrm>
            <a:off x="292846" y="1448780"/>
            <a:ext cx="1099660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800" b="1" dirty="0">
                <a:solidFill>
                  <a:prstClr val="black"/>
                </a:solidFill>
              </a:rPr>
              <a:t>대학생 장학금 신청정보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56CE7C79-1E30-C5BB-A415-BC1864ED92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6156108"/>
              </p:ext>
            </p:extLst>
          </p:nvPr>
        </p:nvGraphicFramePr>
        <p:xfrm>
          <a:off x="272480" y="1628800"/>
          <a:ext cx="6517258" cy="39904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054">
                  <a:extLst>
                    <a:ext uri="{9D8B030D-6E8A-4147-A177-3AD203B41FA5}">
                      <a16:colId xmlns:a16="http://schemas.microsoft.com/office/drawing/2014/main" val="3668863434"/>
                    </a:ext>
                  </a:extLst>
                </a:gridCol>
                <a:gridCol w="4921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구분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대학생 장학금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894265"/>
                  </a:ext>
                </a:extLst>
              </a:tr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</a:t>
                      </a:r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하반기 대학생 장학금 신청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접수기간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2025.09.20 10:00 </a:t>
                      </a:r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~ 2025.09.30 10:00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4735">
                <a:tc rowSpan="2"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전형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4735">
                <a:tc gridSpan="2"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1090955"/>
                  </a:ext>
                </a:extLst>
              </a:tr>
              <a:tr h="234735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전형별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성적증빙자료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2230354"/>
                  </a:ext>
                </a:extLst>
              </a:tr>
              <a:tr h="234735">
                <a:tc rowSpan="1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공통 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추천서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주민등록초본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1958612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주민등록등본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164179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재학증명서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799673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고등학교 졸업증명서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3894158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국민기초생활보장수급자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차상위계층확인서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한부모가족보호대상확인서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장애인증명서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첨부파일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8089092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8418894"/>
                  </a:ext>
                </a:extLst>
              </a:tr>
            </a:tbl>
          </a:graphicData>
        </a:graphic>
      </p:graphicFrame>
      <p:grpSp>
        <p:nvGrpSpPr>
          <p:cNvPr id="76" name="그룹 75">
            <a:extLst>
              <a:ext uri="{FF2B5EF4-FFF2-40B4-BE49-F238E27FC236}">
                <a16:creationId xmlns:a16="http://schemas.microsoft.com/office/drawing/2014/main" id="{C1C477B0-4F95-097B-129B-26961D078890}"/>
              </a:ext>
            </a:extLst>
          </p:cNvPr>
          <p:cNvGrpSpPr/>
          <p:nvPr/>
        </p:nvGrpSpPr>
        <p:grpSpPr>
          <a:xfrm>
            <a:off x="2480232" y="2380094"/>
            <a:ext cx="505750" cy="144462"/>
            <a:chOff x="2716253" y="2405617"/>
            <a:chExt cx="505750" cy="144462"/>
          </a:xfrm>
        </p:grpSpPr>
        <p:sp>
          <p:nvSpPr>
            <p:cNvPr id="77" name="Rectangle 191">
              <a:extLst>
                <a:ext uri="{FF2B5EF4-FFF2-40B4-BE49-F238E27FC236}">
                  <a16:creationId xmlns:a16="http://schemas.microsoft.com/office/drawing/2014/main" id="{7C7CA59A-2A88-02D3-A740-92D8DC98D6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359073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희망인재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graphicFrame>
          <p:nvGraphicFramePr>
            <p:cNvPr id="78" name="개체 77">
              <a:extLst>
                <a:ext uri="{FF2B5EF4-FFF2-40B4-BE49-F238E27FC236}">
                  <a16:creationId xmlns:a16="http://schemas.microsoft.com/office/drawing/2014/main" id="{ADDCFDA7-240D-B4DE-23D7-EB9E4BECBDC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2" imgW="145435" imgH="145435" progId="Visio.Drawing.11">
                    <p:embed/>
                  </p:oleObj>
                </mc:Choice>
                <mc:Fallback>
                  <p:oleObj name="Visio" r:id="rId2" imgW="145435" imgH="145435" progId="Visio.Drawing.11">
                    <p:embed/>
                    <p:pic>
                      <p:nvPicPr>
                        <p:cNvPr id="7" name="개체 6">
                          <a:extLst>
                            <a:ext uri="{FF2B5EF4-FFF2-40B4-BE49-F238E27FC236}">
                              <a16:creationId xmlns:a16="http://schemas.microsoft.com/office/drawing/2014/main" id="{ADDCFDA7-240D-B4DE-23D7-EB9E4BECBDC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A3C22E3A-2149-37F3-B2C3-D4DB7157BAEB}"/>
              </a:ext>
            </a:extLst>
          </p:cNvPr>
          <p:cNvGrpSpPr/>
          <p:nvPr/>
        </p:nvGrpSpPr>
        <p:grpSpPr>
          <a:xfrm>
            <a:off x="3057041" y="2380094"/>
            <a:ext cx="595518" cy="144462"/>
            <a:chOff x="2716253" y="2405617"/>
            <a:chExt cx="595518" cy="144462"/>
          </a:xfrm>
        </p:grpSpPr>
        <p:sp>
          <p:nvSpPr>
            <p:cNvPr id="80" name="Rectangle 191">
              <a:extLst>
                <a:ext uri="{FF2B5EF4-FFF2-40B4-BE49-F238E27FC236}">
                  <a16:creationId xmlns:a16="http://schemas.microsoft.com/office/drawing/2014/main" id="{9F7A7155-01D8-2D6C-4085-9F114F75E6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448841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근로자자녀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graphicFrame>
          <p:nvGraphicFramePr>
            <p:cNvPr id="81" name="개체 80">
              <a:extLst>
                <a:ext uri="{FF2B5EF4-FFF2-40B4-BE49-F238E27FC236}">
                  <a16:creationId xmlns:a16="http://schemas.microsoft.com/office/drawing/2014/main" id="{18E6D4D7-8604-8635-F5EF-BC69A7651FF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2" imgW="145435" imgH="145435" progId="Visio.Drawing.11">
                    <p:embed/>
                  </p:oleObj>
                </mc:Choice>
                <mc:Fallback>
                  <p:oleObj name="Visio" r:id="rId2" imgW="145435" imgH="145435" progId="Visio.Drawing.11">
                    <p:embed/>
                    <p:pic>
                      <p:nvPicPr>
                        <p:cNvPr id="10" name="개체 9">
                          <a:extLst>
                            <a:ext uri="{FF2B5EF4-FFF2-40B4-BE49-F238E27FC236}">
                              <a16:creationId xmlns:a16="http://schemas.microsoft.com/office/drawing/2014/main" id="{18E6D4D7-8604-8635-F5EF-BC69A7651FF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A8259A9F-3587-7552-E154-F92FF988B0CD}"/>
              </a:ext>
            </a:extLst>
          </p:cNvPr>
          <p:cNvGrpSpPr/>
          <p:nvPr/>
        </p:nvGrpSpPr>
        <p:grpSpPr>
          <a:xfrm>
            <a:off x="3707325" y="2380094"/>
            <a:ext cx="775054" cy="144462"/>
            <a:chOff x="2716253" y="2405617"/>
            <a:chExt cx="775054" cy="144462"/>
          </a:xfrm>
        </p:grpSpPr>
        <p:sp>
          <p:nvSpPr>
            <p:cNvPr id="83" name="Rectangle 191">
              <a:extLst>
                <a:ext uri="{FF2B5EF4-FFF2-40B4-BE49-F238E27FC236}">
                  <a16:creationId xmlns:a16="http://schemas.microsoft.com/office/drawing/2014/main" id="{63BB4CFB-A50A-368F-31AF-6BB8D1C345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628377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다자녀가정자녀</a:t>
              </a:r>
            </a:p>
          </p:txBody>
        </p:sp>
        <p:graphicFrame>
          <p:nvGraphicFramePr>
            <p:cNvPr id="84" name="개체 83">
              <a:extLst>
                <a:ext uri="{FF2B5EF4-FFF2-40B4-BE49-F238E27FC236}">
                  <a16:creationId xmlns:a16="http://schemas.microsoft.com/office/drawing/2014/main" id="{AA116120-0747-5461-A806-E8E5E217731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2" imgW="145435" imgH="145435" progId="Visio.Drawing.11">
                    <p:embed/>
                  </p:oleObj>
                </mc:Choice>
                <mc:Fallback>
                  <p:oleObj name="Visio" r:id="rId2" imgW="145435" imgH="145435" progId="Visio.Drawing.11">
                    <p:embed/>
                    <p:pic>
                      <p:nvPicPr>
                        <p:cNvPr id="15" name="개체 14">
                          <a:extLst>
                            <a:ext uri="{FF2B5EF4-FFF2-40B4-BE49-F238E27FC236}">
                              <a16:creationId xmlns:a16="http://schemas.microsoft.com/office/drawing/2014/main" id="{AA116120-0747-5461-A806-E8E5E217731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3AA06162-ED1E-0D2A-505B-3DE0DD7575B2}"/>
              </a:ext>
            </a:extLst>
          </p:cNvPr>
          <p:cNvGrpSpPr/>
          <p:nvPr/>
        </p:nvGrpSpPr>
        <p:grpSpPr>
          <a:xfrm>
            <a:off x="4537986" y="2380094"/>
            <a:ext cx="775054" cy="144462"/>
            <a:chOff x="2716253" y="2405617"/>
            <a:chExt cx="775054" cy="144462"/>
          </a:xfrm>
        </p:grpSpPr>
        <p:sp>
          <p:nvSpPr>
            <p:cNvPr id="86" name="Rectangle 191">
              <a:extLst>
                <a:ext uri="{FF2B5EF4-FFF2-40B4-BE49-F238E27FC236}">
                  <a16:creationId xmlns:a16="http://schemas.microsoft.com/office/drawing/2014/main" id="{6E4A43AC-3328-BB76-5520-0055C68CC3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628377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다문화가정자녀</a:t>
              </a:r>
            </a:p>
          </p:txBody>
        </p:sp>
        <p:graphicFrame>
          <p:nvGraphicFramePr>
            <p:cNvPr id="87" name="개체 86">
              <a:extLst>
                <a:ext uri="{FF2B5EF4-FFF2-40B4-BE49-F238E27FC236}">
                  <a16:creationId xmlns:a16="http://schemas.microsoft.com/office/drawing/2014/main" id="{C8845CBA-DF33-17C7-F0A3-E3A826C8A3B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2" imgW="145435" imgH="145435" progId="Visio.Drawing.11">
                    <p:embed/>
                  </p:oleObj>
                </mc:Choice>
                <mc:Fallback>
                  <p:oleObj name="Visio" r:id="rId2" imgW="145435" imgH="145435" progId="Visio.Drawing.11">
                    <p:embed/>
                    <p:pic>
                      <p:nvPicPr>
                        <p:cNvPr id="18" name="개체 17">
                          <a:extLst>
                            <a:ext uri="{FF2B5EF4-FFF2-40B4-BE49-F238E27FC236}">
                              <a16:creationId xmlns:a16="http://schemas.microsoft.com/office/drawing/2014/main" id="{C8845CBA-DF33-17C7-F0A3-E3A826C8A3B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7D04C521-5762-ED59-43B7-2C57C588A8C7}"/>
              </a:ext>
            </a:extLst>
          </p:cNvPr>
          <p:cNvSpPr/>
          <p:nvPr/>
        </p:nvSpPr>
        <p:spPr>
          <a:xfrm>
            <a:off x="1903889" y="4257100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국민기초생활보장수급자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34AA620B-D384-0F26-71C9-9DDE5714EA30}"/>
              </a:ext>
            </a:extLst>
          </p:cNvPr>
          <p:cNvSpPr/>
          <p:nvPr/>
        </p:nvSpPr>
        <p:spPr>
          <a:xfrm>
            <a:off x="3556887" y="4257092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CF945A21-56A6-D6FB-21BD-A6071525EA4E}"/>
              </a:ext>
            </a:extLst>
          </p:cNvPr>
          <p:cNvSpPr/>
          <p:nvPr/>
        </p:nvSpPr>
        <p:spPr>
          <a:xfrm>
            <a:off x="1903889" y="4493844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차상위계층확인서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D286D33F-0397-3442-DA86-4F3977121222}"/>
              </a:ext>
            </a:extLst>
          </p:cNvPr>
          <p:cNvSpPr/>
          <p:nvPr/>
        </p:nvSpPr>
        <p:spPr>
          <a:xfrm>
            <a:off x="3556887" y="4493836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E9EB9AB8-8657-BFC6-6B59-738FE9D67CBF}"/>
              </a:ext>
            </a:extLst>
          </p:cNvPr>
          <p:cNvSpPr/>
          <p:nvPr/>
        </p:nvSpPr>
        <p:spPr>
          <a:xfrm>
            <a:off x="1903889" y="4723096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4348FB87-368D-9452-2D0B-F27328A37F42}"/>
              </a:ext>
            </a:extLst>
          </p:cNvPr>
          <p:cNvSpPr/>
          <p:nvPr/>
        </p:nvSpPr>
        <p:spPr>
          <a:xfrm>
            <a:off x="3556887" y="4723088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D2999FA0-BC98-9713-0C42-9D61619A0442}"/>
              </a:ext>
            </a:extLst>
          </p:cNvPr>
          <p:cNvSpPr/>
          <p:nvPr/>
        </p:nvSpPr>
        <p:spPr>
          <a:xfrm>
            <a:off x="1903889" y="4961278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51242164-FC3D-B44E-CFF1-8706DBFB6A89}"/>
              </a:ext>
            </a:extLst>
          </p:cNvPr>
          <p:cNvSpPr/>
          <p:nvPr/>
        </p:nvSpPr>
        <p:spPr>
          <a:xfrm>
            <a:off x="3556887" y="4961270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grpSp>
        <p:nvGrpSpPr>
          <p:cNvPr id="136" name="그룹 135">
            <a:extLst>
              <a:ext uri="{FF2B5EF4-FFF2-40B4-BE49-F238E27FC236}">
                <a16:creationId xmlns:a16="http://schemas.microsoft.com/office/drawing/2014/main" id="{742C0836-0D9A-D3EA-F8AD-A9351DB565D5}"/>
              </a:ext>
            </a:extLst>
          </p:cNvPr>
          <p:cNvGrpSpPr/>
          <p:nvPr/>
        </p:nvGrpSpPr>
        <p:grpSpPr>
          <a:xfrm>
            <a:off x="1939170" y="5457147"/>
            <a:ext cx="1105196" cy="128396"/>
            <a:chOff x="3438680" y="4305150"/>
            <a:chExt cx="1105196" cy="128396"/>
          </a:xfrm>
        </p:grpSpPr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A1C41282-84C7-46E6-FD71-C7D38778F321}"/>
                </a:ext>
              </a:extLst>
            </p:cNvPr>
            <p:cNvSpPr txBox="1"/>
            <p:nvPr/>
          </p:nvSpPr>
          <p:spPr>
            <a:xfrm>
              <a:off x="3438680" y="4305150"/>
              <a:ext cx="971420" cy="10772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신청 관련 부가 서류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38" name="Picture 10">
              <a:extLst>
                <a:ext uri="{FF2B5EF4-FFF2-40B4-BE49-F238E27FC236}">
                  <a16:creationId xmlns:a16="http://schemas.microsoft.com/office/drawing/2014/main" id="{6AE41FA6-996C-6E44-D407-6FE1EF30C4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7418" y="4312303"/>
              <a:ext cx="106458" cy="121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39" name="그룹 138">
            <a:extLst>
              <a:ext uri="{FF2B5EF4-FFF2-40B4-BE49-F238E27FC236}">
                <a16:creationId xmlns:a16="http://schemas.microsoft.com/office/drawing/2014/main" id="{D5B7F77C-3AD1-0174-6B95-5AC4923DB587}"/>
              </a:ext>
            </a:extLst>
          </p:cNvPr>
          <p:cNvGrpSpPr/>
          <p:nvPr/>
        </p:nvGrpSpPr>
        <p:grpSpPr>
          <a:xfrm>
            <a:off x="3125583" y="5457147"/>
            <a:ext cx="1105196" cy="128396"/>
            <a:chOff x="3438680" y="4305150"/>
            <a:chExt cx="1105196" cy="128396"/>
          </a:xfrm>
        </p:grpSpPr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C5469BE7-6E8B-D477-7E4E-F09F9BEEE42F}"/>
                </a:ext>
              </a:extLst>
            </p:cNvPr>
            <p:cNvSpPr txBox="1"/>
            <p:nvPr/>
          </p:nvSpPr>
          <p:spPr>
            <a:xfrm>
              <a:off x="3438680" y="4305150"/>
              <a:ext cx="971420" cy="10772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신청 관련 부가 서류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41" name="Picture 10">
              <a:extLst>
                <a:ext uri="{FF2B5EF4-FFF2-40B4-BE49-F238E27FC236}">
                  <a16:creationId xmlns:a16="http://schemas.microsoft.com/office/drawing/2014/main" id="{6DFD9589-F707-5087-5E8E-B33F6F4E1E2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7418" y="4312303"/>
              <a:ext cx="106458" cy="121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45" name="그룹 144">
            <a:extLst>
              <a:ext uri="{FF2B5EF4-FFF2-40B4-BE49-F238E27FC236}">
                <a16:creationId xmlns:a16="http://schemas.microsoft.com/office/drawing/2014/main" id="{99CAE08B-6B3D-9A55-51D7-EDA2293C01AF}"/>
              </a:ext>
            </a:extLst>
          </p:cNvPr>
          <p:cNvGrpSpPr/>
          <p:nvPr/>
        </p:nvGrpSpPr>
        <p:grpSpPr>
          <a:xfrm>
            <a:off x="1903889" y="3548830"/>
            <a:ext cx="2225682" cy="145176"/>
            <a:chOff x="3327015" y="2690196"/>
            <a:chExt cx="2225682" cy="145176"/>
          </a:xfrm>
        </p:grpSpPr>
        <p:sp>
          <p:nvSpPr>
            <p:cNvPr id="146" name="직사각형 145">
              <a:extLst>
                <a:ext uri="{FF2B5EF4-FFF2-40B4-BE49-F238E27FC236}">
                  <a16:creationId xmlns:a16="http://schemas.microsoft.com/office/drawing/2014/main" id="{73A725C5-41C5-DBD8-4907-1405F8758AAF}"/>
                </a:ext>
              </a:extLst>
            </p:cNvPr>
            <p:cNvSpPr/>
            <p:nvPr/>
          </p:nvSpPr>
          <p:spPr>
            <a:xfrm>
              <a:off x="3327015" y="2691364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주민등록등본</a:t>
              </a:r>
              <a:r>
                <a:rPr kumimoji="0" lang="en-US" altLang="ko-KR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47" name="직사각형 146">
              <a:extLst>
                <a:ext uri="{FF2B5EF4-FFF2-40B4-BE49-F238E27FC236}">
                  <a16:creationId xmlns:a16="http://schemas.microsoft.com/office/drawing/2014/main" id="{7CFD4E97-7A00-40EA-2491-A637E83EAAAB}"/>
                </a:ext>
              </a:extLst>
            </p:cNvPr>
            <p:cNvSpPr/>
            <p:nvPr/>
          </p:nvSpPr>
          <p:spPr>
            <a:xfrm>
              <a:off x="4980013" y="2691356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제출</a:t>
              </a:r>
            </a:p>
          </p:txBody>
        </p:sp>
        <p:sp>
          <p:nvSpPr>
            <p:cNvPr id="148" name="직사각형 147">
              <a:extLst>
                <a:ext uri="{FF2B5EF4-FFF2-40B4-BE49-F238E27FC236}">
                  <a16:creationId xmlns:a16="http://schemas.microsoft.com/office/drawing/2014/main" id="{67C03C34-67C6-63C5-C6D7-7159E0A0CFD8}"/>
                </a:ext>
              </a:extLst>
            </p:cNvPr>
            <p:cNvSpPr/>
            <p:nvPr/>
          </p:nvSpPr>
          <p:spPr>
            <a:xfrm>
              <a:off x="5288523" y="2690196"/>
              <a:ext cx="264174" cy="144016"/>
            </a:xfrm>
            <a:prstGeom prst="rect">
              <a:avLst/>
            </a:prstGeom>
            <a:solidFill>
              <a:srgbClr val="66FF66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E9C4BA72-6780-977D-7B20-E83DBDBB5320}"/>
              </a:ext>
            </a:extLst>
          </p:cNvPr>
          <p:cNvSpPr/>
          <p:nvPr/>
        </p:nvSpPr>
        <p:spPr>
          <a:xfrm>
            <a:off x="3865397" y="4257133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8EE9725D-C61B-733E-FE92-8A772C8A741F}"/>
              </a:ext>
            </a:extLst>
          </p:cNvPr>
          <p:cNvSpPr/>
          <p:nvPr/>
        </p:nvSpPr>
        <p:spPr>
          <a:xfrm>
            <a:off x="3865397" y="4493218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AD06E877-5748-26C3-94C1-C5A24399C601}"/>
              </a:ext>
            </a:extLst>
          </p:cNvPr>
          <p:cNvSpPr/>
          <p:nvPr/>
        </p:nvSpPr>
        <p:spPr>
          <a:xfrm>
            <a:off x="3865397" y="4717193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45627AC4-1BED-79CD-8801-C74954FA0836}"/>
              </a:ext>
            </a:extLst>
          </p:cNvPr>
          <p:cNvSpPr/>
          <p:nvPr/>
        </p:nvSpPr>
        <p:spPr>
          <a:xfrm>
            <a:off x="3865397" y="4963138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3" name="Rectangle 191">
            <a:extLst>
              <a:ext uri="{FF2B5EF4-FFF2-40B4-BE49-F238E27FC236}">
                <a16:creationId xmlns:a16="http://schemas.microsoft.com/office/drawing/2014/main" id="{657FBC50-44FF-82E1-D9B0-4F34190394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436" y="2633519"/>
            <a:ext cx="1394613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지역인재육성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                         )</a:t>
            </a:r>
            <a:endParaRPr kumimoji="0" lang="ko-KR" altLang="en-US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54" name="그룹 153">
            <a:extLst>
              <a:ext uri="{FF2B5EF4-FFF2-40B4-BE49-F238E27FC236}">
                <a16:creationId xmlns:a16="http://schemas.microsoft.com/office/drawing/2014/main" id="{BC0BD45F-7B06-5BFB-9B9D-E4D75490E5FE}"/>
              </a:ext>
            </a:extLst>
          </p:cNvPr>
          <p:cNvGrpSpPr/>
          <p:nvPr/>
        </p:nvGrpSpPr>
        <p:grpSpPr>
          <a:xfrm>
            <a:off x="2836812" y="2621541"/>
            <a:ext cx="408030" cy="144462"/>
            <a:chOff x="2716253" y="2405617"/>
            <a:chExt cx="408030" cy="144462"/>
          </a:xfrm>
        </p:grpSpPr>
        <p:sp>
          <p:nvSpPr>
            <p:cNvPr id="155" name="Rectangle 191">
              <a:extLst>
                <a:ext uri="{FF2B5EF4-FFF2-40B4-BE49-F238E27FC236}">
                  <a16:creationId xmlns:a16="http://schemas.microsoft.com/office/drawing/2014/main" id="{B5B602E5-73D4-CADB-8220-461DC40019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4979" y="2416036"/>
              <a:ext cx="269304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만학도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graphicFrame>
          <p:nvGraphicFramePr>
            <p:cNvPr id="156" name="개체 155">
              <a:extLst>
                <a:ext uri="{FF2B5EF4-FFF2-40B4-BE49-F238E27FC236}">
                  <a16:creationId xmlns:a16="http://schemas.microsoft.com/office/drawing/2014/main" id="{57583A51-C62B-9422-01FF-715AA1E6D48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2" imgW="145435" imgH="145435" progId="Visio.Drawing.11">
                    <p:embed/>
                  </p:oleObj>
                </mc:Choice>
                <mc:Fallback>
                  <p:oleObj name="Visio" r:id="rId2" imgW="145435" imgH="145435" progId="Visio.Drawing.11">
                    <p:embed/>
                    <p:pic>
                      <p:nvPicPr>
                        <p:cNvPr id="57" name="개체 56">
                          <a:extLst>
                            <a:ext uri="{FF2B5EF4-FFF2-40B4-BE49-F238E27FC236}">
                              <a16:creationId xmlns:a16="http://schemas.microsoft.com/office/drawing/2014/main" id="{57583A51-C62B-9422-01FF-715AA1E6D48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7" name="그룹 156">
            <a:extLst>
              <a:ext uri="{FF2B5EF4-FFF2-40B4-BE49-F238E27FC236}">
                <a16:creationId xmlns:a16="http://schemas.microsoft.com/office/drawing/2014/main" id="{6039D719-AEC0-D5D5-2FF9-D8A09B32F656}"/>
              </a:ext>
            </a:extLst>
          </p:cNvPr>
          <p:cNvGrpSpPr/>
          <p:nvPr/>
        </p:nvGrpSpPr>
        <p:grpSpPr>
          <a:xfrm>
            <a:off x="1903889" y="3772518"/>
            <a:ext cx="2225682" cy="145176"/>
            <a:chOff x="3327015" y="2690196"/>
            <a:chExt cx="2225682" cy="145176"/>
          </a:xfrm>
        </p:grpSpPr>
        <p:sp>
          <p:nvSpPr>
            <p:cNvPr id="158" name="직사각형 157">
              <a:extLst>
                <a:ext uri="{FF2B5EF4-FFF2-40B4-BE49-F238E27FC236}">
                  <a16:creationId xmlns:a16="http://schemas.microsoft.com/office/drawing/2014/main" id="{699747F6-895C-76AF-8C81-C711672CD76E}"/>
                </a:ext>
              </a:extLst>
            </p:cNvPr>
            <p:cNvSpPr/>
            <p:nvPr/>
          </p:nvSpPr>
          <p:spPr>
            <a:xfrm>
              <a:off x="3327015" y="2691364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재학증명서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59" name="직사각형 158">
              <a:extLst>
                <a:ext uri="{FF2B5EF4-FFF2-40B4-BE49-F238E27FC236}">
                  <a16:creationId xmlns:a16="http://schemas.microsoft.com/office/drawing/2014/main" id="{85B710A6-9AB3-316F-5B5C-26572EAD3966}"/>
                </a:ext>
              </a:extLst>
            </p:cNvPr>
            <p:cNvSpPr/>
            <p:nvPr/>
          </p:nvSpPr>
          <p:spPr>
            <a:xfrm>
              <a:off x="4980013" y="2691356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제출</a:t>
              </a:r>
            </a:p>
          </p:txBody>
        </p:sp>
        <p:sp>
          <p:nvSpPr>
            <p:cNvPr id="160" name="직사각형 159">
              <a:extLst>
                <a:ext uri="{FF2B5EF4-FFF2-40B4-BE49-F238E27FC236}">
                  <a16:creationId xmlns:a16="http://schemas.microsoft.com/office/drawing/2014/main" id="{A5319A46-758A-3763-92BF-0127F21ADC35}"/>
                </a:ext>
              </a:extLst>
            </p:cNvPr>
            <p:cNvSpPr/>
            <p:nvPr/>
          </p:nvSpPr>
          <p:spPr>
            <a:xfrm>
              <a:off x="5288523" y="2690196"/>
              <a:ext cx="264174" cy="144016"/>
            </a:xfrm>
            <a:prstGeom prst="rect">
              <a:avLst/>
            </a:prstGeom>
            <a:solidFill>
              <a:srgbClr val="66FF66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61" name="그룹 160">
            <a:extLst>
              <a:ext uri="{FF2B5EF4-FFF2-40B4-BE49-F238E27FC236}">
                <a16:creationId xmlns:a16="http://schemas.microsoft.com/office/drawing/2014/main" id="{8A8AB63E-E44A-799E-50BC-5D9A46BAFCB1}"/>
              </a:ext>
            </a:extLst>
          </p:cNvPr>
          <p:cNvGrpSpPr/>
          <p:nvPr/>
        </p:nvGrpSpPr>
        <p:grpSpPr>
          <a:xfrm>
            <a:off x="1903889" y="4017691"/>
            <a:ext cx="2225682" cy="145176"/>
            <a:chOff x="3327015" y="2690196"/>
            <a:chExt cx="2225682" cy="145176"/>
          </a:xfrm>
        </p:grpSpPr>
        <p:sp>
          <p:nvSpPr>
            <p:cNvPr id="162" name="직사각형 161">
              <a:extLst>
                <a:ext uri="{FF2B5EF4-FFF2-40B4-BE49-F238E27FC236}">
                  <a16:creationId xmlns:a16="http://schemas.microsoft.com/office/drawing/2014/main" id="{951328DE-2BCA-AD32-7FAE-59BCA0B48C40}"/>
                </a:ext>
              </a:extLst>
            </p:cNvPr>
            <p:cNvSpPr/>
            <p:nvPr/>
          </p:nvSpPr>
          <p:spPr>
            <a:xfrm>
              <a:off x="3327015" y="2691364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고등학교졸업증명서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63" name="직사각형 162">
              <a:extLst>
                <a:ext uri="{FF2B5EF4-FFF2-40B4-BE49-F238E27FC236}">
                  <a16:creationId xmlns:a16="http://schemas.microsoft.com/office/drawing/2014/main" id="{6B3D09BA-7D39-688E-E68B-C86E8CA70575}"/>
                </a:ext>
              </a:extLst>
            </p:cNvPr>
            <p:cNvSpPr/>
            <p:nvPr/>
          </p:nvSpPr>
          <p:spPr>
            <a:xfrm>
              <a:off x="4980013" y="2691356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제출</a:t>
              </a:r>
            </a:p>
          </p:txBody>
        </p:sp>
        <p:sp>
          <p:nvSpPr>
            <p:cNvPr id="164" name="직사각형 163">
              <a:extLst>
                <a:ext uri="{FF2B5EF4-FFF2-40B4-BE49-F238E27FC236}">
                  <a16:creationId xmlns:a16="http://schemas.microsoft.com/office/drawing/2014/main" id="{3D8860CB-EFDE-DBDF-0DA3-031C1A1A6B5F}"/>
                </a:ext>
              </a:extLst>
            </p:cNvPr>
            <p:cNvSpPr/>
            <p:nvPr/>
          </p:nvSpPr>
          <p:spPr>
            <a:xfrm>
              <a:off x="5288523" y="2690196"/>
              <a:ext cx="264174" cy="144016"/>
            </a:xfrm>
            <a:prstGeom prst="rect">
              <a:avLst/>
            </a:prstGeom>
            <a:solidFill>
              <a:srgbClr val="66FF66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65" name="그룹 164">
            <a:extLst>
              <a:ext uri="{FF2B5EF4-FFF2-40B4-BE49-F238E27FC236}">
                <a16:creationId xmlns:a16="http://schemas.microsoft.com/office/drawing/2014/main" id="{A539A8DF-237A-CB45-F17A-FF7197B842B4}"/>
              </a:ext>
            </a:extLst>
          </p:cNvPr>
          <p:cNvGrpSpPr/>
          <p:nvPr/>
        </p:nvGrpSpPr>
        <p:grpSpPr>
          <a:xfrm>
            <a:off x="1902634" y="2380094"/>
            <a:ext cx="505750" cy="144462"/>
            <a:chOff x="2716253" y="2405617"/>
            <a:chExt cx="505750" cy="144462"/>
          </a:xfrm>
        </p:grpSpPr>
        <p:sp>
          <p:nvSpPr>
            <p:cNvPr id="166" name="Rectangle 191">
              <a:extLst>
                <a:ext uri="{FF2B5EF4-FFF2-40B4-BE49-F238E27FC236}">
                  <a16:creationId xmlns:a16="http://schemas.microsoft.com/office/drawing/2014/main" id="{8639D3D4-7373-D944-1344-E9C8F85365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359073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우수인재</a:t>
              </a:r>
            </a:p>
          </p:txBody>
        </p:sp>
        <p:graphicFrame>
          <p:nvGraphicFramePr>
            <p:cNvPr id="193" name="개체 192">
              <a:extLst>
                <a:ext uri="{FF2B5EF4-FFF2-40B4-BE49-F238E27FC236}">
                  <a16:creationId xmlns:a16="http://schemas.microsoft.com/office/drawing/2014/main" id="{E4B372E3-A348-B918-E503-151B4592F98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2" imgW="145435" imgH="145435" progId="Visio.Drawing.11">
                    <p:embed/>
                  </p:oleObj>
                </mc:Choice>
                <mc:Fallback>
                  <p:oleObj name="Visio" r:id="rId2" imgW="145435" imgH="145435" progId="Visio.Drawing.11">
                    <p:embed/>
                    <p:pic>
                      <p:nvPicPr>
                        <p:cNvPr id="68" name="개체 67">
                          <a:extLst>
                            <a:ext uri="{FF2B5EF4-FFF2-40B4-BE49-F238E27FC236}">
                              <a16:creationId xmlns:a16="http://schemas.microsoft.com/office/drawing/2014/main" id="{E4B372E3-A348-B918-E503-151B4592F98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4" name="그룹 193">
            <a:extLst>
              <a:ext uri="{FF2B5EF4-FFF2-40B4-BE49-F238E27FC236}">
                <a16:creationId xmlns:a16="http://schemas.microsoft.com/office/drawing/2014/main" id="{340EC27E-F93B-8D0C-4C3C-F15A90F688F1}"/>
              </a:ext>
            </a:extLst>
          </p:cNvPr>
          <p:cNvGrpSpPr/>
          <p:nvPr/>
        </p:nvGrpSpPr>
        <p:grpSpPr>
          <a:xfrm>
            <a:off x="2501660" y="2623499"/>
            <a:ext cx="326896" cy="144463"/>
            <a:chOff x="3327015" y="1527346"/>
            <a:chExt cx="326896" cy="144463"/>
          </a:xfrm>
        </p:grpSpPr>
        <p:sp>
          <p:nvSpPr>
            <p:cNvPr id="197" name="Rectangle 191">
              <a:extLst>
                <a:ext uri="{FF2B5EF4-FFF2-40B4-BE49-F238E27FC236}">
                  <a16:creationId xmlns:a16="http://schemas.microsoft.com/office/drawing/2014/main" id="{D3FE114F-D17C-9021-1BD8-59F7BE7FB3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4375" y="1539830"/>
              <a:ext cx="179536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일반</a:t>
              </a:r>
            </a:p>
          </p:txBody>
        </p:sp>
        <p:graphicFrame>
          <p:nvGraphicFramePr>
            <p:cNvPr id="198" name="개체 197">
              <a:extLst>
                <a:ext uri="{FF2B5EF4-FFF2-40B4-BE49-F238E27FC236}">
                  <a16:creationId xmlns:a16="http://schemas.microsoft.com/office/drawing/2014/main" id="{813DA2EC-116F-A97A-07D1-FDD7027A65D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27015" y="1527346"/>
            <a:ext cx="144462" cy="144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5" imgW="145435" imgH="145435" progId="Visio.Drawing.11">
                    <p:embed/>
                  </p:oleObj>
                </mc:Choice>
                <mc:Fallback>
                  <p:oleObj name="Visio" r:id="rId5" imgW="145435" imgH="145435" progId="Visio.Drawing.11">
                    <p:embed/>
                    <p:pic>
                      <p:nvPicPr>
                        <p:cNvPr id="71" name="개체 70">
                          <a:extLst>
                            <a:ext uri="{FF2B5EF4-FFF2-40B4-BE49-F238E27FC236}">
                              <a16:creationId xmlns:a16="http://schemas.microsoft.com/office/drawing/2014/main" id="{813DA2EC-116F-A97A-07D1-FDD7027A65D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27015" y="1527346"/>
                          <a:ext cx="144462" cy="1444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2ECDE71E-B241-2BBD-F4C7-D160458577B3}"/>
              </a:ext>
            </a:extLst>
          </p:cNvPr>
          <p:cNvSpPr/>
          <p:nvPr/>
        </p:nvSpPr>
        <p:spPr>
          <a:xfrm>
            <a:off x="6397011" y="5715276"/>
            <a:ext cx="392727" cy="19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목록</a:t>
            </a:r>
          </a:p>
        </p:txBody>
      </p:sp>
      <p:sp>
        <p:nvSpPr>
          <p:cNvPr id="200" name="직사각형 199">
            <a:extLst>
              <a:ext uri="{FF2B5EF4-FFF2-40B4-BE49-F238E27FC236}">
                <a16:creationId xmlns:a16="http://schemas.microsoft.com/office/drawing/2014/main" id="{D46E7CA7-2AEC-E390-383D-0B600E73B16B}"/>
              </a:ext>
            </a:extLst>
          </p:cNvPr>
          <p:cNvSpPr/>
          <p:nvPr/>
        </p:nvSpPr>
        <p:spPr>
          <a:xfrm>
            <a:off x="5936915" y="5715276"/>
            <a:ext cx="392727" cy="198000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신청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03A2FBE-95ED-F819-22BD-5F62FCBEB786}"/>
              </a:ext>
            </a:extLst>
          </p:cNvPr>
          <p:cNvSpPr/>
          <p:nvPr/>
        </p:nvSpPr>
        <p:spPr>
          <a:xfrm>
            <a:off x="2745778" y="2844098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성적증빙자료</a:t>
            </a:r>
            <a:r>
              <a:rPr kumimoji="0" lang="en-US" altLang="ko-KR" sz="7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.zip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9C3D68E-0080-1F2D-D191-DBFF76B1FBBA}"/>
              </a:ext>
            </a:extLst>
          </p:cNvPr>
          <p:cNvSpPr/>
          <p:nvPr/>
        </p:nvSpPr>
        <p:spPr>
          <a:xfrm>
            <a:off x="4398776" y="2844090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0ED6B29-4E84-4A73-C70C-F484DDD85F1D}"/>
              </a:ext>
            </a:extLst>
          </p:cNvPr>
          <p:cNvSpPr/>
          <p:nvPr/>
        </p:nvSpPr>
        <p:spPr>
          <a:xfrm>
            <a:off x="4707286" y="2844090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Rectangle 191">
            <a:extLst>
              <a:ext uri="{FF2B5EF4-FFF2-40B4-BE49-F238E27FC236}">
                <a16:creationId xmlns:a16="http://schemas.microsoft.com/office/drawing/2014/main" id="{8DE8A9AE-7DE2-D896-C8F5-7BA0C367C6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3154" y="2865456"/>
            <a:ext cx="17953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성적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D126580-3D3B-9509-D211-ED9CCC96A1CC}"/>
              </a:ext>
            </a:extLst>
          </p:cNvPr>
          <p:cNvSpPr/>
          <p:nvPr/>
        </p:nvSpPr>
        <p:spPr>
          <a:xfrm>
            <a:off x="2117788" y="2844098"/>
            <a:ext cx="36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4.5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Rectangle 191">
            <a:extLst>
              <a:ext uri="{FF2B5EF4-FFF2-40B4-BE49-F238E27FC236}">
                <a16:creationId xmlns:a16="http://schemas.microsoft.com/office/drawing/2014/main" id="{52D2B5B2-055B-7990-E967-EA7950D408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6323" y="2865456"/>
            <a:ext cx="17953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첨부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6F30A7C-541B-479D-08BE-2C35C91CFDD0}"/>
              </a:ext>
            </a:extLst>
          </p:cNvPr>
          <p:cNvSpPr/>
          <p:nvPr/>
        </p:nvSpPr>
        <p:spPr>
          <a:xfrm>
            <a:off x="2912143" y="3315096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주민등록초본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3278122-7F97-F87A-137D-5FE073F4B036}"/>
              </a:ext>
            </a:extLst>
          </p:cNvPr>
          <p:cNvSpPr/>
          <p:nvPr/>
        </p:nvSpPr>
        <p:spPr>
          <a:xfrm>
            <a:off x="4565141" y="3315088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6ECFFCB-2BCB-A19E-C801-A2D85AF15808}"/>
              </a:ext>
            </a:extLst>
          </p:cNvPr>
          <p:cNvSpPr/>
          <p:nvPr/>
        </p:nvSpPr>
        <p:spPr>
          <a:xfrm>
            <a:off x="4873548" y="3315080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</a:p>
        </p:txBody>
      </p:sp>
      <p:sp>
        <p:nvSpPr>
          <p:cNvPr id="15" name="Rectangle 191">
            <a:extLst>
              <a:ext uri="{FF2B5EF4-FFF2-40B4-BE49-F238E27FC236}">
                <a16:creationId xmlns:a16="http://schemas.microsoft.com/office/drawing/2014/main" id="{3A0C85C7-A77A-561E-E0D0-73D725A0F6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7872" y="3330372"/>
            <a:ext cx="17953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첨부</a:t>
            </a:r>
          </a:p>
        </p:txBody>
      </p:sp>
      <p:sp>
        <p:nvSpPr>
          <p:cNvPr id="16" name="Rectangle 191">
            <a:extLst>
              <a:ext uri="{FF2B5EF4-FFF2-40B4-BE49-F238E27FC236}">
                <a16:creationId xmlns:a16="http://schemas.microsoft.com/office/drawing/2014/main" id="{EAB275F0-075F-7D88-2C9E-ADC02FA147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2634" y="3330798"/>
            <a:ext cx="359073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거주기간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88DAC0F-BC67-FC02-CC8A-82F4C9AD3177}"/>
              </a:ext>
            </a:extLst>
          </p:cNvPr>
          <p:cNvSpPr/>
          <p:nvPr/>
        </p:nvSpPr>
        <p:spPr>
          <a:xfrm>
            <a:off x="2285966" y="3309440"/>
            <a:ext cx="36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년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AA5DCE1D-0713-22E3-64CB-8101D635AC86}"/>
              </a:ext>
            </a:extLst>
          </p:cNvPr>
          <p:cNvSpPr>
            <a:spLocks noChangeAspect="1"/>
          </p:cNvSpPr>
          <p:nvPr/>
        </p:nvSpPr>
        <p:spPr>
          <a:xfrm>
            <a:off x="2669556" y="2478946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4D208033-AE22-0B32-E0C8-CE4C972AE88F}"/>
              </a:ext>
            </a:extLst>
          </p:cNvPr>
          <p:cNvSpPr>
            <a:spLocks noChangeAspect="1"/>
          </p:cNvSpPr>
          <p:nvPr/>
        </p:nvSpPr>
        <p:spPr>
          <a:xfrm>
            <a:off x="512127" y="2853383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0BB5FC2E-69C3-A05B-FB28-96CF41F11C02}"/>
              </a:ext>
            </a:extLst>
          </p:cNvPr>
          <p:cNvSpPr>
            <a:spLocks noChangeAspect="1"/>
          </p:cNvSpPr>
          <p:nvPr/>
        </p:nvSpPr>
        <p:spPr>
          <a:xfrm>
            <a:off x="512127" y="3313773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088EFB77-021A-18F4-8F7F-59B8DD41B991}"/>
              </a:ext>
            </a:extLst>
          </p:cNvPr>
          <p:cNvGrpSpPr/>
          <p:nvPr/>
        </p:nvGrpSpPr>
        <p:grpSpPr>
          <a:xfrm>
            <a:off x="1900611" y="3076911"/>
            <a:ext cx="2704513" cy="144016"/>
            <a:chOff x="1897884" y="2847629"/>
            <a:chExt cx="2704513" cy="144016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69EBF2EF-D345-05EE-385A-82B5AFF69048}"/>
                </a:ext>
              </a:extLst>
            </p:cNvPr>
            <p:cNvSpPr/>
            <p:nvPr/>
          </p:nvSpPr>
          <p:spPr>
            <a:xfrm>
              <a:off x="1897884" y="2847637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추천서</a:t>
              </a:r>
              <a:r>
                <a:rPr kumimoji="0" lang="en-US" altLang="ko-KR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0BFFA35A-8721-2F0E-A403-410B81FF5FAA}"/>
                </a:ext>
              </a:extLst>
            </p:cNvPr>
            <p:cNvSpPr/>
            <p:nvPr/>
          </p:nvSpPr>
          <p:spPr>
            <a:xfrm>
              <a:off x="3550882" y="2847629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제출</a:t>
              </a: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C2B3A0FC-8A30-8D34-90D4-3D81F88B8838}"/>
                </a:ext>
              </a:extLst>
            </p:cNvPr>
            <p:cNvSpPr/>
            <p:nvPr/>
          </p:nvSpPr>
          <p:spPr>
            <a:xfrm>
              <a:off x="3859392" y="2847629"/>
              <a:ext cx="264174" cy="144016"/>
            </a:xfrm>
            <a:prstGeom prst="rect">
              <a:avLst/>
            </a:prstGeom>
            <a:solidFill>
              <a:srgbClr val="66FF66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925A6507-66A2-7CAE-A8B4-9B210AADD218}"/>
                </a:ext>
              </a:extLst>
            </p:cNvPr>
            <p:cNvSpPr/>
            <p:nvPr/>
          </p:nvSpPr>
          <p:spPr>
            <a:xfrm>
              <a:off x="4176942" y="2847629"/>
              <a:ext cx="425455" cy="14401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양식받기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5A1C3107-B243-4A30-7F0B-2489753547C4}"/>
              </a:ext>
            </a:extLst>
          </p:cNvPr>
          <p:cNvGrpSpPr/>
          <p:nvPr/>
        </p:nvGrpSpPr>
        <p:grpSpPr>
          <a:xfrm>
            <a:off x="1900611" y="5193196"/>
            <a:ext cx="2386963" cy="144016"/>
            <a:chOff x="1897884" y="4476806"/>
            <a:chExt cx="2386963" cy="144016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87732A73-2612-9C73-DED9-BE86AA151FB4}"/>
                </a:ext>
              </a:extLst>
            </p:cNvPr>
            <p:cNvSpPr/>
            <p:nvPr/>
          </p:nvSpPr>
          <p:spPr>
            <a:xfrm>
              <a:off x="1897884" y="4476814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41056F83-37E7-3933-69FB-57BAE7BF2F89}"/>
                </a:ext>
              </a:extLst>
            </p:cNvPr>
            <p:cNvSpPr/>
            <p:nvPr/>
          </p:nvSpPr>
          <p:spPr>
            <a:xfrm>
              <a:off x="3550882" y="4476806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추가</a:t>
              </a: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2D0D925B-6735-F49E-3DF4-ED4C0EA190AC}"/>
                </a:ext>
              </a:extLst>
            </p:cNvPr>
            <p:cNvSpPr/>
            <p:nvPr/>
          </p:nvSpPr>
          <p:spPr>
            <a:xfrm>
              <a:off x="3859392" y="4476806"/>
              <a:ext cx="425455" cy="14401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양식받기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8A522BA-FFF8-7719-0325-A71504D7EFC9}"/>
              </a:ext>
            </a:extLst>
          </p:cNvPr>
          <p:cNvSpPr/>
          <p:nvPr/>
        </p:nvSpPr>
        <p:spPr>
          <a:xfrm>
            <a:off x="668524" y="5157192"/>
            <a:ext cx="6121214" cy="21600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8255E088-DA9F-9142-7384-4966E27FD197}"/>
              </a:ext>
            </a:extLst>
          </p:cNvPr>
          <p:cNvSpPr>
            <a:spLocks noChangeAspect="1"/>
          </p:cNvSpPr>
          <p:nvPr/>
        </p:nvSpPr>
        <p:spPr>
          <a:xfrm>
            <a:off x="512127" y="5201143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F80F7FF-2C8E-1D8E-C7EE-F6584734BCEA}"/>
              </a:ext>
            </a:extLst>
          </p:cNvPr>
          <p:cNvSpPr/>
          <p:nvPr/>
        </p:nvSpPr>
        <p:spPr>
          <a:xfrm>
            <a:off x="668524" y="3042521"/>
            <a:ext cx="6121214" cy="21600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A5F990BA-E263-03DF-F222-E3850F34604E}"/>
              </a:ext>
            </a:extLst>
          </p:cNvPr>
          <p:cNvSpPr>
            <a:spLocks noChangeAspect="1"/>
          </p:cNvSpPr>
          <p:nvPr/>
        </p:nvSpPr>
        <p:spPr>
          <a:xfrm>
            <a:off x="512127" y="3086472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043613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D2357-BF2D-E42B-5CC3-B783E9C8B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F2B1989-4BC2-DBF8-5537-CB07E3D29044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고등학생장학금 신청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2130D68-21D4-26E5-90A1-D9C4DC777179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프로그램신청관리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고등학생장학금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장학금신청</a:t>
            </a: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EBA19200-0107-1E64-261C-05F2CC8BCD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9098943"/>
              </p:ext>
            </p:extLst>
          </p:nvPr>
        </p:nvGraphicFramePr>
        <p:xfrm>
          <a:off x="6969418" y="2548005"/>
          <a:ext cx="2772114" cy="3199939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프로그램신청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대학생장학금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조회 화면 목록에서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신청하기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클릭 시 보이는 화면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전형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지역인재육성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만학도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전형별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성적증빙자료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성적증빙자료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성적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성적증빙자료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기반 성적을 직접 입력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첨부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제출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제출 서류 파일 선택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첨부완료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받기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시 첨부된 제출 서류 파일 다운로드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추천서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첨부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제출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제출 서류 파일 선택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첨부완료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받기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시 첨부된 제출 서류 파일 다운로드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양식받기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시 추천서 양식 파일을 다운 받는다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주민등록초본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거주기간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신청 회원의 거주기간을 입력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첨부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제출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제출 서류 파일 선택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첨부완료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받기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시 첨부된 제출 서류 파일 다운로드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첨부파일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추가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] : 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추가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파일 선택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첨부 설정완료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파일받기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파일명 클릭 시 첨부된 파일 다운로드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[x]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 첨부된 해당 파일 삭제 처리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양식받기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시 추천서 양식 파일을 다운 받는다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B7B39073-4794-81DE-E4DF-CAF85D36DD7F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pau_application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D4DAA8C-7F48-F27C-E2E0-D0C73E21AE96}"/>
              </a:ext>
            </a:extLst>
          </p:cNvPr>
          <p:cNvSpPr/>
          <p:nvPr/>
        </p:nvSpPr>
        <p:spPr>
          <a:xfrm>
            <a:off x="165100" y="1376363"/>
            <a:ext cx="6732116" cy="5113337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E1C917F-6293-EA63-ECAA-F8B0B646EF83}"/>
              </a:ext>
            </a:extLst>
          </p:cNvPr>
          <p:cNvSpPr/>
          <p:nvPr/>
        </p:nvSpPr>
        <p:spPr>
          <a:xfrm>
            <a:off x="292846" y="1448780"/>
            <a:ext cx="1099660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800" b="1" dirty="0">
                <a:solidFill>
                  <a:prstClr val="black"/>
                </a:solidFill>
              </a:rPr>
              <a:t>대학생 장학금 신청정보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E4313FC-8999-AA4C-9319-44F880AB7E86}"/>
              </a:ext>
            </a:extLst>
          </p:cNvPr>
          <p:cNvGraphicFramePr>
            <a:graphicFrameLocks noGrp="1"/>
          </p:cNvGraphicFramePr>
          <p:nvPr/>
        </p:nvGraphicFramePr>
        <p:xfrm>
          <a:off x="272480" y="1628800"/>
          <a:ext cx="6517258" cy="39904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054">
                  <a:extLst>
                    <a:ext uri="{9D8B030D-6E8A-4147-A177-3AD203B41FA5}">
                      <a16:colId xmlns:a16="http://schemas.microsoft.com/office/drawing/2014/main" val="3668863434"/>
                    </a:ext>
                  </a:extLst>
                </a:gridCol>
                <a:gridCol w="4921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구분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대학생 장학금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894265"/>
                  </a:ext>
                </a:extLst>
              </a:tr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</a:t>
                      </a:r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하반기 대학생 장학금 신청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접수기간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2025.09.20 10:00 </a:t>
                      </a:r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~ 2025.09.30 10:00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4735">
                <a:tc rowSpan="2"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전형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4735">
                <a:tc gridSpan="2"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1090955"/>
                  </a:ext>
                </a:extLst>
              </a:tr>
              <a:tr h="234735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전형별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성적증빙자료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2230354"/>
                  </a:ext>
                </a:extLst>
              </a:tr>
              <a:tr h="234735">
                <a:tc rowSpan="1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공통 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추천서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주민등록초본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1958612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주민등록등본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164179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재학증명서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799673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고등학교 졸업증명서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3894158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국민기초생활보장수급자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차상위계층확인서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한부모가족보호대상확인서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장애인증명서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첨부파일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8089092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8418894"/>
                  </a:ext>
                </a:extLst>
              </a:tr>
            </a:tbl>
          </a:graphicData>
        </a:graphic>
      </p:graphicFrame>
      <p:grpSp>
        <p:nvGrpSpPr>
          <p:cNvPr id="76" name="그룹 75">
            <a:extLst>
              <a:ext uri="{FF2B5EF4-FFF2-40B4-BE49-F238E27FC236}">
                <a16:creationId xmlns:a16="http://schemas.microsoft.com/office/drawing/2014/main" id="{76E283A0-79D5-1057-DD3F-FB28AE2EDA57}"/>
              </a:ext>
            </a:extLst>
          </p:cNvPr>
          <p:cNvGrpSpPr/>
          <p:nvPr/>
        </p:nvGrpSpPr>
        <p:grpSpPr>
          <a:xfrm>
            <a:off x="2480232" y="2380094"/>
            <a:ext cx="505750" cy="144462"/>
            <a:chOff x="2716253" y="2405617"/>
            <a:chExt cx="505750" cy="144462"/>
          </a:xfrm>
        </p:grpSpPr>
        <p:sp>
          <p:nvSpPr>
            <p:cNvPr id="77" name="Rectangle 191">
              <a:extLst>
                <a:ext uri="{FF2B5EF4-FFF2-40B4-BE49-F238E27FC236}">
                  <a16:creationId xmlns:a16="http://schemas.microsoft.com/office/drawing/2014/main" id="{DB810472-525C-DDC2-A7EA-F67BBC436E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359073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희망인재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graphicFrame>
          <p:nvGraphicFramePr>
            <p:cNvPr id="78" name="개체 77">
              <a:extLst>
                <a:ext uri="{FF2B5EF4-FFF2-40B4-BE49-F238E27FC236}">
                  <a16:creationId xmlns:a16="http://schemas.microsoft.com/office/drawing/2014/main" id="{E3ACE425-526E-070A-3502-B53EE11EAFA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2" imgW="145435" imgH="145435" progId="Visio.Drawing.11">
                    <p:embed/>
                  </p:oleObj>
                </mc:Choice>
                <mc:Fallback>
                  <p:oleObj name="Visio" r:id="rId2" imgW="145435" imgH="145435" progId="Visio.Drawing.11">
                    <p:embed/>
                    <p:pic>
                      <p:nvPicPr>
                        <p:cNvPr id="78" name="개체 77">
                          <a:extLst>
                            <a:ext uri="{FF2B5EF4-FFF2-40B4-BE49-F238E27FC236}">
                              <a16:creationId xmlns:a16="http://schemas.microsoft.com/office/drawing/2014/main" id="{ADDCFDA7-240D-B4DE-23D7-EB9E4BECBDC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561BAC33-18AA-67FA-8EF0-58EDEC1E3064}"/>
              </a:ext>
            </a:extLst>
          </p:cNvPr>
          <p:cNvGrpSpPr/>
          <p:nvPr/>
        </p:nvGrpSpPr>
        <p:grpSpPr>
          <a:xfrm>
            <a:off x="3057041" y="2380094"/>
            <a:ext cx="595518" cy="144462"/>
            <a:chOff x="2716253" y="2405617"/>
            <a:chExt cx="595518" cy="144462"/>
          </a:xfrm>
        </p:grpSpPr>
        <p:sp>
          <p:nvSpPr>
            <p:cNvPr id="80" name="Rectangle 191">
              <a:extLst>
                <a:ext uri="{FF2B5EF4-FFF2-40B4-BE49-F238E27FC236}">
                  <a16:creationId xmlns:a16="http://schemas.microsoft.com/office/drawing/2014/main" id="{B7CEFAB8-1A3B-730A-31A8-2876F22711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448841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근로자자녀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graphicFrame>
          <p:nvGraphicFramePr>
            <p:cNvPr id="81" name="개체 80">
              <a:extLst>
                <a:ext uri="{FF2B5EF4-FFF2-40B4-BE49-F238E27FC236}">
                  <a16:creationId xmlns:a16="http://schemas.microsoft.com/office/drawing/2014/main" id="{4BA7BC38-A73B-D646-9F20-63F53FA0BC0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2" imgW="145435" imgH="145435" progId="Visio.Drawing.11">
                    <p:embed/>
                  </p:oleObj>
                </mc:Choice>
                <mc:Fallback>
                  <p:oleObj name="Visio" r:id="rId2" imgW="145435" imgH="145435" progId="Visio.Drawing.11">
                    <p:embed/>
                    <p:pic>
                      <p:nvPicPr>
                        <p:cNvPr id="81" name="개체 80">
                          <a:extLst>
                            <a:ext uri="{FF2B5EF4-FFF2-40B4-BE49-F238E27FC236}">
                              <a16:creationId xmlns:a16="http://schemas.microsoft.com/office/drawing/2014/main" id="{18E6D4D7-8604-8635-F5EF-BC69A7651FF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1E8E136B-2D58-CE33-40BA-C5CB69F3EDA9}"/>
              </a:ext>
            </a:extLst>
          </p:cNvPr>
          <p:cNvGrpSpPr/>
          <p:nvPr/>
        </p:nvGrpSpPr>
        <p:grpSpPr>
          <a:xfrm>
            <a:off x="3707325" y="2380094"/>
            <a:ext cx="775054" cy="144462"/>
            <a:chOff x="2716253" y="2405617"/>
            <a:chExt cx="775054" cy="144462"/>
          </a:xfrm>
        </p:grpSpPr>
        <p:sp>
          <p:nvSpPr>
            <p:cNvPr id="83" name="Rectangle 191">
              <a:extLst>
                <a:ext uri="{FF2B5EF4-FFF2-40B4-BE49-F238E27FC236}">
                  <a16:creationId xmlns:a16="http://schemas.microsoft.com/office/drawing/2014/main" id="{85D45863-64E6-96D3-A9E3-27AA24BA9A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628377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다자녀가정자녀</a:t>
              </a:r>
            </a:p>
          </p:txBody>
        </p:sp>
        <p:graphicFrame>
          <p:nvGraphicFramePr>
            <p:cNvPr id="84" name="개체 83">
              <a:extLst>
                <a:ext uri="{FF2B5EF4-FFF2-40B4-BE49-F238E27FC236}">
                  <a16:creationId xmlns:a16="http://schemas.microsoft.com/office/drawing/2014/main" id="{A527027F-9A4A-C2E1-5067-BF8BF9DE2C7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2" imgW="145435" imgH="145435" progId="Visio.Drawing.11">
                    <p:embed/>
                  </p:oleObj>
                </mc:Choice>
                <mc:Fallback>
                  <p:oleObj name="Visio" r:id="rId2" imgW="145435" imgH="145435" progId="Visio.Drawing.11">
                    <p:embed/>
                    <p:pic>
                      <p:nvPicPr>
                        <p:cNvPr id="84" name="개체 83">
                          <a:extLst>
                            <a:ext uri="{FF2B5EF4-FFF2-40B4-BE49-F238E27FC236}">
                              <a16:creationId xmlns:a16="http://schemas.microsoft.com/office/drawing/2014/main" id="{AA116120-0747-5461-A806-E8E5E217731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96081109-B6E3-B600-F6C5-7E11F696BB58}"/>
              </a:ext>
            </a:extLst>
          </p:cNvPr>
          <p:cNvGrpSpPr/>
          <p:nvPr/>
        </p:nvGrpSpPr>
        <p:grpSpPr>
          <a:xfrm>
            <a:off x="4537986" y="2380094"/>
            <a:ext cx="775054" cy="144462"/>
            <a:chOff x="2716253" y="2405617"/>
            <a:chExt cx="775054" cy="144462"/>
          </a:xfrm>
        </p:grpSpPr>
        <p:sp>
          <p:nvSpPr>
            <p:cNvPr id="86" name="Rectangle 191">
              <a:extLst>
                <a:ext uri="{FF2B5EF4-FFF2-40B4-BE49-F238E27FC236}">
                  <a16:creationId xmlns:a16="http://schemas.microsoft.com/office/drawing/2014/main" id="{563F73AA-611C-22F0-5062-D91D013A60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628377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다문화가정자녀</a:t>
              </a:r>
            </a:p>
          </p:txBody>
        </p:sp>
        <p:graphicFrame>
          <p:nvGraphicFramePr>
            <p:cNvPr id="87" name="개체 86">
              <a:extLst>
                <a:ext uri="{FF2B5EF4-FFF2-40B4-BE49-F238E27FC236}">
                  <a16:creationId xmlns:a16="http://schemas.microsoft.com/office/drawing/2014/main" id="{E47AB67A-BF2A-596A-BDB2-653C155B1EC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2" imgW="145435" imgH="145435" progId="Visio.Drawing.11">
                    <p:embed/>
                  </p:oleObj>
                </mc:Choice>
                <mc:Fallback>
                  <p:oleObj name="Visio" r:id="rId2" imgW="145435" imgH="145435" progId="Visio.Drawing.11">
                    <p:embed/>
                    <p:pic>
                      <p:nvPicPr>
                        <p:cNvPr id="87" name="개체 86">
                          <a:extLst>
                            <a:ext uri="{FF2B5EF4-FFF2-40B4-BE49-F238E27FC236}">
                              <a16:creationId xmlns:a16="http://schemas.microsoft.com/office/drawing/2014/main" id="{C8845CBA-DF33-17C7-F0A3-E3A826C8A3B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AB82249F-CD9C-3C60-04ED-A2CACCE6229D}"/>
              </a:ext>
            </a:extLst>
          </p:cNvPr>
          <p:cNvSpPr/>
          <p:nvPr/>
        </p:nvSpPr>
        <p:spPr>
          <a:xfrm>
            <a:off x="1903889" y="4257100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국민기초생활보장수급자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11C3297E-7FB6-CEFF-1534-69527722A8AE}"/>
              </a:ext>
            </a:extLst>
          </p:cNvPr>
          <p:cNvSpPr/>
          <p:nvPr/>
        </p:nvSpPr>
        <p:spPr>
          <a:xfrm>
            <a:off x="3556887" y="4257092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9B707FEB-15A6-436A-9E31-84DF8C1116A5}"/>
              </a:ext>
            </a:extLst>
          </p:cNvPr>
          <p:cNvSpPr/>
          <p:nvPr/>
        </p:nvSpPr>
        <p:spPr>
          <a:xfrm>
            <a:off x="1903889" y="4493844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차상위계층확인서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24EB5ACB-3705-C881-C8CF-05D3223AAFA0}"/>
              </a:ext>
            </a:extLst>
          </p:cNvPr>
          <p:cNvSpPr/>
          <p:nvPr/>
        </p:nvSpPr>
        <p:spPr>
          <a:xfrm>
            <a:off x="3556887" y="4493836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D456A22A-F8EF-A7BB-B00B-1A06EC4BC0F8}"/>
              </a:ext>
            </a:extLst>
          </p:cNvPr>
          <p:cNvSpPr/>
          <p:nvPr/>
        </p:nvSpPr>
        <p:spPr>
          <a:xfrm>
            <a:off x="1903889" y="4723096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4D4EBF4A-AB21-C644-7C32-A19BECB0C434}"/>
              </a:ext>
            </a:extLst>
          </p:cNvPr>
          <p:cNvSpPr/>
          <p:nvPr/>
        </p:nvSpPr>
        <p:spPr>
          <a:xfrm>
            <a:off x="3556887" y="4723088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3C8FDEA9-5F4A-8913-5BD7-1C8C06444826}"/>
              </a:ext>
            </a:extLst>
          </p:cNvPr>
          <p:cNvSpPr/>
          <p:nvPr/>
        </p:nvSpPr>
        <p:spPr>
          <a:xfrm>
            <a:off x="1903889" y="4961278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0656B343-BF6E-3310-1584-4CC21BB0EC39}"/>
              </a:ext>
            </a:extLst>
          </p:cNvPr>
          <p:cNvSpPr/>
          <p:nvPr/>
        </p:nvSpPr>
        <p:spPr>
          <a:xfrm>
            <a:off x="3556887" y="4961270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grpSp>
        <p:nvGrpSpPr>
          <p:cNvPr id="136" name="그룹 135">
            <a:extLst>
              <a:ext uri="{FF2B5EF4-FFF2-40B4-BE49-F238E27FC236}">
                <a16:creationId xmlns:a16="http://schemas.microsoft.com/office/drawing/2014/main" id="{4F01A27A-BF4D-AA4A-65EA-CEDAF0978562}"/>
              </a:ext>
            </a:extLst>
          </p:cNvPr>
          <p:cNvGrpSpPr/>
          <p:nvPr/>
        </p:nvGrpSpPr>
        <p:grpSpPr>
          <a:xfrm>
            <a:off x="1939170" y="5457147"/>
            <a:ext cx="1105196" cy="128396"/>
            <a:chOff x="3438680" y="4305150"/>
            <a:chExt cx="1105196" cy="128396"/>
          </a:xfrm>
        </p:grpSpPr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648F3B6D-502C-11C2-3286-625A62EB1EF8}"/>
                </a:ext>
              </a:extLst>
            </p:cNvPr>
            <p:cNvSpPr txBox="1"/>
            <p:nvPr/>
          </p:nvSpPr>
          <p:spPr>
            <a:xfrm>
              <a:off x="3438680" y="4305150"/>
              <a:ext cx="971420" cy="10772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신청 관련 부가 서류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38" name="Picture 10">
              <a:extLst>
                <a:ext uri="{FF2B5EF4-FFF2-40B4-BE49-F238E27FC236}">
                  <a16:creationId xmlns:a16="http://schemas.microsoft.com/office/drawing/2014/main" id="{FE5C7723-5AAF-3C90-006F-348C773E4AB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7418" y="4312303"/>
              <a:ext cx="106458" cy="121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39" name="그룹 138">
            <a:extLst>
              <a:ext uri="{FF2B5EF4-FFF2-40B4-BE49-F238E27FC236}">
                <a16:creationId xmlns:a16="http://schemas.microsoft.com/office/drawing/2014/main" id="{A7892C28-8E78-FC7E-B987-22398B6E3AD4}"/>
              </a:ext>
            </a:extLst>
          </p:cNvPr>
          <p:cNvGrpSpPr/>
          <p:nvPr/>
        </p:nvGrpSpPr>
        <p:grpSpPr>
          <a:xfrm>
            <a:off x="3125583" y="5457147"/>
            <a:ext cx="1105196" cy="128396"/>
            <a:chOff x="3438680" y="4305150"/>
            <a:chExt cx="1105196" cy="128396"/>
          </a:xfrm>
        </p:grpSpPr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782B4843-70F6-E259-7849-92C7E6A8A7F3}"/>
                </a:ext>
              </a:extLst>
            </p:cNvPr>
            <p:cNvSpPr txBox="1"/>
            <p:nvPr/>
          </p:nvSpPr>
          <p:spPr>
            <a:xfrm>
              <a:off x="3438680" y="4305150"/>
              <a:ext cx="971420" cy="10772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신청 관련 부가 서류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41" name="Picture 10">
              <a:extLst>
                <a:ext uri="{FF2B5EF4-FFF2-40B4-BE49-F238E27FC236}">
                  <a16:creationId xmlns:a16="http://schemas.microsoft.com/office/drawing/2014/main" id="{D065F2FB-71D3-13C9-8DAE-BD933566D6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7418" y="4312303"/>
              <a:ext cx="106458" cy="121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45" name="그룹 144">
            <a:extLst>
              <a:ext uri="{FF2B5EF4-FFF2-40B4-BE49-F238E27FC236}">
                <a16:creationId xmlns:a16="http://schemas.microsoft.com/office/drawing/2014/main" id="{A350A47B-E1A6-FC04-98D0-4D94F696DC3F}"/>
              </a:ext>
            </a:extLst>
          </p:cNvPr>
          <p:cNvGrpSpPr/>
          <p:nvPr/>
        </p:nvGrpSpPr>
        <p:grpSpPr>
          <a:xfrm>
            <a:off x="1903889" y="3548830"/>
            <a:ext cx="2225682" cy="145176"/>
            <a:chOff x="3327015" y="2690196"/>
            <a:chExt cx="2225682" cy="145176"/>
          </a:xfrm>
        </p:grpSpPr>
        <p:sp>
          <p:nvSpPr>
            <p:cNvPr id="146" name="직사각형 145">
              <a:extLst>
                <a:ext uri="{FF2B5EF4-FFF2-40B4-BE49-F238E27FC236}">
                  <a16:creationId xmlns:a16="http://schemas.microsoft.com/office/drawing/2014/main" id="{FD7A63CD-F316-92A4-9244-CD51FDA1D071}"/>
                </a:ext>
              </a:extLst>
            </p:cNvPr>
            <p:cNvSpPr/>
            <p:nvPr/>
          </p:nvSpPr>
          <p:spPr>
            <a:xfrm>
              <a:off x="3327015" y="2691364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주민등록등본</a:t>
              </a:r>
              <a:r>
                <a:rPr kumimoji="0" lang="en-US" altLang="ko-KR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47" name="직사각형 146">
              <a:extLst>
                <a:ext uri="{FF2B5EF4-FFF2-40B4-BE49-F238E27FC236}">
                  <a16:creationId xmlns:a16="http://schemas.microsoft.com/office/drawing/2014/main" id="{80BB6C18-9C0F-2E62-D308-19046318B361}"/>
                </a:ext>
              </a:extLst>
            </p:cNvPr>
            <p:cNvSpPr/>
            <p:nvPr/>
          </p:nvSpPr>
          <p:spPr>
            <a:xfrm>
              <a:off x="4980013" y="2691356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제출</a:t>
              </a:r>
            </a:p>
          </p:txBody>
        </p:sp>
        <p:sp>
          <p:nvSpPr>
            <p:cNvPr id="148" name="직사각형 147">
              <a:extLst>
                <a:ext uri="{FF2B5EF4-FFF2-40B4-BE49-F238E27FC236}">
                  <a16:creationId xmlns:a16="http://schemas.microsoft.com/office/drawing/2014/main" id="{FC3A5E42-9DA1-79C4-CF3D-26EF08DB90F1}"/>
                </a:ext>
              </a:extLst>
            </p:cNvPr>
            <p:cNvSpPr/>
            <p:nvPr/>
          </p:nvSpPr>
          <p:spPr>
            <a:xfrm>
              <a:off x="5288523" y="2690196"/>
              <a:ext cx="264174" cy="144016"/>
            </a:xfrm>
            <a:prstGeom prst="rect">
              <a:avLst/>
            </a:prstGeom>
            <a:solidFill>
              <a:srgbClr val="66FF66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AE73682C-DDF4-3027-FE2E-35F5085177AF}"/>
              </a:ext>
            </a:extLst>
          </p:cNvPr>
          <p:cNvSpPr/>
          <p:nvPr/>
        </p:nvSpPr>
        <p:spPr>
          <a:xfrm>
            <a:off x="3865397" y="4257133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EA2A7B16-9C42-27E9-8DE1-84DF7EEF409F}"/>
              </a:ext>
            </a:extLst>
          </p:cNvPr>
          <p:cNvSpPr/>
          <p:nvPr/>
        </p:nvSpPr>
        <p:spPr>
          <a:xfrm>
            <a:off x="3865397" y="4493218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36D039D2-FBA2-3469-D549-CB825AD8254E}"/>
              </a:ext>
            </a:extLst>
          </p:cNvPr>
          <p:cNvSpPr/>
          <p:nvPr/>
        </p:nvSpPr>
        <p:spPr>
          <a:xfrm>
            <a:off x="3865397" y="4717193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BC23247A-FD0B-4D08-5623-2D0E3DA35EB2}"/>
              </a:ext>
            </a:extLst>
          </p:cNvPr>
          <p:cNvSpPr/>
          <p:nvPr/>
        </p:nvSpPr>
        <p:spPr>
          <a:xfrm>
            <a:off x="3865397" y="4963138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57" name="그룹 156">
            <a:extLst>
              <a:ext uri="{FF2B5EF4-FFF2-40B4-BE49-F238E27FC236}">
                <a16:creationId xmlns:a16="http://schemas.microsoft.com/office/drawing/2014/main" id="{07451C0C-E695-C827-23D9-CD53BA31C509}"/>
              </a:ext>
            </a:extLst>
          </p:cNvPr>
          <p:cNvGrpSpPr/>
          <p:nvPr/>
        </p:nvGrpSpPr>
        <p:grpSpPr>
          <a:xfrm>
            <a:off x="1903889" y="3772518"/>
            <a:ext cx="2225682" cy="145176"/>
            <a:chOff x="3327015" y="2690196"/>
            <a:chExt cx="2225682" cy="145176"/>
          </a:xfrm>
        </p:grpSpPr>
        <p:sp>
          <p:nvSpPr>
            <p:cNvPr id="158" name="직사각형 157">
              <a:extLst>
                <a:ext uri="{FF2B5EF4-FFF2-40B4-BE49-F238E27FC236}">
                  <a16:creationId xmlns:a16="http://schemas.microsoft.com/office/drawing/2014/main" id="{F050E87A-01E3-A6E4-932E-A0B749F312E1}"/>
                </a:ext>
              </a:extLst>
            </p:cNvPr>
            <p:cNvSpPr/>
            <p:nvPr/>
          </p:nvSpPr>
          <p:spPr>
            <a:xfrm>
              <a:off x="3327015" y="2691364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재학증명서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59" name="직사각형 158">
              <a:extLst>
                <a:ext uri="{FF2B5EF4-FFF2-40B4-BE49-F238E27FC236}">
                  <a16:creationId xmlns:a16="http://schemas.microsoft.com/office/drawing/2014/main" id="{F3C667D4-DC46-FE32-8779-BD5A8974E132}"/>
                </a:ext>
              </a:extLst>
            </p:cNvPr>
            <p:cNvSpPr/>
            <p:nvPr/>
          </p:nvSpPr>
          <p:spPr>
            <a:xfrm>
              <a:off x="4980013" y="2691356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제출</a:t>
              </a:r>
            </a:p>
          </p:txBody>
        </p:sp>
        <p:sp>
          <p:nvSpPr>
            <p:cNvPr id="160" name="직사각형 159">
              <a:extLst>
                <a:ext uri="{FF2B5EF4-FFF2-40B4-BE49-F238E27FC236}">
                  <a16:creationId xmlns:a16="http://schemas.microsoft.com/office/drawing/2014/main" id="{DAF394AB-F81A-DC09-C37A-256C24559761}"/>
                </a:ext>
              </a:extLst>
            </p:cNvPr>
            <p:cNvSpPr/>
            <p:nvPr/>
          </p:nvSpPr>
          <p:spPr>
            <a:xfrm>
              <a:off x="5288523" y="2690196"/>
              <a:ext cx="264174" cy="144016"/>
            </a:xfrm>
            <a:prstGeom prst="rect">
              <a:avLst/>
            </a:prstGeom>
            <a:solidFill>
              <a:srgbClr val="66FF66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61" name="그룹 160">
            <a:extLst>
              <a:ext uri="{FF2B5EF4-FFF2-40B4-BE49-F238E27FC236}">
                <a16:creationId xmlns:a16="http://schemas.microsoft.com/office/drawing/2014/main" id="{6E957E34-1A75-3771-1C26-67E97FF2BC8C}"/>
              </a:ext>
            </a:extLst>
          </p:cNvPr>
          <p:cNvGrpSpPr/>
          <p:nvPr/>
        </p:nvGrpSpPr>
        <p:grpSpPr>
          <a:xfrm>
            <a:off x="1903889" y="4017691"/>
            <a:ext cx="2225682" cy="145176"/>
            <a:chOff x="3327015" y="2690196"/>
            <a:chExt cx="2225682" cy="145176"/>
          </a:xfrm>
        </p:grpSpPr>
        <p:sp>
          <p:nvSpPr>
            <p:cNvPr id="162" name="직사각형 161">
              <a:extLst>
                <a:ext uri="{FF2B5EF4-FFF2-40B4-BE49-F238E27FC236}">
                  <a16:creationId xmlns:a16="http://schemas.microsoft.com/office/drawing/2014/main" id="{6E945087-66C0-6A12-1FE4-D998F7CBDEED}"/>
                </a:ext>
              </a:extLst>
            </p:cNvPr>
            <p:cNvSpPr/>
            <p:nvPr/>
          </p:nvSpPr>
          <p:spPr>
            <a:xfrm>
              <a:off x="3327015" y="2691364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고등학교졸업증명서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63" name="직사각형 162">
              <a:extLst>
                <a:ext uri="{FF2B5EF4-FFF2-40B4-BE49-F238E27FC236}">
                  <a16:creationId xmlns:a16="http://schemas.microsoft.com/office/drawing/2014/main" id="{CB3F1D51-6FD6-313C-DF71-9E6489F92120}"/>
                </a:ext>
              </a:extLst>
            </p:cNvPr>
            <p:cNvSpPr/>
            <p:nvPr/>
          </p:nvSpPr>
          <p:spPr>
            <a:xfrm>
              <a:off x="4980013" y="2691356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제출</a:t>
              </a:r>
            </a:p>
          </p:txBody>
        </p:sp>
        <p:sp>
          <p:nvSpPr>
            <p:cNvPr id="164" name="직사각형 163">
              <a:extLst>
                <a:ext uri="{FF2B5EF4-FFF2-40B4-BE49-F238E27FC236}">
                  <a16:creationId xmlns:a16="http://schemas.microsoft.com/office/drawing/2014/main" id="{E8835C67-FA30-0BC3-7B2F-1EDBA858F690}"/>
                </a:ext>
              </a:extLst>
            </p:cNvPr>
            <p:cNvSpPr/>
            <p:nvPr/>
          </p:nvSpPr>
          <p:spPr>
            <a:xfrm>
              <a:off x="5288523" y="2690196"/>
              <a:ext cx="264174" cy="144016"/>
            </a:xfrm>
            <a:prstGeom prst="rect">
              <a:avLst/>
            </a:prstGeom>
            <a:solidFill>
              <a:srgbClr val="66FF66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65" name="그룹 164">
            <a:extLst>
              <a:ext uri="{FF2B5EF4-FFF2-40B4-BE49-F238E27FC236}">
                <a16:creationId xmlns:a16="http://schemas.microsoft.com/office/drawing/2014/main" id="{D5398E76-7BF5-10A2-D03F-BAF55EF62895}"/>
              </a:ext>
            </a:extLst>
          </p:cNvPr>
          <p:cNvGrpSpPr/>
          <p:nvPr/>
        </p:nvGrpSpPr>
        <p:grpSpPr>
          <a:xfrm>
            <a:off x="1902634" y="2380094"/>
            <a:ext cx="505750" cy="144462"/>
            <a:chOff x="2716253" y="2405617"/>
            <a:chExt cx="505750" cy="144462"/>
          </a:xfrm>
        </p:grpSpPr>
        <p:sp>
          <p:nvSpPr>
            <p:cNvPr id="166" name="Rectangle 191">
              <a:extLst>
                <a:ext uri="{FF2B5EF4-FFF2-40B4-BE49-F238E27FC236}">
                  <a16:creationId xmlns:a16="http://schemas.microsoft.com/office/drawing/2014/main" id="{9FE395CD-628B-26C0-353E-45BEC5237B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359073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우수인재</a:t>
              </a:r>
            </a:p>
          </p:txBody>
        </p:sp>
        <p:graphicFrame>
          <p:nvGraphicFramePr>
            <p:cNvPr id="193" name="개체 192">
              <a:extLst>
                <a:ext uri="{FF2B5EF4-FFF2-40B4-BE49-F238E27FC236}">
                  <a16:creationId xmlns:a16="http://schemas.microsoft.com/office/drawing/2014/main" id="{F5A152F9-639F-1F98-C51C-F2455ABA66F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2" imgW="145435" imgH="145435" progId="Visio.Drawing.11">
                    <p:embed/>
                  </p:oleObj>
                </mc:Choice>
                <mc:Fallback>
                  <p:oleObj name="Visio" r:id="rId2" imgW="145435" imgH="145435" progId="Visio.Drawing.11">
                    <p:embed/>
                    <p:pic>
                      <p:nvPicPr>
                        <p:cNvPr id="193" name="개체 192">
                          <a:extLst>
                            <a:ext uri="{FF2B5EF4-FFF2-40B4-BE49-F238E27FC236}">
                              <a16:creationId xmlns:a16="http://schemas.microsoft.com/office/drawing/2014/main" id="{E4B372E3-A348-B918-E503-151B4592F98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413520FE-7629-4679-9D4A-7A4252B55E6D}"/>
              </a:ext>
            </a:extLst>
          </p:cNvPr>
          <p:cNvSpPr/>
          <p:nvPr/>
        </p:nvSpPr>
        <p:spPr>
          <a:xfrm>
            <a:off x="6397011" y="5715276"/>
            <a:ext cx="392727" cy="19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목록</a:t>
            </a:r>
          </a:p>
        </p:txBody>
      </p:sp>
      <p:sp>
        <p:nvSpPr>
          <p:cNvPr id="200" name="직사각형 199">
            <a:extLst>
              <a:ext uri="{FF2B5EF4-FFF2-40B4-BE49-F238E27FC236}">
                <a16:creationId xmlns:a16="http://schemas.microsoft.com/office/drawing/2014/main" id="{6E5BA3FD-FB03-6EC6-6939-11F72F340EF7}"/>
              </a:ext>
            </a:extLst>
          </p:cNvPr>
          <p:cNvSpPr/>
          <p:nvPr/>
        </p:nvSpPr>
        <p:spPr>
          <a:xfrm>
            <a:off x="5936915" y="5715276"/>
            <a:ext cx="392727" cy="198000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신청</a:t>
            </a:r>
          </a:p>
        </p:txBody>
      </p:sp>
      <p:sp>
        <p:nvSpPr>
          <p:cNvPr id="2" name="Rectangle 191">
            <a:extLst>
              <a:ext uri="{FF2B5EF4-FFF2-40B4-BE49-F238E27FC236}">
                <a16:creationId xmlns:a16="http://schemas.microsoft.com/office/drawing/2014/main" id="{BB0A9CB3-C438-EA5C-E7D6-8DA6F50FBB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2634" y="2631267"/>
            <a:ext cx="1394613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지역인재육성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                         )</a:t>
            </a:r>
            <a:endParaRPr kumimoji="0" lang="ko-KR" altLang="en-US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ECC2939D-0344-B735-A314-CA691613571F}"/>
              </a:ext>
            </a:extLst>
          </p:cNvPr>
          <p:cNvGrpSpPr/>
          <p:nvPr/>
        </p:nvGrpSpPr>
        <p:grpSpPr>
          <a:xfrm>
            <a:off x="2480368" y="2619289"/>
            <a:ext cx="318262" cy="144462"/>
            <a:chOff x="2716253" y="2405617"/>
            <a:chExt cx="318262" cy="144462"/>
          </a:xfrm>
        </p:grpSpPr>
        <p:sp>
          <p:nvSpPr>
            <p:cNvPr id="20" name="Rectangle 191">
              <a:extLst>
                <a:ext uri="{FF2B5EF4-FFF2-40B4-BE49-F238E27FC236}">
                  <a16:creationId xmlns:a16="http://schemas.microsoft.com/office/drawing/2014/main" id="{4A879C39-7638-108D-AA8B-EC9F74A554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4979" y="2416036"/>
              <a:ext cx="179536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일반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graphicFrame>
          <p:nvGraphicFramePr>
            <p:cNvPr id="22" name="개체 21">
              <a:extLst>
                <a:ext uri="{FF2B5EF4-FFF2-40B4-BE49-F238E27FC236}">
                  <a16:creationId xmlns:a16="http://schemas.microsoft.com/office/drawing/2014/main" id="{06DB02F3-1F12-83FF-3551-3F41A865088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2" imgW="145435" imgH="145435" progId="Visio.Drawing.11">
                    <p:embed/>
                  </p:oleObj>
                </mc:Choice>
                <mc:Fallback>
                  <p:oleObj name="Visio" r:id="rId2" imgW="145435" imgH="145435" progId="Visio.Drawing.11">
                    <p:embed/>
                    <p:pic>
                      <p:nvPicPr>
                        <p:cNvPr id="18" name="개체 17">
                          <a:extLst>
                            <a:ext uri="{FF2B5EF4-FFF2-40B4-BE49-F238E27FC236}">
                              <a16:creationId xmlns:a16="http://schemas.microsoft.com/office/drawing/2014/main" id="{06DB02F3-1F12-83FF-3551-3F41A865088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BCB65D4E-B16E-1246-DAE0-7154D56A83A0}"/>
              </a:ext>
            </a:extLst>
          </p:cNvPr>
          <p:cNvGrpSpPr/>
          <p:nvPr/>
        </p:nvGrpSpPr>
        <p:grpSpPr>
          <a:xfrm>
            <a:off x="2824877" y="2621247"/>
            <a:ext cx="416664" cy="144463"/>
            <a:chOff x="3327015" y="1527346"/>
            <a:chExt cx="416664" cy="144463"/>
          </a:xfrm>
        </p:grpSpPr>
        <p:sp>
          <p:nvSpPr>
            <p:cNvPr id="24" name="Rectangle 191">
              <a:extLst>
                <a:ext uri="{FF2B5EF4-FFF2-40B4-BE49-F238E27FC236}">
                  <a16:creationId xmlns:a16="http://schemas.microsoft.com/office/drawing/2014/main" id="{D6A0EA9E-316D-C2F7-8E68-74DFB894A0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4375" y="1539830"/>
              <a:ext cx="269304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만학도</a:t>
              </a:r>
            </a:p>
          </p:txBody>
        </p:sp>
        <p:graphicFrame>
          <p:nvGraphicFramePr>
            <p:cNvPr id="25" name="개체 24">
              <a:extLst>
                <a:ext uri="{FF2B5EF4-FFF2-40B4-BE49-F238E27FC236}">
                  <a16:creationId xmlns:a16="http://schemas.microsoft.com/office/drawing/2014/main" id="{9D7ED230-7222-DCDD-E23B-11E473F44F2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27015" y="1527346"/>
            <a:ext cx="144462" cy="144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5" imgW="145435" imgH="145435" progId="Visio.Drawing.11">
                    <p:embed/>
                  </p:oleObj>
                </mc:Choice>
                <mc:Fallback>
                  <p:oleObj name="Visio" r:id="rId5" imgW="145435" imgH="145435" progId="Visio.Drawing.11">
                    <p:embed/>
                    <p:pic>
                      <p:nvPicPr>
                        <p:cNvPr id="15" name="개체 14">
                          <a:extLst>
                            <a:ext uri="{FF2B5EF4-FFF2-40B4-BE49-F238E27FC236}">
                              <a16:creationId xmlns:a16="http://schemas.microsoft.com/office/drawing/2014/main" id="{9D7ED230-7222-DCDD-E23B-11E473F44F2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27015" y="1527346"/>
                          <a:ext cx="144462" cy="1444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" name="직사각형 3">
            <a:extLst>
              <a:ext uri="{FF2B5EF4-FFF2-40B4-BE49-F238E27FC236}">
                <a16:creationId xmlns:a16="http://schemas.microsoft.com/office/drawing/2014/main" id="{1582E7C1-D1BC-F4F6-32A6-5BBA9E6804E3}"/>
              </a:ext>
            </a:extLst>
          </p:cNvPr>
          <p:cNvSpPr/>
          <p:nvPr/>
        </p:nvSpPr>
        <p:spPr>
          <a:xfrm>
            <a:off x="2745778" y="2844098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성적증빙자료</a:t>
            </a:r>
            <a:r>
              <a:rPr kumimoji="0" lang="en-US" altLang="ko-KR" sz="7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.zip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4AEC14F-1B62-5C8D-7BE2-575365A8DB86}"/>
              </a:ext>
            </a:extLst>
          </p:cNvPr>
          <p:cNvSpPr/>
          <p:nvPr/>
        </p:nvSpPr>
        <p:spPr>
          <a:xfrm>
            <a:off x="4398776" y="2844090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5676C4E-AA77-5E46-84D4-94FB84DE8F2B}"/>
              </a:ext>
            </a:extLst>
          </p:cNvPr>
          <p:cNvSpPr/>
          <p:nvPr/>
        </p:nvSpPr>
        <p:spPr>
          <a:xfrm>
            <a:off x="4707286" y="2844090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Rectangle 191">
            <a:extLst>
              <a:ext uri="{FF2B5EF4-FFF2-40B4-BE49-F238E27FC236}">
                <a16:creationId xmlns:a16="http://schemas.microsoft.com/office/drawing/2014/main" id="{79C533ED-CD00-A6EC-8963-6422BEC94D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3154" y="2865456"/>
            <a:ext cx="17953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성적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5363072-A3D6-5786-1272-07148E052E56}"/>
              </a:ext>
            </a:extLst>
          </p:cNvPr>
          <p:cNvSpPr/>
          <p:nvPr/>
        </p:nvSpPr>
        <p:spPr>
          <a:xfrm>
            <a:off x="2117788" y="2844098"/>
            <a:ext cx="36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4.5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Rectangle 191">
            <a:extLst>
              <a:ext uri="{FF2B5EF4-FFF2-40B4-BE49-F238E27FC236}">
                <a16:creationId xmlns:a16="http://schemas.microsoft.com/office/drawing/2014/main" id="{2CF9A953-2E28-DF31-0BC8-6DAE58B4E5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6323" y="2865456"/>
            <a:ext cx="17953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첨부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2CB9FFF-2605-7FC3-A10F-604394C716C6}"/>
              </a:ext>
            </a:extLst>
          </p:cNvPr>
          <p:cNvSpPr/>
          <p:nvPr/>
        </p:nvSpPr>
        <p:spPr>
          <a:xfrm>
            <a:off x="2912143" y="3315096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주민등록초본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F44F9FB-D0B0-1AAD-AEE4-D7619FD6AD9A}"/>
              </a:ext>
            </a:extLst>
          </p:cNvPr>
          <p:cNvSpPr/>
          <p:nvPr/>
        </p:nvSpPr>
        <p:spPr>
          <a:xfrm>
            <a:off x="4565141" y="3315088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D09D27D-C1A5-0D98-3693-9CF47CA3DCDB}"/>
              </a:ext>
            </a:extLst>
          </p:cNvPr>
          <p:cNvSpPr/>
          <p:nvPr/>
        </p:nvSpPr>
        <p:spPr>
          <a:xfrm>
            <a:off x="4873548" y="3315080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</a:p>
        </p:txBody>
      </p:sp>
      <p:sp>
        <p:nvSpPr>
          <p:cNvPr id="16" name="Rectangle 191">
            <a:extLst>
              <a:ext uri="{FF2B5EF4-FFF2-40B4-BE49-F238E27FC236}">
                <a16:creationId xmlns:a16="http://schemas.microsoft.com/office/drawing/2014/main" id="{A35DB586-05E7-AFB4-8864-2C8FEEA9F2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7872" y="3330372"/>
            <a:ext cx="17953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첨부</a:t>
            </a:r>
          </a:p>
        </p:txBody>
      </p:sp>
      <p:sp>
        <p:nvSpPr>
          <p:cNvPr id="17" name="Rectangle 191">
            <a:extLst>
              <a:ext uri="{FF2B5EF4-FFF2-40B4-BE49-F238E27FC236}">
                <a16:creationId xmlns:a16="http://schemas.microsoft.com/office/drawing/2014/main" id="{596245A2-DB36-C81B-913D-FFF42E2390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2634" y="3330798"/>
            <a:ext cx="359073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거주기간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D954F4C-0D39-CA84-B3F5-0C87AECC1291}"/>
              </a:ext>
            </a:extLst>
          </p:cNvPr>
          <p:cNvSpPr/>
          <p:nvPr/>
        </p:nvSpPr>
        <p:spPr>
          <a:xfrm>
            <a:off x="2285966" y="3309440"/>
            <a:ext cx="36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년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AA94C26F-C155-CAD9-3208-F1460A4C6471}"/>
              </a:ext>
            </a:extLst>
          </p:cNvPr>
          <p:cNvSpPr>
            <a:spLocks noChangeAspect="1"/>
          </p:cNvSpPr>
          <p:nvPr/>
        </p:nvSpPr>
        <p:spPr>
          <a:xfrm>
            <a:off x="3032653" y="2478946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BE9FB7B9-34E0-9480-8DC0-F7C3F5EE158B}"/>
              </a:ext>
            </a:extLst>
          </p:cNvPr>
          <p:cNvSpPr>
            <a:spLocks noChangeAspect="1"/>
          </p:cNvSpPr>
          <p:nvPr/>
        </p:nvSpPr>
        <p:spPr>
          <a:xfrm>
            <a:off x="512127" y="2853383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C0A74E44-0D76-3C28-7EED-70B4BA1A628A}"/>
              </a:ext>
            </a:extLst>
          </p:cNvPr>
          <p:cNvSpPr>
            <a:spLocks noChangeAspect="1"/>
          </p:cNvSpPr>
          <p:nvPr/>
        </p:nvSpPr>
        <p:spPr>
          <a:xfrm>
            <a:off x="512127" y="3313773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6AE8F97F-175E-ED42-C00B-3DF56204B532}"/>
              </a:ext>
            </a:extLst>
          </p:cNvPr>
          <p:cNvGrpSpPr/>
          <p:nvPr/>
        </p:nvGrpSpPr>
        <p:grpSpPr>
          <a:xfrm>
            <a:off x="1900611" y="3076911"/>
            <a:ext cx="2704513" cy="144016"/>
            <a:chOff x="1897884" y="2847629"/>
            <a:chExt cx="2704513" cy="144016"/>
          </a:xfrm>
        </p:grpSpPr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11F85FE7-D0A9-F715-BD0F-E547A42812A6}"/>
                </a:ext>
              </a:extLst>
            </p:cNvPr>
            <p:cNvSpPr/>
            <p:nvPr/>
          </p:nvSpPr>
          <p:spPr>
            <a:xfrm>
              <a:off x="1897884" y="2847637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추천서</a:t>
              </a:r>
              <a:r>
                <a:rPr kumimoji="0" lang="en-US" altLang="ko-KR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CD105D14-8EF6-9B10-E3F2-5D0CA1BD984B}"/>
                </a:ext>
              </a:extLst>
            </p:cNvPr>
            <p:cNvSpPr/>
            <p:nvPr/>
          </p:nvSpPr>
          <p:spPr>
            <a:xfrm>
              <a:off x="3550882" y="2847629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제출</a:t>
              </a:r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5EDEF6B4-A3D9-5475-CA7A-907936118AE7}"/>
                </a:ext>
              </a:extLst>
            </p:cNvPr>
            <p:cNvSpPr/>
            <p:nvPr/>
          </p:nvSpPr>
          <p:spPr>
            <a:xfrm>
              <a:off x="3859392" y="2847629"/>
              <a:ext cx="264174" cy="144016"/>
            </a:xfrm>
            <a:prstGeom prst="rect">
              <a:avLst/>
            </a:prstGeom>
            <a:solidFill>
              <a:srgbClr val="66FF66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259D62E3-1A54-5039-5167-1FA594215156}"/>
                </a:ext>
              </a:extLst>
            </p:cNvPr>
            <p:cNvSpPr/>
            <p:nvPr/>
          </p:nvSpPr>
          <p:spPr>
            <a:xfrm>
              <a:off x="4176942" y="2847629"/>
              <a:ext cx="425455" cy="14401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양식받기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26903C8A-FE2D-D2FB-3EF5-84C2B2DB2013}"/>
              </a:ext>
            </a:extLst>
          </p:cNvPr>
          <p:cNvGrpSpPr/>
          <p:nvPr/>
        </p:nvGrpSpPr>
        <p:grpSpPr>
          <a:xfrm>
            <a:off x="1900611" y="5193196"/>
            <a:ext cx="2386963" cy="144016"/>
            <a:chOff x="1897884" y="4476806"/>
            <a:chExt cx="2386963" cy="144016"/>
          </a:xfrm>
        </p:grpSpPr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6DBBA9B1-AFCB-B0F2-3F7F-64E8D8ECCA21}"/>
                </a:ext>
              </a:extLst>
            </p:cNvPr>
            <p:cNvSpPr/>
            <p:nvPr/>
          </p:nvSpPr>
          <p:spPr>
            <a:xfrm>
              <a:off x="1897884" y="4476814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C8639500-8F5C-81F7-9557-5D165E00C01B}"/>
                </a:ext>
              </a:extLst>
            </p:cNvPr>
            <p:cNvSpPr/>
            <p:nvPr/>
          </p:nvSpPr>
          <p:spPr>
            <a:xfrm>
              <a:off x="3550882" y="4476806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추가</a:t>
              </a:r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328A1CB3-197B-E4E6-E54C-B3C263A76ED5}"/>
                </a:ext>
              </a:extLst>
            </p:cNvPr>
            <p:cNvSpPr/>
            <p:nvPr/>
          </p:nvSpPr>
          <p:spPr>
            <a:xfrm>
              <a:off x="3859392" y="4476806"/>
              <a:ext cx="425455" cy="14401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양식받기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558C8107-E5AB-E064-19B2-A080C0CF2CFA}"/>
              </a:ext>
            </a:extLst>
          </p:cNvPr>
          <p:cNvSpPr/>
          <p:nvPr/>
        </p:nvSpPr>
        <p:spPr>
          <a:xfrm>
            <a:off x="668524" y="5157192"/>
            <a:ext cx="6121214" cy="21600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89571565-61CA-DB28-0EC5-CCA3B3BEB975}"/>
              </a:ext>
            </a:extLst>
          </p:cNvPr>
          <p:cNvSpPr>
            <a:spLocks noChangeAspect="1"/>
          </p:cNvSpPr>
          <p:nvPr/>
        </p:nvSpPr>
        <p:spPr>
          <a:xfrm>
            <a:off x="512127" y="5201143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E811FC25-9CB2-754E-926F-37CD4A373908}"/>
              </a:ext>
            </a:extLst>
          </p:cNvPr>
          <p:cNvSpPr/>
          <p:nvPr/>
        </p:nvSpPr>
        <p:spPr>
          <a:xfrm>
            <a:off x="668524" y="3042521"/>
            <a:ext cx="6121214" cy="21600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1860BF66-2057-E540-A8FE-C578920B61CA}"/>
              </a:ext>
            </a:extLst>
          </p:cNvPr>
          <p:cNvSpPr>
            <a:spLocks noChangeAspect="1"/>
          </p:cNvSpPr>
          <p:nvPr/>
        </p:nvSpPr>
        <p:spPr>
          <a:xfrm>
            <a:off x="512127" y="3086472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945766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CF56E-6B96-C769-D01C-4BC6CE09F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44">
            <a:extLst>
              <a:ext uri="{FF2B5EF4-FFF2-40B4-BE49-F238E27FC236}">
                <a16:creationId xmlns:a16="http://schemas.microsoft.com/office/drawing/2014/main" id="{AB31DEBE-E1F0-5DAA-E2F2-8C06A9D08611}"/>
              </a:ext>
            </a:extLst>
          </p:cNvPr>
          <p:cNvSpPr txBox="1"/>
          <p:nvPr/>
        </p:nvSpPr>
        <p:spPr>
          <a:xfrm rot="16200000">
            <a:off x="-432110" y="1197338"/>
            <a:ext cx="23066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Noto Sans" panose="020B0502040504020204" pitchFamily="34" charset="0"/>
                <a:ea typeface="맑은 고딕" panose="020B0503020000020004" pitchFamily="50" charset="-127"/>
                <a:cs typeface="+mn-cs"/>
              </a:rPr>
              <a:t>C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D7D7D7"/>
                </a:solidFill>
                <a:effectLst/>
                <a:uLnTx/>
                <a:uFillTx/>
                <a:latin typeface="Noto Sans" panose="020B0502040504020204" pitchFamily="34" charset="0"/>
                <a:ea typeface="맑은 고딕" panose="020B0503020000020004" pitchFamily="50" charset="-127"/>
                <a:cs typeface="+mn-cs"/>
              </a:rPr>
              <a:t>O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Noto Sans" panose="020B0502040504020204" pitchFamily="34" charset="0"/>
                <a:ea typeface="맑은 고딕" panose="020B0503020000020004" pitchFamily="50" charset="-127"/>
                <a:cs typeface="+mn-cs"/>
              </a:rPr>
              <a:t>NTENT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Noto Sans" panose="020B0502040504020204" pitchFamily="34" charset="0"/>
                <a:ea typeface="맑은 고딕" panose="020B0503020000020004" pitchFamily="50" charset="-127"/>
                <a:cs typeface="+mn-cs"/>
              </a:rPr>
              <a:t>S</a:t>
            </a:r>
            <a:endParaRPr kumimoji="0" lang="ko-KR" altLang="en-US" sz="3000" b="1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Noto Sans" panose="020B050204050402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0" name="Text Box 11">
            <a:extLst>
              <a:ext uri="{FF2B5EF4-FFF2-40B4-BE49-F238E27FC236}">
                <a16:creationId xmlns:a16="http://schemas.microsoft.com/office/drawing/2014/main" id="{A214DD16-83C4-0AEA-EB11-23CCCA1D02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5436" y="2140622"/>
            <a:ext cx="4765463" cy="677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굴림" pitchFamily="50" charset="-127"/>
              </a:rPr>
              <a:t>특기생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굴림" pitchFamily="50" charset="-127"/>
              </a:rPr>
              <a:t> 대상 장학금 신청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굴림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굴림" pitchFamily="50" charset="-127"/>
              </a:rPr>
              <a:t>● </a:t>
            </a: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굴림" pitchFamily="50" charset="-127"/>
              </a:rPr>
              <a:t>특기생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굴림" pitchFamily="50" charset="-127"/>
              </a:rPr>
              <a:t> 장학금 프로그램 조회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굴림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굴림" pitchFamily="50" charset="-127"/>
              </a:rPr>
              <a:t>● 장학금 신청 등록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굴림" pitchFamily="50" charset="-127"/>
            </a:endParaRPr>
          </a:p>
        </p:txBody>
      </p:sp>
      <p:sp>
        <p:nvSpPr>
          <p:cNvPr id="31" name="Text Box 5">
            <a:extLst>
              <a:ext uri="{FF2B5EF4-FFF2-40B4-BE49-F238E27FC236}">
                <a16:creationId xmlns:a16="http://schemas.microsoft.com/office/drawing/2014/main" id="{33312108-E88A-E984-B2A8-114AFC48FC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6305" y="1477454"/>
            <a:ext cx="3703099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Noto Sans" panose="020B0502040504020204" pitchFamily="34" charset="0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Noto Sans" panose="020B0502040504020204" pitchFamily="34" charset="0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Noto Sans" panose="020B0502040504020204" pitchFamily="34" charset="0"/>
                <a:ea typeface="맑은 고딕" panose="020B0503020000020004" pitchFamily="50" charset="-127"/>
                <a:cs typeface="+mn-cs"/>
              </a:rPr>
              <a:t>프로그램신청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Noto Sans" panose="020B0502040504020204" pitchFamily="34" charset="0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Noto Sans" panose="020B0502040504020204" pitchFamily="34" charset="0"/>
                <a:ea typeface="맑은 고딕" panose="020B0503020000020004" pitchFamily="50" charset="-127"/>
                <a:cs typeface="+mn-cs"/>
              </a:rPr>
              <a:t>특기생장학금</a:t>
            </a: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Noto Sans" panose="020B050204050402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TextBox 13">
            <a:extLst>
              <a:ext uri="{FF2B5EF4-FFF2-40B4-BE49-F238E27FC236}">
                <a16:creationId xmlns:a16="http://schemas.microsoft.com/office/drawing/2014/main" id="{47E95689-424B-E6E7-345A-1C3668773E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0483" y="1369732"/>
            <a:ext cx="764953" cy="55399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0</a:t>
            </a:r>
            <a:r>
              <a:rPr lang="en-US" altLang="ko-KR" sz="20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rPr>
              <a:t>3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058793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5B3E4-7DED-AC5E-7A3E-716CA9BA0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Group 1091">
            <a:extLst>
              <a:ext uri="{FF2B5EF4-FFF2-40B4-BE49-F238E27FC236}">
                <a16:creationId xmlns:a16="http://schemas.microsoft.com/office/drawing/2014/main" id="{A09386E9-90F3-79B8-73F5-331A3B25CF40}"/>
              </a:ext>
            </a:extLst>
          </p:cNvPr>
          <p:cNvGraphicFramePr>
            <a:graphicFrameLocks/>
          </p:cNvGraphicFramePr>
          <p:nvPr/>
        </p:nvGraphicFramePr>
        <p:xfrm>
          <a:off x="165100" y="1175295"/>
          <a:ext cx="9575800" cy="237482"/>
        </p:xfrm>
        <a:graphic>
          <a:graphicData uri="http://schemas.openxmlformats.org/drawingml/2006/table">
            <a:tbl>
              <a:tblPr/>
              <a:tblGrid>
                <a:gridCol w="957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9436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홈페이지 메뉴 구조</a:t>
                      </a: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5" name="모서리가 둥근 직사각형 74">
            <a:extLst>
              <a:ext uri="{FF2B5EF4-FFF2-40B4-BE49-F238E27FC236}">
                <a16:creationId xmlns:a16="http://schemas.microsoft.com/office/drawing/2014/main" id="{C390B470-0F3A-6571-F18E-BF03F9442454}"/>
              </a:ext>
            </a:extLst>
          </p:cNvPr>
          <p:cNvSpPr/>
          <p:nvPr/>
        </p:nvSpPr>
        <p:spPr>
          <a:xfrm>
            <a:off x="4064743" y="1520788"/>
            <a:ext cx="1931636" cy="229116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tx1">
                <a:lumMod val="95000"/>
                <a:lumOff val="5000"/>
              </a:schemeClr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오산교육재단 </a:t>
            </a:r>
            <a:r>
              <a:rPr lang="ko-KR" altLang="en-US" sz="900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홈페이지</a:t>
            </a:r>
            <a:endParaRPr kumimoji="0" lang="ko-KR" altLang="en-US" sz="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6" name="모서리가 둥근 직사각형 75">
            <a:extLst>
              <a:ext uri="{FF2B5EF4-FFF2-40B4-BE49-F238E27FC236}">
                <a16:creationId xmlns:a16="http://schemas.microsoft.com/office/drawing/2014/main" id="{AEB873DF-4D29-858C-BBC7-81C7F6469BD8}"/>
              </a:ext>
            </a:extLst>
          </p:cNvPr>
          <p:cNvSpPr/>
          <p:nvPr/>
        </p:nvSpPr>
        <p:spPr>
          <a:xfrm>
            <a:off x="164468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메인</a:t>
            </a:r>
          </a:p>
        </p:txBody>
      </p:sp>
      <p:sp>
        <p:nvSpPr>
          <p:cNvPr id="81" name="모서리가 둥근 직사각형 80">
            <a:extLst>
              <a:ext uri="{FF2B5EF4-FFF2-40B4-BE49-F238E27FC236}">
                <a16:creationId xmlns:a16="http://schemas.microsoft.com/office/drawing/2014/main" id="{81EF7B65-9FB6-003E-D267-4A1F14921348}"/>
              </a:ext>
            </a:extLst>
          </p:cNvPr>
          <p:cNvSpPr/>
          <p:nvPr/>
        </p:nvSpPr>
        <p:spPr>
          <a:xfrm>
            <a:off x="1068205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로그인</a:t>
            </a:r>
          </a:p>
        </p:txBody>
      </p:sp>
      <p:sp>
        <p:nvSpPr>
          <p:cNvPr id="82" name="모서리가 둥근 직사각형 81">
            <a:extLst>
              <a:ext uri="{FF2B5EF4-FFF2-40B4-BE49-F238E27FC236}">
                <a16:creationId xmlns:a16="http://schemas.microsoft.com/office/drawing/2014/main" id="{68E99357-4A3A-FB75-F1E0-05E573ECD661}"/>
              </a:ext>
            </a:extLst>
          </p:cNvPr>
          <p:cNvSpPr/>
          <p:nvPr/>
        </p:nvSpPr>
        <p:spPr>
          <a:xfrm>
            <a:off x="1976252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회원가입</a:t>
            </a:r>
          </a:p>
        </p:txBody>
      </p:sp>
      <p:sp>
        <p:nvSpPr>
          <p:cNvPr id="83" name="모서리가 둥근 직사각형 82">
            <a:extLst>
              <a:ext uri="{FF2B5EF4-FFF2-40B4-BE49-F238E27FC236}">
                <a16:creationId xmlns:a16="http://schemas.microsoft.com/office/drawing/2014/main" id="{BCED1988-2446-CF32-A469-F02AE2287556}"/>
              </a:ext>
            </a:extLst>
          </p:cNvPr>
          <p:cNvSpPr/>
          <p:nvPr/>
        </p:nvSpPr>
        <p:spPr>
          <a:xfrm>
            <a:off x="2919280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ID/PW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찾기</a:t>
            </a:r>
          </a:p>
        </p:txBody>
      </p:sp>
      <p:sp>
        <p:nvSpPr>
          <p:cNvPr id="84" name="모서리가 둥근 직사각형 83">
            <a:extLst>
              <a:ext uri="{FF2B5EF4-FFF2-40B4-BE49-F238E27FC236}">
                <a16:creationId xmlns:a16="http://schemas.microsoft.com/office/drawing/2014/main" id="{24B77C36-C807-B0B7-CC15-76304776EEE9}"/>
              </a:ext>
            </a:extLst>
          </p:cNvPr>
          <p:cNvSpPr/>
          <p:nvPr/>
        </p:nvSpPr>
        <p:spPr>
          <a:xfrm>
            <a:off x="3859353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재단소개</a:t>
            </a:r>
          </a:p>
        </p:txBody>
      </p:sp>
      <p:sp>
        <p:nvSpPr>
          <p:cNvPr id="85" name="모서리가 둥근 직사각형 84">
            <a:extLst>
              <a:ext uri="{FF2B5EF4-FFF2-40B4-BE49-F238E27FC236}">
                <a16:creationId xmlns:a16="http://schemas.microsoft.com/office/drawing/2014/main" id="{438B2CBB-9042-C9F7-F3DF-E557336466F3}"/>
              </a:ext>
            </a:extLst>
          </p:cNvPr>
          <p:cNvSpPr/>
          <p:nvPr/>
        </p:nvSpPr>
        <p:spPr>
          <a:xfrm>
            <a:off x="4772461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열린경영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5" name="모서리가 둥근 직사각형 94">
            <a:extLst>
              <a:ext uri="{FF2B5EF4-FFF2-40B4-BE49-F238E27FC236}">
                <a16:creationId xmlns:a16="http://schemas.microsoft.com/office/drawing/2014/main" id="{E2A2CA9D-2445-CA9D-792D-A0D0401E0568}"/>
              </a:ext>
            </a:extLst>
          </p:cNvPr>
          <p:cNvSpPr/>
          <p:nvPr/>
        </p:nvSpPr>
        <p:spPr>
          <a:xfrm>
            <a:off x="8876900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마이페이지</a:t>
            </a:r>
          </a:p>
        </p:txBody>
      </p:sp>
      <p:cxnSp>
        <p:nvCxnSpPr>
          <p:cNvPr id="104" name="꺾인 연결선 103">
            <a:extLst>
              <a:ext uri="{FF2B5EF4-FFF2-40B4-BE49-F238E27FC236}">
                <a16:creationId xmlns:a16="http://schemas.microsoft.com/office/drawing/2014/main" id="{4678D316-3CDE-5267-F4DB-FE909D17EC11}"/>
              </a:ext>
            </a:extLst>
          </p:cNvPr>
          <p:cNvCxnSpPr>
            <a:stCxn id="76" idx="0"/>
            <a:endCxn id="75" idx="2"/>
          </p:cNvCxnSpPr>
          <p:nvPr/>
        </p:nvCxnSpPr>
        <p:spPr>
          <a:xfrm rot="5400000" flipH="1" flipV="1">
            <a:off x="2641771" y="-295398"/>
            <a:ext cx="343487" cy="4434093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꺾인 연결선 105">
            <a:extLst>
              <a:ext uri="{FF2B5EF4-FFF2-40B4-BE49-F238E27FC236}">
                <a16:creationId xmlns:a16="http://schemas.microsoft.com/office/drawing/2014/main" id="{3C903AA4-CABA-FCB9-2CA3-29BF4D808B04}"/>
              </a:ext>
            </a:extLst>
          </p:cNvPr>
          <p:cNvCxnSpPr>
            <a:stCxn id="81" idx="0"/>
            <a:endCxn id="75" idx="2"/>
          </p:cNvCxnSpPr>
          <p:nvPr/>
        </p:nvCxnSpPr>
        <p:spPr>
          <a:xfrm rot="5400000" flipH="1" flipV="1">
            <a:off x="3093640" y="156470"/>
            <a:ext cx="343487" cy="3530356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꺾인 연결선 106">
            <a:extLst>
              <a:ext uri="{FF2B5EF4-FFF2-40B4-BE49-F238E27FC236}">
                <a16:creationId xmlns:a16="http://schemas.microsoft.com/office/drawing/2014/main" id="{4135D134-CAF3-34E1-CF76-FDB4EC1A3E9C}"/>
              </a:ext>
            </a:extLst>
          </p:cNvPr>
          <p:cNvCxnSpPr>
            <a:stCxn id="82" idx="0"/>
            <a:endCxn id="75" idx="2"/>
          </p:cNvCxnSpPr>
          <p:nvPr/>
        </p:nvCxnSpPr>
        <p:spPr>
          <a:xfrm rot="5400000" flipH="1" flipV="1">
            <a:off x="3547663" y="610494"/>
            <a:ext cx="343487" cy="2622309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꺾인 연결선 108">
            <a:extLst>
              <a:ext uri="{FF2B5EF4-FFF2-40B4-BE49-F238E27FC236}">
                <a16:creationId xmlns:a16="http://schemas.microsoft.com/office/drawing/2014/main" id="{B46CA43E-EB51-AD41-487D-2379006420A4}"/>
              </a:ext>
            </a:extLst>
          </p:cNvPr>
          <p:cNvCxnSpPr>
            <a:cxnSpLocks/>
            <a:stCxn id="83" idx="0"/>
            <a:endCxn id="75" idx="2"/>
          </p:cNvCxnSpPr>
          <p:nvPr/>
        </p:nvCxnSpPr>
        <p:spPr>
          <a:xfrm rot="5400000" flipH="1" flipV="1">
            <a:off x="4019177" y="1082008"/>
            <a:ext cx="343487" cy="1679281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꺾인 연결선 109">
            <a:extLst>
              <a:ext uri="{FF2B5EF4-FFF2-40B4-BE49-F238E27FC236}">
                <a16:creationId xmlns:a16="http://schemas.microsoft.com/office/drawing/2014/main" id="{73D24636-DE90-C3E7-A372-ECB03F7895AB}"/>
              </a:ext>
            </a:extLst>
          </p:cNvPr>
          <p:cNvCxnSpPr>
            <a:stCxn id="84" idx="0"/>
            <a:endCxn id="75" idx="2"/>
          </p:cNvCxnSpPr>
          <p:nvPr/>
        </p:nvCxnSpPr>
        <p:spPr>
          <a:xfrm rot="5400000" flipH="1" flipV="1">
            <a:off x="4489214" y="1552044"/>
            <a:ext cx="343487" cy="739208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꺾인 연결선 111">
            <a:extLst>
              <a:ext uri="{FF2B5EF4-FFF2-40B4-BE49-F238E27FC236}">
                <a16:creationId xmlns:a16="http://schemas.microsoft.com/office/drawing/2014/main" id="{CC602115-AA33-3DC4-52F6-A994C525265D}"/>
              </a:ext>
            </a:extLst>
          </p:cNvPr>
          <p:cNvCxnSpPr>
            <a:stCxn id="85" idx="0"/>
            <a:endCxn id="75" idx="2"/>
          </p:cNvCxnSpPr>
          <p:nvPr/>
        </p:nvCxnSpPr>
        <p:spPr>
          <a:xfrm rot="16200000" flipV="1">
            <a:off x="4945768" y="1834698"/>
            <a:ext cx="343487" cy="173900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꺾인 연결선 116">
            <a:extLst>
              <a:ext uri="{FF2B5EF4-FFF2-40B4-BE49-F238E27FC236}">
                <a16:creationId xmlns:a16="http://schemas.microsoft.com/office/drawing/2014/main" id="{D68B7939-B4B5-A29F-9473-5B2950C69DEE}"/>
              </a:ext>
            </a:extLst>
          </p:cNvPr>
          <p:cNvCxnSpPr>
            <a:cxnSpLocks/>
            <a:stCxn id="14" idx="0"/>
            <a:endCxn id="75" idx="2"/>
          </p:cNvCxnSpPr>
          <p:nvPr/>
        </p:nvCxnSpPr>
        <p:spPr>
          <a:xfrm rot="16200000" flipV="1">
            <a:off x="5854079" y="926387"/>
            <a:ext cx="343487" cy="1990521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꺾인 연결선 145">
            <a:extLst>
              <a:ext uri="{FF2B5EF4-FFF2-40B4-BE49-F238E27FC236}">
                <a16:creationId xmlns:a16="http://schemas.microsoft.com/office/drawing/2014/main" id="{3FC76C64-6046-5240-CD26-8B3233FE5EB3}"/>
              </a:ext>
            </a:extLst>
          </p:cNvPr>
          <p:cNvCxnSpPr>
            <a:cxnSpLocks/>
            <a:stCxn id="95" idx="0"/>
            <a:endCxn id="75" idx="2"/>
          </p:cNvCxnSpPr>
          <p:nvPr/>
        </p:nvCxnSpPr>
        <p:spPr>
          <a:xfrm rot="16200000" flipV="1">
            <a:off x="6997988" y="-217522"/>
            <a:ext cx="343487" cy="4278339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모서리가 둥근 직사각형 84">
            <a:extLst>
              <a:ext uri="{FF2B5EF4-FFF2-40B4-BE49-F238E27FC236}">
                <a16:creationId xmlns:a16="http://schemas.microsoft.com/office/drawing/2014/main" id="{FF994108-0A9F-0C9F-5678-06981D5F30B3}"/>
              </a:ext>
            </a:extLst>
          </p:cNvPr>
          <p:cNvSpPr/>
          <p:nvPr/>
        </p:nvSpPr>
        <p:spPr>
          <a:xfrm>
            <a:off x="6589082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</a:t>
            </a:r>
          </a:p>
        </p:txBody>
      </p:sp>
      <p:sp>
        <p:nvSpPr>
          <p:cNvPr id="164" name="모서리가 둥근 직사각형 84">
            <a:extLst>
              <a:ext uri="{FF2B5EF4-FFF2-40B4-BE49-F238E27FC236}">
                <a16:creationId xmlns:a16="http://schemas.microsoft.com/office/drawing/2014/main" id="{B19094A1-250C-4D1E-54FA-73640ACAE897}"/>
              </a:ext>
            </a:extLst>
          </p:cNvPr>
          <p:cNvSpPr/>
          <p:nvPr/>
        </p:nvSpPr>
        <p:spPr>
          <a:xfrm>
            <a:off x="5685569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재단소식</a:t>
            </a:r>
          </a:p>
        </p:txBody>
      </p:sp>
      <p:cxnSp>
        <p:nvCxnSpPr>
          <p:cNvPr id="165" name="꺾인 연결선 111">
            <a:extLst>
              <a:ext uri="{FF2B5EF4-FFF2-40B4-BE49-F238E27FC236}">
                <a16:creationId xmlns:a16="http://schemas.microsoft.com/office/drawing/2014/main" id="{DB5B6665-2C07-67CB-3BF5-955C1F78568A}"/>
              </a:ext>
            </a:extLst>
          </p:cNvPr>
          <p:cNvCxnSpPr>
            <a:cxnSpLocks/>
            <a:stCxn id="164" idx="0"/>
            <a:endCxn id="75" idx="2"/>
          </p:cNvCxnSpPr>
          <p:nvPr/>
        </p:nvCxnSpPr>
        <p:spPr>
          <a:xfrm rot="16200000" flipV="1">
            <a:off x="5402322" y="1378144"/>
            <a:ext cx="343487" cy="1087008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모서리가 둥근 직사각형 83">
            <a:extLst>
              <a:ext uri="{FF2B5EF4-FFF2-40B4-BE49-F238E27FC236}">
                <a16:creationId xmlns:a16="http://schemas.microsoft.com/office/drawing/2014/main" id="{0DD54571-B3D5-A1F5-96A7-B39078237604}"/>
              </a:ext>
            </a:extLst>
          </p:cNvPr>
          <p:cNvSpPr/>
          <p:nvPr/>
        </p:nvSpPr>
        <p:spPr>
          <a:xfrm>
            <a:off x="7120246" y="2344450"/>
            <a:ext cx="935392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고등학생 장학금</a:t>
            </a:r>
          </a:p>
        </p:txBody>
      </p:sp>
      <p:cxnSp>
        <p:nvCxnSpPr>
          <p:cNvPr id="40" name="꺾인 연결선 111">
            <a:extLst>
              <a:ext uri="{FF2B5EF4-FFF2-40B4-BE49-F238E27FC236}">
                <a16:creationId xmlns:a16="http://schemas.microsoft.com/office/drawing/2014/main" id="{884AA614-EFC9-EB2D-D9B3-E6F7045051F0}"/>
              </a:ext>
            </a:extLst>
          </p:cNvPr>
          <p:cNvCxnSpPr>
            <a:cxnSpLocks/>
            <a:stCxn id="39" idx="1"/>
            <a:endCxn id="14" idx="2"/>
          </p:cNvCxnSpPr>
          <p:nvPr/>
        </p:nvCxnSpPr>
        <p:spPr>
          <a:xfrm rot="10800000">
            <a:off x="7021082" y="2282743"/>
            <a:ext cx="99164" cy="147776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모서리가 둥근 직사각형 83">
            <a:extLst>
              <a:ext uri="{FF2B5EF4-FFF2-40B4-BE49-F238E27FC236}">
                <a16:creationId xmlns:a16="http://schemas.microsoft.com/office/drawing/2014/main" id="{0F88B4B7-2CF4-7553-BBA7-1482642A9A18}"/>
              </a:ext>
            </a:extLst>
          </p:cNvPr>
          <p:cNvSpPr/>
          <p:nvPr/>
        </p:nvSpPr>
        <p:spPr>
          <a:xfrm>
            <a:off x="7120246" y="2558046"/>
            <a:ext cx="935392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대학생 장학금</a:t>
            </a:r>
          </a:p>
        </p:txBody>
      </p:sp>
      <p:sp>
        <p:nvSpPr>
          <p:cNvPr id="46" name="모서리가 둥근 직사각형 83">
            <a:extLst>
              <a:ext uri="{FF2B5EF4-FFF2-40B4-BE49-F238E27FC236}">
                <a16:creationId xmlns:a16="http://schemas.microsoft.com/office/drawing/2014/main" id="{3B5AF729-D447-2614-499A-06FDD3A230F7}"/>
              </a:ext>
            </a:extLst>
          </p:cNvPr>
          <p:cNvSpPr/>
          <p:nvPr/>
        </p:nvSpPr>
        <p:spPr>
          <a:xfrm>
            <a:off x="7120246" y="2771833"/>
            <a:ext cx="935392" cy="172138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특기생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장학금</a:t>
            </a:r>
          </a:p>
        </p:txBody>
      </p:sp>
      <p:sp>
        <p:nvSpPr>
          <p:cNvPr id="50" name="모서리가 둥근 직사각형 83">
            <a:extLst>
              <a:ext uri="{FF2B5EF4-FFF2-40B4-BE49-F238E27FC236}">
                <a16:creationId xmlns:a16="http://schemas.microsoft.com/office/drawing/2014/main" id="{2F313A4F-03EF-5455-42A0-F98F23716B6E}"/>
              </a:ext>
            </a:extLst>
          </p:cNvPr>
          <p:cNvSpPr/>
          <p:nvPr/>
        </p:nvSpPr>
        <p:spPr>
          <a:xfrm>
            <a:off x="7120246" y="3231891"/>
            <a:ext cx="935392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행복기숙사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입사비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3" name="모서리가 둥근 직사각형 83">
            <a:extLst>
              <a:ext uri="{FF2B5EF4-FFF2-40B4-BE49-F238E27FC236}">
                <a16:creationId xmlns:a16="http://schemas.microsoft.com/office/drawing/2014/main" id="{66C0D039-C20D-A345-589F-AA08F08CA8BF}"/>
              </a:ext>
            </a:extLst>
          </p:cNvPr>
          <p:cNvSpPr/>
          <p:nvPr/>
        </p:nvSpPr>
        <p:spPr>
          <a:xfrm>
            <a:off x="7120246" y="3433932"/>
            <a:ext cx="935392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평생교육장려금</a:t>
            </a:r>
          </a:p>
        </p:txBody>
      </p:sp>
      <p:cxnSp>
        <p:nvCxnSpPr>
          <p:cNvPr id="54" name="꺾인 연결선 111">
            <a:extLst>
              <a:ext uri="{FF2B5EF4-FFF2-40B4-BE49-F238E27FC236}">
                <a16:creationId xmlns:a16="http://schemas.microsoft.com/office/drawing/2014/main" id="{9C3984C6-7CFD-3C07-D001-9ABA88B628A1}"/>
              </a:ext>
            </a:extLst>
          </p:cNvPr>
          <p:cNvCxnSpPr>
            <a:cxnSpLocks/>
            <a:stCxn id="45" idx="1"/>
            <a:endCxn id="14" idx="2"/>
          </p:cNvCxnSpPr>
          <p:nvPr/>
        </p:nvCxnSpPr>
        <p:spPr>
          <a:xfrm rot="10800000">
            <a:off x="7021082" y="2282743"/>
            <a:ext cx="99164" cy="361372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꺾인 연결선 111">
            <a:extLst>
              <a:ext uri="{FF2B5EF4-FFF2-40B4-BE49-F238E27FC236}">
                <a16:creationId xmlns:a16="http://schemas.microsoft.com/office/drawing/2014/main" id="{F0A64CD9-09FC-88FF-4A73-613D08FC798F}"/>
              </a:ext>
            </a:extLst>
          </p:cNvPr>
          <p:cNvCxnSpPr>
            <a:cxnSpLocks/>
            <a:stCxn id="46" idx="1"/>
            <a:endCxn id="14" idx="2"/>
          </p:cNvCxnSpPr>
          <p:nvPr/>
        </p:nvCxnSpPr>
        <p:spPr>
          <a:xfrm rot="10800000">
            <a:off x="7021082" y="2282744"/>
            <a:ext cx="99164" cy="575159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꺾인 연결선 111">
            <a:extLst>
              <a:ext uri="{FF2B5EF4-FFF2-40B4-BE49-F238E27FC236}">
                <a16:creationId xmlns:a16="http://schemas.microsoft.com/office/drawing/2014/main" id="{3100378C-8BC2-F3D4-B80E-DA33BBD2F575}"/>
              </a:ext>
            </a:extLst>
          </p:cNvPr>
          <p:cNvCxnSpPr>
            <a:cxnSpLocks/>
            <a:stCxn id="50" idx="1"/>
            <a:endCxn id="14" idx="2"/>
          </p:cNvCxnSpPr>
          <p:nvPr/>
        </p:nvCxnSpPr>
        <p:spPr>
          <a:xfrm rot="10800000">
            <a:off x="7021082" y="2282744"/>
            <a:ext cx="99164" cy="1035217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꺾인 연결선 111">
            <a:extLst>
              <a:ext uri="{FF2B5EF4-FFF2-40B4-BE49-F238E27FC236}">
                <a16:creationId xmlns:a16="http://schemas.microsoft.com/office/drawing/2014/main" id="{755A5A24-CB27-E05F-9541-8202FB7AE716}"/>
              </a:ext>
            </a:extLst>
          </p:cNvPr>
          <p:cNvCxnSpPr>
            <a:cxnSpLocks/>
            <a:stCxn id="53" idx="1"/>
            <a:endCxn id="14" idx="2"/>
          </p:cNvCxnSpPr>
          <p:nvPr/>
        </p:nvCxnSpPr>
        <p:spPr>
          <a:xfrm rot="10800000">
            <a:off x="7021082" y="2282743"/>
            <a:ext cx="99164" cy="1237258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모서리가 둥근 직사각형 83">
            <a:extLst>
              <a:ext uri="{FF2B5EF4-FFF2-40B4-BE49-F238E27FC236}">
                <a16:creationId xmlns:a16="http://schemas.microsoft.com/office/drawing/2014/main" id="{E090EB6D-9F03-7EB3-3705-BBB01F03DB0B}"/>
              </a:ext>
            </a:extLst>
          </p:cNvPr>
          <p:cNvSpPr/>
          <p:nvPr/>
        </p:nvSpPr>
        <p:spPr>
          <a:xfrm>
            <a:off x="7120246" y="3652906"/>
            <a:ext cx="935392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교육사업 신청</a:t>
            </a:r>
          </a:p>
        </p:txBody>
      </p:sp>
      <p:cxnSp>
        <p:nvCxnSpPr>
          <p:cNvPr id="62" name="꺾인 연결선 111">
            <a:extLst>
              <a:ext uri="{FF2B5EF4-FFF2-40B4-BE49-F238E27FC236}">
                <a16:creationId xmlns:a16="http://schemas.microsoft.com/office/drawing/2014/main" id="{0C5DF4AF-52A7-EC57-AA20-CE5062357F80}"/>
              </a:ext>
            </a:extLst>
          </p:cNvPr>
          <p:cNvCxnSpPr>
            <a:cxnSpLocks/>
            <a:stCxn id="60" idx="1"/>
            <a:endCxn id="14" idx="2"/>
          </p:cNvCxnSpPr>
          <p:nvPr/>
        </p:nvCxnSpPr>
        <p:spPr>
          <a:xfrm rot="10800000">
            <a:off x="7021082" y="2282743"/>
            <a:ext cx="99164" cy="1456232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모서리가 둥근 직사각형 84">
            <a:extLst>
              <a:ext uri="{FF2B5EF4-FFF2-40B4-BE49-F238E27FC236}">
                <a16:creationId xmlns:a16="http://schemas.microsoft.com/office/drawing/2014/main" id="{351DD556-231E-94F7-9A97-8CDF6FC6DCA8}"/>
              </a:ext>
            </a:extLst>
          </p:cNvPr>
          <p:cNvSpPr/>
          <p:nvPr/>
        </p:nvSpPr>
        <p:spPr>
          <a:xfrm>
            <a:off x="7532495" y="2093391"/>
            <a:ext cx="1264982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오산시민평생교육장려금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9" name="꺾인 연결선 145">
            <a:extLst>
              <a:ext uri="{FF2B5EF4-FFF2-40B4-BE49-F238E27FC236}">
                <a16:creationId xmlns:a16="http://schemas.microsoft.com/office/drawing/2014/main" id="{113B983C-F78E-B341-DC47-973D3EB6A01F}"/>
              </a:ext>
            </a:extLst>
          </p:cNvPr>
          <p:cNvCxnSpPr>
            <a:cxnSpLocks/>
            <a:stCxn id="17" idx="0"/>
            <a:endCxn id="75" idx="2"/>
          </p:cNvCxnSpPr>
          <p:nvPr/>
        </p:nvCxnSpPr>
        <p:spPr>
          <a:xfrm rot="16200000" flipV="1">
            <a:off x="6426031" y="354435"/>
            <a:ext cx="343487" cy="3134425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모서리가 둥근 직사각형 83">
            <a:extLst>
              <a:ext uri="{FF2B5EF4-FFF2-40B4-BE49-F238E27FC236}">
                <a16:creationId xmlns:a16="http://schemas.microsoft.com/office/drawing/2014/main" id="{FDC0ADF1-88DD-0B9D-1480-8FABB473FBBB}"/>
              </a:ext>
            </a:extLst>
          </p:cNvPr>
          <p:cNvSpPr/>
          <p:nvPr/>
        </p:nvSpPr>
        <p:spPr>
          <a:xfrm>
            <a:off x="7687106" y="2997532"/>
            <a:ext cx="935392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 조회</a:t>
            </a:r>
          </a:p>
        </p:txBody>
      </p:sp>
      <p:cxnSp>
        <p:nvCxnSpPr>
          <p:cNvPr id="4" name="꺾인 연결선 111">
            <a:extLst>
              <a:ext uri="{FF2B5EF4-FFF2-40B4-BE49-F238E27FC236}">
                <a16:creationId xmlns:a16="http://schemas.microsoft.com/office/drawing/2014/main" id="{B7703080-AC9D-3DB1-BAED-B57AB35C1AA7}"/>
              </a:ext>
            </a:extLst>
          </p:cNvPr>
          <p:cNvCxnSpPr>
            <a:cxnSpLocks/>
            <a:stCxn id="3" idx="1"/>
            <a:endCxn id="46" idx="2"/>
          </p:cNvCxnSpPr>
          <p:nvPr/>
        </p:nvCxnSpPr>
        <p:spPr>
          <a:xfrm rot="10800000">
            <a:off x="7587942" y="2943971"/>
            <a:ext cx="99164" cy="139630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모서리가 둥근 직사각형 83">
            <a:extLst>
              <a:ext uri="{FF2B5EF4-FFF2-40B4-BE49-F238E27FC236}">
                <a16:creationId xmlns:a16="http://schemas.microsoft.com/office/drawing/2014/main" id="{5160C28B-15C0-DD05-46E6-C90A0B8C2B6F}"/>
              </a:ext>
            </a:extLst>
          </p:cNvPr>
          <p:cNvSpPr/>
          <p:nvPr/>
        </p:nvSpPr>
        <p:spPr>
          <a:xfrm>
            <a:off x="8646351" y="2997532"/>
            <a:ext cx="935392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장학금 신청</a:t>
            </a:r>
          </a:p>
        </p:txBody>
      </p:sp>
    </p:spTree>
    <p:extLst>
      <p:ext uri="{BB962C8B-B14F-4D97-AF65-F5344CB8AC3E}">
        <p14:creationId xmlns:p14="http://schemas.microsoft.com/office/powerpoint/2010/main" val="29129823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D6512-9309-88EB-259B-2B28EB574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C727D26-3971-6560-6CD5-FE008619A995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특기생장학금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조회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97BEA6C-69D1-B567-AB88-3F810BE7D5BC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프로그램신청관리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특기생장학금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조회</a:t>
            </a: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71505895-E0CA-EAB3-004E-62C48E4649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8002292"/>
              </p:ext>
            </p:extLst>
          </p:nvPr>
        </p:nvGraphicFramePr>
        <p:xfrm>
          <a:off x="6969418" y="2548005"/>
          <a:ext cx="2772114" cy="3459899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프로그램신청 메뉴 중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특기생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장학금 클릭 시 보이는 화면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전체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선택 후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검색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시 등록된 모든 공고를 목록에 표시 한다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.</a:t>
                      </a: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준비중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조회일 기준 접수기간 이전일 경우의 상태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선택 후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검색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시 준비중 상태의 공고를 목록에 표시 한다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접수중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조회일 기준 접수기간일 경우의 상태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선택 후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검색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시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접수중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상태의 공고를 목록에 표시 한다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마감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조회일 기준 접수기간이 지난 경우의 상태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선택 후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검색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시 마감 상태의 공고를 목록에 표시 한다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검색조건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제목 고정 표시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공고의 제목 입력 후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검색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시 해당 조건에 맞는 공고가 목록에 보인다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.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제목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공고 등록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수정 시 설정된 제목을 표시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접수기간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공고 등록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수정 시 설정된 접수기간을 표시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상태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준비중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/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접수중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/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마감 중 표시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준비중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조회일 기준 접수기간 이전일 경우의 상태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접수중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조회일 기준 접수기간일 경우의 상태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DAB822D5-A3FE-9257-4F54-0ABB7B014F54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pat_hit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63DB99EE-77BA-54A7-28AD-17627FE25FD8}"/>
              </a:ext>
            </a:extLst>
          </p:cNvPr>
          <p:cNvSpPr/>
          <p:nvPr/>
        </p:nvSpPr>
        <p:spPr>
          <a:xfrm>
            <a:off x="165100" y="1376772"/>
            <a:ext cx="6732116" cy="36877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E26419D7-AC3D-D88E-89E6-A68F395FAE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1468700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76C28FE9-0E22-D29D-9704-4D215126A0E2}"/>
              </a:ext>
            </a:extLst>
          </p:cNvPr>
          <p:cNvSpPr/>
          <p:nvPr/>
        </p:nvSpPr>
        <p:spPr>
          <a:xfrm>
            <a:off x="5680946" y="1586865"/>
            <a:ext cx="1165384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오산시민 평생교육장려금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9A8EE3C-EFF9-6BF2-271B-1839944D041D}"/>
              </a:ext>
            </a:extLst>
          </p:cNvPr>
          <p:cNvSpPr/>
          <p:nvPr/>
        </p:nvSpPr>
        <p:spPr>
          <a:xfrm>
            <a:off x="4831365" y="1586865"/>
            <a:ext cx="652423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 신청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AA73C6D-7394-FE0B-7AD9-4D7FFB699647}"/>
              </a:ext>
            </a:extLst>
          </p:cNvPr>
          <p:cNvSpPr/>
          <p:nvPr/>
        </p:nvSpPr>
        <p:spPr>
          <a:xfrm>
            <a:off x="4223838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재단소식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26DFC91-C832-8C58-FE69-ACDE419E4A3E}"/>
              </a:ext>
            </a:extLst>
          </p:cNvPr>
          <p:cNvSpPr/>
          <p:nvPr/>
        </p:nvSpPr>
        <p:spPr>
          <a:xfrm>
            <a:off x="3616311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열린경영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B9148AD-2634-3D39-CE05-4154939D6FCC}"/>
              </a:ext>
            </a:extLst>
          </p:cNvPr>
          <p:cNvSpPr/>
          <p:nvPr/>
        </p:nvSpPr>
        <p:spPr>
          <a:xfrm>
            <a:off x="3008784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C8812D0-7E26-59C6-F149-996A5865D630}"/>
              </a:ext>
            </a:extLst>
          </p:cNvPr>
          <p:cNvSpPr/>
          <p:nvPr/>
        </p:nvSpPr>
        <p:spPr>
          <a:xfrm>
            <a:off x="165100" y="1790190"/>
            <a:ext cx="6732116" cy="469951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A61B01A-400C-AE91-1CE8-64F6C7B87C58}"/>
              </a:ext>
            </a:extLst>
          </p:cNvPr>
          <p:cNvSpPr/>
          <p:nvPr/>
        </p:nvSpPr>
        <p:spPr>
          <a:xfrm>
            <a:off x="5560734" y="1879740"/>
            <a:ext cx="1218282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특기생장학금</a:t>
            </a:r>
            <a:endParaRPr kumimoji="0" lang="ko-KR" alt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051470C-6409-2195-771B-07A9564ECDB0}"/>
              </a:ext>
            </a:extLst>
          </p:cNvPr>
          <p:cNvSpPr/>
          <p:nvPr/>
        </p:nvSpPr>
        <p:spPr>
          <a:xfrm>
            <a:off x="236476" y="1844824"/>
            <a:ext cx="732573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특기생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장학금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7D685D2-2881-6EE8-EB24-D94E5810B642}"/>
              </a:ext>
            </a:extLst>
          </p:cNvPr>
          <p:cNvSpPr/>
          <p:nvPr/>
        </p:nvSpPr>
        <p:spPr>
          <a:xfrm>
            <a:off x="3824511" y="2248048"/>
            <a:ext cx="277591" cy="144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검색</a:t>
            </a: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1BA95F3-16AF-2996-3948-C1328B9531F8}"/>
              </a:ext>
            </a:extLst>
          </p:cNvPr>
          <p:cNvSpPr/>
          <p:nvPr/>
        </p:nvSpPr>
        <p:spPr>
          <a:xfrm>
            <a:off x="2610475" y="2248048"/>
            <a:ext cx="1193641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검색어를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입력하세요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3" name="Picture 13">
            <a:extLst>
              <a:ext uri="{FF2B5EF4-FFF2-40B4-BE49-F238E27FC236}">
                <a16:creationId xmlns:a16="http://schemas.microsoft.com/office/drawing/2014/main" id="{8539B31B-D563-6D3A-0836-17572F3532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2534" y="2246398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FEF91880-571B-E0E2-6D15-5E3EF39838D6}"/>
              </a:ext>
            </a:extLst>
          </p:cNvPr>
          <p:cNvSpPr/>
          <p:nvPr/>
        </p:nvSpPr>
        <p:spPr>
          <a:xfrm>
            <a:off x="2025221" y="2248048"/>
            <a:ext cx="393415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제목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B637FB25-6275-D23F-FE9A-28253DE9B89B}"/>
              </a:ext>
            </a:extLst>
          </p:cNvPr>
          <p:cNvGrpSpPr/>
          <p:nvPr/>
        </p:nvGrpSpPr>
        <p:grpSpPr>
          <a:xfrm>
            <a:off x="1169162" y="2246542"/>
            <a:ext cx="408361" cy="144462"/>
            <a:chOff x="2403014" y="4597515"/>
            <a:chExt cx="408361" cy="144462"/>
          </a:xfrm>
        </p:grpSpPr>
        <p:sp>
          <p:nvSpPr>
            <p:cNvPr id="30" name="Rectangle 191">
              <a:extLst>
                <a:ext uri="{FF2B5EF4-FFF2-40B4-BE49-F238E27FC236}">
                  <a16:creationId xmlns:a16="http://schemas.microsoft.com/office/drawing/2014/main" id="{0A4AC62D-FF06-560C-12B8-825BAEF9E8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2071" y="4615885"/>
              <a:ext cx="269304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접수중</a:t>
              </a:r>
            </a:p>
          </p:txBody>
        </p:sp>
        <p:graphicFrame>
          <p:nvGraphicFramePr>
            <p:cNvPr id="31" name="개체 30">
              <a:extLst>
                <a:ext uri="{FF2B5EF4-FFF2-40B4-BE49-F238E27FC236}">
                  <a16:creationId xmlns:a16="http://schemas.microsoft.com/office/drawing/2014/main" id="{63C3A279-5C26-6CE0-5D7E-6B376DC6654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03014" y="4597515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145435" imgH="145435" progId="Visio.Drawing.11">
                    <p:embed/>
                  </p:oleObj>
                </mc:Choice>
                <mc:Fallback>
                  <p:oleObj name="Visio" r:id="rId4" imgW="145435" imgH="145435" progId="Visio.Drawing.11">
                    <p:embed/>
                    <p:pic>
                      <p:nvPicPr>
                        <p:cNvPr id="31" name="개체 30">
                          <a:extLst>
                            <a:ext uri="{FF2B5EF4-FFF2-40B4-BE49-F238E27FC236}">
                              <a16:creationId xmlns:a16="http://schemas.microsoft.com/office/drawing/2014/main" id="{22042850-0254-14A6-5BD3-2DAF463D347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3014" y="4597515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8D6F5071-0E78-21FF-395E-81B3AB5D95DD}"/>
              </a:ext>
            </a:extLst>
          </p:cNvPr>
          <p:cNvGrpSpPr/>
          <p:nvPr/>
        </p:nvGrpSpPr>
        <p:grpSpPr>
          <a:xfrm>
            <a:off x="266961" y="2246398"/>
            <a:ext cx="316600" cy="144462"/>
            <a:chOff x="2145750" y="2807609"/>
            <a:chExt cx="316600" cy="144462"/>
          </a:xfrm>
        </p:grpSpPr>
        <p:sp>
          <p:nvSpPr>
            <p:cNvPr id="33" name="Rectangle 191">
              <a:extLst>
                <a:ext uri="{FF2B5EF4-FFF2-40B4-BE49-F238E27FC236}">
                  <a16:creationId xmlns:a16="http://schemas.microsoft.com/office/drawing/2014/main" id="{8E2CFFF1-8DE2-99B8-D0DD-A80FF69988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2814" y="2826123"/>
              <a:ext cx="179536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전체</a:t>
              </a:r>
            </a:p>
          </p:txBody>
        </p:sp>
        <p:graphicFrame>
          <p:nvGraphicFramePr>
            <p:cNvPr id="34" name="개체 33">
              <a:extLst>
                <a:ext uri="{FF2B5EF4-FFF2-40B4-BE49-F238E27FC236}">
                  <a16:creationId xmlns:a16="http://schemas.microsoft.com/office/drawing/2014/main" id="{414892EC-4E10-F95B-7F27-36C46D7F155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45750" y="2807609"/>
            <a:ext cx="144463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6" imgW="145435" imgH="145435" progId="Visio.Drawing.11">
                    <p:embed/>
                  </p:oleObj>
                </mc:Choice>
                <mc:Fallback>
                  <p:oleObj name="Visio" r:id="rId6" imgW="145435" imgH="145435" progId="Visio.Drawing.11">
                    <p:embed/>
                    <p:pic>
                      <p:nvPicPr>
                        <p:cNvPr id="34" name="개체 33">
                          <a:extLst>
                            <a:ext uri="{FF2B5EF4-FFF2-40B4-BE49-F238E27FC236}">
                              <a16:creationId xmlns:a16="http://schemas.microsoft.com/office/drawing/2014/main" id="{4A55188A-9056-EDF6-FBA4-B793F31C1D2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45750" y="2807609"/>
                          <a:ext cx="144463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700977CF-D1B2-2D8A-9415-43CB719EF62F}"/>
              </a:ext>
            </a:extLst>
          </p:cNvPr>
          <p:cNvGrpSpPr/>
          <p:nvPr/>
        </p:nvGrpSpPr>
        <p:grpSpPr>
          <a:xfrm>
            <a:off x="1666143" y="2246542"/>
            <a:ext cx="318593" cy="144462"/>
            <a:chOff x="2403014" y="4597515"/>
            <a:chExt cx="318593" cy="144462"/>
          </a:xfrm>
        </p:grpSpPr>
        <p:sp>
          <p:nvSpPr>
            <p:cNvPr id="36" name="Rectangle 191">
              <a:extLst>
                <a:ext uri="{FF2B5EF4-FFF2-40B4-BE49-F238E27FC236}">
                  <a16:creationId xmlns:a16="http://schemas.microsoft.com/office/drawing/2014/main" id="{6EE60F7F-37F9-A1DC-390C-A939C554AD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2071" y="4615885"/>
              <a:ext cx="179536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마감</a:t>
              </a:r>
            </a:p>
          </p:txBody>
        </p:sp>
        <p:graphicFrame>
          <p:nvGraphicFramePr>
            <p:cNvPr id="37" name="개체 36">
              <a:extLst>
                <a:ext uri="{FF2B5EF4-FFF2-40B4-BE49-F238E27FC236}">
                  <a16:creationId xmlns:a16="http://schemas.microsoft.com/office/drawing/2014/main" id="{5BA96A23-299F-0D26-B547-B96178C1F08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03014" y="4597515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145435" imgH="145435" progId="Visio.Drawing.11">
                    <p:embed/>
                  </p:oleObj>
                </mc:Choice>
                <mc:Fallback>
                  <p:oleObj name="Visio" r:id="rId4" imgW="145435" imgH="145435" progId="Visio.Drawing.11">
                    <p:embed/>
                    <p:pic>
                      <p:nvPicPr>
                        <p:cNvPr id="37" name="개체 36">
                          <a:extLst>
                            <a:ext uri="{FF2B5EF4-FFF2-40B4-BE49-F238E27FC236}">
                              <a16:creationId xmlns:a16="http://schemas.microsoft.com/office/drawing/2014/main" id="{80319FE4-A00F-A6CB-1B7A-E08370C65DA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3014" y="4597515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3B531275-6B19-26D6-3E33-E7B77B683AE7}"/>
              </a:ext>
            </a:extLst>
          </p:cNvPr>
          <p:cNvGrpSpPr/>
          <p:nvPr/>
        </p:nvGrpSpPr>
        <p:grpSpPr>
          <a:xfrm>
            <a:off x="672181" y="2246542"/>
            <a:ext cx="408361" cy="144462"/>
            <a:chOff x="2403014" y="4597515"/>
            <a:chExt cx="408361" cy="144462"/>
          </a:xfrm>
        </p:grpSpPr>
        <p:sp>
          <p:nvSpPr>
            <p:cNvPr id="39" name="Rectangle 191">
              <a:extLst>
                <a:ext uri="{FF2B5EF4-FFF2-40B4-BE49-F238E27FC236}">
                  <a16:creationId xmlns:a16="http://schemas.microsoft.com/office/drawing/2014/main" id="{C6C4A891-AF51-E9E8-CF2E-02F26FE22A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2071" y="4615885"/>
              <a:ext cx="269304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준비중</a:t>
              </a:r>
            </a:p>
          </p:txBody>
        </p:sp>
        <p:graphicFrame>
          <p:nvGraphicFramePr>
            <p:cNvPr id="40" name="개체 39">
              <a:extLst>
                <a:ext uri="{FF2B5EF4-FFF2-40B4-BE49-F238E27FC236}">
                  <a16:creationId xmlns:a16="http://schemas.microsoft.com/office/drawing/2014/main" id="{A6716FD1-8DBA-6471-53BF-67C40C57F7E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03014" y="4597515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145435" imgH="145435" progId="Visio.Drawing.11">
                    <p:embed/>
                  </p:oleObj>
                </mc:Choice>
                <mc:Fallback>
                  <p:oleObj name="Visio" r:id="rId4" imgW="145435" imgH="145435" progId="Visio.Drawing.11">
                    <p:embed/>
                    <p:pic>
                      <p:nvPicPr>
                        <p:cNvPr id="40" name="개체 39">
                          <a:extLst>
                            <a:ext uri="{FF2B5EF4-FFF2-40B4-BE49-F238E27FC236}">
                              <a16:creationId xmlns:a16="http://schemas.microsoft.com/office/drawing/2014/main" id="{B7DF7F38-1F64-8F98-2B36-E001ED811F4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3014" y="4597515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2D5031D5-E79A-9914-381C-E472228004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4084772"/>
              </p:ext>
            </p:extLst>
          </p:nvPr>
        </p:nvGraphicFramePr>
        <p:xfrm>
          <a:off x="284966" y="2881893"/>
          <a:ext cx="6494051" cy="27033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6426">
                  <a:extLst>
                    <a:ext uri="{9D8B030D-6E8A-4147-A177-3AD203B41FA5}">
                      <a16:colId xmlns:a16="http://schemas.microsoft.com/office/drawing/2014/main" val="795720410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1696">
                  <a:extLst>
                    <a:ext uri="{9D8B030D-6E8A-4147-A177-3AD203B41FA5}">
                      <a16:colId xmlns:a16="http://schemas.microsoft.com/office/drawing/2014/main" val="3302419106"/>
                    </a:ext>
                  </a:extLst>
                </a:gridCol>
                <a:gridCol w="69227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545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접수기간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신청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b="0" dirty="0">
                          <a:latin typeface="맑은 고딕" panose="020B0503020000020004" pitchFamily="50" charset="-127"/>
                          <a:ea typeface="+mn-ea"/>
                        </a:rPr>
                        <a:t>2025</a:t>
                      </a:r>
                      <a:r>
                        <a:rPr lang="ko-KR" altLang="en-US" sz="700" b="0" dirty="0">
                          <a:latin typeface="맑은 고딕" panose="020B0503020000020004" pitchFamily="50" charset="-127"/>
                          <a:ea typeface="+mn-ea"/>
                        </a:rPr>
                        <a:t>년 하반기 </a:t>
                      </a:r>
                      <a:r>
                        <a:rPr lang="ko-KR" altLang="en-US" sz="700" b="0" dirty="0" err="1">
                          <a:latin typeface="맑은 고딕" panose="020B0503020000020004" pitchFamily="50" charset="-127"/>
                          <a:ea typeface="+mn-ea"/>
                        </a:rPr>
                        <a:t>특기생</a:t>
                      </a:r>
                      <a:r>
                        <a:rPr lang="ko-KR" altLang="en-US" sz="700" b="0" dirty="0">
                          <a:latin typeface="맑은 고딕" panose="020B0503020000020004" pitchFamily="50" charset="-127"/>
                          <a:ea typeface="+mn-ea"/>
                        </a:rPr>
                        <a:t> 장학금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준비중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 하반기 특기생 장학금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접수중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7312254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 하반기 특기생 장학금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접수중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8246901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 하반기 특기생 장학금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마감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1439070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 하반기 특기생 장학금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마감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3880563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 하반기 특기생 장학금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마감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0006018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 하반기 특기생 장학금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2894528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 하반기 특기생 장학금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6804240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 하반기 </a:t>
                      </a: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특기생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장학금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마감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6797012"/>
                  </a:ext>
                </a:extLst>
              </a:tr>
            </a:tbl>
          </a:graphicData>
        </a:graphic>
      </p:graphicFrame>
      <p:sp>
        <p:nvSpPr>
          <p:cNvPr id="23" name="직사각형 22">
            <a:extLst>
              <a:ext uri="{FF2B5EF4-FFF2-40B4-BE49-F238E27FC236}">
                <a16:creationId xmlns:a16="http://schemas.microsoft.com/office/drawing/2014/main" id="{82CA8190-E97E-7AAB-32F9-85B6185E7DFF}"/>
              </a:ext>
            </a:extLst>
          </p:cNvPr>
          <p:cNvSpPr/>
          <p:nvPr/>
        </p:nvSpPr>
        <p:spPr>
          <a:xfrm>
            <a:off x="3352870" y="5661248"/>
            <a:ext cx="902491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처음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◀  1  ▶  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마지막</a:t>
            </a:r>
          </a:p>
        </p:txBody>
      </p:sp>
      <p:pic>
        <p:nvPicPr>
          <p:cNvPr id="24" name="Picture 13">
            <a:extLst>
              <a:ext uri="{FF2B5EF4-FFF2-40B4-BE49-F238E27FC236}">
                <a16:creationId xmlns:a16="http://schemas.microsoft.com/office/drawing/2014/main" id="{76E2C350-9F13-26C8-27F4-399B9EC51D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1455" y="2655760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372688D4-D9B8-BB5C-F60F-E0154C00DBE8}"/>
              </a:ext>
            </a:extLst>
          </p:cNvPr>
          <p:cNvSpPr/>
          <p:nvPr/>
        </p:nvSpPr>
        <p:spPr>
          <a:xfrm>
            <a:off x="6254137" y="2649459"/>
            <a:ext cx="35765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10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건</a:t>
            </a:r>
          </a:p>
        </p:txBody>
      </p:sp>
      <p:sp>
        <p:nvSpPr>
          <p:cNvPr id="26" name="Rectangle 191">
            <a:extLst>
              <a:ext uri="{FF2B5EF4-FFF2-40B4-BE49-F238E27FC236}">
                <a16:creationId xmlns:a16="http://schemas.microsoft.com/office/drawing/2014/main" id="{04AD097C-61F6-825F-5CF5-205095258B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778" y="2666591"/>
            <a:ext cx="261290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총 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7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건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5AD2E59-FE85-85D7-EF46-803F6AC165F2}"/>
              </a:ext>
            </a:extLst>
          </p:cNvPr>
          <p:cNvSpPr/>
          <p:nvPr/>
        </p:nvSpPr>
        <p:spPr>
          <a:xfrm>
            <a:off x="6205078" y="3470683"/>
            <a:ext cx="468001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신청하기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E61D63D-8CFF-079F-7F3C-D60992556776}"/>
              </a:ext>
            </a:extLst>
          </p:cNvPr>
          <p:cNvSpPr/>
          <p:nvPr/>
        </p:nvSpPr>
        <p:spPr>
          <a:xfrm>
            <a:off x="6205078" y="3738165"/>
            <a:ext cx="468001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신청하기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7F60F315-AC9C-649B-A4AA-6D5A03E8065C}"/>
              </a:ext>
            </a:extLst>
          </p:cNvPr>
          <p:cNvSpPr>
            <a:spLocks noChangeAspect="1"/>
          </p:cNvSpPr>
          <p:nvPr/>
        </p:nvSpPr>
        <p:spPr>
          <a:xfrm>
            <a:off x="113466" y="2240173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5B6A0158-BD29-0E2E-8029-70FEFE818326}"/>
              </a:ext>
            </a:extLst>
          </p:cNvPr>
          <p:cNvSpPr>
            <a:spLocks noChangeAspect="1"/>
          </p:cNvSpPr>
          <p:nvPr/>
        </p:nvSpPr>
        <p:spPr>
          <a:xfrm>
            <a:off x="226603" y="2812217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1110396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91C0F-FECF-823E-5798-6AF1C4054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091858C-9A5D-8122-87F8-5C05D5C95C82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특기생장학금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조회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789A599-F6DC-7FB8-AC2D-FADEF51C3BE6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프로그램신청관리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특기생장학금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조회</a:t>
            </a: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798A66EF-F551-EF48-A0D2-9048058560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9216464"/>
              </p:ext>
            </p:extLst>
          </p:nvPr>
        </p:nvGraphicFramePr>
        <p:xfrm>
          <a:off x="6969418" y="2548005"/>
          <a:ext cx="2772114" cy="1184520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상태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준비중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/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접수중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/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마감 중 표시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준비중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조회일 기준 접수기간 이전일 경우의 상태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접수중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조회일 기준 접수기간일 경우의 상태로 회원이 장학금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산칭하기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가 가능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마감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조회일 기준 접수기간이 지난 경우의 상태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신청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신청하기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공고 상태가 접수중일 경우에 한해 보이며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시 장학금 신청 화면으로 이동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A6F8F481-2330-24D6-B102-00D67F6397A8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pat_hit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42F82288-5ED5-AC86-8FF2-EE4A1C5F9583}"/>
              </a:ext>
            </a:extLst>
          </p:cNvPr>
          <p:cNvSpPr/>
          <p:nvPr/>
        </p:nvSpPr>
        <p:spPr>
          <a:xfrm>
            <a:off x="165100" y="1376772"/>
            <a:ext cx="6732116" cy="36877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08C2ACC9-6D4F-3270-ADE7-49FDE70225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1468700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59D41166-F93D-D02D-6F92-FFF8AA6BD2DC}"/>
              </a:ext>
            </a:extLst>
          </p:cNvPr>
          <p:cNvSpPr/>
          <p:nvPr/>
        </p:nvSpPr>
        <p:spPr>
          <a:xfrm>
            <a:off x="5680946" y="1586865"/>
            <a:ext cx="1165384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오산시민 평생교육장려금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B13543A-4167-11F3-303F-5BF5F55277D0}"/>
              </a:ext>
            </a:extLst>
          </p:cNvPr>
          <p:cNvSpPr/>
          <p:nvPr/>
        </p:nvSpPr>
        <p:spPr>
          <a:xfrm>
            <a:off x="4831365" y="1586865"/>
            <a:ext cx="652423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 신청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BE4DCF4-F541-B6F2-7073-4CC5AD6690F6}"/>
              </a:ext>
            </a:extLst>
          </p:cNvPr>
          <p:cNvSpPr/>
          <p:nvPr/>
        </p:nvSpPr>
        <p:spPr>
          <a:xfrm>
            <a:off x="4223838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재단소식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892463C-1195-5F47-8565-64DF68674F3E}"/>
              </a:ext>
            </a:extLst>
          </p:cNvPr>
          <p:cNvSpPr/>
          <p:nvPr/>
        </p:nvSpPr>
        <p:spPr>
          <a:xfrm>
            <a:off x="3616311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열린경영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0F34D5F-D59E-BCD7-F9A5-88093702FE15}"/>
              </a:ext>
            </a:extLst>
          </p:cNvPr>
          <p:cNvSpPr/>
          <p:nvPr/>
        </p:nvSpPr>
        <p:spPr>
          <a:xfrm>
            <a:off x="3008784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E6DFCAB-2EE9-7C9D-DA87-AB07583B4617}"/>
              </a:ext>
            </a:extLst>
          </p:cNvPr>
          <p:cNvSpPr/>
          <p:nvPr/>
        </p:nvSpPr>
        <p:spPr>
          <a:xfrm>
            <a:off x="165100" y="1790190"/>
            <a:ext cx="6732116" cy="469951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732B4BD-CE91-156A-4216-18A31293BC94}"/>
              </a:ext>
            </a:extLst>
          </p:cNvPr>
          <p:cNvSpPr/>
          <p:nvPr/>
        </p:nvSpPr>
        <p:spPr>
          <a:xfrm>
            <a:off x="5560734" y="1879740"/>
            <a:ext cx="1218282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특기생장학금</a:t>
            </a:r>
            <a:endParaRPr kumimoji="0" lang="ko-KR" alt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FC01EB5-13C5-C8B9-985A-E17697FA14C9}"/>
              </a:ext>
            </a:extLst>
          </p:cNvPr>
          <p:cNvSpPr/>
          <p:nvPr/>
        </p:nvSpPr>
        <p:spPr>
          <a:xfrm>
            <a:off x="236476" y="1844824"/>
            <a:ext cx="732573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특기생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장학금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9B83D52-7627-93DC-3C4F-0D7C3E3469FA}"/>
              </a:ext>
            </a:extLst>
          </p:cNvPr>
          <p:cNvSpPr/>
          <p:nvPr/>
        </p:nvSpPr>
        <p:spPr>
          <a:xfrm>
            <a:off x="3824511" y="2248048"/>
            <a:ext cx="277591" cy="144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검색</a:t>
            </a: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7153E7B-9C0C-4252-2E1C-F2805A6ED2F5}"/>
              </a:ext>
            </a:extLst>
          </p:cNvPr>
          <p:cNvSpPr/>
          <p:nvPr/>
        </p:nvSpPr>
        <p:spPr>
          <a:xfrm>
            <a:off x="2610475" y="2248048"/>
            <a:ext cx="1193641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검색어를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입력하세요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3" name="Picture 13">
            <a:extLst>
              <a:ext uri="{FF2B5EF4-FFF2-40B4-BE49-F238E27FC236}">
                <a16:creationId xmlns:a16="http://schemas.microsoft.com/office/drawing/2014/main" id="{0FCC0245-3E26-0885-B5DD-74B99CA40B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2534" y="2246398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04EAB11D-86F5-C846-FFBF-6CA8DEE3273D}"/>
              </a:ext>
            </a:extLst>
          </p:cNvPr>
          <p:cNvSpPr/>
          <p:nvPr/>
        </p:nvSpPr>
        <p:spPr>
          <a:xfrm>
            <a:off x="2025221" y="2248048"/>
            <a:ext cx="393415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제목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375FE111-B71F-9A47-03EC-CE077E9FD886}"/>
              </a:ext>
            </a:extLst>
          </p:cNvPr>
          <p:cNvGrpSpPr/>
          <p:nvPr/>
        </p:nvGrpSpPr>
        <p:grpSpPr>
          <a:xfrm>
            <a:off x="1169162" y="2246542"/>
            <a:ext cx="408361" cy="144462"/>
            <a:chOff x="2403014" y="4597515"/>
            <a:chExt cx="408361" cy="144462"/>
          </a:xfrm>
        </p:grpSpPr>
        <p:sp>
          <p:nvSpPr>
            <p:cNvPr id="30" name="Rectangle 191">
              <a:extLst>
                <a:ext uri="{FF2B5EF4-FFF2-40B4-BE49-F238E27FC236}">
                  <a16:creationId xmlns:a16="http://schemas.microsoft.com/office/drawing/2014/main" id="{A99E4951-1367-0E80-696C-9448C7D189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2071" y="4615885"/>
              <a:ext cx="269304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접수중</a:t>
              </a:r>
            </a:p>
          </p:txBody>
        </p:sp>
        <p:graphicFrame>
          <p:nvGraphicFramePr>
            <p:cNvPr id="31" name="개체 30">
              <a:extLst>
                <a:ext uri="{FF2B5EF4-FFF2-40B4-BE49-F238E27FC236}">
                  <a16:creationId xmlns:a16="http://schemas.microsoft.com/office/drawing/2014/main" id="{1206D69C-5CAD-8C4B-4094-4BBB32A61E4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03014" y="4597515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145435" imgH="145435" progId="Visio.Drawing.11">
                    <p:embed/>
                  </p:oleObj>
                </mc:Choice>
                <mc:Fallback>
                  <p:oleObj name="Visio" r:id="rId4" imgW="145435" imgH="145435" progId="Visio.Drawing.11">
                    <p:embed/>
                    <p:pic>
                      <p:nvPicPr>
                        <p:cNvPr id="31" name="개체 30">
                          <a:extLst>
                            <a:ext uri="{FF2B5EF4-FFF2-40B4-BE49-F238E27FC236}">
                              <a16:creationId xmlns:a16="http://schemas.microsoft.com/office/drawing/2014/main" id="{63C3A279-5C26-6CE0-5D7E-6B376DC6654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3014" y="4597515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C6CB713E-05A1-09BD-D241-7FBC07940FD9}"/>
              </a:ext>
            </a:extLst>
          </p:cNvPr>
          <p:cNvGrpSpPr/>
          <p:nvPr/>
        </p:nvGrpSpPr>
        <p:grpSpPr>
          <a:xfrm>
            <a:off x="266961" y="2246398"/>
            <a:ext cx="316600" cy="144462"/>
            <a:chOff x="2145750" y="2807609"/>
            <a:chExt cx="316600" cy="144462"/>
          </a:xfrm>
        </p:grpSpPr>
        <p:sp>
          <p:nvSpPr>
            <p:cNvPr id="33" name="Rectangle 191">
              <a:extLst>
                <a:ext uri="{FF2B5EF4-FFF2-40B4-BE49-F238E27FC236}">
                  <a16:creationId xmlns:a16="http://schemas.microsoft.com/office/drawing/2014/main" id="{CC726BE8-9E39-153C-1E12-2EAA72863B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2814" y="2826123"/>
              <a:ext cx="179536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전체</a:t>
              </a:r>
            </a:p>
          </p:txBody>
        </p:sp>
        <p:graphicFrame>
          <p:nvGraphicFramePr>
            <p:cNvPr id="34" name="개체 33">
              <a:extLst>
                <a:ext uri="{FF2B5EF4-FFF2-40B4-BE49-F238E27FC236}">
                  <a16:creationId xmlns:a16="http://schemas.microsoft.com/office/drawing/2014/main" id="{B7CD9C1C-8D16-D315-2DEA-4D05452CA54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45750" y="2807609"/>
            <a:ext cx="144463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6" imgW="145435" imgH="145435" progId="Visio.Drawing.11">
                    <p:embed/>
                  </p:oleObj>
                </mc:Choice>
                <mc:Fallback>
                  <p:oleObj name="Visio" r:id="rId6" imgW="145435" imgH="145435" progId="Visio.Drawing.11">
                    <p:embed/>
                    <p:pic>
                      <p:nvPicPr>
                        <p:cNvPr id="34" name="개체 33">
                          <a:extLst>
                            <a:ext uri="{FF2B5EF4-FFF2-40B4-BE49-F238E27FC236}">
                              <a16:creationId xmlns:a16="http://schemas.microsoft.com/office/drawing/2014/main" id="{414892EC-4E10-F95B-7F27-36C46D7F155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45750" y="2807609"/>
                          <a:ext cx="144463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D186993A-B2A4-114C-351B-3069FA9B06FC}"/>
              </a:ext>
            </a:extLst>
          </p:cNvPr>
          <p:cNvGrpSpPr/>
          <p:nvPr/>
        </p:nvGrpSpPr>
        <p:grpSpPr>
          <a:xfrm>
            <a:off x="1666143" y="2246542"/>
            <a:ext cx="318593" cy="144462"/>
            <a:chOff x="2403014" y="4597515"/>
            <a:chExt cx="318593" cy="144462"/>
          </a:xfrm>
        </p:grpSpPr>
        <p:sp>
          <p:nvSpPr>
            <p:cNvPr id="36" name="Rectangle 191">
              <a:extLst>
                <a:ext uri="{FF2B5EF4-FFF2-40B4-BE49-F238E27FC236}">
                  <a16:creationId xmlns:a16="http://schemas.microsoft.com/office/drawing/2014/main" id="{946174D0-B197-98A0-A75B-BF7DD0A7AA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2071" y="4615885"/>
              <a:ext cx="179536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마감</a:t>
              </a:r>
            </a:p>
          </p:txBody>
        </p:sp>
        <p:graphicFrame>
          <p:nvGraphicFramePr>
            <p:cNvPr id="37" name="개체 36">
              <a:extLst>
                <a:ext uri="{FF2B5EF4-FFF2-40B4-BE49-F238E27FC236}">
                  <a16:creationId xmlns:a16="http://schemas.microsoft.com/office/drawing/2014/main" id="{94A6EF9E-FE6D-8F8D-F3DC-385E2DEF35B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03014" y="4597515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145435" imgH="145435" progId="Visio.Drawing.11">
                    <p:embed/>
                  </p:oleObj>
                </mc:Choice>
                <mc:Fallback>
                  <p:oleObj name="Visio" r:id="rId4" imgW="145435" imgH="145435" progId="Visio.Drawing.11">
                    <p:embed/>
                    <p:pic>
                      <p:nvPicPr>
                        <p:cNvPr id="37" name="개체 36">
                          <a:extLst>
                            <a:ext uri="{FF2B5EF4-FFF2-40B4-BE49-F238E27FC236}">
                              <a16:creationId xmlns:a16="http://schemas.microsoft.com/office/drawing/2014/main" id="{5BA96A23-299F-0D26-B547-B96178C1F08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3014" y="4597515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ADB0B3B1-06D4-BF4F-26D2-2286DA8521DF}"/>
              </a:ext>
            </a:extLst>
          </p:cNvPr>
          <p:cNvGrpSpPr/>
          <p:nvPr/>
        </p:nvGrpSpPr>
        <p:grpSpPr>
          <a:xfrm>
            <a:off x="672181" y="2246542"/>
            <a:ext cx="408361" cy="144462"/>
            <a:chOff x="2403014" y="4597515"/>
            <a:chExt cx="408361" cy="144462"/>
          </a:xfrm>
        </p:grpSpPr>
        <p:sp>
          <p:nvSpPr>
            <p:cNvPr id="39" name="Rectangle 191">
              <a:extLst>
                <a:ext uri="{FF2B5EF4-FFF2-40B4-BE49-F238E27FC236}">
                  <a16:creationId xmlns:a16="http://schemas.microsoft.com/office/drawing/2014/main" id="{1A740795-D283-ADFF-E19F-A91D2F70E4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2071" y="4615885"/>
              <a:ext cx="269304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준비중</a:t>
              </a:r>
            </a:p>
          </p:txBody>
        </p:sp>
        <p:graphicFrame>
          <p:nvGraphicFramePr>
            <p:cNvPr id="40" name="개체 39">
              <a:extLst>
                <a:ext uri="{FF2B5EF4-FFF2-40B4-BE49-F238E27FC236}">
                  <a16:creationId xmlns:a16="http://schemas.microsoft.com/office/drawing/2014/main" id="{52207A14-30CF-B9E1-E789-3A3527F68AA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03014" y="4597515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145435" imgH="145435" progId="Visio.Drawing.11">
                    <p:embed/>
                  </p:oleObj>
                </mc:Choice>
                <mc:Fallback>
                  <p:oleObj name="Visio" r:id="rId4" imgW="145435" imgH="145435" progId="Visio.Drawing.11">
                    <p:embed/>
                    <p:pic>
                      <p:nvPicPr>
                        <p:cNvPr id="40" name="개체 39">
                          <a:extLst>
                            <a:ext uri="{FF2B5EF4-FFF2-40B4-BE49-F238E27FC236}">
                              <a16:creationId xmlns:a16="http://schemas.microsoft.com/office/drawing/2014/main" id="{A6716FD1-8DBA-6471-53BF-67C40C57F7E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3014" y="4597515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273DDFD6-A69D-FF61-B01F-5EDA8FDFF984}"/>
              </a:ext>
            </a:extLst>
          </p:cNvPr>
          <p:cNvGraphicFramePr>
            <a:graphicFrameLocks noGrp="1"/>
          </p:cNvGraphicFramePr>
          <p:nvPr/>
        </p:nvGraphicFramePr>
        <p:xfrm>
          <a:off x="284966" y="2881893"/>
          <a:ext cx="6494051" cy="27033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6426">
                  <a:extLst>
                    <a:ext uri="{9D8B030D-6E8A-4147-A177-3AD203B41FA5}">
                      <a16:colId xmlns:a16="http://schemas.microsoft.com/office/drawing/2014/main" val="795720410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1696">
                  <a:extLst>
                    <a:ext uri="{9D8B030D-6E8A-4147-A177-3AD203B41FA5}">
                      <a16:colId xmlns:a16="http://schemas.microsoft.com/office/drawing/2014/main" val="3302419106"/>
                    </a:ext>
                  </a:extLst>
                </a:gridCol>
                <a:gridCol w="69227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545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접수기간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신청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b="0" dirty="0">
                          <a:latin typeface="맑은 고딕" panose="020B0503020000020004" pitchFamily="50" charset="-127"/>
                          <a:ea typeface="+mn-ea"/>
                        </a:rPr>
                        <a:t>2025</a:t>
                      </a:r>
                      <a:r>
                        <a:rPr lang="ko-KR" altLang="en-US" sz="700" b="0" dirty="0">
                          <a:latin typeface="맑은 고딕" panose="020B0503020000020004" pitchFamily="50" charset="-127"/>
                          <a:ea typeface="+mn-ea"/>
                        </a:rPr>
                        <a:t>년 하반기 </a:t>
                      </a:r>
                      <a:r>
                        <a:rPr lang="ko-KR" altLang="en-US" sz="700" b="0" dirty="0" err="1">
                          <a:latin typeface="맑은 고딕" panose="020B0503020000020004" pitchFamily="50" charset="-127"/>
                          <a:ea typeface="+mn-ea"/>
                        </a:rPr>
                        <a:t>특기생</a:t>
                      </a:r>
                      <a:r>
                        <a:rPr lang="ko-KR" altLang="en-US" sz="700" b="0" dirty="0">
                          <a:latin typeface="맑은 고딕" panose="020B0503020000020004" pitchFamily="50" charset="-127"/>
                          <a:ea typeface="+mn-ea"/>
                        </a:rPr>
                        <a:t> 장학금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준비중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 하반기 특기생 장학금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접수중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7312254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 하반기 특기생 장학금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접수중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8246901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 하반기 특기생 장학금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마감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1439070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 하반기 특기생 장학금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마감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3880563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 하반기 특기생 장학금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마감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0006018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 하반기 특기생 장학금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2894528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 하반기 특기생 장학금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6804240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 하반기 </a:t>
                      </a: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특기생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장학금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마감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6797012"/>
                  </a:ext>
                </a:extLst>
              </a:tr>
            </a:tbl>
          </a:graphicData>
        </a:graphic>
      </p:graphicFrame>
      <p:sp>
        <p:nvSpPr>
          <p:cNvPr id="23" name="직사각형 22">
            <a:extLst>
              <a:ext uri="{FF2B5EF4-FFF2-40B4-BE49-F238E27FC236}">
                <a16:creationId xmlns:a16="http://schemas.microsoft.com/office/drawing/2014/main" id="{C1C4ED59-688D-434E-DB34-5A3EBBF4BA53}"/>
              </a:ext>
            </a:extLst>
          </p:cNvPr>
          <p:cNvSpPr/>
          <p:nvPr/>
        </p:nvSpPr>
        <p:spPr>
          <a:xfrm>
            <a:off x="3352870" y="5661248"/>
            <a:ext cx="902491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처음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◀  1  ▶  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마지막</a:t>
            </a:r>
          </a:p>
        </p:txBody>
      </p:sp>
      <p:pic>
        <p:nvPicPr>
          <p:cNvPr id="24" name="Picture 13">
            <a:extLst>
              <a:ext uri="{FF2B5EF4-FFF2-40B4-BE49-F238E27FC236}">
                <a16:creationId xmlns:a16="http://schemas.microsoft.com/office/drawing/2014/main" id="{F5977812-500C-5083-59B7-79EBC21FC8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1455" y="2655760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39AC1715-5AA7-FCA2-B1D7-6636B68B50B0}"/>
              </a:ext>
            </a:extLst>
          </p:cNvPr>
          <p:cNvSpPr/>
          <p:nvPr/>
        </p:nvSpPr>
        <p:spPr>
          <a:xfrm>
            <a:off x="6254137" y="2649459"/>
            <a:ext cx="35765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10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건</a:t>
            </a:r>
          </a:p>
        </p:txBody>
      </p:sp>
      <p:sp>
        <p:nvSpPr>
          <p:cNvPr id="26" name="Rectangle 191">
            <a:extLst>
              <a:ext uri="{FF2B5EF4-FFF2-40B4-BE49-F238E27FC236}">
                <a16:creationId xmlns:a16="http://schemas.microsoft.com/office/drawing/2014/main" id="{9C0D1479-0D43-E3AC-0342-F5B900DAAD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778" y="2666591"/>
            <a:ext cx="261290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총 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7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건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57C389E-FBFB-63C3-FB0C-703712803671}"/>
              </a:ext>
            </a:extLst>
          </p:cNvPr>
          <p:cNvSpPr/>
          <p:nvPr/>
        </p:nvSpPr>
        <p:spPr>
          <a:xfrm>
            <a:off x="6205078" y="3470683"/>
            <a:ext cx="468001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신청하기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1F531B7-D693-025E-BB93-8C7055BBD8C9}"/>
              </a:ext>
            </a:extLst>
          </p:cNvPr>
          <p:cNvSpPr/>
          <p:nvPr/>
        </p:nvSpPr>
        <p:spPr>
          <a:xfrm>
            <a:off x="6205078" y="3738165"/>
            <a:ext cx="468001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신청하기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112B7772-6580-7908-16A5-9EF1DFA8E197}"/>
              </a:ext>
            </a:extLst>
          </p:cNvPr>
          <p:cNvSpPr>
            <a:spLocks noChangeAspect="1"/>
          </p:cNvSpPr>
          <p:nvPr/>
        </p:nvSpPr>
        <p:spPr>
          <a:xfrm>
            <a:off x="113466" y="2240173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7DAB8995-43B2-E9ED-C143-421968EEF035}"/>
              </a:ext>
            </a:extLst>
          </p:cNvPr>
          <p:cNvSpPr>
            <a:spLocks noChangeAspect="1"/>
          </p:cNvSpPr>
          <p:nvPr/>
        </p:nvSpPr>
        <p:spPr>
          <a:xfrm>
            <a:off x="226603" y="2812217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895993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FA22F-B3BA-A9E9-667D-7D2CE7860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3C8EC27-B61F-FCDA-5594-977D342F97CE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특기생장학금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신청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7009048-E3CF-5BCD-1912-C7AA75F21E07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프로그램신청관리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특기생장학금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장학금신청</a:t>
            </a: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0DE8B819-E547-F286-5924-A61A243762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1148172"/>
              </p:ext>
            </p:extLst>
          </p:nvPr>
        </p:nvGraphicFramePr>
        <p:xfrm>
          <a:off x="6969418" y="2548005"/>
          <a:ext cx="2772114" cy="3536979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프로그램신청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특기생장학금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조회 화면 목록에서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신청하기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클릭 시 보이는 화면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사이트관리자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프로그램신청관리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개인정보동의관리에서 설정된 개인정보 수집 및 활용에 대한 동의 내용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개인정보 수집 및 활용에 동의합니다 체크 시 신청이 가능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이름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신청자 회원의 이름을 표시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보호자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신청 시 작성한 보호자 이름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생년월일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신청 시 설정한 신청자의 생년월일로 수정이 가능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보호자 연락처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신청 시 설정한 보호자 연락처로 수정이 가능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소속학교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신청 시 설정한 재학 학교명으로 수정이 가능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신청시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설정한 재학 학교의 학년으로 수정이 가능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(1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학년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~ 4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학년 중 선택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)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주소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신청 시 설정한 신청자 주소로 수정이 가능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우편번호 찾기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주소검색 팝업창에서 해당 주소 검색 및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선택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우편번호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기본주소가 주소란에 적용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상세주소 직접입력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최종전입일자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신청 시 설정한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최종전입일자로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본인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보호자 중 선택 및 전입일자를 설정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은행명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신청 시 설정한신청자 본인 계좌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은행명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예금주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신청 시 자동 신청자의 회원 이름을 자동으로 표시하며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수정이 불가능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계좌번호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신청 시 설정한 본인 계좌의 계좌번호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0425590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43606BF7-7AB0-B818-2E57-DE510C19B190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pat_application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B19D6966-674B-36EF-D926-CFE104F729E3}"/>
              </a:ext>
            </a:extLst>
          </p:cNvPr>
          <p:cNvSpPr/>
          <p:nvPr/>
        </p:nvSpPr>
        <p:spPr>
          <a:xfrm>
            <a:off x="165100" y="1376772"/>
            <a:ext cx="6732116" cy="36877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8C393F90-DF28-E455-1FEE-3031349915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1468700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4E34B2B5-26E2-2047-BCEB-925FCCF8F223}"/>
              </a:ext>
            </a:extLst>
          </p:cNvPr>
          <p:cNvSpPr/>
          <p:nvPr/>
        </p:nvSpPr>
        <p:spPr>
          <a:xfrm>
            <a:off x="5680946" y="1586865"/>
            <a:ext cx="1165384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오산시민 평생교육장려금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8D90354-7643-2D5F-7253-54AB0C539197}"/>
              </a:ext>
            </a:extLst>
          </p:cNvPr>
          <p:cNvSpPr/>
          <p:nvPr/>
        </p:nvSpPr>
        <p:spPr>
          <a:xfrm>
            <a:off x="4831365" y="1586865"/>
            <a:ext cx="652423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 신청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1CD0651-8AC6-3FC5-EDF5-DAA9120E604A}"/>
              </a:ext>
            </a:extLst>
          </p:cNvPr>
          <p:cNvSpPr/>
          <p:nvPr/>
        </p:nvSpPr>
        <p:spPr>
          <a:xfrm>
            <a:off x="4223838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재단소식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B765CD0-E3BE-610D-EBF7-8A99A039A5E8}"/>
              </a:ext>
            </a:extLst>
          </p:cNvPr>
          <p:cNvSpPr/>
          <p:nvPr/>
        </p:nvSpPr>
        <p:spPr>
          <a:xfrm>
            <a:off x="3616311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열린경영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3E7DB23-0E2A-AE00-7624-995E251C4D1A}"/>
              </a:ext>
            </a:extLst>
          </p:cNvPr>
          <p:cNvSpPr/>
          <p:nvPr/>
        </p:nvSpPr>
        <p:spPr>
          <a:xfrm>
            <a:off x="3008784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88EFBEB-6A5B-7C26-605E-2074288CEBB7}"/>
              </a:ext>
            </a:extLst>
          </p:cNvPr>
          <p:cNvSpPr/>
          <p:nvPr/>
        </p:nvSpPr>
        <p:spPr>
          <a:xfrm>
            <a:off x="165100" y="1790190"/>
            <a:ext cx="6732116" cy="469951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90C2A3F-1B24-8B31-3943-EBBED72234B2}"/>
              </a:ext>
            </a:extLst>
          </p:cNvPr>
          <p:cNvSpPr/>
          <p:nvPr/>
        </p:nvSpPr>
        <p:spPr>
          <a:xfrm>
            <a:off x="5560734" y="1879740"/>
            <a:ext cx="1218282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특기생장학금</a:t>
            </a:r>
            <a:endParaRPr kumimoji="0" lang="ko-KR" alt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18D74EE-3396-E210-FF3E-8673AC8A62B7}"/>
              </a:ext>
            </a:extLst>
          </p:cNvPr>
          <p:cNvSpPr/>
          <p:nvPr/>
        </p:nvSpPr>
        <p:spPr>
          <a:xfrm>
            <a:off x="236476" y="1844824"/>
            <a:ext cx="732573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특기생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장학금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3ADE3F9-86BB-5D1D-7D92-0F7A6A0417C7}"/>
              </a:ext>
            </a:extLst>
          </p:cNvPr>
          <p:cNvSpPr/>
          <p:nvPr/>
        </p:nvSpPr>
        <p:spPr>
          <a:xfrm>
            <a:off x="295439" y="2248514"/>
            <a:ext cx="1620636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800" b="1" dirty="0">
                <a:solidFill>
                  <a:prstClr val="black"/>
                </a:solidFill>
              </a:rPr>
              <a:t>개인정보 수집 및 활용에 대한 안내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1BA06EE2-C893-2E28-E03E-074BD14C9E19}"/>
              </a:ext>
            </a:extLst>
          </p:cNvPr>
          <p:cNvGrpSpPr/>
          <p:nvPr/>
        </p:nvGrpSpPr>
        <p:grpSpPr>
          <a:xfrm>
            <a:off x="6728560" y="2428203"/>
            <a:ext cx="77080" cy="792000"/>
            <a:chOff x="6781481" y="1888563"/>
            <a:chExt cx="77080" cy="792000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9D8FBC0B-5B78-4D8E-0DC7-7279774E1F4F}"/>
                </a:ext>
              </a:extLst>
            </p:cNvPr>
            <p:cNvSpPr/>
            <p:nvPr/>
          </p:nvSpPr>
          <p:spPr>
            <a:xfrm>
              <a:off x="6786561" y="1888563"/>
              <a:ext cx="72000" cy="792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AA2C56C1-819D-6786-B90C-192D8FAEA702}"/>
                </a:ext>
              </a:extLst>
            </p:cNvPr>
            <p:cNvSpPr/>
            <p:nvPr/>
          </p:nvSpPr>
          <p:spPr>
            <a:xfrm>
              <a:off x="6781481" y="2116070"/>
              <a:ext cx="72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endParaRPr>
            </a:p>
          </p:txBody>
        </p:sp>
      </p:grp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E6F90BB-BA28-9D9F-142A-31F25C2A4BCB}"/>
              </a:ext>
            </a:extLst>
          </p:cNvPr>
          <p:cNvSpPr/>
          <p:nvPr/>
        </p:nvSpPr>
        <p:spPr>
          <a:xfrm>
            <a:off x="281386" y="2428534"/>
            <a:ext cx="6442094" cy="78963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t"/>
          <a:lstStyle/>
          <a:p>
            <a:r>
              <a:rPr lang="ko-KR" altLang="en-US" sz="700" dirty="0">
                <a:solidFill>
                  <a:prstClr val="black"/>
                </a:solidFill>
              </a:rPr>
              <a:t>오산교육재단 홈페이지 프로그램 신청을 위하여 아래와 같이 개인정보를 수집・이용하고자 합니다</a:t>
            </a:r>
            <a:r>
              <a:rPr lang="en-US" altLang="ko-KR" sz="700" dirty="0">
                <a:solidFill>
                  <a:prstClr val="black"/>
                </a:solidFill>
              </a:rPr>
              <a:t>. </a:t>
            </a:r>
            <a:r>
              <a:rPr lang="ko-KR" altLang="en-US" sz="700" dirty="0">
                <a:solidFill>
                  <a:prstClr val="black"/>
                </a:solidFill>
              </a:rPr>
              <a:t>내용을 자세히 읽으신 후 동의 여부를 결정하여 주시기 바랍니다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</a:p>
          <a:p>
            <a:endParaRPr lang="en-US" altLang="ko-KR" sz="700" dirty="0">
              <a:solidFill>
                <a:prstClr val="black"/>
              </a:solidFill>
            </a:endParaRPr>
          </a:p>
          <a:p>
            <a:r>
              <a:rPr lang="ko-KR" altLang="en-US" sz="700" dirty="0">
                <a:solidFill>
                  <a:prstClr val="black"/>
                </a:solidFill>
              </a:rPr>
              <a:t>개인정보 수집・이용 내역</a:t>
            </a:r>
            <a:endParaRPr lang="en-US" altLang="ko-KR" sz="700" dirty="0">
              <a:solidFill>
                <a:prstClr val="black"/>
              </a:solidFill>
            </a:endParaRPr>
          </a:p>
          <a:p>
            <a:r>
              <a:rPr lang="en-US" altLang="ko-KR" sz="700" dirty="0">
                <a:solidFill>
                  <a:prstClr val="black"/>
                </a:solidFill>
              </a:rPr>
              <a:t>1. </a:t>
            </a:r>
            <a:r>
              <a:rPr lang="ko-KR" altLang="en-US" sz="700" dirty="0">
                <a:solidFill>
                  <a:prstClr val="black"/>
                </a:solidFill>
              </a:rPr>
              <a:t>항목</a:t>
            </a:r>
            <a:endParaRPr lang="en-US" altLang="ko-KR" sz="700" dirty="0">
              <a:solidFill>
                <a:prstClr val="black"/>
              </a:solidFill>
            </a:endParaRPr>
          </a:p>
          <a:p>
            <a:r>
              <a:rPr lang="en-US" altLang="ko-KR" sz="700" dirty="0">
                <a:solidFill>
                  <a:prstClr val="black"/>
                </a:solidFill>
              </a:rPr>
              <a:t>‣ </a:t>
            </a:r>
            <a:r>
              <a:rPr lang="ko-KR" altLang="en-US" sz="700" dirty="0">
                <a:solidFill>
                  <a:prstClr val="black"/>
                </a:solidFill>
              </a:rPr>
              <a:t>필수항목 </a:t>
            </a:r>
            <a:r>
              <a:rPr lang="en-US" altLang="ko-KR" sz="700" dirty="0">
                <a:solidFill>
                  <a:prstClr val="black"/>
                </a:solidFill>
              </a:rPr>
              <a:t>: </a:t>
            </a:r>
            <a:r>
              <a:rPr lang="ko-KR" altLang="en-US" sz="700" dirty="0">
                <a:solidFill>
                  <a:prstClr val="black"/>
                </a:solidFill>
              </a:rPr>
              <a:t>성명</a:t>
            </a:r>
            <a:r>
              <a:rPr lang="en-US" altLang="ko-KR" sz="700" dirty="0">
                <a:solidFill>
                  <a:prstClr val="black"/>
                </a:solidFill>
              </a:rPr>
              <a:t>, </a:t>
            </a:r>
            <a:r>
              <a:rPr lang="ko-KR" altLang="en-US" sz="700" dirty="0">
                <a:solidFill>
                  <a:prstClr val="black"/>
                </a:solidFill>
              </a:rPr>
              <a:t>아이디</a:t>
            </a:r>
            <a:r>
              <a:rPr lang="en-US" altLang="ko-KR" sz="700" dirty="0">
                <a:solidFill>
                  <a:prstClr val="black"/>
                </a:solidFill>
              </a:rPr>
              <a:t>, </a:t>
            </a:r>
            <a:r>
              <a:rPr lang="ko-KR" altLang="en-US" sz="700" dirty="0">
                <a:solidFill>
                  <a:prstClr val="black"/>
                </a:solidFill>
              </a:rPr>
              <a:t>비밀번호</a:t>
            </a:r>
            <a:r>
              <a:rPr lang="en-US" altLang="ko-KR" sz="700" dirty="0">
                <a:solidFill>
                  <a:prstClr val="black"/>
                </a:solidFill>
              </a:rPr>
              <a:t>, </a:t>
            </a:r>
            <a:r>
              <a:rPr lang="ko-KR" altLang="en-US" sz="700" dirty="0">
                <a:solidFill>
                  <a:prstClr val="black"/>
                </a:solidFill>
              </a:rPr>
              <a:t>휴대폰번호</a:t>
            </a:r>
            <a:r>
              <a:rPr lang="en-US" altLang="ko-KR" sz="700" dirty="0">
                <a:solidFill>
                  <a:prstClr val="black"/>
                </a:solidFill>
              </a:rPr>
              <a:t>, </a:t>
            </a:r>
            <a:r>
              <a:rPr lang="ko-KR" altLang="en-US" sz="700" dirty="0" err="1">
                <a:solidFill>
                  <a:prstClr val="black"/>
                </a:solidFill>
              </a:rPr>
              <a:t>이메일주소</a:t>
            </a:r>
            <a:r>
              <a:rPr lang="en-US" altLang="ko-KR" sz="700" dirty="0">
                <a:solidFill>
                  <a:prstClr val="black"/>
                </a:solidFill>
              </a:rPr>
              <a:t>, </a:t>
            </a:r>
            <a:r>
              <a:rPr lang="ko-KR" altLang="en-US" sz="700" dirty="0">
                <a:solidFill>
                  <a:prstClr val="black"/>
                </a:solidFill>
              </a:rPr>
              <a:t>관리를 위해 수집함</a:t>
            </a:r>
            <a:endParaRPr lang="en-US" altLang="ko-KR" sz="700" dirty="0">
              <a:solidFill>
                <a:prstClr val="black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C5E592E-5643-EC5F-BB9F-2999F6E2E741}"/>
              </a:ext>
            </a:extLst>
          </p:cNvPr>
          <p:cNvSpPr/>
          <p:nvPr/>
        </p:nvSpPr>
        <p:spPr>
          <a:xfrm>
            <a:off x="295439" y="3460960"/>
            <a:ext cx="549831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800" b="1" dirty="0">
                <a:solidFill>
                  <a:prstClr val="black"/>
                </a:solidFill>
              </a:rPr>
              <a:t>신청자 정보</a:t>
            </a: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27921E8A-7282-4A13-34E4-0512C4765D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853172"/>
              </p:ext>
            </p:extLst>
          </p:nvPr>
        </p:nvGraphicFramePr>
        <p:xfrm>
          <a:off x="281386" y="3633874"/>
          <a:ext cx="6519175" cy="1839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8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2798">
                  <a:extLst>
                    <a:ext uri="{9D8B030D-6E8A-4147-A177-3AD203B41FA5}">
                      <a16:colId xmlns:a16="http://schemas.microsoft.com/office/drawing/2014/main" val="3116975180"/>
                    </a:ext>
                  </a:extLst>
                </a:gridCol>
                <a:gridCol w="2215723">
                  <a:extLst>
                    <a:ext uri="{9D8B030D-6E8A-4147-A177-3AD203B41FA5}">
                      <a16:colId xmlns:a16="http://schemas.microsoft.com/office/drawing/2014/main" val="4261210409"/>
                    </a:ext>
                  </a:extLst>
                </a:gridCol>
              </a:tblGrid>
              <a:tr h="229955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홍이삭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보호자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9955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생년월일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2008.05.23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보호자 연락처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9955">
                <a:tc>
                  <a:txBody>
                    <a:bodyPr/>
                    <a:lstStyle/>
                    <a:p>
                      <a:pPr algn="r" latinLnBrk="0"/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/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본인 연락처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955">
                <a:tc>
                  <a:txBody>
                    <a:bodyPr/>
                    <a:lstStyle/>
                    <a:p>
                      <a:pPr algn="r" latinLnBrk="0"/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소속학교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latinLnBrk="0"/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4276378"/>
                  </a:ext>
                </a:extLst>
              </a:tr>
              <a:tr h="229955">
                <a:tc>
                  <a:txBody>
                    <a:bodyPr/>
                    <a:lstStyle/>
                    <a:p>
                      <a:pPr algn="r" latinLnBrk="0"/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최종전입일자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1186037"/>
                  </a:ext>
                </a:extLst>
              </a:tr>
              <a:tr h="229955">
                <a:tc rowSpan="3">
                  <a:txBody>
                    <a:bodyPr/>
                    <a:lstStyle/>
                    <a:p>
                      <a:pPr algn="r" latinLnBrk="0"/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주소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162364"/>
                  </a:ext>
                </a:extLst>
              </a:tr>
              <a:tr h="229955">
                <a:tc vMerge="1">
                  <a:txBody>
                    <a:bodyPr/>
                    <a:lstStyle/>
                    <a:p>
                      <a:pPr algn="r" latinLnBrk="0"/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5576740"/>
                  </a:ext>
                </a:extLst>
              </a:tr>
              <a:tr h="229955">
                <a:tc vMerge="1">
                  <a:txBody>
                    <a:bodyPr/>
                    <a:lstStyle/>
                    <a:p>
                      <a:pPr algn="r" latinLnBrk="0"/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latinLnBrk="0"/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515371"/>
                  </a:ext>
                </a:extLst>
              </a:tr>
            </a:tbl>
          </a:graphicData>
        </a:graphic>
      </p:graphicFrame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1DDB2AF7-35AC-52FB-F8CD-D50BB43F16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1293994"/>
              </p:ext>
            </p:extLst>
          </p:nvPr>
        </p:nvGraphicFramePr>
        <p:xfrm>
          <a:off x="281386" y="5733603"/>
          <a:ext cx="6508352" cy="699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73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10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3308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은행명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308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예금주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홍이삭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308">
                <a:tc>
                  <a:txBody>
                    <a:bodyPr/>
                    <a:lstStyle/>
                    <a:p>
                      <a:pPr algn="r" latinLnBrk="0"/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계좌번호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2" name="직사각형 41">
            <a:extLst>
              <a:ext uri="{FF2B5EF4-FFF2-40B4-BE49-F238E27FC236}">
                <a16:creationId xmlns:a16="http://schemas.microsoft.com/office/drawing/2014/main" id="{0FD8509E-9C74-E6AB-0658-70C7E22E590A}"/>
              </a:ext>
            </a:extLst>
          </p:cNvPr>
          <p:cNvSpPr/>
          <p:nvPr/>
        </p:nvSpPr>
        <p:spPr>
          <a:xfrm>
            <a:off x="295439" y="5553236"/>
            <a:ext cx="755015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800" b="1" dirty="0">
                <a:solidFill>
                  <a:prstClr val="black"/>
                </a:solidFill>
              </a:rPr>
              <a:t>신청자 계좌정보</a:t>
            </a:r>
          </a:p>
        </p:txBody>
      </p:sp>
      <p:pic>
        <p:nvPicPr>
          <p:cNvPr id="43" name="Picture 13">
            <a:extLst>
              <a:ext uri="{FF2B5EF4-FFF2-40B4-BE49-F238E27FC236}">
                <a16:creationId xmlns:a16="http://schemas.microsoft.com/office/drawing/2014/main" id="{331B6F77-D8A3-52CE-03B8-058EBDBF21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9495" y="3899009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4" name="직사각형 43">
            <a:extLst>
              <a:ext uri="{FF2B5EF4-FFF2-40B4-BE49-F238E27FC236}">
                <a16:creationId xmlns:a16="http://schemas.microsoft.com/office/drawing/2014/main" id="{C71845D2-423D-E347-F752-DC85932172E1}"/>
              </a:ext>
            </a:extLst>
          </p:cNvPr>
          <p:cNvSpPr/>
          <p:nvPr/>
        </p:nvSpPr>
        <p:spPr>
          <a:xfrm>
            <a:off x="1239605" y="3899273"/>
            <a:ext cx="35765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2008</a:t>
            </a: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년</a:t>
            </a:r>
          </a:p>
        </p:txBody>
      </p:sp>
      <p:pic>
        <p:nvPicPr>
          <p:cNvPr id="46" name="Picture 13">
            <a:extLst>
              <a:ext uri="{FF2B5EF4-FFF2-40B4-BE49-F238E27FC236}">
                <a16:creationId xmlns:a16="http://schemas.microsoft.com/office/drawing/2014/main" id="{580F5DCC-7F4F-43D2-4C05-92E713412E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0225" y="3899009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7" name="직사각형 46">
            <a:extLst>
              <a:ext uri="{FF2B5EF4-FFF2-40B4-BE49-F238E27FC236}">
                <a16:creationId xmlns:a16="http://schemas.microsoft.com/office/drawing/2014/main" id="{5AEA5B15-4228-77F2-D186-539F2BB6AA40}"/>
              </a:ext>
            </a:extLst>
          </p:cNvPr>
          <p:cNvSpPr/>
          <p:nvPr/>
        </p:nvSpPr>
        <p:spPr>
          <a:xfrm>
            <a:off x="1765573" y="3899273"/>
            <a:ext cx="295578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01</a:t>
            </a: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월</a:t>
            </a:r>
          </a:p>
        </p:txBody>
      </p:sp>
      <p:pic>
        <p:nvPicPr>
          <p:cNvPr id="48" name="Picture 13">
            <a:extLst>
              <a:ext uri="{FF2B5EF4-FFF2-40B4-BE49-F238E27FC236}">
                <a16:creationId xmlns:a16="http://schemas.microsoft.com/office/drawing/2014/main" id="{1E154385-492C-E10E-F36F-65AE5220E7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2078" y="3899009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9" name="직사각형 48">
            <a:extLst>
              <a:ext uri="{FF2B5EF4-FFF2-40B4-BE49-F238E27FC236}">
                <a16:creationId xmlns:a16="http://schemas.microsoft.com/office/drawing/2014/main" id="{04E57EEB-6CEE-5B58-229F-0680C06C0F6A}"/>
              </a:ext>
            </a:extLst>
          </p:cNvPr>
          <p:cNvSpPr/>
          <p:nvPr/>
        </p:nvSpPr>
        <p:spPr>
          <a:xfrm>
            <a:off x="2237426" y="3899273"/>
            <a:ext cx="295578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01</a:t>
            </a: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일</a:t>
            </a:r>
          </a:p>
        </p:txBody>
      </p:sp>
      <p:pic>
        <p:nvPicPr>
          <p:cNvPr id="50" name="Picture 13">
            <a:extLst>
              <a:ext uri="{FF2B5EF4-FFF2-40B4-BE49-F238E27FC236}">
                <a16:creationId xmlns:a16="http://schemas.microsoft.com/office/drawing/2014/main" id="{8F85795C-D2C5-1242-CD41-233FFF93A2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4187" y="3905625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1" name="직사각형 50">
            <a:extLst>
              <a:ext uri="{FF2B5EF4-FFF2-40B4-BE49-F238E27FC236}">
                <a16:creationId xmlns:a16="http://schemas.microsoft.com/office/drawing/2014/main" id="{FFF3DAB6-417C-6E0D-3A2B-C4BCDADA9353}"/>
              </a:ext>
            </a:extLst>
          </p:cNvPr>
          <p:cNvSpPr/>
          <p:nvPr/>
        </p:nvSpPr>
        <p:spPr>
          <a:xfrm>
            <a:off x="4613063" y="3905889"/>
            <a:ext cx="245885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010</a:t>
            </a:r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4AB0972A-A305-434D-2A8D-730FA2A00644}"/>
              </a:ext>
            </a:extLst>
          </p:cNvPr>
          <p:cNvSpPr/>
          <p:nvPr/>
        </p:nvSpPr>
        <p:spPr>
          <a:xfrm>
            <a:off x="5115176" y="3905889"/>
            <a:ext cx="325136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1234</a:t>
            </a:r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962BB881-D470-0061-A9A7-34B43F6D16B2}"/>
              </a:ext>
            </a:extLst>
          </p:cNvPr>
          <p:cNvSpPr/>
          <p:nvPr/>
        </p:nvSpPr>
        <p:spPr>
          <a:xfrm>
            <a:off x="5054079" y="3916077"/>
            <a:ext cx="36869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ko-KR" sz="700" dirty="0">
                <a:solidFill>
                  <a:prstClr val="black"/>
                </a:solidFill>
              </a:rPr>
              <a:t>-</a:t>
            </a:r>
            <a:endParaRPr lang="ko-KR" altLang="en-US" sz="700" dirty="0">
              <a:solidFill>
                <a:prstClr val="black"/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2618F390-CCD0-1FEA-3953-E1C68C85E9DC}"/>
              </a:ext>
            </a:extLst>
          </p:cNvPr>
          <p:cNvSpPr/>
          <p:nvPr/>
        </p:nvSpPr>
        <p:spPr>
          <a:xfrm>
            <a:off x="5471016" y="3924028"/>
            <a:ext cx="36869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ko-KR" sz="700" dirty="0">
                <a:solidFill>
                  <a:prstClr val="black"/>
                </a:solidFill>
              </a:rPr>
              <a:t>-</a:t>
            </a:r>
            <a:endParaRPr lang="ko-KR" altLang="en-US" sz="700" dirty="0">
              <a:solidFill>
                <a:prstClr val="black"/>
              </a:solidFill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201535D0-8CA3-7B03-24CE-6AA065B09BF9}"/>
              </a:ext>
            </a:extLst>
          </p:cNvPr>
          <p:cNvSpPr/>
          <p:nvPr/>
        </p:nvSpPr>
        <p:spPr>
          <a:xfrm>
            <a:off x="5538589" y="3905889"/>
            <a:ext cx="325136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5678</a:t>
            </a:r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A1C71620-F198-7DE9-B98C-A5780A4CD312}"/>
              </a:ext>
            </a:extLst>
          </p:cNvPr>
          <p:cNvSpPr/>
          <p:nvPr/>
        </p:nvSpPr>
        <p:spPr>
          <a:xfrm>
            <a:off x="1249383" y="4367041"/>
            <a:ext cx="864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오산대학교</a:t>
            </a:r>
          </a:p>
        </p:txBody>
      </p:sp>
      <p:pic>
        <p:nvPicPr>
          <p:cNvPr id="57" name="Picture 13">
            <a:extLst>
              <a:ext uri="{FF2B5EF4-FFF2-40B4-BE49-F238E27FC236}">
                <a16:creationId xmlns:a16="http://schemas.microsoft.com/office/drawing/2014/main" id="{2D75EA8F-0BF0-1610-23DB-57F016BC2A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9802" y="4367695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8" name="직사각형 57">
            <a:extLst>
              <a:ext uri="{FF2B5EF4-FFF2-40B4-BE49-F238E27FC236}">
                <a16:creationId xmlns:a16="http://schemas.microsoft.com/office/drawing/2014/main" id="{1BBE2FFE-F99C-F523-BB1E-6CBF11106AF4}"/>
              </a:ext>
            </a:extLst>
          </p:cNvPr>
          <p:cNvSpPr/>
          <p:nvPr/>
        </p:nvSpPr>
        <p:spPr>
          <a:xfrm>
            <a:off x="2144801" y="4367959"/>
            <a:ext cx="295578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4</a:t>
            </a: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학년</a:t>
            </a:r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840B3297-0451-F358-6859-77C95D587C41}"/>
              </a:ext>
            </a:extLst>
          </p:cNvPr>
          <p:cNvGrpSpPr/>
          <p:nvPr/>
        </p:nvGrpSpPr>
        <p:grpSpPr>
          <a:xfrm>
            <a:off x="1573419" y="4131870"/>
            <a:ext cx="236445" cy="144462"/>
            <a:chOff x="2716253" y="2405617"/>
            <a:chExt cx="236445" cy="144462"/>
          </a:xfrm>
        </p:grpSpPr>
        <p:sp>
          <p:nvSpPr>
            <p:cNvPr id="60" name="Rectangle 191">
              <a:extLst>
                <a:ext uri="{FF2B5EF4-FFF2-40B4-BE49-F238E27FC236}">
                  <a16:creationId xmlns:a16="http://schemas.microsoft.com/office/drawing/2014/main" id="{DD8C8B48-5DA0-7917-E336-0E142FE878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89768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여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graphicFrame>
          <p:nvGraphicFramePr>
            <p:cNvPr id="61" name="개체 60">
              <a:extLst>
                <a:ext uri="{FF2B5EF4-FFF2-40B4-BE49-F238E27FC236}">
                  <a16:creationId xmlns:a16="http://schemas.microsoft.com/office/drawing/2014/main" id="{357F0178-AAF4-229D-E1D2-3C41EE2FEE7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145435" imgH="145435" progId="Visio.Drawing.11">
                    <p:embed/>
                  </p:oleObj>
                </mc:Choice>
                <mc:Fallback>
                  <p:oleObj name="Visio" r:id="rId4" imgW="145435" imgH="145435" progId="Visio.Drawing.11">
                    <p:embed/>
                    <p:pic>
                      <p:nvPicPr>
                        <p:cNvPr id="1074" name="개체 1073">
                          <a:extLst>
                            <a:ext uri="{FF2B5EF4-FFF2-40B4-BE49-F238E27FC236}">
                              <a16:creationId xmlns:a16="http://schemas.microsoft.com/office/drawing/2014/main" id="{711CE2E6-21C1-239C-D50F-F27A07D0D97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ACB299C0-1FF7-4AB2-08CD-108D3384507B}"/>
              </a:ext>
            </a:extLst>
          </p:cNvPr>
          <p:cNvGrpSpPr/>
          <p:nvPr/>
        </p:nvGrpSpPr>
        <p:grpSpPr>
          <a:xfrm>
            <a:off x="1249383" y="4137756"/>
            <a:ext cx="237128" cy="144463"/>
            <a:chOff x="2864768" y="2513669"/>
            <a:chExt cx="237128" cy="144463"/>
          </a:xfrm>
        </p:grpSpPr>
        <p:sp>
          <p:nvSpPr>
            <p:cNvPr id="63" name="Rectangle 191">
              <a:extLst>
                <a:ext uri="{FF2B5EF4-FFF2-40B4-BE49-F238E27FC236}">
                  <a16:creationId xmlns:a16="http://schemas.microsoft.com/office/drawing/2014/main" id="{0B30DB9F-CE6F-3E6A-BAB1-B3C7593580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2128" y="2526153"/>
              <a:ext cx="89768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남</a:t>
              </a:r>
            </a:p>
          </p:txBody>
        </p:sp>
        <p:graphicFrame>
          <p:nvGraphicFramePr>
            <p:cNvPr id="64" name="개체 63">
              <a:extLst>
                <a:ext uri="{FF2B5EF4-FFF2-40B4-BE49-F238E27FC236}">
                  <a16:creationId xmlns:a16="http://schemas.microsoft.com/office/drawing/2014/main" id="{03157F50-65B1-E2DC-9CAE-92E2C2368B3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32604301"/>
                </p:ext>
              </p:extLst>
            </p:nvPr>
          </p:nvGraphicFramePr>
          <p:xfrm>
            <a:off x="2864768" y="2513669"/>
            <a:ext cx="144462" cy="144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6" imgW="145435" imgH="145435" progId="Visio.Drawing.11">
                    <p:embed/>
                  </p:oleObj>
                </mc:Choice>
                <mc:Fallback>
                  <p:oleObj name="Visio" r:id="rId6" imgW="145435" imgH="145435" progId="Visio.Drawing.11">
                    <p:embed/>
                    <p:pic>
                      <p:nvPicPr>
                        <p:cNvPr id="1077" name="개체 1076">
                          <a:extLst>
                            <a:ext uri="{FF2B5EF4-FFF2-40B4-BE49-F238E27FC236}">
                              <a16:creationId xmlns:a16="http://schemas.microsoft.com/office/drawing/2014/main" id="{48207856-B15B-96B3-5241-EEBF58FA79C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64768" y="2513669"/>
                          <a:ext cx="144462" cy="1444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90151E2D-69A4-7AD4-F30C-027519925BA4}"/>
              </a:ext>
            </a:extLst>
          </p:cNvPr>
          <p:cNvSpPr/>
          <p:nvPr/>
        </p:nvSpPr>
        <p:spPr>
          <a:xfrm>
            <a:off x="4613062" y="3674626"/>
            <a:ext cx="864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홍길동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EA1E092A-959B-18EC-2C76-D5112A3C81ED}"/>
              </a:ext>
            </a:extLst>
          </p:cNvPr>
          <p:cNvSpPr/>
          <p:nvPr/>
        </p:nvSpPr>
        <p:spPr>
          <a:xfrm>
            <a:off x="1776522" y="4820530"/>
            <a:ext cx="622908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우편번호 찾기</a:t>
            </a:r>
            <a:endParaRPr lang="ko-KR" altLang="en-US" sz="7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4211AD56-80B8-C3C1-FECF-A57CA8347996}"/>
              </a:ext>
            </a:extLst>
          </p:cNvPr>
          <p:cNvSpPr/>
          <p:nvPr/>
        </p:nvSpPr>
        <p:spPr>
          <a:xfrm>
            <a:off x="1253020" y="4821134"/>
            <a:ext cx="476033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18131</a:t>
            </a:r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32B2D7C4-19BB-C4E8-8D97-0CEC8159A159}"/>
              </a:ext>
            </a:extLst>
          </p:cNvPr>
          <p:cNvSpPr/>
          <p:nvPr/>
        </p:nvSpPr>
        <p:spPr>
          <a:xfrm>
            <a:off x="1253020" y="5055374"/>
            <a:ext cx="2423496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경기 오산시 </a:t>
            </a:r>
            <a:r>
              <a:rPr lang="ko-KR" altLang="en-US" sz="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현충로</a:t>
            </a:r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892A08BF-3072-15DA-5397-A198C2E1452D}"/>
              </a:ext>
            </a:extLst>
          </p:cNvPr>
          <p:cNvSpPr/>
          <p:nvPr/>
        </p:nvSpPr>
        <p:spPr>
          <a:xfrm>
            <a:off x="1253020" y="5289073"/>
            <a:ext cx="2423496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오산아파트 </a:t>
            </a:r>
            <a:r>
              <a:rPr lang="en-US" altLang="ko-KR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101</a:t>
            </a:r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 </a:t>
            </a:r>
            <a:r>
              <a:rPr lang="en-US" altLang="ko-KR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203</a:t>
            </a:r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D40D7809-58CE-6D63-0CD4-79237EA0A3A8}"/>
              </a:ext>
            </a:extLst>
          </p:cNvPr>
          <p:cNvSpPr/>
          <p:nvPr/>
        </p:nvSpPr>
        <p:spPr>
          <a:xfrm>
            <a:off x="3735858" y="5081207"/>
            <a:ext cx="307777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60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기본주소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371D73A4-F69F-2DBA-9363-AB54DEE7D5CD}"/>
              </a:ext>
            </a:extLst>
          </p:cNvPr>
          <p:cNvSpPr/>
          <p:nvPr/>
        </p:nvSpPr>
        <p:spPr>
          <a:xfrm>
            <a:off x="3735858" y="5314906"/>
            <a:ext cx="307777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상세주소</a:t>
            </a:r>
          </a:p>
        </p:txBody>
      </p:sp>
      <p:pic>
        <p:nvPicPr>
          <p:cNvPr id="73" name="Picture 13">
            <a:extLst>
              <a:ext uri="{FF2B5EF4-FFF2-40B4-BE49-F238E27FC236}">
                <a16:creationId xmlns:a16="http://schemas.microsoft.com/office/drawing/2014/main" id="{A6BEC268-7C10-5372-FF02-7665135607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3929" y="5771886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5" name="직사각형 74">
            <a:extLst>
              <a:ext uri="{FF2B5EF4-FFF2-40B4-BE49-F238E27FC236}">
                <a16:creationId xmlns:a16="http://schemas.microsoft.com/office/drawing/2014/main" id="{EF06407D-9C65-0CF0-A8D8-84444746F25F}"/>
              </a:ext>
            </a:extLst>
          </p:cNvPr>
          <p:cNvSpPr/>
          <p:nvPr/>
        </p:nvSpPr>
        <p:spPr>
          <a:xfrm>
            <a:off x="1239605" y="5772150"/>
            <a:ext cx="684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국민은행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7FAA1547-360C-4968-3FDB-822B3CC69C09}"/>
              </a:ext>
            </a:extLst>
          </p:cNvPr>
          <p:cNvSpPr/>
          <p:nvPr/>
        </p:nvSpPr>
        <p:spPr>
          <a:xfrm>
            <a:off x="1244828" y="6240919"/>
            <a:ext cx="1584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r>
              <a:rPr lang="en-US" altLang="ko-KR" sz="7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123-12-1234567</a:t>
            </a:r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DC5B35DB-F266-E256-6256-CA88DB956692}"/>
              </a:ext>
            </a:extLst>
          </p:cNvPr>
          <p:cNvGrpSpPr/>
          <p:nvPr/>
        </p:nvGrpSpPr>
        <p:grpSpPr>
          <a:xfrm>
            <a:off x="276332" y="3249520"/>
            <a:ext cx="1651953" cy="144463"/>
            <a:chOff x="2156839" y="1593629"/>
            <a:chExt cx="1651953" cy="144463"/>
          </a:xfrm>
        </p:grpSpPr>
        <p:sp>
          <p:nvSpPr>
            <p:cNvPr id="79" name="Rectangle 191">
              <a:extLst>
                <a:ext uri="{FF2B5EF4-FFF2-40B4-BE49-F238E27FC236}">
                  <a16:creationId xmlns:a16="http://schemas.microsoft.com/office/drawing/2014/main" id="{946DC2F2-A914-2905-F00B-AAEF8946E7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9984" y="1614297"/>
              <a:ext cx="1498808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latinLnBrk="0">
                <a:defRPr/>
              </a:pPr>
              <a:r>
                <a:rPr lang="ko-KR" altLang="en-US" sz="700" b="1" kern="0" dirty="0">
                  <a:solidFill>
                    <a:srgbClr val="000000"/>
                  </a:solidFill>
                </a:rPr>
                <a:t>개인정보 수집 및 활용에 동의합니다</a:t>
              </a:r>
              <a:r>
                <a:rPr lang="en-US" altLang="ko-KR" sz="700" b="1" kern="0" dirty="0">
                  <a:solidFill>
                    <a:srgbClr val="000000"/>
                  </a:solidFill>
                </a:rPr>
                <a:t>.</a:t>
              </a:r>
              <a:endParaRPr lang="ko-KR" altLang="en-US" sz="700" b="1" kern="0" dirty="0">
                <a:solidFill>
                  <a:srgbClr val="000000"/>
                </a:solidFill>
              </a:endParaRPr>
            </a:p>
          </p:txBody>
        </p:sp>
        <p:graphicFrame>
          <p:nvGraphicFramePr>
            <p:cNvPr id="80" name="개체 79">
              <a:extLst>
                <a:ext uri="{FF2B5EF4-FFF2-40B4-BE49-F238E27FC236}">
                  <a16:creationId xmlns:a16="http://schemas.microsoft.com/office/drawing/2014/main" id="{8179883E-C862-2AC4-6033-54AFF407840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81657913"/>
                </p:ext>
              </p:extLst>
            </p:nvPr>
          </p:nvGraphicFramePr>
          <p:xfrm>
            <a:off x="2156839" y="1593629"/>
            <a:ext cx="144462" cy="144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8" imgW="145435" imgH="145435" progId="Visio.Drawing.11">
                    <p:embed/>
                  </p:oleObj>
                </mc:Choice>
                <mc:Fallback>
                  <p:oleObj name="Visio" r:id="rId8" imgW="145435" imgH="145435" progId="Visio.Drawing.11">
                    <p:embed/>
                    <p:pic>
                      <p:nvPicPr>
                        <p:cNvPr id="1114" name="개체 1113">
                          <a:extLst>
                            <a:ext uri="{FF2B5EF4-FFF2-40B4-BE49-F238E27FC236}">
                              <a16:creationId xmlns:a16="http://schemas.microsoft.com/office/drawing/2014/main" id="{B296C477-CA4B-823C-1CDE-CE5B3C06ED1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56839" y="1593629"/>
                          <a:ext cx="144462" cy="1444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81" name="Picture 13">
            <a:extLst>
              <a:ext uri="{FF2B5EF4-FFF2-40B4-BE49-F238E27FC236}">
                <a16:creationId xmlns:a16="http://schemas.microsoft.com/office/drawing/2014/main" id="{1CE96869-B88A-3FD8-D763-FF4A1B1F0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4187" y="4136101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2" name="직사각형 81">
            <a:extLst>
              <a:ext uri="{FF2B5EF4-FFF2-40B4-BE49-F238E27FC236}">
                <a16:creationId xmlns:a16="http://schemas.microsoft.com/office/drawing/2014/main" id="{75C9A467-1E60-B63B-6CDB-207FA6A2FBCB}"/>
              </a:ext>
            </a:extLst>
          </p:cNvPr>
          <p:cNvSpPr/>
          <p:nvPr/>
        </p:nvSpPr>
        <p:spPr>
          <a:xfrm>
            <a:off x="4613063" y="4136365"/>
            <a:ext cx="245885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010</a:t>
            </a:r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B40F3946-6664-27C0-9B05-CAE4584DAC54}"/>
              </a:ext>
            </a:extLst>
          </p:cNvPr>
          <p:cNvSpPr/>
          <p:nvPr/>
        </p:nvSpPr>
        <p:spPr>
          <a:xfrm>
            <a:off x="5115176" y="4136365"/>
            <a:ext cx="325136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1234</a:t>
            </a:r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1830D94E-9742-E514-E03A-AD156C172BF8}"/>
              </a:ext>
            </a:extLst>
          </p:cNvPr>
          <p:cNvSpPr/>
          <p:nvPr/>
        </p:nvSpPr>
        <p:spPr>
          <a:xfrm>
            <a:off x="5054079" y="4146553"/>
            <a:ext cx="36869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ko-KR" sz="700" dirty="0">
                <a:solidFill>
                  <a:prstClr val="black"/>
                </a:solidFill>
              </a:rPr>
              <a:t>-</a:t>
            </a:r>
            <a:endParaRPr lang="ko-KR" altLang="en-US" sz="700" dirty="0">
              <a:solidFill>
                <a:prstClr val="black"/>
              </a:solidFill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CB41161A-CE5C-1CD4-88F7-E74070475FFC}"/>
              </a:ext>
            </a:extLst>
          </p:cNvPr>
          <p:cNvSpPr/>
          <p:nvPr/>
        </p:nvSpPr>
        <p:spPr>
          <a:xfrm>
            <a:off x="5471016" y="4154504"/>
            <a:ext cx="36869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ko-KR" sz="700" dirty="0">
                <a:solidFill>
                  <a:prstClr val="black"/>
                </a:solidFill>
              </a:rPr>
              <a:t>-</a:t>
            </a:r>
            <a:endParaRPr lang="ko-KR" altLang="en-US" sz="700" dirty="0">
              <a:solidFill>
                <a:prstClr val="black"/>
              </a:solidFill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B93E10AE-0932-9B5A-17F1-CC579C2981E9}"/>
              </a:ext>
            </a:extLst>
          </p:cNvPr>
          <p:cNvSpPr/>
          <p:nvPr/>
        </p:nvSpPr>
        <p:spPr>
          <a:xfrm>
            <a:off x="5538589" y="4136365"/>
            <a:ext cx="325136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5678</a:t>
            </a:r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51A93BFD-68C6-48C0-184B-007867CAA8ED}"/>
              </a:ext>
            </a:extLst>
          </p:cNvPr>
          <p:cNvSpPr>
            <a:spLocks noChangeAspect="1"/>
          </p:cNvSpPr>
          <p:nvPr/>
        </p:nvSpPr>
        <p:spPr>
          <a:xfrm>
            <a:off x="200472" y="2351298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E2B53F1-09FB-F53D-1CA4-96F0E48C762F}"/>
              </a:ext>
            </a:extLst>
          </p:cNvPr>
          <p:cNvSpPr>
            <a:spLocks noChangeAspect="1"/>
          </p:cNvSpPr>
          <p:nvPr/>
        </p:nvSpPr>
        <p:spPr>
          <a:xfrm>
            <a:off x="200472" y="3558366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949F24C5-1F4E-B277-CF6E-36F4C310B57E}"/>
              </a:ext>
            </a:extLst>
          </p:cNvPr>
          <p:cNvSpPr>
            <a:spLocks noChangeAspect="1"/>
          </p:cNvSpPr>
          <p:nvPr/>
        </p:nvSpPr>
        <p:spPr>
          <a:xfrm>
            <a:off x="200472" y="5645362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F7539537-57BB-A8EC-D4F5-84BB83D17984}"/>
              </a:ext>
            </a:extLst>
          </p:cNvPr>
          <p:cNvGrpSpPr/>
          <p:nvPr/>
        </p:nvGrpSpPr>
        <p:grpSpPr>
          <a:xfrm>
            <a:off x="1229119" y="4594024"/>
            <a:ext cx="3974981" cy="147301"/>
            <a:chOff x="1229119" y="4562220"/>
            <a:chExt cx="3974981" cy="147301"/>
          </a:xfrm>
        </p:grpSpPr>
        <p:sp>
          <p:nvSpPr>
            <p:cNvPr id="38" name="Rectangle 191">
              <a:extLst>
                <a:ext uri="{FF2B5EF4-FFF2-40B4-BE49-F238E27FC236}">
                  <a16:creationId xmlns:a16="http://schemas.microsoft.com/office/drawing/2014/main" id="{F03DBD69-BB3A-9194-152D-7FC5D86DB5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9419" y="4589703"/>
              <a:ext cx="1644681" cy="923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공고일 기준 오산시 </a:t>
              </a:r>
              <a:r>
                <a:rPr kumimoji="0" lang="en-US" altLang="ko-KR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1</a:t>
              </a:r>
              <a:r>
                <a:rPr kumimoji="0" lang="ko-KR" altLang="en-US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년 이상 거주 확인 후 신청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3681D6F4-35BC-56E5-B1C8-BAE631D83CE5}"/>
                </a:ext>
              </a:extLst>
            </p:cNvPr>
            <p:cNvGrpSpPr/>
            <p:nvPr/>
          </p:nvGrpSpPr>
          <p:grpSpPr>
            <a:xfrm>
              <a:off x="1588840" y="4563639"/>
              <a:ext cx="415981" cy="144462"/>
              <a:chOff x="2716253" y="2405617"/>
              <a:chExt cx="415981" cy="144462"/>
            </a:xfrm>
          </p:grpSpPr>
          <p:sp>
            <p:nvSpPr>
              <p:cNvPr id="93" name="Rectangle 191">
                <a:extLst>
                  <a:ext uri="{FF2B5EF4-FFF2-40B4-BE49-F238E27FC236}">
                    <a16:creationId xmlns:a16="http://schemas.microsoft.com/office/drawing/2014/main" id="{07AE1EBF-73CF-27A9-A031-9BA9AF1C89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62930" y="2423987"/>
                <a:ext cx="269304" cy="10772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EAEAEA"/>
                    </a:solidFill>
                  </a14:hiddenFill>
                </a:ext>
                <a:ext uri="{91240B29-F687-4F45-9708-019B960494DF}">
                  <a14:hiddenLine xmlns:a14="http://schemas.microsoft.com/office/drawing/2010/main" w="635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7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보호자</a:t>
                </a:r>
              </a:p>
            </p:txBody>
          </p:sp>
          <p:graphicFrame>
            <p:nvGraphicFramePr>
              <p:cNvPr id="94" name="개체 93">
                <a:extLst>
                  <a:ext uri="{FF2B5EF4-FFF2-40B4-BE49-F238E27FC236}">
                    <a16:creationId xmlns:a16="http://schemas.microsoft.com/office/drawing/2014/main" id="{F5B9FB8C-0692-42B3-1179-D3F0A2AEB53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716253" y="2405617"/>
              <a:ext cx="144462" cy="1444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Visio" r:id="rId4" imgW="145435" imgH="145435" progId="Visio.Drawing.11">
                      <p:embed/>
                    </p:oleObj>
                  </mc:Choice>
                  <mc:Fallback>
                    <p:oleObj name="Visio" r:id="rId4" imgW="145435" imgH="145435" progId="Visio.Drawing.11">
                      <p:embed/>
                      <p:pic>
                        <p:nvPicPr>
                          <p:cNvPr id="40" name="개체 39">
                            <a:extLst>
                              <a:ext uri="{FF2B5EF4-FFF2-40B4-BE49-F238E27FC236}">
                                <a16:creationId xmlns:a16="http://schemas.microsoft.com/office/drawing/2014/main" id="{799E54F7-3588-2E91-64C5-87A8C14BC80D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16253" y="2405617"/>
                            <a:ext cx="144462" cy="1444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EAEAEA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6350" algn="ctr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25D6F322-713C-8C7E-37DE-AA087481C9C5}"/>
                </a:ext>
              </a:extLst>
            </p:cNvPr>
            <p:cNvGrpSpPr/>
            <p:nvPr/>
          </p:nvGrpSpPr>
          <p:grpSpPr>
            <a:xfrm>
              <a:off x="1229119" y="4563639"/>
              <a:ext cx="326896" cy="144463"/>
              <a:chOff x="2864768" y="2513669"/>
              <a:chExt cx="326896" cy="144463"/>
            </a:xfrm>
          </p:grpSpPr>
          <p:sp>
            <p:nvSpPr>
              <p:cNvPr id="91" name="Rectangle 191">
                <a:extLst>
                  <a:ext uri="{FF2B5EF4-FFF2-40B4-BE49-F238E27FC236}">
                    <a16:creationId xmlns:a16="http://schemas.microsoft.com/office/drawing/2014/main" id="{FC5CC6C5-6011-C13F-5E5E-85B3A10AFF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12128" y="2526153"/>
                <a:ext cx="179536" cy="10772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EAEAEA"/>
                    </a:solidFill>
                  </a14:hiddenFill>
                </a:ext>
                <a:ext uri="{91240B29-F687-4F45-9708-019B960494DF}">
                  <a14:hiddenLine xmlns:a14="http://schemas.microsoft.com/office/drawing/2010/main" w="635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7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본인</a:t>
                </a:r>
              </a:p>
            </p:txBody>
          </p:sp>
          <p:graphicFrame>
            <p:nvGraphicFramePr>
              <p:cNvPr id="92" name="개체 91">
                <a:extLst>
                  <a:ext uri="{FF2B5EF4-FFF2-40B4-BE49-F238E27FC236}">
                    <a16:creationId xmlns:a16="http://schemas.microsoft.com/office/drawing/2014/main" id="{1D0C7166-9355-15B8-B1B4-1BDCFB66394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35076572"/>
                  </p:ext>
                </p:extLst>
              </p:nvPr>
            </p:nvGraphicFramePr>
            <p:xfrm>
              <a:off x="2864768" y="2513669"/>
              <a:ext cx="144462" cy="1444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Visio" r:id="rId6" imgW="145435" imgH="145435" progId="Visio.Drawing.11">
                      <p:embed/>
                    </p:oleObj>
                  </mc:Choice>
                  <mc:Fallback>
                    <p:oleObj name="Visio" r:id="rId6" imgW="145435" imgH="145435" progId="Visio.Drawing.11">
                      <p:embed/>
                      <p:pic>
                        <p:nvPicPr>
                          <p:cNvPr id="88" name="개체 87">
                            <a:extLst>
                              <a:ext uri="{FF2B5EF4-FFF2-40B4-BE49-F238E27FC236}">
                                <a16:creationId xmlns:a16="http://schemas.microsoft.com/office/drawing/2014/main" id="{490D6870-FF18-48BF-A6DB-37DAA685FF30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64768" y="2513669"/>
                            <a:ext cx="144462" cy="14446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EAEAEA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6350" algn="ctr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pic>
          <p:nvPicPr>
            <p:cNvPr id="41" name="Picture 13">
              <a:extLst>
                <a:ext uri="{FF2B5EF4-FFF2-40B4-BE49-F238E27FC236}">
                  <a16:creationId xmlns:a16="http://schemas.microsoft.com/office/drawing/2014/main" id="{E701F13B-FA65-21A1-4C30-FB28440D69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09851" y="4562220"/>
              <a:ext cx="154667" cy="147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F32972B4-A412-9780-B4C2-5F28C3B4E38B}"/>
                </a:ext>
              </a:extLst>
            </p:cNvPr>
            <p:cNvSpPr/>
            <p:nvPr/>
          </p:nvSpPr>
          <p:spPr>
            <a:xfrm>
              <a:off x="2049961" y="4563870"/>
              <a:ext cx="35765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prstClr val="black">
                      <a:lumMod val="95000"/>
                      <a:lumOff val="5000"/>
                    </a:prstClr>
                  </a:solidFill>
                </a:rPr>
                <a:t>2008</a:t>
              </a:r>
              <a:r>
                <a:rPr lang="ko-KR" altLang="en-US" sz="700" dirty="0">
                  <a:solidFill>
                    <a:prstClr val="black">
                      <a:lumMod val="95000"/>
                      <a:lumOff val="5000"/>
                    </a:prstClr>
                  </a:solidFill>
                </a:rPr>
                <a:t>년</a:t>
              </a:r>
            </a:p>
          </p:txBody>
        </p:sp>
        <p:pic>
          <p:nvPicPr>
            <p:cNvPr id="87" name="Picture 13">
              <a:extLst>
                <a:ext uri="{FF2B5EF4-FFF2-40B4-BE49-F238E27FC236}">
                  <a16:creationId xmlns:a16="http://schemas.microsoft.com/office/drawing/2014/main" id="{90707362-174A-5745-1CA1-D1506BF8F2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0581" y="4562220"/>
              <a:ext cx="154667" cy="147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B5C7C58A-FA40-E6A3-938A-A768168A6ECF}"/>
                </a:ext>
              </a:extLst>
            </p:cNvPr>
            <p:cNvSpPr/>
            <p:nvPr/>
          </p:nvSpPr>
          <p:spPr>
            <a:xfrm>
              <a:off x="2575929" y="4563870"/>
              <a:ext cx="295578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prstClr val="black">
                      <a:lumMod val="95000"/>
                      <a:lumOff val="5000"/>
                    </a:prstClr>
                  </a:solidFill>
                </a:rPr>
                <a:t>01</a:t>
              </a:r>
              <a:r>
                <a:rPr lang="ko-KR" altLang="en-US" sz="700" dirty="0">
                  <a:solidFill>
                    <a:prstClr val="black">
                      <a:lumMod val="95000"/>
                      <a:lumOff val="5000"/>
                    </a:prstClr>
                  </a:solidFill>
                </a:rPr>
                <a:t>월</a:t>
              </a:r>
            </a:p>
          </p:txBody>
        </p:sp>
        <p:pic>
          <p:nvPicPr>
            <p:cNvPr id="89" name="Picture 13">
              <a:extLst>
                <a:ext uri="{FF2B5EF4-FFF2-40B4-BE49-F238E27FC236}">
                  <a16:creationId xmlns:a16="http://schemas.microsoft.com/office/drawing/2014/main" id="{F9A8583E-8F18-C881-5B41-0DF4A021F9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2434" y="4562220"/>
              <a:ext cx="154667" cy="147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9548E0A3-9474-708F-2B27-4E49ED2F8645}"/>
                </a:ext>
              </a:extLst>
            </p:cNvPr>
            <p:cNvSpPr/>
            <p:nvPr/>
          </p:nvSpPr>
          <p:spPr>
            <a:xfrm>
              <a:off x="3047782" y="4563870"/>
              <a:ext cx="295578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prstClr val="black">
                      <a:lumMod val="95000"/>
                      <a:lumOff val="5000"/>
                    </a:prstClr>
                  </a:solidFill>
                </a:rPr>
                <a:t>01</a:t>
              </a:r>
              <a:r>
                <a:rPr lang="ko-KR" altLang="en-US" sz="700" dirty="0">
                  <a:solidFill>
                    <a:prstClr val="black">
                      <a:lumMod val="95000"/>
                      <a:lumOff val="5000"/>
                    </a:prstClr>
                  </a:solidFill>
                </a:rPr>
                <a:t>일</a:t>
              </a:r>
            </a:p>
          </p:txBody>
        </p:sp>
      </p:grp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70A3F18C-03B9-958B-0A77-E76390E31762}"/>
              </a:ext>
            </a:extLst>
          </p:cNvPr>
          <p:cNvSpPr/>
          <p:nvPr/>
        </p:nvSpPr>
        <p:spPr>
          <a:xfrm>
            <a:off x="283314" y="4561536"/>
            <a:ext cx="6506424" cy="21600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0768204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E750F-DBD9-1D56-6A45-C1A4587D6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42A4186-023D-4465-13ED-24100A407F0A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특기생장학금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신청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DDFB560-B5EA-BE26-8A48-388AFB6F23DC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프로그램신청관리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특기생장학금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장학금신청</a:t>
            </a: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B11BED98-7E26-10D2-ADFA-303AC1D19A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1481253"/>
              </p:ext>
            </p:extLst>
          </p:nvPr>
        </p:nvGraphicFramePr>
        <p:xfrm>
          <a:off x="6969418" y="2548005"/>
          <a:ext cx="2772114" cy="2825360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구분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특기생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장학금 표시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제목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회원이 신청한 공고의 제목을 표시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접수기간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회원이 신청한 공고의 접수기간을 표시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전형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선택 시 전형별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공통 제출 서류 항목이 달라 진다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입상실적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개인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)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상장사본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수상실적확인서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대회안내문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입상실적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단체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)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상장사본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수상실적확인서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대회안내문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입상실적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기능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)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상장사본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대회안내문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자격증사본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학업성적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고등학교졸업증명서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대학교재학증명서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성적증빙자료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기타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고등학교졸업증명서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대학교재학증명서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성적증빙자료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전형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입상실적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개인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전형별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상장사본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수상실적확인서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대회안내문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수상실적확인서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대회규모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국제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국내 중 선택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순위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수상실적확인서 기반 순위 입력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첨부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제출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클릭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&gt;&gt;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제출 서류 파일 선택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&gt;&gt;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첨부완료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받기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클릭 시 첨부된 제출 서류 파일 다운로드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B9E49D83-EED6-CE49-6897-4B7CFEBE9B90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pat_application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ADF4F5-7582-5156-0CEA-1BFF64842626}"/>
              </a:ext>
            </a:extLst>
          </p:cNvPr>
          <p:cNvSpPr/>
          <p:nvPr/>
        </p:nvSpPr>
        <p:spPr>
          <a:xfrm>
            <a:off x="165100" y="1376363"/>
            <a:ext cx="6732116" cy="460414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85CD7E3-DC53-F151-8001-BCBB71B03D1A}"/>
              </a:ext>
            </a:extLst>
          </p:cNvPr>
          <p:cNvSpPr/>
          <p:nvPr/>
        </p:nvSpPr>
        <p:spPr>
          <a:xfrm>
            <a:off x="292846" y="1448780"/>
            <a:ext cx="1099660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800" b="1" dirty="0" err="1">
                <a:solidFill>
                  <a:prstClr val="black"/>
                </a:solidFill>
              </a:rPr>
              <a:t>특기생</a:t>
            </a:r>
            <a:r>
              <a:rPr lang="ko-KR" altLang="en-US" sz="800" b="1" dirty="0">
                <a:solidFill>
                  <a:prstClr val="black"/>
                </a:solidFill>
              </a:rPr>
              <a:t> 장학금 신청정보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C34DB65-BB1B-36B3-9A5E-7A9F9ABF41AA}"/>
              </a:ext>
            </a:extLst>
          </p:cNvPr>
          <p:cNvSpPr/>
          <p:nvPr/>
        </p:nvSpPr>
        <p:spPr>
          <a:xfrm>
            <a:off x="165100" y="6023481"/>
            <a:ext cx="6732116" cy="46622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9738B521-6E94-2B92-06BC-768C8FC1D0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6165304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CAF4FA8-214D-2982-F915-EE5E976F1914}"/>
              </a:ext>
            </a:extLst>
          </p:cNvPr>
          <p:cNvSpPr txBox="1"/>
          <p:nvPr/>
        </p:nvSpPr>
        <p:spPr>
          <a:xfrm>
            <a:off x="1172580" y="6077394"/>
            <a:ext cx="31242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경기 오산시 성호대로 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141 (</a:t>
            </a:r>
            <a:r>
              <a:rPr lang="ko-KR" altLang="en-US" sz="600" b="0" i="0" dirty="0" err="1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오산동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오산시청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오산교육재단</a:t>
            </a:r>
            <a:endParaRPr lang="en-US" altLang="ko-KR" sz="600" b="0" i="0" dirty="0">
              <a:solidFill>
                <a:srgbClr val="666666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>
              <a:buNone/>
            </a:pP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TEL. (031)8036-8905 FAX. (031)8036-8905</a:t>
            </a:r>
          </a:p>
          <a:p>
            <a:pPr algn="l">
              <a:buNone/>
            </a:pP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Copyright©2025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오산교육재단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 ALL RIGHTSRESERVED</a:t>
            </a:r>
          </a:p>
        </p:txBody>
      </p:sp>
      <p:graphicFrame>
        <p:nvGraphicFramePr>
          <p:cNvPr id="138" name="표 137">
            <a:extLst>
              <a:ext uri="{FF2B5EF4-FFF2-40B4-BE49-F238E27FC236}">
                <a16:creationId xmlns:a16="http://schemas.microsoft.com/office/drawing/2014/main" id="{93F8B176-8AE2-55FC-9AC3-C6EB8BE419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6196494"/>
              </p:ext>
            </p:extLst>
          </p:nvPr>
        </p:nvGraphicFramePr>
        <p:xfrm>
          <a:off x="272480" y="1645687"/>
          <a:ext cx="6517258" cy="375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054">
                  <a:extLst>
                    <a:ext uri="{9D8B030D-6E8A-4147-A177-3AD203B41FA5}">
                      <a16:colId xmlns:a16="http://schemas.microsoft.com/office/drawing/2014/main" val="3668863434"/>
                    </a:ext>
                  </a:extLst>
                </a:gridCol>
                <a:gridCol w="4921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구분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특기생</a:t>
                      </a:r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장학금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894265"/>
                  </a:ext>
                </a:extLst>
              </a:tr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</a:t>
                      </a:r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하반기 </a:t>
                      </a:r>
                      <a:r>
                        <a:rPr lang="ko-KR" altLang="en-US" sz="7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특기생</a:t>
                      </a:r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장학금 신청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접수기간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2025.09.20 10:00 </a:t>
                      </a:r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~ 2025.09.30 10:00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전형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4735">
                <a:tc rowSpan="3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전형별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상장사본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2230354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수상실적확인서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446280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대회안내문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1427946"/>
                  </a:ext>
                </a:extLst>
              </a:tr>
              <a:tr h="234735">
                <a:tc rowSpan="9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공통 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추천서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주민등록초본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1958612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주민등록등본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164179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국민기초생활보장수급자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차상위계층확인서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한부모가족보호대상확인서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장애인증명서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첨부파일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8089092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8418894"/>
                  </a:ext>
                </a:extLst>
              </a:tr>
            </a:tbl>
          </a:graphicData>
        </a:graphic>
      </p:graphicFrame>
      <p:sp>
        <p:nvSpPr>
          <p:cNvPr id="264" name="직사각형 263">
            <a:extLst>
              <a:ext uri="{FF2B5EF4-FFF2-40B4-BE49-F238E27FC236}">
                <a16:creationId xmlns:a16="http://schemas.microsoft.com/office/drawing/2014/main" id="{E013EF67-B185-9835-4FEC-5F8825EA8B3B}"/>
              </a:ext>
            </a:extLst>
          </p:cNvPr>
          <p:cNvSpPr/>
          <p:nvPr/>
        </p:nvSpPr>
        <p:spPr>
          <a:xfrm>
            <a:off x="1904260" y="3792194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주민등록등본</a:t>
            </a:r>
            <a:r>
              <a:rPr kumimoji="0" lang="en-US" altLang="ko-KR" sz="7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5" name="직사각형 264">
            <a:extLst>
              <a:ext uri="{FF2B5EF4-FFF2-40B4-BE49-F238E27FC236}">
                <a16:creationId xmlns:a16="http://schemas.microsoft.com/office/drawing/2014/main" id="{93ED3E76-77EE-4303-A589-836D5915B0F9}"/>
              </a:ext>
            </a:extLst>
          </p:cNvPr>
          <p:cNvSpPr/>
          <p:nvPr/>
        </p:nvSpPr>
        <p:spPr>
          <a:xfrm>
            <a:off x="3557258" y="3792186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266" name="직사각형 265">
            <a:extLst>
              <a:ext uri="{FF2B5EF4-FFF2-40B4-BE49-F238E27FC236}">
                <a16:creationId xmlns:a16="http://schemas.microsoft.com/office/drawing/2014/main" id="{225FDDD2-2FB2-6B8F-4B73-0C5ACFC31DAB}"/>
              </a:ext>
            </a:extLst>
          </p:cNvPr>
          <p:cNvSpPr/>
          <p:nvPr/>
        </p:nvSpPr>
        <p:spPr>
          <a:xfrm>
            <a:off x="1904260" y="4036515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dirty="0" err="1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국민기초생활보장수급자</a:t>
            </a:r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7" name="직사각형 266">
            <a:extLst>
              <a:ext uri="{FF2B5EF4-FFF2-40B4-BE49-F238E27FC236}">
                <a16:creationId xmlns:a16="http://schemas.microsoft.com/office/drawing/2014/main" id="{4734839F-C2D4-7C93-410F-76EC29149FA0}"/>
              </a:ext>
            </a:extLst>
          </p:cNvPr>
          <p:cNvSpPr/>
          <p:nvPr/>
        </p:nvSpPr>
        <p:spPr>
          <a:xfrm>
            <a:off x="3557258" y="4036507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268" name="직사각형 267">
            <a:extLst>
              <a:ext uri="{FF2B5EF4-FFF2-40B4-BE49-F238E27FC236}">
                <a16:creationId xmlns:a16="http://schemas.microsoft.com/office/drawing/2014/main" id="{D7F4E395-2A4B-0031-8786-3D4B118CA031}"/>
              </a:ext>
            </a:extLst>
          </p:cNvPr>
          <p:cNvSpPr/>
          <p:nvPr/>
        </p:nvSpPr>
        <p:spPr>
          <a:xfrm>
            <a:off x="1904260" y="4273047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차상위계층확인서</a:t>
            </a:r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9" name="직사각형 268">
            <a:extLst>
              <a:ext uri="{FF2B5EF4-FFF2-40B4-BE49-F238E27FC236}">
                <a16:creationId xmlns:a16="http://schemas.microsoft.com/office/drawing/2014/main" id="{EF5B42E5-FC01-DD98-404D-F4049A764C71}"/>
              </a:ext>
            </a:extLst>
          </p:cNvPr>
          <p:cNvSpPr/>
          <p:nvPr/>
        </p:nvSpPr>
        <p:spPr>
          <a:xfrm>
            <a:off x="3557258" y="4273039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270" name="직사각형 269">
            <a:extLst>
              <a:ext uri="{FF2B5EF4-FFF2-40B4-BE49-F238E27FC236}">
                <a16:creationId xmlns:a16="http://schemas.microsoft.com/office/drawing/2014/main" id="{9770FF2D-5572-A0C7-53C3-55A0E7C0054A}"/>
              </a:ext>
            </a:extLst>
          </p:cNvPr>
          <p:cNvSpPr/>
          <p:nvPr/>
        </p:nvSpPr>
        <p:spPr>
          <a:xfrm>
            <a:off x="1904260" y="4502299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71" name="직사각형 270">
            <a:extLst>
              <a:ext uri="{FF2B5EF4-FFF2-40B4-BE49-F238E27FC236}">
                <a16:creationId xmlns:a16="http://schemas.microsoft.com/office/drawing/2014/main" id="{AFE8BE31-5850-D56D-E899-D97D31B8D829}"/>
              </a:ext>
            </a:extLst>
          </p:cNvPr>
          <p:cNvSpPr/>
          <p:nvPr/>
        </p:nvSpPr>
        <p:spPr>
          <a:xfrm>
            <a:off x="3557258" y="4502291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272" name="직사각형 271">
            <a:extLst>
              <a:ext uri="{FF2B5EF4-FFF2-40B4-BE49-F238E27FC236}">
                <a16:creationId xmlns:a16="http://schemas.microsoft.com/office/drawing/2014/main" id="{B29F57ED-2635-A732-115A-C53951777C95}"/>
              </a:ext>
            </a:extLst>
          </p:cNvPr>
          <p:cNvSpPr/>
          <p:nvPr/>
        </p:nvSpPr>
        <p:spPr>
          <a:xfrm>
            <a:off x="1904260" y="4740481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73" name="직사각형 272">
            <a:extLst>
              <a:ext uri="{FF2B5EF4-FFF2-40B4-BE49-F238E27FC236}">
                <a16:creationId xmlns:a16="http://schemas.microsoft.com/office/drawing/2014/main" id="{8E6ED4C4-B6FC-3F76-79EB-BEA06D4FBFDE}"/>
              </a:ext>
            </a:extLst>
          </p:cNvPr>
          <p:cNvSpPr/>
          <p:nvPr/>
        </p:nvSpPr>
        <p:spPr>
          <a:xfrm>
            <a:off x="3557258" y="4740473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grpSp>
        <p:nvGrpSpPr>
          <p:cNvPr id="276" name="그룹 275">
            <a:extLst>
              <a:ext uri="{FF2B5EF4-FFF2-40B4-BE49-F238E27FC236}">
                <a16:creationId xmlns:a16="http://schemas.microsoft.com/office/drawing/2014/main" id="{0B685B87-61FC-9B53-205D-489341D5B586}"/>
              </a:ext>
            </a:extLst>
          </p:cNvPr>
          <p:cNvGrpSpPr/>
          <p:nvPr/>
        </p:nvGrpSpPr>
        <p:grpSpPr>
          <a:xfrm>
            <a:off x="1939541" y="5228627"/>
            <a:ext cx="1105196" cy="128396"/>
            <a:chOff x="3438680" y="4305150"/>
            <a:chExt cx="1105196" cy="128396"/>
          </a:xfrm>
        </p:grpSpPr>
        <p:sp>
          <p:nvSpPr>
            <p:cNvPr id="277" name="TextBox 276">
              <a:extLst>
                <a:ext uri="{FF2B5EF4-FFF2-40B4-BE49-F238E27FC236}">
                  <a16:creationId xmlns:a16="http://schemas.microsoft.com/office/drawing/2014/main" id="{24F65D2A-22B5-A883-5353-256D7E48B1DC}"/>
                </a:ext>
              </a:extLst>
            </p:cNvPr>
            <p:cNvSpPr txBox="1"/>
            <p:nvPr/>
          </p:nvSpPr>
          <p:spPr>
            <a:xfrm>
              <a:off x="3438680" y="4305150"/>
              <a:ext cx="971420" cy="10772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신청 관련 부가 서류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78" name="Picture 10">
              <a:extLst>
                <a:ext uri="{FF2B5EF4-FFF2-40B4-BE49-F238E27FC236}">
                  <a16:creationId xmlns:a16="http://schemas.microsoft.com/office/drawing/2014/main" id="{B7F7AC28-93F6-ADF7-AD86-AF3F3C52C3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7418" y="4312303"/>
              <a:ext cx="106458" cy="121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279" name="그룹 278">
            <a:extLst>
              <a:ext uri="{FF2B5EF4-FFF2-40B4-BE49-F238E27FC236}">
                <a16:creationId xmlns:a16="http://schemas.microsoft.com/office/drawing/2014/main" id="{60604A8A-3D6C-88FA-9C46-BF14219619C7}"/>
              </a:ext>
            </a:extLst>
          </p:cNvPr>
          <p:cNvGrpSpPr/>
          <p:nvPr/>
        </p:nvGrpSpPr>
        <p:grpSpPr>
          <a:xfrm>
            <a:off x="3125954" y="5228627"/>
            <a:ext cx="1105196" cy="128396"/>
            <a:chOff x="3438680" y="4305150"/>
            <a:chExt cx="1105196" cy="128396"/>
          </a:xfrm>
        </p:grpSpPr>
        <p:sp>
          <p:nvSpPr>
            <p:cNvPr id="280" name="TextBox 279">
              <a:extLst>
                <a:ext uri="{FF2B5EF4-FFF2-40B4-BE49-F238E27FC236}">
                  <a16:creationId xmlns:a16="http://schemas.microsoft.com/office/drawing/2014/main" id="{019966BD-6ED4-96F4-F0C3-4B4F0C6F2A4A}"/>
                </a:ext>
              </a:extLst>
            </p:cNvPr>
            <p:cNvSpPr txBox="1"/>
            <p:nvPr/>
          </p:nvSpPr>
          <p:spPr>
            <a:xfrm>
              <a:off x="3438680" y="4305150"/>
              <a:ext cx="971420" cy="10772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신청 관련 부가 서류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81" name="Picture 10">
              <a:extLst>
                <a:ext uri="{FF2B5EF4-FFF2-40B4-BE49-F238E27FC236}">
                  <a16:creationId xmlns:a16="http://schemas.microsoft.com/office/drawing/2014/main" id="{57AEEE0B-D8CF-DAD7-8D4A-1319430337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7418" y="4312303"/>
              <a:ext cx="106458" cy="121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285" name="직사각형 284">
            <a:extLst>
              <a:ext uri="{FF2B5EF4-FFF2-40B4-BE49-F238E27FC236}">
                <a16:creationId xmlns:a16="http://schemas.microsoft.com/office/drawing/2014/main" id="{8A8CC025-0710-5C36-4736-F31EB2B773EA}"/>
              </a:ext>
            </a:extLst>
          </p:cNvPr>
          <p:cNvSpPr/>
          <p:nvPr/>
        </p:nvSpPr>
        <p:spPr>
          <a:xfrm>
            <a:off x="3865768" y="3791026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6" name="직사각형 285">
            <a:extLst>
              <a:ext uri="{FF2B5EF4-FFF2-40B4-BE49-F238E27FC236}">
                <a16:creationId xmlns:a16="http://schemas.microsoft.com/office/drawing/2014/main" id="{F1C89BF9-87A8-5AF1-B2B3-00582DB5D594}"/>
              </a:ext>
            </a:extLst>
          </p:cNvPr>
          <p:cNvSpPr/>
          <p:nvPr/>
        </p:nvSpPr>
        <p:spPr>
          <a:xfrm>
            <a:off x="3865768" y="4036548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7" name="직사각형 286">
            <a:extLst>
              <a:ext uri="{FF2B5EF4-FFF2-40B4-BE49-F238E27FC236}">
                <a16:creationId xmlns:a16="http://schemas.microsoft.com/office/drawing/2014/main" id="{4063AB19-C49D-4F53-7237-329272EAF3CD}"/>
              </a:ext>
            </a:extLst>
          </p:cNvPr>
          <p:cNvSpPr/>
          <p:nvPr/>
        </p:nvSpPr>
        <p:spPr>
          <a:xfrm>
            <a:off x="3865768" y="4272421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8" name="직사각형 287">
            <a:extLst>
              <a:ext uri="{FF2B5EF4-FFF2-40B4-BE49-F238E27FC236}">
                <a16:creationId xmlns:a16="http://schemas.microsoft.com/office/drawing/2014/main" id="{2BE9FB80-867C-9884-1AB6-769FED727F69}"/>
              </a:ext>
            </a:extLst>
          </p:cNvPr>
          <p:cNvSpPr/>
          <p:nvPr/>
        </p:nvSpPr>
        <p:spPr>
          <a:xfrm>
            <a:off x="3865768" y="4496396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9" name="직사각형 288">
            <a:extLst>
              <a:ext uri="{FF2B5EF4-FFF2-40B4-BE49-F238E27FC236}">
                <a16:creationId xmlns:a16="http://schemas.microsoft.com/office/drawing/2014/main" id="{5E6E049A-7826-947E-ACC2-67282B3DD7CF}"/>
              </a:ext>
            </a:extLst>
          </p:cNvPr>
          <p:cNvSpPr/>
          <p:nvPr/>
        </p:nvSpPr>
        <p:spPr>
          <a:xfrm>
            <a:off x="3865768" y="4742341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90" name="그룹 289">
            <a:extLst>
              <a:ext uri="{FF2B5EF4-FFF2-40B4-BE49-F238E27FC236}">
                <a16:creationId xmlns:a16="http://schemas.microsoft.com/office/drawing/2014/main" id="{38E97055-8C83-00AC-13AF-181563469D29}"/>
              </a:ext>
            </a:extLst>
          </p:cNvPr>
          <p:cNvGrpSpPr/>
          <p:nvPr/>
        </p:nvGrpSpPr>
        <p:grpSpPr>
          <a:xfrm>
            <a:off x="3429010" y="2394996"/>
            <a:ext cx="505750" cy="144462"/>
            <a:chOff x="2716253" y="2405617"/>
            <a:chExt cx="505750" cy="144462"/>
          </a:xfrm>
        </p:grpSpPr>
        <p:sp>
          <p:nvSpPr>
            <p:cNvPr id="291" name="Rectangle 191">
              <a:extLst>
                <a:ext uri="{FF2B5EF4-FFF2-40B4-BE49-F238E27FC236}">
                  <a16:creationId xmlns:a16="http://schemas.microsoft.com/office/drawing/2014/main" id="{3457F1CE-4A1B-1689-744C-06661D9884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359073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학업성적</a:t>
              </a:r>
            </a:p>
          </p:txBody>
        </p:sp>
        <p:graphicFrame>
          <p:nvGraphicFramePr>
            <p:cNvPr id="292" name="개체 291">
              <a:extLst>
                <a:ext uri="{FF2B5EF4-FFF2-40B4-BE49-F238E27FC236}">
                  <a16:creationId xmlns:a16="http://schemas.microsoft.com/office/drawing/2014/main" id="{BFAEECA2-88FD-B412-FEB6-98957425345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145435" imgH="145435" progId="Visio.Drawing.11">
                    <p:embed/>
                  </p:oleObj>
                </mc:Choice>
                <mc:Fallback>
                  <p:oleObj name="Visio" r:id="rId4" imgW="145435" imgH="145435" progId="Visio.Drawing.11">
                    <p:embed/>
                    <p:pic>
                      <p:nvPicPr>
                        <p:cNvPr id="233" name="개체 232">
                          <a:extLst>
                            <a:ext uri="{FF2B5EF4-FFF2-40B4-BE49-F238E27FC236}">
                              <a16:creationId xmlns:a16="http://schemas.microsoft.com/office/drawing/2014/main" id="{BFAEECA2-88FD-B412-FEB6-98957425345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3" name="그룹 292">
            <a:extLst>
              <a:ext uri="{FF2B5EF4-FFF2-40B4-BE49-F238E27FC236}">
                <a16:creationId xmlns:a16="http://schemas.microsoft.com/office/drawing/2014/main" id="{28A0547F-5C31-CA43-BD98-354783873FF5}"/>
              </a:ext>
            </a:extLst>
          </p:cNvPr>
          <p:cNvGrpSpPr/>
          <p:nvPr/>
        </p:nvGrpSpPr>
        <p:grpSpPr>
          <a:xfrm>
            <a:off x="4006768" y="2394996"/>
            <a:ext cx="326213" cy="144462"/>
            <a:chOff x="2716253" y="2405617"/>
            <a:chExt cx="326213" cy="144462"/>
          </a:xfrm>
        </p:grpSpPr>
        <p:sp>
          <p:nvSpPr>
            <p:cNvPr id="294" name="Rectangle 191">
              <a:extLst>
                <a:ext uri="{FF2B5EF4-FFF2-40B4-BE49-F238E27FC236}">
                  <a16:creationId xmlns:a16="http://schemas.microsoft.com/office/drawing/2014/main" id="{D94C7A49-D073-04F6-FB89-24B6727098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179536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기타</a:t>
              </a:r>
            </a:p>
          </p:txBody>
        </p:sp>
        <p:graphicFrame>
          <p:nvGraphicFramePr>
            <p:cNvPr id="295" name="개체 294">
              <a:extLst>
                <a:ext uri="{FF2B5EF4-FFF2-40B4-BE49-F238E27FC236}">
                  <a16:creationId xmlns:a16="http://schemas.microsoft.com/office/drawing/2014/main" id="{596EF281-C584-F911-3C9C-566E9327A5A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145435" imgH="145435" progId="Visio.Drawing.11">
                    <p:embed/>
                  </p:oleObj>
                </mc:Choice>
                <mc:Fallback>
                  <p:oleObj name="Visio" r:id="rId4" imgW="145435" imgH="145435" progId="Visio.Drawing.11">
                    <p:embed/>
                    <p:pic>
                      <p:nvPicPr>
                        <p:cNvPr id="236" name="개체 235">
                          <a:extLst>
                            <a:ext uri="{FF2B5EF4-FFF2-40B4-BE49-F238E27FC236}">
                              <a16:creationId xmlns:a16="http://schemas.microsoft.com/office/drawing/2014/main" id="{596EF281-C584-F911-3C9C-566E9327A5A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96" name="Rectangle 191">
            <a:extLst>
              <a:ext uri="{FF2B5EF4-FFF2-40B4-BE49-F238E27FC236}">
                <a16:creationId xmlns:a16="http://schemas.microsoft.com/office/drawing/2014/main" id="{B76BF16F-8016-4E3F-A2B4-A5B3272131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2177" y="2413366"/>
            <a:ext cx="1439497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입상실적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                                )</a:t>
            </a:r>
            <a:endParaRPr kumimoji="0" lang="ko-KR" altLang="en-US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97" name="그룹 296">
            <a:extLst>
              <a:ext uri="{FF2B5EF4-FFF2-40B4-BE49-F238E27FC236}">
                <a16:creationId xmlns:a16="http://schemas.microsoft.com/office/drawing/2014/main" id="{B0C77D41-E0DB-1239-F28E-6206C8A1848A}"/>
              </a:ext>
            </a:extLst>
          </p:cNvPr>
          <p:cNvGrpSpPr/>
          <p:nvPr/>
        </p:nvGrpSpPr>
        <p:grpSpPr>
          <a:xfrm>
            <a:off x="2645151" y="2394996"/>
            <a:ext cx="318262" cy="144462"/>
            <a:chOff x="2716253" y="2405617"/>
            <a:chExt cx="318262" cy="144462"/>
          </a:xfrm>
        </p:grpSpPr>
        <p:sp>
          <p:nvSpPr>
            <p:cNvPr id="298" name="Rectangle 191">
              <a:extLst>
                <a:ext uri="{FF2B5EF4-FFF2-40B4-BE49-F238E27FC236}">
                  <a16:creationId xmlns:a16="http://schemas.microsoft.com/office/drawing/2014/main" id="{695111E4-3015-37FB-D670-BA9C51FB4D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4979" y="2416036"/>
              <a:ext cx="179536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단체</a:t>
              </a:r>
            </a:p>
          </p:txBody>
        </p:sp>
        <p:graphicFrame>
          <p:nvGraphicFramePr>
            <p:cNvPr id="299" name="개체 298">
              <a:extLst>
                <a:ext uri="{FF2B5EF4-FFF2-40B4-BE49-F238E27FC236}">
                  <a16:creationId xmlns:a16="http://schemas.microsoft.com/office/drawing/2014/main" id="{C5CE5B68-2DC5-3D15-ED2D-14689A15D2B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145435" imgH="145435" progId="Visio.Drawing.11">
                    <p:embed/>
                  </p:oleObj>
                </mc:Choice>
                <mc:Fallback>
                  <p:oleObj name="Visio" r:id="rId4" imgW="145435" imgH="145435" progId="Visio.Drawing.11">
                    <p:embed/>
                    <p:pic>
                      <p:nvPicPr>
                        <p:cNvPr id="240" name="개체 239">
                          <a:extLst>
                            <a:ext uri="{FF2B5EF4-FFF2-40B4-BE49-F238E27FC236}">
                              <a16:creationId xmlns:a16="http://schemas.microsoft.com/office/drawing/2014/main" id="{C5CE5B68-2DC5-3D15-ED2D-14689A15D2B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00" name="그룹 299">
            <a:extLst>
              <a:ext uri="{FF2B5EF4-FFF2-40B4-BE49-F238E27FC236}">
                <a16:creationId xmlns:a16="http://schemas.microsoft.com/office/drawing/2014/main" id="{9685AB60-6A6E-8BAF-2428-F1AB4173C92B}"/>
              </a:ext>
            </a:extLst>
          </p:cNvPr>
          <p:cNvGrpSpPr/>
          <p:nvPr/>
        </p:nvGrpSpPr>
        <p:grpSpPr>
          <a:xfrm>
            <a:off x="2306629" y="2394996"/>
            <a:ext cx="318262" cy="144462"/>
            <a:chOff x="2716253" y="2405617"/>
            <a:chExt cx="318262" cy="144462"/>
          </a:xfrm>
        </p:grpSpPr>
        <p:sp>
          <p:nvSpPr>
            <p:cNvPr id="301" name="Rectangle 191">
              <a:extLst>
                <a:ext uri="{FF2B5EF4-FFF2-40B4-BE49-F238E27FC236}">
                  <a16:creationId xmlns:a16="http://schemas.microsoft.com/office/drawing/2014/main" id="{2236DA37-105F-11A0-B66F-8C3CEC1994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4979" y="2416036"/>
              <a:ext cx="179536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개인</a:t>
              </a:r>
            </a:p>
          </p:txBody>
        </p:sp>
        <p:graphicFrame>
          <p:nvGraphicFramePr>
            <p:cNvPr id="302" name="개체 301">
              <a:extLst>
                <a:ext uri="{FF2B5EF4-FFF2-40B4-BE49-F238E27FC236}">
                  <a16:creationId xmlns:a16="http://schemas.microsoft.com/office/drawing/2014/main" id="{518C3534-6F72-DD4C-BA97-098889B23FA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145435" imgH="145435" progId="Visio.Drawing.11">
                    <p:embed/>
                  </p:oleObj>
                </mc:Choice>
                <mc:Fallback>
                  <p:oleObj name="Visio" r:id="rId4" imgW="145435" imgH="145435" progId="Visio.Drawing.11">
                    <p:embed/>
                    <p:pic>
                      <p:nvPicPr>
                        <p:cNvPr id="243" name="개체 242">
                          <a:extLst>
                            <a:ext uri="{FF2B5EF4-FFF2-40B4-BE49-F238E27FC236}">
                              <a16:creationId xmlns:a16="http://schemas.microsoft.com/office/drawing/2014/main" id="{518C3534-6F72-DD4C-BA97-098889B23FA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03" name="그룹 302">
            <a:extLst>
              <a:ext uri="{FF2B5EF4-FFF2-40B4-BE49-F238E27FC236}">
                <a16:creationId xmlns:a16="http://schemas.microsoft.com/office/drawing/2014/main" id="{798F6CAC-4182-57A6-CE92-4770D7F1D9D7}"/>
              </a:ext>
            </a:extLst>
          </p:cNvPr>
          <p:cNvGrpSpPr/>
          <p:nvPr/>
        </p:nvGrpSpPr>
        <p:grpSpPr>
          <a:xfrm>
            <a:off x="2980970" y="2394996"/>
            <a:ext cx="318262" cy="144462"/>
            <a:chOff x="2716253" y="2405617"/>
            <a:chExt cx="318262" cy="144462"/>
          </a:xfrm>
        </p:grpSpPr>
        <p:sp>
          <p:nvSpPr>
            <p:cNvPr id="304" name="Rectangle 191">
              <a:extLst>
                <a:ext uri="{FF2B5EF4-FFF2-40B4-BE49-F238E27FC236}">
                  <a16:creationId xmlns:a16="http://schemas.microsoft.com/office/drawing/2014/main" id="{B21B2D26-509B-9671-BB5E-73D2619953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4979" y="2416036"/>
              <a:ext cx="179536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기능</a:t>
              </a:r>
            </a:p>
          </p:txBody>
        </p:sp>
        <p:graphicFrame>
          <p:nvGraphicFramePr>
            <p:cNvPr id="305" name="개체 304">
              <a:extLst>
                <a:ext uri="{FF2B5EF4-FFF2-40B4-BE49-F238E27FC236}">
                  <a16:creationId xmlns:a16="http://schemas.microsoft.com/office/drawing/2014/main" id="{4679FCE5-1A23-B61D-A574-DEA950FE863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145435" imgH="145435" progId="Visio.Drawing.11">
                    <p:embed/>
                  </p:oleObj>
                </mc:Choice>
                <mc:Fallback>
                  <p:oleObj name="Visio" r:id="rId4" imgW="145435" imgH="145435" progId="Visio.Drawing.11">
                    <p:embed/>
                    <p:pic>
                      <p:nvPicPr>
                        <p:cNvPr id="246" name="개체 245">
                          <a:extLst>
                            <a:ext uri="{FF2B5EF4-FFF2-40B4-BE49-F238E27FC236}">
                              <a16:creationId xmlns:a16="http://schemas.microsoft.com/office/drawing/2014/main" id="{4679FCE5-1A23-B61D-A574-DEA950FE863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06" name="개체 305">
            <a:extLst>
              <a:ext uri="{FF2B5EF4-FFF2-40B4-BE49-F238E27FC236}">
                <a16:creationId xmlns:a16="http://schemas.microsoft.com/office/drawing/2014/main" id="{EBF21320-67B6-F834-ABB9-467B7ED012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1073166"/>
              </p:ext>
            </p:extLst>
          </p:nvPr>
        </p:nvGraphicFramePr>
        <p:xfrm>
          <a:off x="2306629" y="2394996"/>
          <a:ext cx="144462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145435" imgH="145435" progId="Visio.Drawing.11">
                  <p:embed/>
                </p:oleObj>
              </mc:Choice>
              <mc:Fallback>
                <p:oleObj name="Visio" r:id="rId6" imgW="145435" imgH="145435" progId="Visio.Drawing.11">
                  <p:embed/>
                  <p:pic>
                    <p:nvPicPr>
                      <p:cNvPr id="247" name="개체 246">
                        <a:extLst>
                          <a:ext uri="{FF2B5EF4-FFF2-40B4-BE49-F238E27FC236}">
                            <a16:creationId xmlns:a16="http://schemas.microsoft.com/office/drawing/2014/main" id="{EBF21320-67B6-F834-ABB9-467B7ED012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6629" y="2394996"/>
                        <a:ext cx="144462" cy="14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" name="직사각형 306">
            <a:extLst>
              <a:ext uri="{FF2B5EF4-FFF2-40B4-BE49-F238E27FC236}">
                <a16:creationId xmlns:a16="http://schemas.microsoft.com/office/drawing/2014/main" id="{9321C715-FD34-D911-AA4F-BF9E8E62DAF0}"/>
              </a:ext>
            </a:extLst>
          </p:cNvPr>
          <p:cNvSpPr/>
          <p:nvPr/>
        </p:nvSpPr>
        <p:spPr>
          <a:xfrm>
            <a:off x="1904260" y="2627433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상장사본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08" name="직사각형 307">
            <a:extLst>
              <a:ext uri="{FF2B5EF4-FFF2-40B4-BE49-F238E27FC236}">
                <a16:creationId xmlns:a16="http://schemas.microsoft.com/office/drawing/2014/main" id="{E70C3FD6-988E-AE05-5440-ECC2D1A1B156}"/>
              </a:ext>
            </a:extLst>
          </p:cNvPr>
          <p:cNvSpPr/>
          <p:nvPr/>
        </p:nvSpPr>
        <p:spPr>
          <a:xfrm>
            <a:off x="3557258" y="2627425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309" name="직사각형 308">
            <a:extLst>
              <a:ext uri="{FF2B5EF4-FFF2-40B4-BE49-F238E27FC236}">
                <a16:creationId xmlns:a16="http://schemas.microsoft.com/office/drawing/2014/main" id="{915DFE4E-3ACA-6985-7BCD-7BFDA3FBE4D2}"/>
              </a:ext>
            </a:extLst>
          </p:cNvPr>
          <p:cNvSpPr/>
          <p:nvPr/>
        </p:nvSpPr>
        <p:spPr>
          <a:xfrm>
            <a:off x="3865768" y="2627425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13" name="직사각형 312">
            <a:extLst>
              <a:ext uri="{FF2B5EF4-FFF2-40B4-BE49-F238E27FC236}">
                <a16:creationId xmlns:a16="http://schemas.microsoft.com/office/drawing/2014/main" id="{688E8975-41E7-8B96-1472-89464D1D1483}"/>
              </a:ext>
            </a:extLst>
          </p:cNvPr>
          <p:cNvSpPr/>
          <p:nvPr/>
        </p:nvSpPr>
        <p:spPr>
          <a:xfrm>
            <a:off x="1904260" y="3098099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대회안내문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14" name="직사각형 313">
            <a:extLst>
              <a:ext uri="{FF2B5EF4-FFF2-40B4-BE49-F238E27FC236}">
                <a16:creationId xmlns:a16="http://schemas.microsoft.com/office/drawing/2014/main" id="{6409E894-0058-4190-621D-D1D70E7F8D46}"/>
              </a:ext>
            </a:extLst>
          </p:cNvPr>
          <p:cNvSpPr/>
          <p:nvPr/>
        </p:nvSpPr>
        <p:spPr>
          <a:xfrm>
            <a:off x="3557258" y="3098091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315" name="직사각형 314">
            <a:extLst>
              <a:ext uri="{FF2B5EF4-FFF2-40B4-BE49-F238E27FC236}">
                <a16:creationId xmlns:a16="http://schemas.microsoft.com/office/drawing/2014/main" id="{7186A058-6B4E-1A29-535B-683DC2D8CD16}"/>
              </a:ext>
            </a:extLst>
          </p:cNvPr>
          <p:cNvSpPr/>
          <p:nvPr/>
        </p:nvSpPr>
        <p:spPr>
          <a:xfrm>
            <a:off x="3865768" y="3098091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16" name="직사각형 315">
            <a:extLst>
              <a:ext uri="{FF2B5EF4-FFF2-40B4-BE49-F238E27FC236}">
                <a16:creationId xmlns:a16="http://schemas.microsoft.com/office/drawing/2014/main" id="{38507139-240C-69E1-457B-90C78A535BC1}"/>
              </a:ext>
            </a:extLst>
          </p:cNvPr>
          <p:cNvSpPr/>
          <p:nvPr/>
        </p:nvSpPr>
        <p:spPr>
          <a:xfrm>
            <a:off x="6397011" y="5478577"/>
            <a:ext cx="392727" cy="19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목록</a:t>
            </a:r>
          </a:p>
        </p:txBody>
      </p:sp>
      <p:sp>
        <p:nvSpPr>
          <p:cNvPr id="317" name="직사각형 316">
            <a:extLst>
              <a:ext uri="{FF2B5EF4-FFF2-40B4-BE49-F238E27FC236}">
                <a16:creationId xmlns:a16="http://schemas.microsoft.com/office/drawing/2014/main" id="{2619DEA9-678C-E114-5846-80A736FEBAC1}"/>
              </a:ext>
            </a:extLst>
          </p:cNvPr>
          <p:cNvSpPr/>
          <p:nvPr/>
        </p:nvSpPr>
        <p:spPr>
          <a:xfrm>
            <a:off x="5936915" y="5478577"/>
            <a:ext cx="392727" cy="198000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신청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6609C85-18BE-BCA5-1904-4B60F30E2BCF}"/>
              </a:ext>
            </a:extLst>
          </p:cNvPr>
          <p:cNvSpPr/>
          <p:nvPr/>
        </p:nvSpPr>
        <p:spPr>
          <a:xfrm>
            <a:off x="2913769" y="3563187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주민등록초본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AC5402E-D75E-F4EB-5E23-F8E1F4F624CC}"/>
              </a:ext>
            </a:extLst>
          </p:cNvPr>
          <p:cNvSpPr/>
          <p:nvPr/>
        </p:nvSpPr>
        <p:spPr>
          <a:xfrm>
            <a:off x="4566767" y="3563179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BA0A72C-6692-E40B-B202-982E6D63ABCC}"/>
              </a:ext>
            </a:extLst>
          </p:cNvPr>
          <p:cNvSpPr/>
          <p:nvPr/>
        </p:nvSpPr>
        <p:spPr>
          <a:xfrm>
            <a:off x="4875174" y="3563171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</a:p>
        </p:txBody>
      </p:sp>
      <p:sp>
        <p:nvSpPr>
          <p:cNvPr id="19" name="Rectangle 191">
            <a:extLst>
              <a:ext uri="{FF2B5EF4-FFF2-40B4-BE49-F238E27FC236}">
                <a16:creationId xmlns:a16="http://schemas.microsoft.com/office/drawing/2014/main" id="{15647681-7A20-8272-BE36-6F53FAA8E1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9498" y="3578463"/>
            <a:ext cx="17953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첨부</a:t>
            </a:r>
          </a:p>
        </p:txBody>
      </p:sp>
      <p:sp>
        <p:nvSpPr>
          <p:cNvPr id="20" name="Rectangle 191">
            <a:extLst>
              <a:ext uri="{FF2B5EF4-FFF2-40B4-BE49-F238E27FC236}">
                <a16:creationId xmlns:a16="http://schemas.microsoft.com/office/drawing/2014/main" id="{8F69C6C9-62BD-CD15-CE41-8B3A77D199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4260" y="3578889"/>
            <a:ext cx="359073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거주기간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62EEB09-5837-1EB3-E5BD-E3019319AEDD}"/>
              </a:ext>
            </a:extLst>
          </p:cNvPr>
          <p:cNvSpPr/>
          <p:nvPr/>
        </p:nvSpPr>
        <p:spPr>
          <a:xfrm>
            <a:off x="2287592" y="3557531"/>
            <a:ext cx="36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년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C1A99ABB-002A-21F6-BC72-1E935B2DBA7F}"/>
              </a:ext>
            </a:extLst>
          </p:cNvPr>
          <p:cNvSpPr>
            <a:spLocks noChangeAspect="1"/>
          </p:cNvSpPr>
          <p:nvPr/>
        </p:nvSpPr>
        <p:spPr>
          <a:xfrm>
            <a:off x="200472" y="1550951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E041BC5E-DEEF-8C2C-0643-7D73B67AD3D3}"/>
              </a:ext>
            </a:extLst>
          </p:cNvPr>
          <p:cNvSpPr>
            <a:spLocks noChangeAspect="1"/>
          </p:cNvSpPr>
          <p:nvPr/>
        </p:nvSpPr>
        <p:spPr>
          <a:xfrm>
            <a:off x="5773339" y="5516856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D6B57EA6-34C8-78E6-55B8-8A5DF388DA4F}"/>
              </a:ext>
            </a:extLst>
          </p:cNvPr>
          <p:cNvGrpSpPr/>
          <p:nvPr/>
        </p:nvGrpSpPr>
        <p:grpSpPr>
          <a:xfrm>
            <a:off x="1902104" y="2860748"/>
            <a:ext cx="3434789" cy="147301"/>
            <a:chOff x="1824628" y="2860748"/>
            <a:chExt cx="3434789" cy="147301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EF6A0149-38B3-7D02-CD38-EAD08F6868CE}"/>
                </a:ext>
              </a:extLst>
            </p:cNvPr>
            <p:cNvSpPr/>
            <p:nvPr/>
          </p:nvSpPr>
          <p:spPr>
            <a:xfrm>
              <a:off x="3561076" y="2862398"/>
              <a:ext cx="1106482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수상실적확인서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566B1A2D-7BC3-64FB-EC5E-A9EE8B99599B}"/>
                </a:ext>
              </a:extLst>
            </p:cNvPr>
            <p:cNvSpPr/>
            <p:nvPr/>
          </p:nvSpPr>
          <p:spPr>
            <a:xfrm>
              <a:off x="4686733" y="2862390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제출</a:t>
              </a:r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E4B20482-6DE4-797A-AA6B-EAA7C7A9B7A2}"/>
                </a:ext>
              </a:extLst>
            </p:cNvPr>
            <p:cNvSpPr/>
            <p:nvPr/>
          </p:nvSpPr>
          <p:spPr>
            <a:xfrm>
              <a:off x="4995243" y="2862390"/>
              <a:ext cx="264174" cy="144016"/>
            </a:xfrm>
            <a:prstGeom prst="rect">
              <a:avLst/>
            </a:prstGeom>
            <a:solidFill>
              <a:srgbClr val="66FF66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Rectangle 191">
              <a:extLst>
                <a:ext uri="{FF2B5EF4-FFF2-40B4-BE49-F238E27FC236}">
                  <a16:creationId xmlns:a16="http://schemas.microsoft.com/office/drawing/2014/main" id="{FD07411D-B2DC-0DC4-9959-0511089900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1249" y="2880537"/>
              <a:ext cx="179536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순위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2B044DF1-E589-315E-1C13-2367201C7DBB}"/>
                </a:ext>
              </a:extLst>
            </p:cNvPr>
            <p:cNvSpPr/>
            <p:nvPr/>
          </p:nvSpPr>
          <p:spPr>
            <a:xfrm>
              <a:off x="2936732" y="2862398"/>
              <a:ext cx="36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동매달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2" name="Rectangle 191">
              <a:extLst>
                <a:ext uri="{FF2B5EF4-FFF2-40B4-BE49-F238E27FC236}">
                  <a16:creationId xmlns:a16="http://schemas.microsoft.com/office/drawing/2014/main" id="{EC7F5716-CDF5-6B42-52CF-6DA82010B3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5796" y="2880537"/>
              <a:ext cx="179536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첨부</a:t>
              </a:r>
            </a:p>
          </p:txBody>
        </p:sp>
        <p:sp>
          <p:nvSpPr>
            <p:cNvPr id="25" name="Rectangle 191">
              <a:extLst>
                <a:ext uri="{FF2B5EF4-FFF2-40B4-BE49-F238E27FC236}">
                  <a16:creationId xmlns:a16="http://schemas.microsoft.com/office/drawing/2014/main" id="{4D6C74F2-F337-CE17-1265-07047C375B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628" y="2880537"/>
              <a:ext cx="359073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대회규모</a:t>
              </a:r>
            </a:p>
          </p:txBody>
        </p:sp>
        <p:pic>
          <p:nvPicPr>
            <p:cNvPr id="26" name="Picture 13">
              <a:extLst>
                <a:ext uri="{FF2B5EF4-FFF2-40B4-BE49-F238E27FC236}">
                  <a16:creationId xmlns:a16="http://schemas.microsoft.com/office/drawing/2014/main" id="{7E8E7AF5-2DE9-95BD-E92B-6E15255BDFA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63135" y="2860748"/>
              <a:ext cx="154667" cy="147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8DD302FD-EA93-3555-D22D-43CB40784682}"/>
                </a:ext>
              </a:extLst>
            </p:cNvPr>
            <p:cNvSpPr/>
            <p:nvPr/>
          </p:nvSpPr>
          <p:spPr>
            <a:xfrm>
              <a:off x="2203245" y="2862398"/>
              <a:ext cx="35765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700" dirty="0">
                  <a:solidFill>
                    <a:prstClr val="black">
                      <a:lumMod val="95000"/>
                      <a:lumOff val="5000"/>
                    </a:prstClr>
                  </a:solidFill>
                </a:rPr>
                <a:t>국제</a:t>
              </a: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A3C00F43-568A-A561-0618-B160A116D9DE}"/>
              </a:ext>
            </a:extLst>
          </p:cNvPr>
          <p:cNvGrpSpPr/>
          <p:nvPr/>
        </p:nvGrpSpPr>
        <p:grpSpPr>
          <a:xfrm>
            <a:off x="1897456" y="3328366"/>
            <a:ext cx="2704513" cy="144016"/>
            <a:chOff x="1897884" y="2847629"/>
            <a:chExt cx="2704513" cy="144016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05A81CCA-2CA6-C3CF-1B21-C2E9F39E6FF5}"/>
                </a:ext>
              </a:extLst>
            </p:cNvPr>
            <p:cNvSpPr/>
            <p:nvPr/>
          </p:nvSpPr>
          <p:spPr>
            <a:xfrm>
              <a:off x="1897884" y="2847637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추천서</a:t>
              </a:r>
              <a:r>
                <a:rPr kumimoji="0" lang="en-US" altLang="ko-KR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8AAC33EA-C66E-70F7-81F7-2501D121C53A}"/>
                </a:ext>
              </a:extLst>
            </p:cNvPr>
            <p:cNvSpPr/>
            <p:nvPr/>
          </p:nvSpPr>
          <p:spPr>
            <a:xfrm>
              <a:off x="3550882" y="2847629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제출</a:t>
              </a: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2F8C86C6-E53A-B40A-D307-27AC613AA507}"/>
                </a:ext>
              </a:extLst>
            </p:cNvPr>
            <p:cNvSpPr/>
            <p:nvPr/>
          </p:nvSpPr>
          <p:spPr>
            <a:xfrm>
              <a:off x="3859392" y="2847629"/>
              <a:ext cx="264174" cy="144016"/>
            </a:xfrm>
            <a:prstGeom prst="rect">
              <a:avLst/>
            </a:prstGeom>
            <a:solidFill>
              <a:srgbClr val="66FF66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7B3E0D6D-4DF5-50C0-5332-125799ACA1EC}"/>
                </a:ext>
              </a:extLst>
            </p:cNvPr>
            <p:cNvSpPr/>
            <p:nvPr/>
          </p:nvSpPr>
          <p:spPr>
            <a:xfrm>
              <a:off x="4176942" y="2847629"/>
              <a:ext cx="425455" cy="14401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양식받기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761C2BB2-4229-333F-7E53-5F3DA774DB76}"/>
              </a:ext>
            </a:extLst>
          </p:cNvPr>
          <p:cNvGrpSpPr/>
          <p:nvPr/>
        </p:nvGrpSpPr>
        <p:grpSpPr>
          <a:xfrm>
            <a:off x="1900611" y="4972399"/>
            <a:ext cx="2386963" cy="144016"/>
            <a:chOff x="1897884" y="4476806"/>
            <a:chExt cx="2386963" cy="144016"/>
          </a:xfrm>
        </p:grpSpPr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7EF58EC1-DE17-CFD2-322D-6545291BA6CE}"/>
                </a:ext>
              </a:extLst>
            </p:cNvPr>
            <p:cNvSpPr/>
            <p:nvPr/>
          </p:nvSpPr>
          <p:spPr>
            <a:xfrm>
              <a:off x="1897884" y="4476814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DCB4E60E-CB9B-11E7-2B8E-12FA18B6384C}"/>
                </a:ext>
              </a:extLst>
            </p:cNvPr>
            <p:cNvSpPr/>
            <p:nvPr/>
          </p:nvSpPr>
          <p:spPr>
            <a:xfrm>
              <a:off x="3550882" y="4476806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추가</a:t>
              </a: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6AA316DB-EABB-D1F1-3BB1-772152E77B6D}"/>
                </a:ext>
              </a:extLst>
            </p:cNvPr>
            <p:cNvSpPr/>
            <p:nvPr/>
          </p:nvSpPr>
          <p:spPr>
            <a:xfrm>
              <a:off x="3859392" y="4476806"/>
              <a:ext cx="425455" cy="14401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양식받기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E62943FB-486B-69CE-C2B6-09B1CB501B02}"/>
              </a:ext>
            </a:extLst>
          </p:cNvPr>
          <p:cNvSpPr/>
          <p:nvPr/>
        </p:nvSpPr>
        <p:spPr>
          <a:xfrm>
            <a:off x="668524" y="4936395"/>
            <a:ext cx="6121214" cy="21600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B2219C68-EA93-A30D-BED0-90C9504C8D14}"/>
              </a:ext>
            </a:extLst>
          </p:cNvPr>
          <p:cNvSpPr/>
          <p:nvPr/>
        </p:nvSpPr>
        <p:spPr>
          <a:xfrm>
            <a:off x="668524" y="3297135"/>
            <a:ext cx="6121214" cy="21600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7598D0F9-9247-4312-18C0-3003E191C41F}"/>
              </a:ext>
            </a:extLst>
          </p:cNvPr>
          <p:cNvSpPr/>
          <p:nvPr/>
        </p:nvSpPr>
        <p:spPr>
          <a:xfrm>
            <a:off x="668524" y="2826674"/>
            <a:ext cx="6121214" cy="21600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0888716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D3C58-C57F-28A8-74BC-DF56AB590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79E5A46-E869-AFC1-B27B-CFAB4C065A74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특기생장학금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신청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5D46AAE-B402-EC4C-B02B-9EDDA75A9314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프로그램신청관리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특기생장학금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장학금신청</a:t>
            </a: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C2078FB0-AE0A-EDC4-F31A-641DDF0087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21945"/>
              </p:ext>
            </p:extLst>
          </p:nvPr>
        </p:nvGraphicFramePr>
        <p:xfrm>
          <a:off x="6969418" y="2548005"/>
          <a:ext cx="2772114" cy="2897360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추천서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첨부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: 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제출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클릭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제출 서류 파일 선택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첨부완료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받기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클릭 시 첨부된 제출 서류 파일 다운로드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양식받기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클릭 시 추천서 양식 파일을 다운 받는다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주민등록초본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거주기간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신청 회원의 거주기간을 입력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첨부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제출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클릭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&gt;&gt;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제출 서류 파일 선택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&gt;&gt;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첨부완료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받기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클릭 시 첨부된 제출 서류 파일 다운로드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첨부파일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추가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] : 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추가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클릭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파일 선택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첨부 설정완료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파일받기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파일명 클릭 시 첨부된 파일 다운로드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[x]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클릭 시 첨부된 해당 파일 삭제 처리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양식받기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클릭 시 추천서 양식 파일을 다운 받는다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신청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]</a:t>
                      </a: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신청정보 설정 후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신청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클릭 시 등록이 완료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홈페이지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마이페이지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나의신청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특기생장학금에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보이게 됨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사이트관리자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프로그램신청관리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특기생장학금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설정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접수관리에 보이게 됨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목록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클릭 시 신청이 취소 되며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조회 화면으로 이동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2061371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DD9C94BA-1406-9B28-1AE3-5F18D1199AB1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pat_application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65B03B1-270F-952D-5340-C958815B925E}"/>
              </a:ext>
            </a:extLst>
          </p:cNvPr>
          <p:cNvSpPr/>
          <p:nvPr/>
        </p:nvSpPr>
        <p:spPr>
          <a:xfrm>
            <a:off x="165100" y="1376363"/>
            <a:ext cx="6732116" cy="460414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BDFBCDE-EB93-4F67-04D4-024591382F94}"/>
              </a:ext>
            </a:extLst>
          </p:cNvPr>
          <p:cNvSpPr/>
          <p:nvPr/>
        </p:nvSpPr>
        <p:spPr>
          <a:xfrm>
            <a:off x="292846" y="1448780"/>
            <a:ext cx="1099660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800" b="1" dirty="0" err="1">
                <a:solidFill>
                  <a:prstClr val="black"/>
                </a:solidFill>
              </a:rPr>
              <a:t>특기생</a:t>
            </a:r>
            <a:r>
              <a:rPr lang="ko-KR" altLang="en-US" sz="800" b="1" dirty="0">
                <a:solidFill>
                  <a:prstClr val="black"/>
                </a:solidFill>
              </a:rPr>
              <a:t> 장학금 신청정보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42646CF-A93C-D80A-AC7B-22634611213A}"/>
              </a:ext>
            </a:extLst>
          </p:cNvPr>
          <p:cNvSpPr/>
          <p:nvPr/>
        </p:nvSpPr>
        <p:spPr>
          <a:xfrm>
            <a:off x="165100" y="6023481"/>
            <a:ext cx="6732116" cy="46622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6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4C6AD8CD-0D7E-934B-E2A6-14BFD58BA0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6165304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12A00C3-2286-CD92-BFEF-ECDD45E91059}"/>
              </a:ext>
            </a:extLst>
          </p:cNvPr>
          <p:cNvSpPr txBox="1"/>
          <p:nvPr/>
        </p:nvSpPr>
        <p:spPr>
          <a:xfrm>
            <a:off x="1172580" y="6077394"/>
            <a:ext cx="31242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경기 오산시 성호대로 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141 (</a:t>
            </a:r>
            <a:r>
              <a:rPr lang="ko-KR" altLang="en-US" sz="600" b="0" i="0" dirty="0" err="1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오산동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오산시청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오산교육재단</a:t>
            </a:r>
            <a:endParaRPr lang="en-US" altLang="ko-KR" sz="600" b="0" i="0" dirty="0">
              <a:solidFill>
                <a:srgbClr val="666666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>
              <a:buNone/>
            </a:pP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TEL. (031)8036-8905 FAX. (031)8036-8905</a:t>
            </a:r>
          </a:p>
          <a:p>
            <a:pPr algn="l">
              <a:buNone/>
            </a:pP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Copyright©2025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오산교육재단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 ALL RIGHTSRESERVED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6033A466-223C-60AF-BA7E-A5A529CF02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7467465"/>
              </p:ext>
            </p:extLst>
          </p:nvPr>
        </p:nvGraphicFramePr>
        <p:xfrm>
          <a:off x="272480" y="1645687"/>
          <a:ext cx="6517258" cy="375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054">
                  <a:extLst>
                    <a:ext uri="{9D8B030D-6E8A-4147-A177-3AD203B41FA5}">
                      <a16:colId xmlns:a16="http://schemas.microsoft.com/office/drawing/2014/main" val="3668863434"/>
                    </a:ext>
                  </a:extLst>
                </a:gridCol>
                <a:gridCol w="4921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구분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특기생</a:t>
                      </a:r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장학금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894265"/>
                  </a:ext>
                </a:extLst>
              </a:tr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</a:t>
                      </a:r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하반기 </a:t>
                      </a:r>
                      <a:r>
                        <a:rPr lang="ko-KR" altLang="en-US" sz="7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특기생</a:t>
                      </a:r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장학금 신청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접수기간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2025.09.20 10:00 </a:t>
                      </a:r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~ 2025.09.30 10:00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전형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4735">
                <a:tc rowSpan="3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전형별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상장사본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2230354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수상실적확인서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446280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대회안내문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1427946"/>
                  </a:ext>
                </a:extLst>
              </a:tr>
              <a:tr h="234735">
                <a:tc rowSpan="9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공통 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추천서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주민등록초본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1958612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주민등록등본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164179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국민기초생활보장수급자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차상위계층확인서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한부모가족보호대상확인서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장애인증명서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첨부파일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8089092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8418894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B492CEBA-F6D6-7974-2A4D-6A9284A6670C}"/>
              </a:ext>
            </a:extLst>
          </p:cNvPr>
          <p:cNvSpPr/>
          <p:nvPr/>
        </p:nvSpPr>
        <p:spPr>
          <a:xfrm>
            <a:off x="1904260" y="3792194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주민등록등본</a:t>
            </a:r>
            <a:r>
              <a:rPr kumimoji="0" lang="en-US" altLang="ko-KR" sz="7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16B9D1F-8ADC-E84A-D3BA-C6FC81E3BE75}"/>
              </a:ext>
            </a:extLst>
          </p:cNvPr>
          <p:cNvSpPr/>
          <p:nvPr/>
        </p:nvSpPr>
        <p:spPr>
          <a:xfrm>
            <a:off x="3557258" y="3792186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876CC3E-CBBD-725C-7DA9-5686D5A08BCE}"/>
              </a:ext>
            </a:extLst>
          </p:cNvPr>
          <p:cNvSpPr/>
          <p:nvPr/>
        </p:nvSpPr>
        <p:spPr>
          <a:xfrm>
            <a:off x="1904260" y="4036515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dirty="0" err="1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국민기초생활보장수급자</a:t>
            </a:r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20E6703-DB19-0283-8C28-01BE3F1316C5}"/>
              </a:ext>
            </a:extLst>
          </p:cNvPr>
          <p:cNvSpPr/>
          <p:nvPr/>
        </p:nvSpPr>
        <p:spPr>
          <a:xfrm>
            <a:off x="3557258" y="4036507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A36A646-0D65-C16C-FC42-7484E8530F75}"/>
              </a:ext>
            </a:extLst>
          </p:cNvPr>
          <p:cNvSpPr/>
          <p:nvPr/>
        </p:nvSpPr>
        <p:spPr>
          <a:xfrm>
            <a:off x="1904260" y="4273047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차상위계층확인서</a:t>
            </a:r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E14BBB5-9D7F-379F-8ACA-4A9A8C20A3A0}"/>
              </a:ext>
            </a:extLst>
          </p:cNvPr>
          <p:cNvSpPr/>
          <p:nvPr/>
        </p:nvSpPr>
        <p:spPr>
          <a:xfrm>
            <a:off x="3557258" y="4273039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0EFDB04-B3D5-DABE-A06C-2A80DD1421EF}"/>
              </a:ext>
            </a:extLst>
          </p:cNvPr>
          <p:cNvSpPr/>
          <p:nvPr/>
        </p:nvSpPr>
        <p:spPr>
          <a:xfrm>
            <a:off x="1904260" y="4502299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DE6BAFC-D9AD-A4E8-101D-D92F4479E62C}"/>
              </a:ext>
            </a:extLst>
          </p:cNvPr>
          <p:cNvSpPr/>
          <p:nvPr/>
        </p:nvSpPr>
        <p:spPr>
          <a:xfrm>
            <a:off x="3557258" y="4502291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EB9178F-7739-B4DE-F9E9-1949040DE8B6}"/>
              </a:ext>
            </a:extLst>
          </p:cNvPr>
          <p:cNvSpPr/>
          <p:nvPr/>
        </p:nvSpPr>
        <p:spPr>
          <a:xfrm>
            <a:off x="1904260" y="4740481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4678D17-303E-25BD-0EE2-DC35CF26B152}"/>
              </a:ext>
            </a:extLst>
          </p:cNvPr>
          <p:cNvSpPr/>
          <p:nvPr/>
        </p:nvSpPr>
        <p:spPr>
          <a:xfrm>
            <a:off x="3557258" y="4740473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8357EF6B-1E41-FC0C-15D0-5F96C9530E6D}"/>
              </a:ext>
            </a:extLst>
          </p:cNvPr>
          <p:cNvGrpSpPr/>
          <p:nvPr/>
        </p:nvGrpSpPr>
        <p:grpSpPr>
          <a:xfrm>
            <a:off x="1939541" y="5228627"/>
            <a:ext cx="1105196" cy="128396"/>
            <a:chOff x="3438680" y="4305150"/>
            <a:chExt cx="1105196" cy="128396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D7C43CD-E28B-CB93-DAB8-8B8D40431BBD}"/>
                </a:ext>
              </a:extLst>
            </p:cNvPr>
            <p:cNvSpPr txBox="1"/>
            <p:nvPr/>
          </p:nvSpPr>
          <p:spPr>
            <a:xfrm>
              <a:off x="3438680" y="4305150"/>
              <a:ext cx="971420" cy="10772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신청 관련 부가 서류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2" name="Picture 10">
              <a:extLst>
                <a:ext uri="{FF2B5EF4-FFF2-40B4-BE49-F238E27FC236}">
                  <a16:creationId xmlns:a16="http://schemas.microsoft.com/office/drawing/2014/main" id="{405B80E7-CC14-CFE7-A291-DBD735E297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7418" y="4312303"/>
              <a:ext cx="106458" cy="121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C22551B5-B907-DEE7-38C7-D41B23C29BFE}"/>
              </a:ext>
            </a:extLst>
          </p:cNvPr>
          <p:cNvGrpSpPr/>
          <p:nvPr/>
        </p:nvGrpSpPr>
        <p:grpSpPr>
          <a:xfrm>
            <a:off x="3125954" y="5228627"/>
            <a:ext cx="1105196" cy="128396"/>
            <a:chOff x="3438680" y="4305150"/>
            <a:chExt cx="1105196" cy="128396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AE6ED9B-008A-3C2F-5EDF-3F0F4C11C8E6}"/>
                </a:ext>
              </a:extLst>
            </p:cNvPr>
            <p:cNvSpPr txBox="1"/>
            <p:nvPr/>
          </p:nvSpPr>
          <p:spPr>
            <a:xfrm>
              <a:off x="3438680" y="4305150"/>
              <a:ext cx="971420" cy="10772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신청 관련 부가 서류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14" name="Picture 10">
              <a:extLst>
                <a:ext uri="{FF2B5EF4-FFF2-40B4-BE49-F238E27FC236}">
                  <a16:creationId xmlns:a16="http://schemas.microsoft.com/office/drawing/2014/main" id="{93301309-333E-A0C0-A4FF-4345E21EB1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7418" y="4312303"/>
              <a:ext cx="106458" cy="121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A3034511-C67B-EF70-FF45-EDB635ED14E3}"/>
              </a:ext>
            </a:extLst>
          </p:cNvPr>
          <p:cNvSpPr/>
          <p:nvPr/>
        </p:nvSpPr>
        <p:spPr>
          <a:xfrm>
            <a:off x="3865768" y="3791026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7794F151-E2DE-E0DE-63C7-55C088E44084}"/>
              </a:ext>
            </a:extLst>
          </p:cNvPr>
          <p:cNvSpPr/>
          <p:nvPr/>
        </p:nvSpPr>
        <p:spPr>
          <a:xfrm>
            <a:off x="3865768" y="4036548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A42985C7-AB28-93AC-B1AD-EFAF3B658118}"/>
              </a:ext>
            </a:extLst>
          </p:cNvPr>
          <p:cNvSpPr/>
          <p:nvPr/>
        </p:nvSpPr>
        <p:spPr>
          <a:xfrm>
            <a:off x="3865768" y="4272421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89F7546F-8C25-354E-8511-4EACB9EBE8C8}"/>
              </a:ext>
            </a:extLst>
          </p:cNvPr>
          <p:cNvSpPr/>
          <p:nvPr/>
        </p:nvSpPr>
        <p:spPr>
          <a:xfrm>
            <a:off x="3865768" y="4496396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49367438-62DD-B39E-9BB9-DB12E58881FF}"/>
              </a:ext>
            </a:extLst>
          </p:cNvPr>
          <p:cNvSpPr/>
          <p:nvPr/>
        </p:nvSpPr>
        <p:spPr>
          <a:xfrm>
            <a:off x="3865768" y="4742341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20" name="그룹 119">
            <a:extLst>
              <a:ext uri="{FF2B5EF4-FFF2-40B4-BE49-F238E27FC236}">
                <a16:creationId xmlns:a16="http://schemas.microsoft.com/office/drawing/2014/main" id="{5AB029A5-40EA-FED9-DD0D-4E746CB72088}"/>
              </a:ext>
            </a:extLst>
          </p:cNvPr>
          <p:cNvGrpSpPr/>
          <p:nvPr/>
        </p:nvGrpSpPr>
        <p:grpSpPr>
          <a:xfrm>
            <a:off x="3429010" y="2394996"/>
            <a:ext cx="505750" cy="144462"/>
            <a:chOff x="2716253" y="2405617"/>
            <a:chExt cx="505750" cy="144462"/>
          </a:xfrm>
        </p:grpSpPr>
        <p:sp>
          <p:nvSpPr>
            <p:cNvPr id="121" name="Rectangle 191">
              <a:extLst>
                <a:ext uri="{FF2B5EF4-FFF2-40B4-BE49-F238E27FC236}">
                  <a16:creationId xmlns:a16="http://schemas.microsoft.com/office/drawing/2014/main" id="{52603C72-3B91-D531-26FF-23A631FD0A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359073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학업성적</a:t>
              </a:r>
            </a:p>
          </p:txBody>
        </p:sp>
        <p:graphicFrame>
          <p:nvGraphicFramePr>
            <p:cNvPr id="122" name="개체 121">
              <a:extLst>
                <a:ext uri="{FF2B5EF4-FFF2-40B4-BE49-F238E27FC236}">
                  <a16:creationId xmlns:a16="http://schemas.microsoft.com/office/drawing/2014/main" id="{B5D00420-C07F-04B9-CF82-76E931973C1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145435" imgH="145435" progId="Visio.Drawing.11">
                    <p:embed/>
                  </p:oleObj>
                </mc:Choice>
                <mc:Fallback>
                  <p:oleObj name="Visio" r:id="rId4" imgW="145435" imgH="145435" progId="Visio.Drawing.11">
                    <p:embed/>
                    <p:pic>
                      <p:nvPicPr>
                        <p:cNvPr id="292" name="개체 291">
                          <a:extLst>
                            <a:ext uri="{FF2B5EF4-FFF2-40B4-BE49-F238E27FC236}">
                              <a16:creationId xmlns:a16="http://schemas.microsoft.com/office/drawing/2014/main" id="{BFAEECA2-88FD-B412-FEB6-98957425345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7B65D87C-2A55-F281-7E52-420D4CB2F1FE}"/>
              </a:ext>
            </a:extLst>
          </p:cNvPr>
          <p:cNvGrpSpPr/>
          <p:nvPr/>
        </p:nvGrpSpPr>
        <p:grpSpPr>
          <a:xfrm>
            <a:off x="4006768" y="2394996"/>
            <a:ext cx="326213" cy="144462"/>
            <a:chOff x="2716253" y="2405617"/>
            <a:chExt cx="326213" cy="144462"/>
          </a:xfrm>
        </p:grpSpPr>
        <p:sp>
          <p:nvSpPr>
            <p:cNvPr id="124" name="Rectangle 191">
              <a:extLst>
                <a:ext uri="{FF2B5EF4-FFF2-40B4-BE49-F238E27FC236}">
                  <a16:creationId xmlns:a16="http://schemas.microsoft.com/office/drawing/2014/main" id="{E4AF0C9A-DDB1-E12C-3C82-09D9FC6CD5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179536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기타</a:t>
              </a:r>
            </a:p>
          </p:txBody>
        </p:sp>
        <p:graphicFrame>
          <p:nvGraphicFramePr>
            <p:cNvPr id="125" name="개체 124">
              <a:extLst>
                <a:ext uri="{FF2B5EF4-FFF2-40B4-BE49-F238E27FC236}">
                  <a16:creationId xmlns:a16="http://schemas.microsoft.com/office/drawing/2014/main" id="{3ACAFE8F-B9D7-D0D7-0AE4-833340AB39E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145435" imgH="145435" progId="Visio.Drawing.11">
                    <p:embed/>
                  </p:oleObj>
                </mc:Choice>
                <mc:Fallback>
                  <p:oleObj name="Visio" r:id="rId4" imgW="145435" imgH="145435" progId="Visio.Drawing.11">
                    <p:embed/>
                    <p:pic>
                      <p:nvPicPr>
                        <p:cNvPr id="295" name="개체 294">
                          <a:extLst>
                            <a:ext uri="{FF2B5EF4-FFF2-40B4-BE49-F238E27FC236}">
                              <a16:creationId xmlns:a16="http://schemas.microsoft.com/office/drawing/2014/main" id="{596EF281-C584-F911-3C9C-566E9327A5A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6" name="Rectangle 191">
            <a:extLst>
              <a:ext uri="{FF2B5EF4-FFF2-40B4-BE49-F238E27FC236}">
                <a16:creationId xmlns:a16="http://schemas.microsoft.com/office/drawing/2014/main" id="{77B0D19F-C658-B11F-E0DF-412889CE49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2177" y="2413366"/>
            <a:ext cx="1439497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입상실적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                                )</a:t>
            </a:r>
            <a:endParaRPr kumimoji="0" lang="ko-KR" altLang="en-US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571444CF-6CFA-86E2-B589-453CE9469755}"/>
              </a:ext>
            </a:extLst>
          </p:cNvPr>
          <p:cNvGrpSpPr/>
          <p:nvPr/>
        </p:nvGrpSpPr>
        <p:grpSpPr>
          <a:xfrm>
            <a:off x="2645151" y="2394996"/>
            <a:ext cx="318262" cy="144462"/>
            <a:chOff x="2716253" y="2405617"/>
            <a:chExt cx="318262" cy="144462"/>
          </a:xfrm>
        </p:grpSpPr>
        <p:sp>
          <p:nvSpPr>
            <p:cNvPr id="128" name="Rectangle 191">
              <a:extLst>
                <a:ext uri="{FF2B5EF4-FFF2-40B4-BE49-F238E27FC236}">
                  <a16:creationId xmlns:a16="http://schemas.microsoft.com/office/drawing/2014/main" id="{073247EF-8E02-31A5-68F6-7339C7A333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4979" y="2416036"/>
              <a:ext cx="179536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단체</a:t>
              </a:r>
            </a:p>
          </p:txBody>
        </p:sp>
        <p:graphicFrame>
          <p:nvGraphicFramePr>
            <p:cNvPr id="129" name="개체 128">
              <a:extLst>
                <a:ext uri="{FF2B5EF4-FFF2-40B4-BE49-F238E27FC236}">
                  <a16:creationId xmlns:a16="http://schemas.microsoft.com/office/drawing/2014/main" id="{6532FCFB-6E18-4DF9-43AB-050E6EE1534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145435" imgH="145435" progId="Visio.Drawing.11">
                    <p:embed/>
                  </p:oleObj>
                </mc:Choice>
                <mc:Fallback>
                  <p:oleObj name="Visio" r:id="rId4" imgW="145435" imgH="145435" progId="Visio.Drawing.11">
                    <p:embed/>
                    <p:pic>
                      <p:nvPicPr>
                        <p:cNvPr id="299" name="개체 298">
                          <a:extLst>
                            <a:ext uri="{FF2B5EF4-FFF2-40B4-BE49-F238E27FC236}">
                              <a16:creationId xmlns:a16="http://schemas.microsoft.com/office/drawing/2014/main" id="{C5CE5B68-2DC5-3D15-ED2D-14689A15D2B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5CF649C6-F0D8-54C3-30F4-7C54F48F48EE}"/>
              </a:ext>
            </a:extLst>
          </p:cNvPr>
          <p:cNvGrpSpPr/>
          <p:nvPr/>
        </p:nvGrpSpPr>
        <p:grpSpPr>
          <a:xfrm>
            <a:off x="2306629" y="2394996"/>
            <a:ext cx="318262" cy="144462"/>
            <a:chOff x="2716253" y="2405617"/>
            <a:chExt cx="318262" cy="144462"/>
          </a:xfrm>
        </p:grpSpPr>
        <p:sp>
          <p:nvSpPr>
            <p:cNvPr id="131" name="Rectangle 191">
              <a:extLst>
                <a:ext uri="{FF2B5EF4-FFF2-40B4-BE49-F238E27FC236}">
                  <a16:creationId xmlns:a16="http://schemas.microsoft.com/office/drawing/2014/main" id="{3F766FF0-6463-9A17-70F4-EE67CC8989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4979" y="2416036"/>
              <a:ext cx="179536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개인</a:t>
              </a:r>
            </a:p>
          </p:txBody>
        </p:sp>
        <p:graphicFrame>
          <p:nvGraphicFramePr>
            <p:cNvPr id="132" name="개체 131">
              <a:extLst>
                <a:ext uri="{FF2B5EF4-FFF2-40B4-BE49-F238E27FC236}">
                  <a16:creationId xmlns:a16="http://schemas.microsoft.com/office/drawing/2014/main" id="{F5087053-ACE4-B0AA-A62A-52059F784D3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145435" imgH="145435" progId="Visio.Drawing.11">
                    <p:embed/>
                  </p:oleObj>
                </mc:Choice>
                <mc:Fallback>
                  <p:oleObj name="Visio" r:id="rId4" imgW="145435" imgH="145435" progId="Visio.Drawing.11">
                    <p:embed/>
                    <p:pic>
                      <p:nvPicPr>
                        <p:cNvPr id="302" name="개체 301">
                          <a:extLst>
                            <a:ext uri="{FF2B5EF4-FFF2-40B4-BE49-F238E27FC236}">
                              <a16:creationId xmlns:a16="http://schemas.microsoft.com/office/drawing/2014/main" id="{518C3534-6F72-DD4C-BA97-098889B23FA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2709D574-91E8-FA59-B65A-FDA211C7CE59}"/>
              </a:ext>
            </a:extLst>
          </p:cNvPr>
          <p:cNvGrpSpPr/>
          <p:nvPr/>
        </p:nvGrpSpPr>
        <p:grpSpPr>
          <a:xfrm>
            <a:off x="2980970" y="2394996"/>
            <a:ext cx="318262" cy="144462"/>
            <a:chOff x="2716253" y="2405617"/>
            <a:chExt cx="318262" cy="144462"/>
          </a:xfrm>
        </p:grpSpPr>
        <p:sp>
          <p:nvSpPr>
            <p:cNvPr id="134" name="Rectangle 191">
              <a:extLst>
                <a:ext uri="{FF2B5EF4-FFF2-40B4-BE49-F238E27FC236}">
                  <a16:creationId xmlns:a16="http://schemas.microsoft.com/office/drawing/2014/main" id="{B82B3F68-38F1-4700-FB6D-09CB51A591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4979" y="2416036"/>
              <a:ext cx="179536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기능</a:t>
              </a:r>
            </a:p>
          </p:txBody>
        </p:sp>
        <p:graphicFrame>
          <p:nvGraphicFramePr>
            <p:cNvPr id="135" name="개체 134">
              <a:extLst>
                <a:ext uri="{FF2B5EF4-FFF2-40B4-BE49-F238E27FC236}">
                  <a16:creationId xmlns:a16="http://schemas.microsoft.com/office/drawing/2014/main" id="{12DB90E4-5034-9C45-C114-19FE52A661B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145435" imgH="145435" progId="Visio.Drawing.11">
                    <p:embed/>
                  </p:oleObj>
                </mc:Choice>
                <mc:Fallback>
                  <p:oleObj name="Visio" r:id="rId4" imgW="145435" imgH="145435" progId="Visio.Drawing.11">
                    <p:embed/>
                    <p:pic>
                      <p:nvPicPr>
                        <p:cNvPr id="305" name="개체 304">
                          <a:extLst>
                            <a:ext uri="{FF2B5EF4-FFF2-40B4-BE49-F238E27FC236}">
                              <a16:creationId xmlns:a16="http://schemas.microsoft.com/office/drawing/2014/main" id="{4679FCE5-1A23-B61D-A574-DEA950FE863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6" name="개체 135">
            <a:extLst>
              <a:ext uri="{FF2B5EF4-FFF2-40B4-BE49-F238E27FC236}">
                <a16:creationId xmlns:a16="http://schemas.microsoft.com/office/drawing/2014/main" id="{8A3D1175-0CFE-DA60-423B-B7DB01FA67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9828060"/>
              </p:ext>
            </p:extLst>
          </p:nvPr>
        </p:nvGraphicFramePr>
        <p:xfrm>
          <a:off x="2306629" y="2394996"/>
          <a:ext cx="144462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145435" imgH="145435" progId="Visio.Drawing.11">
                  <p:embed/>
                </p:oleObj>
              </mc:Choice>
              <mc:Fallback>
                <p:oleObj name="Visio" r:id="rId6" imgW="145435" imgH="145435" progId="Visio.Drawing.11">
                  <p:embed/>
                  <p:pic>
                    <p:nvPicPr>
                      <p:cNvPr id="306" name="개체 305">
                        <a:extLst>
                          <a:ext uri="{FF2B5EF4-FFF2-40B4-BE49-F238E27FC236}">
                            <a16:creationId xmlns:a16="http://schemas.microsoft.com/office/drawing/2014/main" id="{EBF21320-67B6-F834-ABB9-467B7ED012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6629" y="2394996"/>
                        <a:ext cx="144462" cy="14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60FCD56B-8C9A-A7A0-7F96-D8C2C2AD33E9}"/>
              </a:ext>
            </a:extLst>
          </p:cNvPr>
          <p:cNvSpPr/>
          <p:nvPr/>
        </p:nvSpPr>
        <p:spPr>
          <a:xfrm>
            <a:off x="1904260" y="2627433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상장사본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6E8CDFB7-B93E-8DF8-1243-16BE3AAED268}"/>
              </a:ext>
            </a:extLst>
          </p:cNvPr>
          <p:cNvSpPr/>
          <p:nvPr/>
        </p:nvSpPr>
        <p:spPr>
          <a:xfrm>
            <a:off x="3557258" y="2627425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28D1AC86-E6CD-EF16-70F3-F2099B0CDB0D}"/>
              </a:ext>
            </a:extLst>
          </p:cNvPr>
          <p:cNvSpPr/>
          <p:nvPr/>
        </p:nvSpPr>
        <p:spPr>
          <a:xfrm>
            <a:off x="3865768" y="2627425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2CDB0BD6-C005-6ABB-6E9A-766B572E7A7F}"/>
              </a:ext>
            </a:extLst>
          </p:cNvPr>
          <p:cNvSpPr/>
          <p:nvPr/>
        </p:nvSpPr>
        <p:spPr>
          <a:xfrm>
            <a:off x="1904260" y="3098099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대회안내문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8D346240-6A6B-D1F5-280F-7EAB2D69A541}"/>
              </a:ext>
            </a:extLst>
          </p:cNvPr>
          <p:cNvSpPr/>
          <p:nvPr/>
        </p:nvSpPr>
        <p:spPr>
          <a:xfrm>
            <a:off x="3557258" y="3098091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9B5C5E0F-9472-40B5-8475-E56F3BA1979F}"/>
              </a:ext>
            </a:extLst>
          </p:cNvPr>
          <p:cNvSpPr/>
          <p:nvPr/>
        </p:nvSpPr>
        <p:spPr>
          <a:xfrm>
            <a:off x="3865768" y="3098091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27B8BFE3-7DE9-52ED-4F7B-36E329CC0AC8}"/>
              </a:ext>
            </a:extLst>
          </p:cNvPr>
          <p:cNvSpPr/>
          <p:nvPr/>
        </p:nvSpPr>
        <p:spPr>
          <a:xfrm>
            <a:off x="6397011" y="5478577"/>
            <a:ext cx="392727" cy="19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목록</a:t>
            </a: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83C321AD-10B5-B753-73CB-D4C415F8F7B8}"/>
              </a:ext>
            </a:extLst>
          </p:cNvPr>
          <p:cNvSpPr/>
          <p:nvPr/>
        </p:nvSpPr>
        <p:spPr>
          <a:xfrm>
            <a:off x="5936915" y="5478577"/>
            <a:ext cx="392727" cy="198000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신청</a:t>
            </a:r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A0B722A6-21E5-AA25-7A3C-D69E6B5CECB5}"/>
              </a:ext>
            </a:extLst>
          </p:cNvPr>
          <p:cNvSpPr/>
          <p:nvPr/>
        </p:nvSpPr>
        <p:spPr>
          <a:xfrm>
            <a:off x="2913769" y="3563187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주민등록초본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0E40F1A2-6CE3-3DDD-5412-4BFA2A87DDC6}"/>
              </a:ext>
            </a:extLst>
          </p:cNvPr>
          <p:cNvSpPr/>
          <p:nvPr/>
        </p:nvSpPr>
        <p:spPr>
          <a:xfrm>
            <a:off x="4566767" y="3563179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186E1A6D-FC44-A656-08E4-9200D64B7AB1}"/>
              </a:ext>
            </a:extLst>
          </p:cNvPr>
          <p:cNvSpPr/>
          <p:nvPr/>
        </p:nvSpPr>
        <p:spPr>
          <a:xfrm>
            <a:off x="4875174" y="3563171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</a:p>
        </p:txBody>
      </p:sp>
      <p:sp>
        <p:nvSpPr>
          <p:cNvPr id="148" name="Rectangle 191">
            <a:extLst>
              <a:ext uri="{FF2B5EF4-FFF2-40B4-BE49-F238E27FC236}">
                <a16:creationId xmlns:a16="http://schemas.microsoft.com/office/drawing/2014/main" id="{951B150B-7084-DC87-32D4-3F8D841B19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9498" y="3578463"/>
            <a:ext cx="17953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첨부</a:t>
            </a:r>
          </a:p>
        </p:txBody>
      </p:sp>
      <p:sp>
        <p:nvSpPr>
          <p:cNvPr id="149" name="Rectangle 191">
            <a:extLst>
              <a:ext uri="{FF2B5EF4-FFF2-40B4-BE49-F238E27FC236}">
                <a16:creationId xmlns:a16="http://schemas.microsoft.com/office/drawing/2014/main" id="{82B1916C-5C0A-1AD6-6522-E491357D8B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4260" y="3578889"/>
            <a:ext cx="359073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거주기간</a:t>
            </a:r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9A13C49A-0C6E-EA01-367A-33E1829B67C4}"/>
              </a:ext>
            </a:extLst>
          </p:cNvPr>
          <p:cNvSpPr/>
          <p:nvPr/>
        </p:nvSpPr>
        <p:spPr>
          <a:xfrm>
            <a:off x="2287592" y="3557531"/>
            <a:ext cx="36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년</a:t>
            </a:r>
          </a:p>
        </p:txBody>
      </p:sp>
      <p:sp>
        <p:nvSpPr>
          <p:cNvPr id="151" name="타원 150">
            <a:extLst>
              <a:ext uri="{FF2B5EF4-FFF2-40B4-BE49-F238E27FC236}">
                <a16:creationId xmlns:a16="http://schemas.microsoft.com/office/drawing/2014/main" id="{DB09DDC2-E3FD-9A8B-B33C-E4D2F488714E}"/>
              </a:ext>
            </a:extLst>
          </p:cNvPr>
          <p:cNvSpPr>
            <a:spLocks noChangeAspect="1"/>
          </p:cNvSpPr>
          <p:nvPr/>
        </p:nvSpPr>
        <p:spPr>
          <a:xfrm>
            <a:off x="200472" y="1550951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2" name="타원 151">
            <a:extLst>
              <a:ext uri="{FF2B5EF4-FFF2-40B4-BE49-F238E27FC236}">
                <a16:creationId xmlns:a16="http://schemas.microsoft.com/office/drawing/2014/main" id="{9FA8612B-68FD-15A6-7DEF-8C71460CD66A}"/>
              </a:ext>
            </a:extLst>
          </p:cNvPr>
          <p:cNvSpPr>
            <a:spLocks noChangeAspect="1"/>
          </p:cNvSpPr>
          <p:nvPr/>
        </p:nvSpPr>
        <p:spPr>
          <a:xfrm>
            <a:off x="5773339" y="5516856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53" name="그룹 152">
            <a:extLst>
              <a:ext uri="{FF2B5EF4-FFF2-40B4-BE49-F238E27FC236}">
                <a16:creationId xmlns:a16="http://schemas.microsoft.com/office/drawing/2014/main" id="{AFD0A03D-199F-CFC2-B97F-16411E2FB7F7}"/>
              </a:ext>
            </a:extLst>
          </p:cNvPr>
          <p:cNvGrpSpPr/>
          <p:nvPr/>
        </p:nvGrpSpPr>
        <p:grpSpPr>
          <a:xfrm>
            <a:off x="1902104" y="2860748"/>
            <a:ext cx="3434789" cy="147301"/>
            <a:chOff x="1824628" y="2860748"/>
            <a:chExt cx="3434789" cy="147301"/>
          </a:xfrm>
        </p:grpSpPr>
        <p:sp>
          <p:nvSpPr>
            <p:cNvPr id="154" name="직사각형 153">
              <a:extLst>
                <a:ext uri="{FF2B5EF4-FFF2-40B4-BE49-F238E27FC236}">
                  <a16:creationId xmlns:a16="http://schemas.microsoft.com/office/drawing/2014/main" id="{0E590E87-CBFB-2B31-EDE5-D1EA5AB874A4}"/>
                </a:ext>
              </a:extLst>
            </p:cNvPr>
            <p:cNvSpPr/>
            <p:nvPr/>
          </p:nvSpPr>
          <p:spPr>
            <a:xfrm>
              <a:off x="3561076" y="2862398"/>
              <a:ext cx="1106482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수상실적확인서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55" name="직사각형 154">
              <a:extLst>
                <a:ext uri="{FF2B5EF4-FFF2-40B4-BE49-F238E27FC236}">
                  <a16:creationId xmlns:a16="http://schemas.microsoft.com/office/drawing/2014/main" id="{9FC5D5D8-AFCD-9F37-073B-A44B190DAAB8}"/>
                </a:ext>
              </a:extLst>
            </p:cNvPr>
            <p:cNvSpPr/>
            <p:nvPr/>
          </p:nvSpPr>
          <p:spPr>
            <a:xfrm>
              <a:off x="4686733" y="2862390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제출</a:t>
              </a:r>
            </a:p>
          </p:txBody>
        </p:sp>
        <p:sp>
          <p:nvSpPr>
            <p:cNvPr id="156" name="직사각형 155">
              <a:extLst>
                <a:ext uri="{FF2B5EF4-FFF2-40B4-BE49-F238E27FC236}">
                  <a16:creationId xmlns:a16="http://schemas.microsoft.com/office/drawing/2014/main" id="{1C138675-E76B-DF2A-01DA-E6C039BD2585}"/>
                </a:ext>
              </a:extLst>
            </p:cNvPr>
            <p:cNvSpPr/>
            <p:nvPr/>
          </p:nvSpPr>
          <p:spPr>
            <a:xfrm>
              <a:off x="4995243" y="2862390"/>
              <a:ext cx="264174" cy="144016"/>
            </a:xfrm>
            <a:prstGeom prst="rect">
              <a:avLst/>
            </a:prstGeom>
            <a:solidFill>
              <a:srgbClr val="66FF66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57" name="Rectangle 191">
              <a:extLst>
                <a:ext uri="{FF2B5EF4-FFF2-40B4-BE49-F238E27FC236}">
                  <a16:creationId xmlns:a16="http://schemas.microsoft.com/office/drawing/2014/main" id="{F640C4E1-297B-FE23-2397-504E450E72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1249" y="2880537"/>
              <a:ext cx="179536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순위</a:t>
              </a:r>
            </a:p>
          </p:txBody>
        </p:sp>
        <p:sp>
          <p:nvSpPr>
            <p:cNvPr id="158" name="직사각형 157">
              <a:extLst>
                <a:ext uri="{FF2B5EF4-FFF2-40B4-BE49-F238E27FC236}">
                  <a16:creationId xmlns:a16="http://schemas.microsoft.com/office/drawing/2014/main" id="{9E3243B3-A0D2-B554-0AB3-A8F1DF439FCA}"/>
                </a:ext>
              </a:extLst>
            </p:cNvPr>
            <p:cNvSpPr/>
            <p:nvPr/>
          </p:nvSpPr>
          <p:spPr>
            <a:xfrm>
              <a:off x="2936732" y="2862398"/>
              <a:ext cx="36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동매달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59" name="Rectangle 191">
              <a:extLst>
                <a:ext uri="{FF2B5EF4-FFF2-40B4-BE49-F238E27FC236}">
                  <a16:creationId xmlns:a16="http://schemas.microsoft.com/office/drawing/2014/main" id="{9C33FA6A-AA40-04C9-2A08-28D389EF5E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5796" y="2880537"/>
              <a:ext cx="179536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첨부</a:t>
              </a:r>
            </a:p>
          </p:txBody>
        </p:sp>
        <p:sp>
          <p:nvSpPr>
            <p:cNvPr id="160" name="Rectangle 191">
              <a:extLst>
                <a:ext uri="{FF2B5EF4-FFF2-40B4-BE49-F238E27FC236}">
                  <a16:creationId xmlns:a16="http://schemas.microsoft.com/office/drawing/2014/main" id="{2C2289CF-1AC9-7DDE-821A-05479E47BD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628" y="2880537"/>
              <a:ext cx="359073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대회규모</a:t>
              </a:r>
            </a:p>
          </p:txBody>
        </p:sp>
        <p:pic>
          <p:nvPicPr>
            <p:cNvPr id="161" name="Picture 13">
              <a:extLst>
                <a:ext uri="{FF2B5EF4-FFF2-40B4-BE49-F238E27FC236}">
                  <a16:creationId xmlns:a16="http://schemas.microsoft.com/office/drawing/2014/main" id="{FD022534-4773-40CC-C3F6-0E9E8DA99E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63135" y="2860748"/>
              <a:ext cx="154667" cy="147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62" name="직사각형 161">
              <a:extLst>
                <a:ext uri="{FF2B5EF4-FFF2-40B4-BE49-F238E27FC236}">
                  <a16:creationId xmlns:a16="http://schemas.microsoft.com/office/drawing/2014/main" id="{B91F41C3-2B5A-ECF0-1B12-811EE038CB88}"/>
                </a:ext>
              </a:extLst>
            </p:cNvPr>
            <p:cNvSpPr/>
            <p:nvPr/>
          </p:nvSpPr>
          <p:spPr>
            <a:xfrm>
              <a:off x="2203245" y="2862398"/>
              <a:ext cx="35765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700" dirty="0">
                  <a:solidFill>
                    <a:prstClr val="black">
                      <a:lumMod val="95000"/>
                      <a:lumOff val="5000"/>
                    </a:prstClr>
                  </a:solidFill>
                </a:rPr>
                <a:t>국제</a:t>
              </a:r>
            </a:p>
          </p:txBody>
        </p:sp>
      </p:grpSp>
      <p:grpSp>
        <p:nvGrpSpPr>
          <p:cNvPr id="163" name="그룹 162">
            <a:extLst>
              <a:ext uri="{FF2B5EF4-FFF2-40B4-BE49-F238E27FC236}">
                <a16:creationId xmlns:a16="http://schemas.microsoft.com/office/drawing/2014/main" id="{FAC25415-3606-0B73-E555-896C34608CD8}"/>
              </a:ext>
            </a:extLst>
          </p:cNvPr>
          <p:cNvGrpSpPr/>
          <p:nvPr/>
        </p:nvGrpSpPr>
        <p:grpSpPr>
          <a:xfrm>
            <a:off x="1897456" y="3328366"/>
            <a:ext cx="2704513" cy="144016"/>
            <a:chOff x="1897884" y="2847629"/>
            <a:chExt cx="2704513" cy="144016"/>
          </a:xfrm>
        </p:grpSpPr>
        <p:sp>
          <p:nvSpPr>
            <p:cNvPr id="164" name="직사각형 163">
              <a:extLst>
                <a:ext uri="{FF2B5EF4-FFF2-40B4-BE49-F238E27FC236}">
                  <a16:creationId xmlns:a16="http://schemas.microsoft.com/office/drawing/2014/main" id="{9E81C5B6-0839-8AB4-DD3E-82B9ECAF62F3}"/>
                </a:ext>
              </a:extLst>
            </p:cNvPr>
            <p:cNvSpPr/>
            <p:nvPr/>
          </p:nvSpPr>
          <p:spPr>
            <a:xfrm>
              <a:off x="1897884" y="2847637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추천서</a:t>
              </a:r>
              <a:r>
                <a:rPr kumimoji="0" lang="en-US" altLang="ko-KR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65" name="직사각형 164">
              <a:extLst>
                <a:ext uri="{FF2B5EF4-FFF2-40B4-BE49-F238E27FC236}">
                  <a16:creationId xmlns:a16="http://schemas.microsoft.com/office/drawing/2014/main" id="{31567CBA-2D36-95D5-0D9D-F56ED0B596D8}"/>
                </a:ext>
              </a:extLst>
            </p:cNvPr>
            <p:cNvSpPr/>
            <p:nvPr/>
          </p:nvSpPr>
          <p:spPr>
            <a:xfrm>
              <a:off x="3550882" y="2847629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제출</a:t>
              </a:r>
            </a:p>
          </p:txBody>
        </p:sp>
        <p:sp>
          <p:nvSpPr>
            <p:cNvPr id="166" name="직사각형 165">
              <a:extLst>
                <a:ext uri="{FF2B5EF4-FFF2-40B4-BE49-F238E27FC236}">
                  <a16:creationId xmlns:a16="http://schemas.microsoft.com/office/drawing/2014/main" id="{4B112146-9C24-4F46-D775-1A1D7451DB52}"/>
                </a:ext>
              </a:extLst>
            </p:cNvPr>
            <p:cNvSpPr/>
            <p:nvPr/>
          </p:nvSpPr>
          <p:spPr>
            <a:xfrm>
              <a:off x="3859392" y="2847629"/>
              <a:ext cx="264174" cy="144016"/>
            </a:xfrm>
            <a:prstGeom prst="rect">
              <a:avLst/>
            </a:prstGeom>
            <a:solidFill>
              <a:srgbClr val="66FF66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67" name="직사각형 166">
              <a:extLst>
                <a:ext uri="{FF2B5EF4-FFF2-40B4-BE49-F238E27FC236}">
                  <a16:creationId xmlns:a16="http://schemas.microsoft.com/office/drawing/2014/main" id="{0D3B02E3-EA29-C659-E7A7-B99CC9702E54}"/>
                </a:ext>
              </a:extLst>
            </p:cNvPr>
            <p:cNvSpPr/>
            <p:nvPr/>
          </p:nvSpPr>
          <p:spPr>
            <a:xfrm>
              <a:off x="4176942" y="2847629"/>
              <a:ext cx="425455" cy="14401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양식받기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69" name="그룹 168">
            <a:extLst>
              <a:ext uri="{FF2B5EF4-FFF2-40B4-BE49-F238E27FC236}">
                <a16:creationId xmlns:a16="http://schemas.microsoft.com/office/drawing/2014/main" id="{465DDBEB-B05E-5BB5-A1F2-871F309BA1D2}"/>
              </a:ext>
            </a:extLst>
          </p:cNvPr>
          <p:cNvGrpSpPr/>
          <p:nvPr/>
        </p:nvGrpSpPr>
        <p:grpSpPr>
          <a:xfrm>
            <a:off x="1900611" y="4972399"/>
            <a:ext cx="2386963" cy="144016"/>
            <a:chOff x="1897884" y="4476806"/>
            <a:chExt cx="2386963" cy="144016"/>
          </a:xfrm>
        </p:grpSpPr>
        <p:sp>
          <p:nvSpPr>
            <p:cNvPr id="170" name="직사각형 169">
              <a:extLst>
                <a:ext uri="{FF2B5EF4-FFF2-40B4-BE49-F238E27FC236}">
                  <a16:creationId xmlns:a16="http://schemas.microsoft.com/office/drawing/2014/main" id="{5718FE72-2A69-53F1-D1A1-3330AB09B8C0}"/>
                </a:ext>
              </a:extLst>
            </p:cNvPr>
            <p:cNvSpPr/>
            <p:nvPr/>
          </p:nvSpPr>
          <p:spPr>
            <a:xfrm>
              <a:off x="1897884" y="4476814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1" name="직사각형 170">
              <a:extLst>
                <a:ext uri="{FF2B5EF4-FFF2-40B4-BE49-F238E27FC236}">
                  <a16:creationId xmlns:a16="http://schemas.microsoft.com/office/drawing/2014/main" id="{F4135EEE-53C4-C1CB-1F82-84D965E286C0}"/>
                </a:ext>
              </a:extLst>
            </p:cNvPr>
            <p:cNvSpPr/>
            <p:nvPr/>
          </p:nvSpPr>
          <p:spPr>
            <a:xfrm>
              <a:off x="3550882" y="4476806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추가</a:t>
              </a:r>
            </a:p>
          </p:txBody>
        </p:sp>
        <p:sp>
          <p:nvSpPr>
            <p:cNvPr id="172" name="직사각형 171">
              <a:extLst>
                <a:ext uri="{FF2B5EF4-FFF2-40B4-BE49-F238E27FC236}">
                  <a16:creationId xmlns:a16="http://schemas.microsoft.com/office/drawing/2014/main" id="{2D2B1824-4DB9-F53C-54FB-B19781B6FFD1}"/>
                </a:ext>
              </a:extLst>
            </p:cNvPr>
            <p:cNvSpPr/>
            <p:nvPr/>
          </p:nvSpPr>
          <p:spPr>
            <a:xfrm>
              <a:off x="3859392" y="4476806"/>
              <a:ext cx="425455" cy="14401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양식받기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34B7E3CB-5A5E-FF19-A8CB-8F0B36A3D2AE}"/>
              </a:ext>
            </a:extLst>
          </p:cNvPr>
          <p:cNvSpPr/>
          <p:nvPr/>
        </p:nvSpPr>
        <p:spPr>
          <a:xfrm>
            <a:off x="668524" y="4936395"/>
            <a:ext cx="6121214" cy="21600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5" name="직사각형 174">
            <a:extLst>
              <a:ext uri="{FF2B5EF4-FFF2-40B4-BE49-F238E27FC236}">
                <a16:creationId xmlns:a16="http://schemas.microsoft.com/office/drawing/2014/main" id="{03525E50-AB8B-E3C5-0006-CE18D503C51F}"/>
              </a:ext>
            </a:extLst>
          </p:cNvPr>
          <p:cNvSpPr/>
          <p:nvPr/>
        </p:nvSpPr>
        <p:spPr>
          <a:xfrm>
            <a:off x="668524" y="3297135"/>
            <a:ext cx="6121214" cy="21600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A5FE3744-9643-4938-2CA1-6AA2EB21C921}"/>
              </a:ext>
            </a:extLst>
          </p:cNvPr>
          <p:cNvSpPr/>
          <p:nvPr/>
        </p:nvSpPr>
        <p:spPr>
          <a:xfrm>
            <a:off x="668524" y="2826674"/>
            <a:ext cx="6121214" cy="21600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2156568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06903-7FD6-95D2-AE18-2301EE2FC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412C9DD-0344-2E14-2B66-AB0C69129386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특기생장학금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신청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E9FD57F-DD7E-7D1F-993B-F7E7B8D3D78C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프로그램신청관리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특기생장학금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장학금신청</a:t>
            </a: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2F7FA4CA-5D58-45C7-2F3B-A87BAFA28B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4871667"/>
              </p:ext>
            </p:extLst>
          </p:nvPr>
        </p:nvGraphicFramePr>
        <p:xfrm>
          <a:off x="6969418" y="2548005"/>
          <a:ext cx="2772114" cy="2935779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프로그램신청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특기생장학금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조회 화면 목록에서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신청하기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클릭 시 보이는 화면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전형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입상실적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단체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전형별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상장사본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수상실적확인서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대회안내문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수상실적확인서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대회규모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국제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국내 중 선택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순위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수상실적확인서 기반 순위 입력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첨부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제출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]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클릭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&gt;&gt;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제출 서류 파일 선택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&gt;&gt;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첨부완료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받기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] 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클릭 시 첨부된 제출 서류 파일 다운로드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추천서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첨부 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: [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제출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제출 서류 파일 선택 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첨부완료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받기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 첨부된 제출 서류 파일 다운로드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양식받기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 추천서 양식 파일을 다운 받는다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양식 업로드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] : 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양식 업로드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양식 파일 선택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양식 파일 업로드 완료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첨부파일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추가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] : 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추가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파일 선택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첨부 설정완료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파일받기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파일명 클릭 시 첨부된 파일 다운로드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[x]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 첨부된 해당 파일 삭제 처리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양식받기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시 추천서 양식 파일을 다운 받는다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81ACB284-501F-6CD8-92E0-4479AD92BBDE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pat_application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B1FE20C-3AAD-2EE6-3CFC-66EC33556225}"/>
              </a:ext>
            </a:extLst>
          </p:cNvPr>
          <p:cNvSpPr/>
          <p:nvPr/>
        </p:nvSpPr>
        <p:spPr>
          <a:xfrm>
            <a:off x="165100" y="1376363"/>
            <a:ext cx="6732116" cy="460414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F7368DD-F905-9F4B-3E0A-EE94E14A923B}"/>
              </a:ext>
            </a:extLst>
          </p:cNvPr>
          <p:cNvSpPr/>
          <p:nvPr/>
        </p:nvSpPr>
        <p:spPr>
          <a:xfrm>
            <a:off x="292846" y="1448780"/>
            <a:ext cx="1099660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800" b="1" dirty="0" err="1">
                <a:solidFill>
                  <a:prstClr val="black"/>
                </a:solidFill>
              </a:rPr>
              <a:t>특기생</a:t>
            </a:r>
            <a:r>
              <a:rPr lang="ko-KR" altLang="en-US" sz="800" b="1" dirty="0">
                <a:solidFill>
                  <a:prstClr val="black"/>
                </a:solidFill>
              </a:rPr>
              <a:t> 장학금 신청정보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D81236A-C8B1-85F0-AE79-5ADE49A9788E}"/>
              </a:ext>
            </a:extLst>
          </p:cNvPr>
          <p:cNvSpPr/>
          <p:nvPr/>
        </p:nvSpPr>
        <p:spPr>
          <a:xfrm>
            <a:off x="165100" y="6023481"/>
            <a:ext cx="6732116" cy="46622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6E435004-13E6-60C2-58E3-87D1FE7F1B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6165304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398AA17-8B36-34E2-995D-FC0C4A320574}"/>
              </a:ext>
            </a:extLst>
          </p:cNvPr>
          <p:cNvSpPr txBox="1"/>
          <p:nvPr/>
        </p:nvSpPr>
        <p:spPr>
          <a:xfrm>
            <a:off x="1172580" y="6077394"/>
            <a:ext cx="31242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경기 오산시 성호대로 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141 (</a:t>
            </a:r>
            <a:r>
              <a:rPr lang="ko-KR" altLang="en-US" sz="600" b="0" i="0" dirty="0" err="1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오산동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오산시청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오산교육재단</a:t>
            </a:r>
            <a:endParaRPr lang="en-US" altLang="ko-KR" sz="600" b="0" i="0" dirty="0">
              <a:solidFill>
                <a:srgbClr val="666666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>
              <a:buNone/>
            </a:pP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TEL. (031)8036-8905 FAX. (031)8036-8905</a:t>
            </a:r>
          </a:p>
          <a:p>
            <a:pPr algn="l">
              <a:buNone/>
            </a:pP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Copyright©2025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오산교육재단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 ALL RIGHTSRESERVED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41AFC3CF-502D-A8F3-96AD-6EE44D85AB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6714387"/>
              </p:ext>
            </p:extLst>
          </p:nvPr>
        </p:nvGraphicFramePr>
        <p:xfrm>
          <a:off x="272480" y="1628800"/>
          <a:ext cx="6517258" cy="375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054">
                  <a:extLst>
                    <a:ext uri="{9D8B030D-6E8A-4147-A177-3AD203B41FA5}">
                      <a16:colId xmlns:a16="http://schemas.microsoft.com/office/drawing/2014/main" val="3668863434"/>
                    </a:ext>
                  </a:extLst>
                </a:gridCol>
                <a:gridCol w="4921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구분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특기생</a:t>
                      </a:r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장학금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894265"/>
                  </a:ext>
                </a:extLst>
              </a:tr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</a:t>
                      </a:r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하반기 </a:t>
                      </a:r>
                      <a:r>
                        <a:rPr lang="ko-KR" altLang="en-US" sz="7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특기생</a:t>
                      </a:r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장학금 신청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접수기간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2025.09.20 10:00 </a:t>
                      </a:r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~ 2025.09.30 10:00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전형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4735">
                <a:tc rowSpan="3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전형별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상장사본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2230354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수상실적확인서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446280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대회안내문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1427946"/>
                  </a:ext>
                </a:extLst>
              </a:tr>
              <a:tr h="234735">
                <a:tc rowSpan="9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공통 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추천서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주민등록초본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1958612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주민등록등본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164179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국민기초생활보장수급자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차상위계층확인서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한부모가족보호대상확인서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장애인증명서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첨부파일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8089092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8418894"/>
                  </a:ext>
                </a:extLst>
              </a:tr>
            </a:tbl>
          </a:graphicData>
        </a:graphic>
      </p:graphicFrame>
      <p:sp>
        <p:nvSpPr>
          <p:cNvPr id="77" name="직사각형 76">
            <a:extLst>
              <a:ext uri="{FF2B5EF4-FFF2-40B4-BE49-F238E27FC236}">
                <a16:creationId xmlns:a16="http://schemas.microsoft.com/office/drawing/2014/main" id="{00E7503C-E15A-2002-9D05-7A0FAFA97FD4}"/>
              </a:ext>
            </a:extLst>
          </p:cNvPr>
          <p:cNvSpPr/>
          <p:nvPr/>
        </p:nvSpPr>
        <p:spPr>
          <a:xfrm>
            <a:off x="1904260" y="3551751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주민등록초본</a:t>
            </a:r>
            <a:r>
              <a:rPr kumimoji="0" lang="en-US" altLang="ko-KR" sz="7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7B392E4C-5B9D-FD1F-AACD-B231D5665A6B}"/>
              </a:ext>
            </a:extLst>
          </p:cNvPr>
          <p:cNvSpPr/>
          <p:nvPr/>
        </p:nvSpPr>
        <p:spPr>
          <a:xfrm>
            <a:off x="3557258" y="3551743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2634CB1A-1F69-58E0-E05C-7076C15C10FC}"/>
              </a:ext>
            </a:extLst>
          </p:cNvPr>
          <p:cNvSpPr/>
          <p:nvPr/>
        </p:nvSpPr>
        <p:spPr>
          <a:xfrm>
            <a:off x="1904260" y="3783945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주민등록등본</a:t>
            </a:r>
            <a:r>
              <a:rPr kumimoji="0" lang="en-US" altLang="ko-KR" sz="7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7492EE20-CB78-B92C-EEE0-F08415785902}"/>
              </a:ext>
            </a:extLst>
          </p:cNvPr>
          <p:cNvSpPr/>
          <p:nvPr/>
        </p:nvSpPr>
        <p:spPr>
          <a:xfrm>
            <a:off x="3557258" y="3783937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13C2E217-2628-8F3F-59E1-2B0BD8C5C7BD}"/>
              </a:ext>
            </a:extLst>
          </p:cNvPr>
          <p:cNvSpPr/>
          <p:nvPr/>
        </p:nvSpPr>
        <p:spPr>
          <a:xfrm>
            <a:off x="1904260" y="4028266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dirty="0" err="1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국민기초생활보장수급자</a:t>
            </a:r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1D3C7E59-7156-391B-D45D-2D625D9685B0}"/>
              </a:ext>
            </a:extLst>
          </p:cNvPr>
          <p:cNvSpPr/>
          <p:nvPr/>
        </p:nvSpPr>
        <p:spPr>
          <a:xfrm>
            <a:off x="3557258" y="4028258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2D2D4002-001E-4E81-0AF7-80667053E7BF}"/>
              </a:ext>
            </a:extLst>
          </p:cNvPr>
          <p:cNvSpPr/>
          <p:nvPr/>
        </p:nvSpPr>
        <p:spPr>
          <a:xfrm>
            <a:off x="1904260" y="4257832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차상위계층확인서</a:t>
            </a:r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A9FE890F-9763-2C85-4D32-87901C3A2774}"/>
              </a:ext>
            </a:extLst>
          </p:cNvPr>
          <p:cNvSpPr/>
          <p:nvPr/>
        </p:nvSpPr>
        <p:spPr>
          <a:xfrm>
            <a:off x="3557258" y="4257824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6E89170A-DAA9-C9F1-08C6-9AAB5329BC9E}"/>
              </a:ext>
            </a:extLst>
          </p:cNvPr>
          <p:cNvSpPr/>
          <p:nvPr/>
        </p:nvSpPr>
        <p:spPr>
          <a:xfrm>
            <a:off x="1904260" y="4502986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B83F73B6-CC4D-B3C4-5136-78D287F2CC29}"/>
              </a:ext>
            </a:extLst>
          </p:cNvPr>
          <p:cNvSpPr/>
          <p:nvPr/>
        </p:nvSpPr>
        <p:spPr>
          <a:xfrm>
            <a:off x="3557258" y="4502978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80743BA3-E5B1-6825-44EB-853E7290BE14}"/>
              </a:ext>
            </a:extLst>
          </p:cNvPr>
          <p:cNvSpPr/>
          <p:nvPr/>
        </p:nvSpPr>
        <p:spPr>
          <a:xfrm>
            <a:off x="1904260" y="4733217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1654A5D5-C7B5-9D89-BD51-677766E8D38D}"/>
              </a:ext>
            </a:extLst>
          </p:cNvPr>
          <p:cNvSpPr/>
          <p:nvPr/>
        </p:nvSpPr>
        <p:spPr>
          <a:xfrm>
            <a:off x="3557258" y="4733209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449C4DA4-C53E-9E75-A347-461FE4E5B1B7}"/>
              </a:ext>
            </a:extLst>
          </p:cNvPr>
          <p:cNvGrpSpPr/>
          <p:nvPr/>
        </p:nvGrpSpPr>
        <p:grpSpPr>
          <a:xfrm>
            <a:off x="1939541" y="5217163"/>
            <a:ext cx="1105196" cy="128396"/>
            <a:chOff x="3438680" y="4305150"/>
            <a:chExt cx="1105196" cy="128396"/>
          </a:xfrm>
        </p:grpSpPr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8F35D461-4DD3-A765-2730-4BBE5FBEB5E6}"/>
                </a:ext>
              </a:extLst>
            </p:cNvPr>
            <p:cNvSpPr txBox="1"/>
            <p:nvPr/>
          </p:nvSpPr>
          <p:spPr>
            <a:xfrm>
              <a:off x="3438680" y="4305150"/>
              <a:ext cx="971420" cy="10772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신청 관련 부가 서류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93" name="Picture 10">
              <a:extLst>
                <a:ext uri="{FF2B5EF4-FFF2-40B4-BE49-F238E27FC236}">
                  <a16:creationId xmlns:a16="http://schemas.microsoft.com/office/drawing/2014/main" id="{13A24675-F558-F4B7-B464-3F871BD6C5E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7418" y="4312303"/>
              <a:ext cx="106458" cy="121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94" name="그룹 93">
            <a:extLst>
              <a:ext uri="{FF2B5EF4-FFF2-40B4-BE49-F238E27FC236}">
                <a16:creationId xmlns:a16="http://schemas.microsoft.com/office/drawing/2014/main" id="{BE7B4D67-E0A7-A570-CE3A-BF08D8A65A65}"/>
              </a:ext>
            </a:extLst>
          </p:cNvPr>
          <p:cNvGrpSpPr/>
          <p:nvPr/>
        </p:nvGrpSpPr>
        <p:grpSpPr>
          <a:xfrm>
            <a:off x="3125954" y="5217163"/>
            <a:ext cx="1105196" cy="128396"/>
            <a:chOff x="3438680" y="4305150"/>
            <a:chExt cx="1105196" cy="128396"/>
          </a:xfrm>
        </p:grpSpPr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B0C0401B-F8DB-5077-CD47-9B52DBBA458E}"/>
                </a:ext>
              </a:extLst>
            </p:cNvPr>
            <p:cNvSpPr txBox="1"/>
            <p:nvPr/>
          </p:nvSpPr>
          <p:spPr>
            <a:xfrm>
              <a:off x="3438680" y="4305150"/>
              <a:ext cx="971420" cy="10772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신청 관련 부가 서류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96" name="Picture 10">
              <a:extLst>
                <a:ext uri="{FF2B5EF4-FFF2-40B4-BE49-F238E27FC236}">
                  <a16:creationId xmlns:a16="http://schemas.microsoft.com/office/drawing/2014/main" id="{AD49737C-3C8B-9955-5D7C-4FC516D31D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7418" y="4312303"/>
              <a:ext cx="106458" cy="121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DB3ADF53-F13A-9455-5036-6A05F593252A}"/>
              </a:ext>
            </a:extLst>
          </p:cNvPr>
          <p:cNvSpPr/>
          <p:nvPr/>
        </p:nvSpPr>
        <p:spPr>
          <a:xfrm>
            <a:off x="3865768" y="3551743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CE61FDB2-1C7F-1A2F-B91B-B032C55F2197}"/>
              </a:ext>
            </a:extLst>
          </p:cNvPr>
          <p:cNvSpPr/>
          <p:nvPr/>
        </p:nvSpPr>
        <p:spPr>
          <a:xfrm>
            <a:off x="3865768" y="3782777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227FA22A-E85B-E1F5-B10E-ACF3D92507FF}"/>
              </a:ext>
            </a:extLst>
          </p:cNvPr>
          <p:cNvSpPr/>
          <p:nvPr/>
        </p:nvSpPr>
        <p:spPr>
          <a:xfrm>
            <a:off x="3865768" y="4028299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02B279D8-ED9A-1337-8AB2-6784771C9DF2}"/>
              </a:ext>
            </a:extLst>
          </p:cNvPr>
          <p:cNvSpPr/>
          <p:nvPr/>
        </p:nvSpPr>
        <p:spPr>
          <a:xfrm>
            <a:off x="3865768" y="4257206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A7AE2DAC-6108-8882-C6DC-BF7C924DCC87}"/>
              </a:ext>
            </a:extLst>
          </p:cNvPr>
          <p:cNvSpPr/>
          <p:nvPr/>
        </p:nvSpPr>
        <p:spPr>
          <a:xfrm>
            <a:off x="3865768" y="4497083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46E64231-FB3D-3AAC-7D0D-65AEAEFBF66A}"/>
              </a:ext>
            </a:extLst>
          </p:cNvPr>
          <p:cNvSpPr/>
          <p:nvPr/>
        </p:nvSpPr>
        <p:spPr>
          <a:xfrm>
            <a:off x="3865768" y="4735077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77C4CEF5-EF5B-3DA8-BD6D-71BCEFD1ECFC}"/>
              </a:ext>
            </a:extLst>
          </p:cNvPr>
          <p:cNvGrpSpPr/>
          <p:nvPr/>
        </p:nvGrpSpPr>
        <p:grpSpPr>
          <a:xfrm>
            <a:off x="3429010" y="2378109"/>
            <a:ext cx="505750" cy="144462"/>
            <a:chOff x="2716253" y="2405617"/>
            <a:chExt cx="505750" cy="144462"/>
          </a:xfrm>
        </p:grpSpPr>
        <p:sp>
          <p:nvSpPr>
            <p:cNvPr id="106" name="Rectangle 191">
              <a:extLst>
                <a:ext uri="{FF2B5EF4-FFF2-40B4-BE49-F238E27FC236}">
                  <a16:creationId xmlns:a16="http://schemas.microsoft.com/office/drawing/2014/main" id="{78CA152C-4F04-63BE-9184-AFFF3E0F75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359073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학업성적</a:t>
              </a:r>
            </a:p>
          </p:txBody>
        </p:sp>
        <p:graphicFrame>
          <p:nvGraphicFramePr>
            <p:cNvPr id="107" name="개체 106">
              <a:extLst>
                <a:ext uri="{FF2B5EF4-FFF2-40B4-BE49-F238E27FC236}">
                  <a16:creationId xmlns:a16="http://schemas.microsoft.com/office/drawing/2014/main" id="{D24E8139-6448-B533-10BA-FC0C59797B7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145435" imgH="145435" progId="Visio.Drawing.11">
                    <p:embed/>
                  </p:oleObj>
                </mc:Choice>
                <mc:Fallback>
                  <p:oleObj name="Visio" r:id="rId4" imgW="145435" imgH="145435" progId="Visio.Drawing.11">
                    <p:embed/>
                    <p:pic>
                      <p:nvPicPr>
                        <p:cNvPr id="44" name="개체 43">
                          <a:extLst>
                            <a:ext uri="{FF2B5EF4-FFF2-40B4-BE49-F238E27FC236}">
                              <a16:creationId xmlns:a16="http://schemas.microsoft.com/office/drawing/2014/main" id="{D24E8139-6448-B533-10BA-FC0C59797B7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2DDDAC66-FFEF-3F00-F203-089EA7577102}"/>
              </a:ext>
            </a:extLst>
          </p:cNvPr>
          <p:cNvGrpSpPr/>
          <p:nvPr/>
        </p:nvGrpSpPr>
        <p:grpSpPr>
          <a:xfrm>
            <a:off x="4006768" y="2378109"/>
            <a:ext cx="326213" cy="144462"/>
            <a:chOff x="2716253" y="2405617"/>
            <a:chExt cx="326213" cy="144462"/>
          </a:xfrm>
        </p:grpSpPr>
        <p:sp>
          <p:nvSpPr>
            <p:cNvPr id="109" name="Rectangle 191">
              <a:extLst>
                <a:ext uri="{FF2B5EF4-FFF2-40B4-BE49-F238E27FC236}">
                  <a16:creationId xmlns:a16="http://schemas.microsoft.com/office/drawing/2014/main" id="{CAF1358C-317B-A87F-8DBD-FE8C8C2527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179536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기타</a:t>
              </a:r>
            </a:p>
          </p:txBody>
        </p:sp>
        <p:graphicFrame>
          <p:nvGraphicFramePr>
            <p:cNvPr id="110" name="개체 109">
              <a:extLst>
                <a:ext uri="{FF2B5EF4-FFF2-40B4-BE49-F238E27FC236}">
                  <a16:creationId xmlns:a16="http://schemas.microsoft.com/office/drawing/2014/main" id="{913E270B-3FA4-AAC2-7580-34CE3BFA328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145435" imgH="145435" progId="Visio.Drawing.11">
                    <p:embed/>
                  </p:oleObj>
                </mc:Choice>
                <mc:Fallback>
                  <p:oleObj name="Visio" r:id="rId4" imgW="145435" imgH="145435" progId="Visio.Drawing.11">
                    <p:embed/>
                    <p:pic>
                      <p:nvPicPr>
                        <p:cNvPr id="48" name="개체 47">
                          <a:extLst>
                            <a:ext uri="{FF2B5EF4-FFF2-40B4-BE49-F238E27FC236}">
                              <a16:creationId xmlns:a16="http://schemas.microsoft.com/office/drawing/2014/main" id="{913E270B-3FA4-AAC2-7580-34CE3BFA328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1" name="Rectangle 191">
            <a:extLst>
              <a:ext uri="{FF2B5EF4-FFF2-40B4-BE49-F238E27FC236}">
                <a16:creationId xmlns:a16="http://schemas.microsoft.com/office/drawing/2014/main" id="{C2D70424-1618-A51E-F99D-97E09E8ED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2177" y="2396479"/>
            <a:ext cx="1439497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입상실적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                                )</a:t>
            </a:r>
            <a:endParaRPr kumimoji="0" lang="ko-KR" altLang="en-US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12" name="그룹 111">
            <a:extLst>
              <a:ext uri="{FF2B5EF4-FFF2-40B4-BE49-F238E27FC236}">
                <a16:creationId xmlns:a16="http://schemas.microsoft.com/office/drawing/2014/main" id="{7E548D07-0652-5C8A-A18E-58BB746301C7}"/>
              </a:ext>
            </a:extLst>
          </p:cNvPr>
          <p:cNvGrpSpPr/>
          <p:nvPr/>
        </p:nvGrpSpPr>
        <p:grpSpPr>
          <a:xfrm>
            <a:off x="2645151" y="2378109"/>
            <a:ext cx="318262" cy="144462"/>
            <a:chOff x="2716253" y="2405617"/>
            <a:chExt cx="318262" cy="144462"/>
          </a:xfrm>
        </p:grpSpPr>
        <p:sp>
          <p:nvSpPr>
            <p:cNvPr id="113" name="Rectangle 191">
              <a:extLst>
                <a:ext uri="{FF2B5EF4-FFF2-40B4-BE49-F238E27FC236}">
                  <a16:creationId xmlns:a16="http://schemas.microsoft.com/office/drawing/2014/main" id="{2BD2CDD2-35FA-A1DD-D415-F5F07D2AEE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4979" y="2416036"/>
              <a:ext cx="179536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단체</a:t>
              </a:r>
            </a:p>
          </p:txBody>
        </p:sp>
        <p:graphicFrame>
          <p:nvGraphicFramePr>
            <p:cNvPr id="114" name="개체 113">
              <a:extLst>
                <a:ext uri="{FF2B5EF4-FFF2-40B4-BE49-F238E27FC236}">
                  <a16:creationId xmlns:a16="http://schemas.microsoft.com/office/drawing/2014/main" id="{AD0F6E85-5B6A-25D1-2C9B-BFF893876E6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145435" imgH="145435" progId="Visio.Drawing.11">
                    <p:embed/>
                  </p:oleObj>
                </mc:Choice>
                <mc:Fallback>
                  <p:oleObj name="Visio" r:id="rId4" imgW="145435" imgH="145435" progId="Visio.Drawing.11">
                    <p:embed/>
                    <p:pic>
                      <p:nvPicPr>
                        <p:cNvPr id="52" name="개체 51">
                          <a:extLst>
                            <a:ext uri="{FF2B5EF4-FFF2-40B4-BE49-F238E27FC236}">
                              <a16:creationId xmlns:a16="http://schemas.microsoft.com/office/drawing/2014/main" id="{AD0F6E85-5B6A-25D1-2C9B-BFF893876E6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8A75B486-43FB-C338-4CA2-918D007CB299}"/>
              </a:ext>
            </a:extLst>
          </p:cNvPr>
          <p:cNvGrpSpPr/>
          <p:nvPr/>
        </p:nvGrpSpPr>
        <p:grpSpPr>
          <a:xfrm>
            <a:off x="2306629" y="2378109"/>
            <a:ext cx="318262" cy="144462"/>
            <a:chOff x="2716253" y="2405617"/>
            <a:chExt cx="318262" cy="144462"/>
          </a:xfrm>
        </p:grpSpPr>
        <p:sp>
          <p:nvSpPr>
            <p:cNvPr id="116" name="Rectangle 191">
              <a:extLst>
                <a:ext uri="{FF2B5EF4-FFF2-40B4-BE49-F238E27FC236}">
                  <a16:creationId xmlns:a16="http://schemas.microsoft.com/office/drawing/2014/main" id="{36D9A1E9-616B-7B19-BB9D-6C5ACA176E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4979" y="2416036"/>
              <a:ext cx="179536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개인</a:t>
              </a:r>
            </a:p>
          </p:txBody>
        </p:sp>
        <p:graphicFrame>
          <p:nvGraphicFramePr>
            <p:cNvPr id="117" name="개체 116">
              <a:extLst>
                <a:ext uri="{FF2B5EF4-FFF2-40B4-BE49-F238E27FC236}">
                  <a16:creationId xmlns:a16="http://schemas.microsoft.com/office/drawing/2014/main" id="{CB7BA1AE-2F85-5A2F-C961-BFF6FF92F02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145435" imgH="145435" progId="Visio.Drawing.11">
                    <p:embed/>
                  </p:oleObj>
                </mc:Choice>
                <mc:Fallback>
                  <p:oleObj name="Visio" r:id="rId4" imgW="145435" imgH="145435" progId="Visio.Drawing.11">
                    <p:embed/>
                    <p:pic>
                      <p:nvPicPr>
                        <p:cNvPr id="55" name="개체 54">
                          <a:extLst>
                            <a:ext uri="{FF2B5EF4-FFF2-40B4-BE49-F238E27FC236}">
                              <a16:creationId xmlns:a16="http://schemas.microsoft.com/office/drawing/2014/main" id="{CB7BA1AE-2F85-5A2F-C961-BFF6FF92F02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6805A3E1-0FA1-A03C-DF06-257382EAE0DD}"/>
              </a:ext>
            </a:extLst>
          </p:cNvPr>
          <p:cNvGrpSpPr/>
          <p:nvPr/>
        </p:nvGrpSpPr>
        <p:grpSpPr>
          <a:xfrm>
            <a:off x="2980970" y="2378109"/>
            <a:ext cx="318262" cy="144462"/>
            <a:chOff x="2716253" y="2405617"/>
            <a:chExt cx="318262" cy="144462"/>
          </a:xfrm>
        </p:grpSpPr>
        <p:sp>
          <p:nvSpPr>
            <p:cNvPr id="119" name="Rectangle 191">
              <a:extLst>
                <a:ext uri="{FF2B5EF4-FFF2-40B4-BE49-F238E27FC236}">
                  <a16:creationId xmlns:a16="http://schemas.microsoft.com/office/drawing/2014/main" id="{52881932-B335-90ED-AFDB-C6E1A05955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4979" y="2416036"/>
              <a:ext cx="179536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기능</a:t>
              </a:r>
            </a:p>
          </p:txBody>
        </p:sp>
        <p:graphicFrame>
          <p:nvGraphicFramePr>
            <p:cNvPr id="120" name="개체 119">
              <a:extLst>
                <a:ext uri="{FF2B5EF4-FFF2-40B4-BE49-F238E27FC236}">
                  <a16:creationId xmlns:a16="http://schemas.microsoft.com/office/drawing/2014/main" id="{F0FB56AA-19F8-F014-C437-11C04428164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145435" imgH="145435" progId="Visio.Drawing.11">
                    <p:embed/>
                  </p:oleObj>
                </mc:Choice>
                <mc:Fallback>
                  <p:oleObj name="Visio" r:id="rId4" imgW="145435" imgH="145435" progId="Visio.Drawing.11">
                    <p:embed/>
                    <p:pic>
                      <p:nvPicPr>
                        <p:cNvPr id="58" name="개체 57">
                          <a:extLst>
                            <a:ext uri="{FF2B5EF4-FFF2-40B4-BE49-F238E27FC236}">
                              <a16:creationId xmlns:a16="http://schemas.microsoft.com/office/drawing/2014/main" id="{F0FB56AA-19F8-F014-C437-11C04428164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1" name="개체 120">
            <a:extLst>
              <a:ext uri="{FF2B5EF4-FFF2-40B4-BE49-F238E27FC236}">
                <a16:creationId xmlns:a16="http://schemas.microsoft.com/office/drawing/2014/main" id="{6BF90E54-1992-BB94-E2EB-1D0CE1B3E0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8080120"/>
              </p:ext>
            </p:extLst>
          </p:nvPr>
        </p:nvGraphicFramePr>
        <p:xfrm>
          <a:off x="2647976" y="2378109"/>
          <a:ext cx="144462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145435" imgH="145435" progId="Visio.Drawing.11">
                  <p:embed/>
                </p:oleObj>
              </mc:Choice>
              <mc:Fallback>
                <p:oleObj name="Visio" r:id="rId6" imgW="145435" imgH="145435" progId="Visio.Drawing.11">
                  <p:embed/>
                  <p:pic>
                    <p:nvPicPr>
                      <p:cNvPr id="59" name="개체 58">
                        <a:extLst>
                          <a:ext uri="{FF2B5EF4-FFF2-40B4-BE49-F238E27FC236}">
                            <a16:creationId xmlns:a16="http://schemas.microsoft.com/office/drawing/2014/main" id="{6BF90E54-1992-BB94-E2EB-1D0CE1B3E0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7976" y="2378109"/>
                        <a:ext cx="144462" cy="14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FD2D20AF-146D-BE4F-9942-E911E3E2A9EF}"/>
              </a:ext>
            </a:extLst>
          </p:cNvPr>
          <p:cNvSpPr/>
          <p:nvPr/>
        </p:nvSpPr>
        <p:spPr>
          <a:xfrm>
            <a:off x="1904260" y="2610546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상장사본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DA98AE2A-5FE5-8936-9877-0AD21B8D20DA}"/>
              </a:ext>
            </a:extLst>
          </p:cNvPr>
          <p:cNvSpPr/>
          <p:nvPr/>
        </p:nvSpPr>
        <p:spPr>
          <a:xfrm>
            <a:off x="3557258" y="2610538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6FD5F068-71E3-2FA0-44DA-25ECB16D8B05}"/>
              </a:ext>
            </a:extLst>
          </p:cNvPr>
          <p:cNvSpPr/>
          <p:nvPr/>
        </p:nvSpPr>
        <p:spPr>
          <a:xfrm>
            <a:off x="3865768" y="2610538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E97579FC-236C-A65B-CD39-24C02621C840}"/>
              </a:ext>
            </a:extLst>
          </p:cNvPr>
          <p:cNvSpPr/>
          <p:nvPr/>
        </p:nvSpPr>
        <p:spPr>
          <a:xfrm>
            <a:off x="1904260" y="3081212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대회안내문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E306AAFD-3E3F-1EED-BB33-20713CDC9529}"/>
              </a:ext>
            </a:extLst>
          </p:cNvPr>
          <p:cNvSpPr/>
          <p:nvPr/>
        </p:nvSpPr>
        <p:spPr>
          <a:xfrm>
            <a:off x="3557258" y="3081204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22663891-74A0-6611-55C2-FA3340EFB4F6}"/>
              </a:ext>
            </a:extLst>
          </p:cNvPr>
          <p:cNvSpPr/>
          <p:nvPr/>
        </p:nvSpPr>
        <p:spPr>
          <a:xfrm>
            <a:off x="3865768" y="3081204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A2F69B91-E82E-4862-9685-E5C04563CEB2}"/>
              </a:ext>
            </a:extLst>
          </p:cNvPr>
          <p:cNvSpPr/>
          <p:nvPr/>
        </p:nvSpPr>
        <p:spPr>
          <a:xfrm>
            <a:off x="6397011" y="5487215"/>
            <a:ext cx="392727" cy="19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목록</a:t>
            </a: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387B842C-9111-F03E-332A-DDEA7E6F94F7}"/>
              </a:ext>
            </a:extLst>
          </p:cNvPr>
          <p:cNvSpPr/>
          <p:nvPr/>
        </p:nvSpPr>
        <p:spPr>
          <a:xfrm>
            <a:off x="5936915" y="5487215"/>
            <a:ext cx="392727" cy="198000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신청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1FF2729D-CE50-5CAD-53E7-5E1590AECBB3}"/>
              </a:ext>
            </a:extLst>
          </p:cNvPr>
          <p:cNvSpPr>
            <a:spLocks noChangeAspect="1"/>
          </p:cNvSpPr>
          <p:nvPr/>
        </p:nvSpPr>
        <p:spPr>
          <a:xfrm>
            <a:off x="2808678" y="2204864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0BF744DF-C4ED-123C-7747-D2AAA8CF82B4}"/>
              </a:ext>
            </a:extLst>
          </p:cNvPr>
          <p:cNvSpPr>
            <a:spLocks noChangeAspect="1"/>
          </p:cNvSpPr>
          <p:nvPr/>
        </p:nvSpPr>
        <p:spPr>
          <a:xfrm>
            <a:off x="512127" y="2608859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E2A9715D-4A55-D955-8809-82D5A4B41B4E}"/>
              </a:ext>
            </a:extLst>
          </p:cNvPr>
          <p:cNvSpPr>
            <a:spLocks noChangeAspect="1"/>
          </p:cNvSpPr>
          <p:nvPr/>
        </p:nvSpPr>
        <p:spPr>
          <a:xfrm>
            <a:off x="512127" y="2845001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34499683-5BD0-72B0-6D0F-16E0E1BDCA8D}"/>
              </a:ext>
            </a:extLst>
          </p:cNvPr>
          <p:cNvSpPr>
            <a:spLocks noChangeAspect="1"/>
          </p:cNvSpPr>
          <p:nvPr/>
        </p:nvSpPr>
        <p:spPr>
          <a:xfrm>
            <a:off x="512127" y="3081143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DF2E32DC-4212-5D37-DBBD-ABD84A309AA9}"/>
              </a:ext>
            </a:extLst>
          </p:cNvPr>
          <p:cNvSpPr>
            <a:spLocks noChangeAspect="1"/>
          </p:cNvSpPr>
          <p:nvPr/>
        </p:nvSpPr>
        <p:spPr>
          <a:xfrm>
            <a:off x="512127" y="3326001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22C53A60-418B-9852-726D-D9F9954DCBDA}"/>
              </a:ext>
            </a:extLst>
          </p:cNvPr>
          <p:cNvGrpSpPr/>
          <p:nvPr/>
        </p:nvGrpSpPr>
        <p:grpSpPr>
          <a:xfrm>
            <a:off x="1902104" y="2844846"/>
            <a:ext cx="3434789" cy="147301"/>
            <a:chOff x="1824628" y="2860748"/>
            <a:chExt cx="3434789" cy="147301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D9881773-B8CA-E23B-85E0-2298D1DC7FE9}"/>
                </a:ext>
              </a:extLst>
            </p:cNvPr>
            <p:cNvSpPr/>
            <p:nvPr/>
          </p:nvSpPr>
          <p:spPr>
            <a:xfrm>
              <a:off x="3561076" y="2862398"/>
              <a:ext cx="1106482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수상실적확인서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FB0C5EAE-7B37-D4E4-5997-289904D3FD6C}"/>
                </a:ext>
              </a:extLst>
            </p:cNvPr>
            <p:cNvSpPr/>
            <p:nvPr/>
          </p:nvSpPr>
          <p:spPr>
            <a:xfrm>
              <a:off x="4686733" y="2862390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제출</a:t>
              </a: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205F064C-B672-AE96-E77E-75F7AB4AD4DC}"/>
                </a:ext>
              </a:extLst>
            </p:cNvPr>
            <p:cNvSpPr/>
            <p:nvPr/>
          </p:nvSpPr>
          <p:spPr>
            <a:xfrm>
              <a:off x="4995243" y="2862390"/>
              <a:ext cx="264174" cy="144016"/>
            </a:xfrm>
            <a:prstGeom prst="rect">
              <a:avLst/>
            </a:prstGeom>
            <a:solidFill>
              <a:srgbClr val="66FF66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7" name="Rectangle 191">
              <a:extLst>
                <a:ext uri="{FF2B5EF4-FFF2-40B4-BE49-F238E27FC236}">
                  <a16:creationId xmlns:a16="http://schemas.microsoft.com/office/drawing/2014/main" id="{F4D708FC-577F-982D-278F-BC7178EFD9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1249" y="2880537"/>
              <a:ext cx="179536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순위</a:t>
              </a: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A7B07D32-245F-FEC9-0FB3-71815FE1B2AA}"/>
                </a:ext>
              </a:extLst>
            </p:cNvPr>
            <p:cNvSpPr/>
            <p:nvPr/>
          </p:nvSpPr>
          <p:spPr>
            <a:xfrm>
              <a:off x="2936732" y="2862398"/>
              <a:ext cx="36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동매달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Rectangle 191">
              <a:extLst>
                <a:ext uri="{FF2B5EF4-FFF2-40B4-BE49-F238E27FC236}">
                  <a16:creationId xmlns:a16="http://schemas.microsoft.com/office/drawing/2014/main" id="{0797197A-2800-91B5-AED0-EAEAE5AB20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5796" y="2880537"/>
              <a:ext cx="179536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첨부</a:t>
              </a:r>
            </a:p>
          </p:txBody>
        </p:sp>
        <p:sp>
          <p:nvSpPr>
            <p:cNvPr id="30" name="Rectangle 191">
              <a:extLst>
                <a:ext uri="{FF2B5EF4-FFF2-40B4-BE49-F238E27FC236}">
                  <a16:creationId xmlns:a16="http://schemas.microsoft.com/office/drawing/2014/main" id="{083DC538-52E4-BB3C-A326-5CE9F87BD9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628" y="2880537"/>
              <a:ext cx="359073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대회규모</a:t>
              </a:r>
            </a:p>
          </p:txBody>
        </p:sp>
        <p:pic>
          <p:nvPicPr>
            <p:cNvPr id="31" name="Picture 13">
              <a:extLst>
                <a:ext uri="{FF2B5EF4-FFF2-40B4-BE49-F238E27FC236}">
                  <a16:creationId xmlns:a16="http://schemas.microsoft.com/office/drawing/2014/main" id="{84ABA24C-4D83-51A5-213E-D0679878F5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63135" y="2860748"/>
              <a:ext cx="154667" cy="147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0C17E857-7017-51D8-DD55-CD3C27933DFF}"/>
                </a:ext>
              </a:extLst>
            </p:cNvPr>
            <p:cNvSpPr/>
            <p:nvPr/>
          </p:nvSpPr>
          <p:spPr>
            <a:xfrm>
              <a:off x="2203245" y="2862398"/>
              <a:ext cx="35765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700" dirty="0">
                  <a:solidFill>
                    <a:prstClr val="black">
                      <a:lumMod val="95000"/>
                      <a:lumOff val="5000"/>
                    </a:prstClr>
                  </a:solidFill>
                </a:rPr>
                <a:t>국제</a:t>
              </a: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D0C30DB0-EC4D-F3B9-DD3D-0D7667DB65F8}"/>
              </a:ext>
            </a:extLst>
          </p:cNvPr>
          <p:cNvGrpSpPr/>
          <p:nvPr/>
        </p:nvGrpSpPr>
        <p:grpSpPr>
          <a:xfrm>
            <a:off x="1897456" y="3321102"/>
            <a:ext cx="2704513" cy="144016"/>
            <a:chOff x="1897884" y="2847629"/>
            <a:chExt cx="2704513" cy="144016"/>
          </a:xfrm>
        </p:grpSpPr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4B2B8400-BEBD-CBEC-C562-37145200F948}"/>
                </a:ext>
              </a:extLst>
            </p:cNvPr>
            <p:cNvSpPr/>
            <p:nvPr/>
          </p:nvSpPr>
          <p:spPr>
            <a:xfrm>
              <a:off x="1897884" y="2847637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추천서</a:t>
              </a:r>
              <a:r>
                <a:rPr kumimoji="0" lang="en-US" altLang="ko-KR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15798233-BD73-C517-C8DC-8435ED4DC6B1}"/>
                </a:ext>
              </a:extLst>
            </p:cNvPr>
            <p:cNvSpPr/>
            <p:nvPr/>
          </p:nvSpPr>
          <p:spPr>
            <a:xfrm>
              <a:off x="3550882" y="2847629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제출</a:t>
              </a: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EEC011D5-D5B9-4BDF-D8A9-059CC5F81DA8}"/>
                </a:ext>
              </a:extLst>
            </p:cNvPr>
            <p:cNvSpPr/>
            <p:nvPr/>
          </p:nvSpPr>
          <p:spPr>
            <a:xfrm>
              <a:off x="3859392" y="2847629"/>
              <a:ext cx="264174" cy="144016"/>
            </a:xfrm>
            <a:prstGeom prst="rect">
              <a:avLst/>
            </a:prstGeom>
            <a:solidFill>
              <a:srgbClr val="66FF66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89C7443F-6F15-A291-A762-2F8BD8763F05}"/>
                </a:ext>
              </a:extLst>
            </p:cNvPr>
            <p:cNvSpPr/>
            <p:nvPr/>
          </p:nvSpPr>
          <p:spPr>
            <a:xfrm>
              <a:off x="4176942" y="2847629"/>
              <a:ext cx="425455" cy="14401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양식받기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872C3A32-80CD-5210-EC7C-9BDE70DD393A}"/>
              </a:ext>
            </a:extLst>
          </p:cNvPr>
          <p:cNvGrpSpPr/>
          <p:nvPr/>
        </p:nvGrpSpPr>
        <p:grpSpPr>
          <a:xfrm>
            <a:off x="1900611" y="4965135"/>
            <a:ext cx="2386963" cy="144016"/>
            <a:chOff x="1897884" y="4476806"/>
            <a:chExt cx="2386963" cy="144016"/>
          </a:xfrm>
        </p:grpSpPr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80654B7F-FE4D-A6DA-87F9-D3CCC154C416}"/>
                </a:ext>
              </a:extLst>
            </p:cNvPr>
            <p:cNvSpPr/>
            <p:nvPr/>
          </p:nvSpPr>
          <p:spPr>
            <a:xfrm>
              <a:off x="1897884" y="4476814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C0F5C4A7-F0FD-F274-72F3-614193C2C1FF}"/>
                </a:ext>
              </a:extLst>
            </p:cNvPr>
            <p:cNvSpPr/>
            <p:nvPr/>
          </p:nvSpPr>
          <p:spPr>
            <a:xfrm>
              <a:off x="3550882" y="4476806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추가</a:t>
              </a:r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F57ECCD5-8515-2C3B-863D-6998A681BE61}"/>
                </a:ext>
              </a:extLst>
            </p:cNvPr>
            <p:cNvSpPr/>
            <p:nvPr/>
          </p:nvSpPr>
          <p:spPr>
            <a:xfrm>
              <a:off x="3859392" y="4476806"/>
              <a:ext cx="425455" cy="14401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양식받기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B43B16B4-DFBC-5B80-196E-26EAD88E076E}"/>
              </a:ext>
            </a:extLst>
          </p:cNvPr>
          <p:cNvSpPr/>
          <p:nvPr/>
        </p:nvSpPr>
        <p:spPr>
          <a:xfrm>
            <a:off x="668524" y="4929131"/>
            <a:ext cx="6121214" cy="21600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1607583E-1531-AD52-D266-96131F182063}"/>
              </a:ext>
            </a:extLst>
          </p:cNvPr>
          <p:cNvSpPr>
            <a:spLocks noChangeAspect="1"/>
          </p:cNvSpPr>
          <p:nvPr/>
        </p:nvSpPr>
        <p:spPr>
          <a:xfrm>
            <a:off x="512127" y="4957070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33ED986-E167-7CE2-1F63-42FAB8FD492B}"/>
              </a:ext>
            </a:extLst>
          </p:cNvPr>
          <p:cNvSpPr/>
          <p:nvPr/>
        </p:nvSpPr>
        <p:spPr>
          <a:xfrm>
            <a:off x="668524" y="3268187"/>
            <a:ext cx="6121214" cy="231114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D00E7C23-3FDF-5BB8-5502-198A478CD7D6}"/>
              </a:ext>
            </a:extLst>
          </p:cNvPr>
          <p:cNvSpPr/>
          <p:nvPr/>
        </p:nvSpPr>
        <p:spPr>
          <a:xfrm>
            <a:off x="668524" y="2809426"/>
            <a:ext cx="6121214" cy="21600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6867582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349C5-E158-8EC5-56E9-A44B040CD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C236E4C-8DA8-58D5-0417-59B135B93F3C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특기생장학금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신청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BB55E79-1904-1977-53E5-22D8A3537A67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프로그램신청관리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특기생장학금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장학금신청</a:t>
            </a: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4E3D027D-C661-D972-2D07-4B4A41F498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439441"/>
              </p:ext>
            </p:extLst>
          </p:nvPr>
        </p:nvGraphicFramePr>
        <p:xfrm>
          <a:off x="6969418" y="2548005"/>
          <a:ext cx="2772114" cy="2564939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프로그램신청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특기생장학금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조회 화면 목록에서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신청하기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클릭 시 보이는 화면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전형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입상실적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기능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전형별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상장사본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대회안내문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자격증사본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자격증사본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자격내용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자격내용 선택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첨부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제출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]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클릭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&gt;&gt;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제출 서류 파일 선택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&gt;&gt;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첨부완료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받기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] 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클릭 시 첨부된 제출 서류 파일 다운로드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추천서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첨부 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: [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제출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제출 서류 파일 선택 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첨부완료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받기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 첨부된 제출 서류 파일 다운로드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양식받기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 추천서 양식 파일을 다운 받는다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첨부파일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추가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] : 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추가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파일 선택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첨부 설정완료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파일받기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파일명 클릭 시 첨부된 파일 다운로드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[x]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 첨부된 해당 파일 삭제 처리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양식받기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시 추천서 양식 파일을 다운 받는다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E10EFC86-2E60-90AE-2CDA-DC4B934FA3EB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pat_application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41DC6F-4063-C656-DCE9-C558AAC00E01}"/>
              </a:ext>
            </a:extLst>
          </p:cNvPr>
          <p:cNvSpPr/>
          <p:nvPr/>
        </p:nvSpPr>
        <p:spPr>
          <a:xfrm>
            <a:off x="165100" y="1376363"/>
            <a:ext cx="6732116" cy="460414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58D02B4-C06F-3C68-26F0-41DB8877EB61}"/>
              </a:ext>
            </a:extLst>
          </p:cNvPr>
          <p:cNvSpPr/>
          <p:nvPr/>
        </p:nvSpPr>
        <p:spPr>
          <a:xfrm>
            <a:off x="292846" y="1448780"/>
            <a:ext cx="1099660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800" b="1" dirty="0" err="1">
                <a:solidFill>
                  <a:prstClr val="black"/>
                </a:solidFill>
              </a:rPr>
              <a:t>특기생</a:t>
            </a:r>
            <a:r>
              <a:rPr lang="ko-KR" altLang="en-US" sz="800" b="1" dirty="0">
                <a:solidFill>
                  <a:prstClr val="black"/>
                </a:solidFill>
              </a:rPr>
              <a:t> 장학금 신청정보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6C4113C-62E9-CE81-36E9-BAB0C4D44EB9}"/>
              </a:ext>
            </a:extLst>
          </p:cNvPr>
          <p:cNvSpPr/>
          <p:nvPr/>
        </p:nvSpPr>
        <p:spPr>
          <a:xfrm>
            <a:off x="165100" y="6023481"/>
            <a:ext cx="6732116" cy="46622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A1630077-2550-E68B-00BA-76244775FB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6165304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5246C17-B3E6-F599-6002-C099356AA5FF}"/>
              </a:ext>
            </a:extLst>
          </p:cNvPr>
          <p:cNvSpPr txBox="1"/>
          <p:nvPr/>
        </p:nvSpPr>
        <p:spPr>
          <a:xfrm>
            <a:off x="1172580" y="6077394"/>
            <a:ext cx="31242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경기 오산시 성호대로 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141 (</a:t>
            </a:r>
            <a:r>
              <a:rPr lang="ko-KR" altLang="en-US" sz="600" b="0" i="0" dirty="0" err="1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오산동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오산시청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오산교육재단</a:t>
            </a:r>
            <a:endParaRPr lang="en-US" altLang="ko-KR" sz="600" b="0" i="0" dirty="0">
              <a:solidFill>
                <a:srgbClr val="666666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>
              <a:buNone/>
            </a:pP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TEL. (031)8036-8905 FAX. (031)8036-8905</a:t>
            </a:r>
          </a:p>
          <a:p>
            <a:pPr algn="l">
              <a:buNone/>
            </a:pP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Copyright©2025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오산교육재단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 ALL RIGHTSRESERVED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D8BA9D29-7581-BC76-5B3D-E2CDCB461E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9165295"/>
              </p:ext>
            </p:extLst>
          </p:nvPr>
        </p:nvGraphicFramePr>
        <p:xfrm>
          <a:off x="272480" y="1628800"/>
          <a:ext cx="6517258" cy="375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054">
                  <a:extLst>
                    <a:ext uri="{9D8B030D-6E8A-4147-A177-3AD203B41FA5}">
                      <a16:colId xmlns:a16="http://schemas.microsoft.com/office/drawing/2014/main" val="3668863434"/>
                    </a:ext>
                  </a:extLst>
                </a:gridCol>
                <a:gridCol w="4921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구분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특기생</a:t>
                      </a:r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장학금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894265"/>
                  </a:ext>
                </a:extLst>
              </a:tr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</a:t>
                      </a:r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하반기 </a:t>
                      </a:r>
                      <a:r>
                        <a:rPr lang="ko-KR" altLang="en-US" sz="7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특기생</a:t>
                      </a:r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장학금 신청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접수기간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2025.09.20 10:00 </a:t>
                      </a:r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~ 2025.09.30 10:00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전형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4735">
                <a:tc rowSpan="3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전형별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상장사본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2230354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대회안내문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1427946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자격증사본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5331317"/>
                  </a:ext>
                </a:extLst>
              </a:tr>
              <a:tr h="234735">
                <a:tc rowSpan="9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공통 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추천서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주민등록초본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1958612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주민등록등본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164179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국민기초생활보장수급자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차상위계층확인서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한부모가족보호대상확인서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장애인증명서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첨부파일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8089092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8418894"/>
                  </a:ext>
                </a:extLst>
              </a:tr>
            </a:tbl>
          </a:graphicData>
        </a:graphic>
      </p:graphicFrame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2EE0C022-C5A2-969C-D50A-840C8F247B23}"/>
              </a:ext>
            </a:extLst>
          </p:cNvPr>
          <p:cNvSpPr/>
          <p:nvPr/>
        </p:nvSpPr>
        <p:spPr>
          <a:xfrm>
            <a:off x="1904260" y="3547886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주민등록초본</a:t>
            </a:r>
            <a:r>
              <a:rPr kumimoji="0" lang="en-US" altLang="ko-KR" sz="7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099C439B-58BE-F01E-0D7B-45FB771CE94F}"/>
              </a:ext>
            </a:extLst>
          </p:cNvPr>
          <p:cNvSpPr/>
          <p:nvPr/>
        </p:nvSpPr>
        <p:spPr>
          <a:xfrm>
            <a:off x="3557258" y="3547878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25E200B0-704E-6C2A-569F-D01BDBE2D689}"/>
              </a:ext>
            </a:extLst>
          </p:cNvPr>
          <p:cNvSpPr/>
          <p:nvPr/>
        </p:nvSpPr>
        <p:spPr>
          <a:xfrm>
            <a:off x="1904260" y="3780080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주민등록등본</a:t>
            </a:r>
            <a:r>
              <a:rPr kumimoji="0" lang="en-US" altLang="ko-KR" sz="7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07B2CB95-C99E-4AC9-506F-DFB550B2C2D9}"/>
              </a:ext>
            </a:extLst>
          </p:cNvPr>
          <p:cNvSpPr/>
          <p:nvPr/>
        </p:nvSpPr>
        <p:spPr>
          <a:xfrm>
            <a:off x="3557258" y="3780072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B949FC89-E511-0DA1-1ED7-6C1216986AF2}"/>
              </a:ext>
            </a:extLst>
          </p:cNvPr>
          <p:cNvSpPr/>
          <p:nvPr/>
        </p:nvSpPr>
        <p:spPr>
          <a:xfrm>
            <a:off x="1904260" y="4032352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dirty="0" err="1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국민기초생활보장수급자</a:t>
            </a:r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D7990F3D-EC5E-4849-3AFC-6180A17A7056}"/>
              </a:ext>
            </a:extLst>
          </p:cNvPr>
          <p:cNvSpPr/>
          <p:nvPr/>
        </p:nvSpPr>
        <p:spPr>
          <a:xfrm>
            <a:off x="3557258" y="4032344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22425E29-DB3E-8B07-FC48-87781E45ED81}"/>
              </a:ext>
            </a:extLst>
          </p:cNvPr>
          <p:cNvSpPr/>
          <p:nvPr/>
        </p:nvSpPr>
        <p:spPr>
          <a:xfrm>
            <a:off x="1904260" y="4257718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차상위계층확인서</a:t>
            </a:r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A34DE675-5D8D-ADED-9FA6-73A9E43D6E5A}"/>
              </a:ext>
            </a:extLst>
          </p:cNvPr>
          <p:cNvSpPr/>
          <p:nvPr/>
        </p:nvSpPr>
        <p:spPr>
          <a:xfrm>
            <a:off x="3557258" y="4257710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E448EBBC-6337-13A5-D2E0-C40E8BB2FFA2}"/>
              </a:ext>
            </a:extLst>
          </p:cNvPr>
          <p:cNvSpPr/>
          <p:nvPr/>
        </p:nvSpPr>
        <p:spPr>
          <a:xfrm>
            <a:off x="1904260" y="4491170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A0F98252-EAB6-F2EF-D2DE-2ABBD409F6C4}"/>
              </a:ext>
            </a:extLst>
          </p:cNvPr>
          <p:cNvSpPr/>
          <p:nvPr/>
        </p:nvSpPr>
        <p:spPr>
          <a:xfrm>
            <a:off x="3557258" y="4491162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768DAFCC-8060-FF41-72ED-512194591C27}"/>
              </a:ext>
            </a:extLst>
          </p:cNvPr>
          <p:cNvSpPr/>
          <p:nvPr/>
        </p:nvSpPr>
        <p:spPr>
          <a:xfrm>
            <a:off x="1904260" y="4725152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B016BEBA-F556-70E5-D36B-45EB034A6B0A}"/>
              </a:ext>
            </a:extLst>
          </p:cNvPr>
          <p:cNvSpPr/>
          <p:nvPr/>
        </p:nvSpPr>
        <p:spPr>
          <a:xfrm>
            <a:off x="3557258" y="4725144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grpSp>
        <p:nvGrpSpPr>
          <p:cNvPr id="152" name="그룹 151">
            <a:extLst>
              <a:ext uri="{FF2B5EF4-FFF2-40B4-BE49-F238E27FC236}">
                <a16:creationId xmlns:a16="http://schemas.microsoft.com/office/drawing/2014/main" id="{1AE598F2-DC09-2B9B-21E1-9DCE462A925D}"/>
              </a:ext>
            </a:extLst>
          </p:cNvPr>
          <p:cNvGrpSpPr/>
          <p:nvPr/>
        </p:nvGrpSpPr>
        <p:grpSpPr>
          <a:xfrm>
            <a:off x="1939541" y="5213298"/>
            <a:ext cx="1105196" cy="128396"/>
            <a:chOff x="3438680" y="4305150"/>
            <a:chExt cx="1105196" cy="128396"/>
          </a:xfrm>
        </p:grpSpPr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46C52F24-4ED7-DB11-7118-4496FAC5CEF8}"/>
                </a:ext>
              </a:extLst>
            </p:cNvPr>
            <p:cNvSpPr txBox="1"/>
            <p:nvPr/>
          </p:nvSpPr>
          <p:spPr>
            <a:xfrm>
              <a:off x="3438680" y="4305150"/>
              <a:ext cx="971420" cy="10772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신청 관련 부가 서류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54" name="Picture 10">
              <a:extLst>
                <a:ext uri="{FF2B5EF4-FFF2-40B4-BE49-F238E27FC236}">
                  <a16:creationId xmlns:a16="http://schemas.microsoft.com/office/drawing/2014/main" id="{C950D481-2FF0-7C48-ABC0-68920D6C91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7418" y="4312303"/>
              <a:ext cx="106458" cy="121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55" name="그룹 154">
            <a:extLst>
              <a:ext uri="{FF2B5EF4-FFF2-40B4-BE49-F238E27FC236}">
                <a16:creationId xmlns:a16="http://schemas.microsoft.com/office/drawing/2014/main" id="{3277B739-E4E6-465C-327A-1328BC25D2F4}"/>
              </a:ext>
            </a:extLst>
          </p:cNvPr>
          <p:cNvGrpSpPr/>
          <p:nvPr/>
        </p:nvGrpSpPr>
        <p:grpSpPr>
          <a:xfrm>
            <a:off x="3125954" y="5213298"/>
            <a:ext cx="1105196" cy="128396"/>
            <a:chOff x="3438680" y="4305150"/>
            <a:chExt cx="1105196" cy="128396"/>
          </a:xfrm>
        </p:grpSpPr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AFD96C0C-0876-411A-A87B-142830D1911B}"/>
                </a:ext>
              </a:extLst>
            </p:cNvPr>
            <p:cNvSpPr txBox="1"/>
            <p:nvPr/>
          </p:nvSpPr>
          <p:spPr>
            <a:xfrm>
              <a:off x="3438680" y="4305150"/>
              <a:ext cx="971420" cy="10772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신청 관련 부가 서류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57" name="Picture 10">
              <a:extLst>
                <a:ext uri="{FF2B5EF4-FFF2-40B4-BE49-F238E27FC236}">
                  <a16:creationId xmlns:a16="http://schemas.microsoft.com/office/drawing/2014/main" id="{597440A6-8C6F-3441-18A3-F8CA41FA17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7418" y="4312303"/>
              <a:ext cx="106458" cy="121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BDD37804-762E-20EB-E090-1E6E155E6863}"/>
              </a:ext>
            </a:extLst>
          </p:cNvPr>
          <p:cNvSpPr/>
          <p:nvPr/>
        </p:nvSpPr>
        <p:spPr>
          <a:xfrm>
            <a:off x="3865768" y="3547878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D6A672C7-64BD-BD7A-9B48-43A06802EF9E}"/>
              </a:ext>
            </a:extLst>
          </p:cNvPr>
          <p:cNvSpPr/>
          <p:nvPr/>
        </p:nvSpPr>
        <p:spPr>
          <a:xfrm>
            <a:off x="3865768" y="3778912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C58A5C59-83FB-BB31-FE2D-CBDAE822BA8D}"/>
              </a:ext>
            </a:extLst>
          </p:cNvPr>
          <p:cNvSpPr/>
          <p:nvPr/>
        </p:nvSpPr>
        <p:spPr>
          <a:xfrm>
            <a:off x="3865768" y="4032385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3" name="직사각형 162">
            <a:extLst>
              <a:ext uri="{FF2B5EF4-FFF2-40B4-BE49-F238E27FC236}">
                <a16:creationId xmlns:a16="http://schemas.microsoft.com/office/drawing/2014/main" id="{2AF2C000-CB0C-C98F-87BA-0384849571AE}"/>
              </a:ext>
            </a:extLst>
          </p:cNvPr>
          <p:cNvSpPr/>
          <p:nvPr/>
        </p:nvSpPr>
        <p:spPr>
          <a:xfrm>
            <a:off x="3865768" y="4257092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D0F736A7-9939-B0AA-992F-59551AB3553F}"/>
              </a:ext>
            </a:extLst>
          </p:cNvPr>
          <p:cNvSpPr/>
          <p:nvPr/>
        </p:nvSpPr>
        <p:spPr>
          <a:xfrm>
            <a:off x="3865768" y="4485267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5" name="직사각형 164">
            <a:extLst>
              <a:ext uri="{FF2B5EF4-FFF2-40B4-BE49-F238E27FC236}">
                <a16:creationId xmlns:a16="http://schemas.microsoft.com/office/drawing/2014/main" id="{C8F82F93-19D0-C5E6-7637-948A85C56D61}"/>
              </a:ext>
            </a:extLst>
          </p:cNvPr>
          <p:cNvSpPr/>
          <p:nvPr/>
        </p:nvSpPr>
        <p:spPr>
          <a:xfrm>
            <a:off x="3865768" y="4727012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6" name="그룹 165">
            <a:extLst>
              <a:ext uri="{FF2B5EF4-FFF2-40B4-BE49-F238E27FC236}">
                <a16:creationId xmlns:a16="http://schemas.microsoft.com/office/drawing/2014/main" id="{7E640080-BA8B-2D56-2731-706D034379FC}"/>
              </a:ext>
            </a:extLst>
          </p:cNvPr>
          <p:cNvGrpSpPr/>
          <p:nvPr/>
        </p:nvGrpSpPr>
        <p:grpSpPr>
          <a:xfrm>
            <a:off x="3429010" y="2378109"/>
            <a:ext cx="505750" cy="144462"/>
            <a:chOff x="2716253" y="2405617"/>
            <a:chExt cx="505750" cy="144462"/>
          </a:xfrm>
        </p:grpSpPr>
        <p:sp>
          <p:nvSpPr>
            <p:cNvPr id="167" name="Rectangle 191">
              <a:extLst>
                <a:ext uri="{FF2B5EF4-FFF2-40B4-BE49-F238E27FC236}">
                  <a16:creationId xmlns:a16="http://schemas.microsoft.com/office/drawing/2014/main" id="{B8420DB9-1721-8B23-EC32-9D6DDC632D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359073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학업성적</a:t>
              </a:r>
            </a:p>
          </p:txBody>
        </p:sp>
        <p:graphicFrame>
          <p:nvGraphicFramePr>
            <p:cNvPr id="168" name="개체 167">
              <a:extLst>
                <a:ext uri="{FF2B5EF4-FFF2-40B4-BE49-F238E27FC236}">
                  <a16:creationId xmlns:a16="http://schemas.microsoft.com/office/drawing/2014/main" id="{730A70B3-3F0F-FDC6-3556-49E43F64F8B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145435" imgH="145435" progId="Visio.Drawing.11">
                    <p:embed/>
                  </p:oleObj>
                </mc:Choice>
                <mc:Fallback>
                  <p:oleObj name="Visio" r:id="rId4" imgW="145435" imgH="145435" progId="Visio.Drawing.11">
                    <p:embed/>
                    <p:pic>
                      <p:nvPicPr>
                        <p:cNvPr id="46" name="개체 45">
                          <a:extLst>
                            <a:ext uri="{FF2B5EF4-FFF2-40B4-BE49-F238E27FC236}">
                              <a16:creationId xmlns:a16="http://schemas.microsoft.com/office/drawing/2014/main" id="{730A70B3-3F0F-FDC6-3556-49E43F64F8B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9" name="그룹 168">
            <a:extLst>
              <a:ext uri="{FF2B5EF4-FFF2-40B4-BE49-F238E27FC236}">
                <a16:creationId xmlns:a16="http://schemas.microsoft.com/office/drawing/2014/main" id="{2AD04F2C-FE9E-E339-01A0-0C6F16F9B395}"/>
              </a:ext>
            </a:extLst>
          </p:cNvPr>
          <p:cNvGrpSpPr/>
          <p:nvPr/>
        </p:nvGrpSpPr>
        <p:grpSpPr>
          <a:xfrm>
            <a:off x="4006768" y="2378109"/>
            <a:ext cx="326213" cy="144462"/>
            <a:chOff x="2716253" y="2405617"/>
            <a:chExt cx="326213" cy="144462"/>
          </a:xfrm>
        </p:grpSpPr>
        <p:sp>
          <p:nvSpPr>
            <p:cNvPr id="170" name="Rectangle 191">
              <a:extLst>
                <a:ext uri="{FF2B5EF4-FFF2-40B4-BE49-F238E27FC236}">
                  <a16:creationId xmlns:a16="http://schemas.microsoft.com/office/drawing/2014/main" id="{8CD9FA4F-2595-606D-F840-005E1582DC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179536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기타</a:t>
              </a:r>
            </a:p>
          </p:txBody>
        </p:sp>
        <p:graphicFrame>
          <p:nvGraphicFramePr>
            <p:cNvPr id="171" name="개체 170">
              <a:extLst>
                <a:ext uri="{FF2B5EF4-FFF2-40B4-BE49-F238E27FC236}">
                  <a16:creationId xmlns:a16="http://schemas.microsoft.com/office/drawing/2014/main" id="{A649E7C2-515F-CC74-EDAB-7041EE63BCF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145435" imgH="145435" progId="Visio.Drawing.11">
                    <p:embed/>
                  </p:oleObj>
                </mc:Choice>
                <mc:Fallback>
                  <p:oleObj name="Visio" r:id="rId4" imgW="145435" imgH="145435" progId="Visio.Drawing.11">
                    <p:embed/>
                    <p:pic>
                      <p:nvPicPr>
                        <p:cNvPr id="49" name="개체 48">
                          <a:extLst>
                            <a:ext uri="{FF2B5EF4-FFF2-40B4-BE49-F238E27FC236}">
                              <a16:creationId xmlns:a16="http://schemas.microsoft.com/office/drawing/2014/main" id="{A649E7C2-515F-CC74-EDAB-7041EE63BCF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2" name="Rectangle 191">
            <a:extLst>
              <a:ext uri="{FF2B5EF4-FFF2-40B4-BE49-F238E27FC236}">
                <a16:creationId xmlns:a16="http://schemas.microsoft.com/office/drawing/2014/main" id="{ACCD397E-532F-EBC5-87C6-059480EE30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2177" y="2396479"/>
            <a:ext cx="1439497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입상실적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                                )</a:t>
            </a:r>
            <a:endParaRPr kumimoji="0" lang="ko-KR" altLang="en-US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73" name="그룹 172">
            <a:extLst>
              <a:ext uri="{FF2B5EF4-FFF2-40B4-BE49-F238E27FC236}">
                <a16:creationId xmlns:a16="http://schemas.microsoft.com/office/drawing/2014/main" id="{B41671E0-B805-8BA5-3F92-AD5A1E34889E}"/>
              </a:ext>
            </a:extLst>
          </p:cNvPr>
          <p:cNvGrpSpPr/>
          <p:nvPr/>
        </p:nvGrpSpPr>
        <p:grpSpPr>
          <a:xfrm>
            <a:off x="2645151" y="2378109"/>
            <a:ext cx="318262" cy="144462"/>
            <a:chOff x="2716253" y="2405617"/>
            <a:chExt cx="318262" cy="144462"/>
          </a:xfrm>
        </p:grpSpPr>
        <p:sp>
          <p:nvSpPr>
            <p:cNvPr id="174" name="Rectangle 191">
              <a:extLst>
                <a:ext uri="{FF2B5EF4-FFF2-40B4-BE49-F238E27FC236}">
                  <a16:creationId xmlns:a16="http://schemas.microsoft.com/office/drawing/2014/main" id="{94CBAA90-A341-D479-1760-48F236BAA3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4979" y="2416036"/>
              <a:ext cx="179536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단체</a:t>
              </a:r>
            </a:p>
          </p:txBody>
        </p:sp>
        <p:graphicFrame>
          <p:nvGraphicFramePr>
            <p:cNvPr id="175" name="개체 174">
              <a:extLst>
                <a:ext uri="{FF2B5EF4-FFF2-40B4-BE49-F238E27FC236}">
                  <a16:creationId xmlns:a16="http://schemas.microsoft.com/office/drawing/2014/main" id="{AE2DD30C-A9DD-CE95-4A3D-CC45F23B16B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145435" imgH="145435" progId="Visio.Drawing.11">
                    <p:embed/>
                  </p:oleObj>
                </mc:Choice>
                <mc:Fallback>
                  <p:oleObj name="Visio" r:id="rId4" imgW="145435" imgH="145435" progId="Visio.Drawing.11">
                    <p:embed/>
                    <p:pic>
                      <p:nvPicPr>
                        <p:cNvPr id="53" name="개체 52">
                          <a:extLst>
                            <a:ext uri="{FF2B5EF4-FFF2-40B4-BE49-F238E27FC236}">
                              <a16:creationId xmlns:a16="http://schemas.microsoft.com/office/drawing/2014/main" id="{AE2DD30C-A9DD-CE95-4A3D-CC45F23B16B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0A9921FE-FEA1-6F13-DE16-E5BF87BD6D85}"/>
              </a:ext>
            </a:extLst>
          </p:cNvPr>
          <p:cNvGrpSpPr/>
          <p:nvPr/>
        </p:nvGrpSpPr>
        <p:grpSpPr>
          <a:xfrm>
            <a:off x="2306629" y="2378109"/>
            <a:ext cx="318262" cy="144462"/>
            <a:chOff x="2716253" y="2405617"/>
            <a:chExt cx="318262" cy="144462"/>
          </a:xfrm>
        </p:grpSpPr>
        <p:sp>
          <p:nvSpPr>
            <p:cNvPr id="177" name="Rectangle 191">
              <a:extLst>
                <a:ext uri="{FF2B5EF4-FFF2-40B4-BE49-F238E27FC236}">
                  <a16:creationId xmlns:a16="http://schemas.microsoft.com/office/drawing/2014/main" id="{D49F3B64-5F49-9DC5-F52F-0727CF2B38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4979" y="2416036"/>
              <a:ext cx="179536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개인</a:t>
              </a:r>
            </a:p>
          </p:txBody>
        </p:sp>
        <p:graphicFrame>
          <p:nvGraphicFramePr>
            <p:cNvPr id="178" name="개체 177">
              <a:extLst>
                <a:ext uri="{FF2B5EF4-FFF2-40B4-BE49-F238E27FC236}">
                  <a16:creationId xmlns:a16="http://schemas.microsoft.com/office/drawing/2014/main" id="{7A97A201-2A25-1CD5-F4DD-D976F55ED5B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145435" imgH="145435" progId="Visio.Drawing.11">
                    <p:embed/>
                  </p:oleObj>
                </mc:Choice>
                <mc:Fallback>
                  <p:oleObj name="Visio" r:id="rId4" imgW="145435" imgH="145435" progId="Visio.Drawing.11">
                    <p:embed/>
                    <p:pic>
                      <p:nvPicPr>
                        <p:cNvPr id="56" name="개체 55">
                          <a:extLst>
                            <a:ext uri="{FF2B5EF4-FFF2-40B4-BE49-F238E27FC236}">
                              <a16:creationId xmlns:a16="http://schemas.microsoft.com/office/drawing/2014/main" id="{7A97A201-2A25-1CD5-F4DD-D976F55ED5B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9" name="그룹 178">
            <a:extLst>
              <a:ext uri="{FF2B5EF4-FFF2-40B4-BE49-F238E27FC236}">
                <a16:creationId xmlns:a16="http://schemas.microsoft.com/office/drawing/2014/main" id="{7294268A-13A9-65DC-0F9C-9D1DFFA6287F}"/>
              </a:ext>
            </a:extLst>
          </p:cNvPr>
          <p:cNvGrpSpPr/>
          <p:nvPr/>
        </p:nvGrpSpPr>
        <p:grpSpPr>
          <a:xfrm>
            <a:off x="2980970" y="2378109"/>
            <a:ext cx="318262" cy="144462"/>
            <a:chOff x="2716253" y="2405617"/>
            <a:chExt cx="318262" cy="144462"/>
          </a:xfrm>
        </p:grpSpPr>
        <p:sp>
          <p:nvSpPr>
            <p:cNvPr id="180" name="Rectangle 191">
              <a:extLst>
                <a:ext uri="{FF2B5EF4-FFF2-40B4-BE49-F238E27FC236}">
                  <a16:creationId xmlns:a16="http://schemas.microsoft.com/office/drawing/2014/main" id="{35BFAA03-77D7-CC52-4E8E-3EEEEE034E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4979" y="2416036"/>
              <a:ext cx="179536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기능</a:t>
              </a:r>
            </a:p>
          </p:txBody>
        </p:sp>
        <p:graphicFrame>
          <p:nvGraphicFramePr>
            <p:cNvPr id="181" name="개체 180">
              <a:extLst>
                <a:ext uri="{FF2B5EF4-FFF2-40B4-BE49-F238E27FC236}">
                  <a16:creationId xmlns:a16="http://schemas.microsoft.com/office/drawing/2014/main" id="{F843FB89-9DC9-2BEF-3812-B14CD485B5D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145435" imgH="145435" progId="Visio.Drawing.11">
                    <p:embed/>
                  </p:oleObj>
                </mc:Choice>
                <mc:Fallback>
                  <p:oleObj name="Visio" r:id="rId4" imgW="145435" imgH="145435" progId="Visio.Drawing.11">
                    <p:embed/>
                    <p:pic>
                      <p:nvPicPr>
                        <p:cNvPr id="59" name="개체 58">
                          <a:extLst>
                            <a:ext uri="{FF2B5EF4-FFF2-40B4-BE49-F238E27FC236}">
                              <a16:creationId xmlns:a16="http://schemas.microsoft.com/office/drawing/2014/main" id="{F843FB89-9DC9-2BEF-3812-B14CD485B5D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82" name="개체 181">
            <a:extLst>
              <a:ext uri="{FF2B5EF4-FFF2-40B4-BE49-F238E27FC236}">
                <a16:creationId xmlns:a16="http://schemas.microsoft.com/office/drawing/2014/main" id="{BF1B124D-910E-E9D0-D38D-AFBDEFDEA3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2406430"/>
              </p:ext>
            </p:extLst>
          </p:nvPr>
        </p:nvGraphicFramePr>
        <p:xfrm>
          <a:off x="2982078" y="2378109"/>
          <a:ext cx="144462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145435" imgH="145435" progId="Visio.Drawing.11">
                  <p:embed/>
                </p:oleObj>
              </mc:Choice>
              <mc:Fallback>
                <p:oleObj name="Visio" r:id="rId6" imgW="145435" imgH="145435" progId="Visio.Drawing.11">
                  <p:embed/>
                  <p:pic>
                    <p:nvPicPr>
                      <p:cNvPr id="60" name="개체 59">
                        <a:extLst>
                          <a:ext uri="{FF2B5EF4-FFF2-40B4-BE49-F238E27FC236}">
                            <a16:creationId xmlns:a16="http://schemas.microsoft.com/office/drawing/2014/main" id="{BF1B124D-910E-E9D0-D38D-AFBDEFDEA32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2078" y="2378109"/>
                        <a:ext cx="144462" cy="14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37209A1C-EAE2-3EAC-FFDA-784FD14178FD}"/>
              </a:ext>
            </a:extLst>
          </p:cNvPr>
          <p:cNvSpPr/>
          <p:nvPr/>
        </p:nvSpPr>
        <p:spPr>
          <a:xfrm>
            <a:off x="1904260" y="2608867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상장사본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691CCB3D-25AC-7CE3-8457-0A20541BBDE9}"/>
              </a:ext>
            </a:extLst>
          </p:cNvPr>
          <p:cNvSpPr/>
          <p:nvPr/>
        </p:nvSpPr>
        <p:spPr>
          <a:xfrm>
            <a:off x="3557258" y="2608859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85" name="직사각형 184">
            <a:extLst>
              <a:ext uri="{FF2B5EF4-FFF2-40B4-BE49-F238E27FC236}">
                <a16:creationId xmlns:a16="http://schemas.microsoft.com/office/drawing/2014/main" id="{AE78E9D6-8773-22CC-23CA-E6C27CC40D88}"/>
              </a:ext>
            </a:extLst>
          </p:cNvPr>
          <p:cNvSpPr/>
          <p:nvPr/>
        </p:nvSpPr>
        <p:spPr>
          <a:xfrm>
            <a:off x="3865768" y="2608859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9" name="직사각형 188">
            <a:extLst>
              <a:ext uri="{FF2B5EF4-FFF2-40B4-BE49-F238E27FC236}">
                <a16:creationId xmlns:a16="http://schemas.microsoft.com/office/drawing/2014/main" id="{7251B093-2A85-C97D-BA38-4EA88EC18D5F}"/>
              </a:ext>
            </a:extLst>
          </p:cNvPr>
          <p:cNvSpPr/>
          <p:nvPr/>
        </p:nvSpPr>
        <p:spPr>
          <a:xfrm>
            <a:off x="1904260" y="2849286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대회안내문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0" name="직사각형 189">
            <a:extLst>
              <a:ext uri="{FF2B5EF4-FFF2-40B4-BE49-F238E27FC236}">
                <a16:creationId xmlns:a16="http://schemas.microsoft.com/office/drawing/2014/main" id="{5644CB09-B41D-A2A1-CEB2-A97309709946}"/>
              </a:ext>
            </a:extLst>
          </p:cNvPr>
          <p:cNvSpPr/>
          <p:nvPr/>
        </p:nvSpPr>
        <p:spPr>
          <a:xfrm>
            <a:off x="3557258" y="2849278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91" name="직사각형 190">
            <a:extLst>
              <a:ext uri="{FF2B5EF4-FFF2-40B4-BE49-F238E27FC236}">
                <a16:creationId xmlns:a16="http://schemas.microsoft.com/office/drawing/2014/main" id="{4888AF83-002D-A0DB-5F05-28A5E7F5FA0E}"/>
              </a:ext>
            </a:extLst>
          </p:cNvPr>
          <p:cNvSpPr/>
          <p:nvPr/>
        </p:nvSpPr>
        <p:spPr>
          <a:xfrm>
            <a:off x="3865768" y="2849278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2" name="직사각형 191">
            <a:extLst>
              <a:ext uri="{FF2B5EF4-FFF2-40B4-BE49-F238E27FC236}">
                <a16:creationId xmlns:a16="http://schemas.microsoft.com/office/drawing/2014/main" id="{3716D885-ECA7-611B-E633-22B139E7A470}"/>
              </a:ext>
            </a:extLst>
          </p:cNvPr>
          <p:cNvSpPr/>
          <p:nvPr/>
        </p:nvSpPr>
        <p:spPr>
          <a:xfrm>
            <a:off x="6397011" y="5483350"/>
            <a:ext cx="392727" cy="19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목록</a:t>
            </a:r>
          </a:p>
        </p:txBody>
      </p:sp>
      <p:sp>
        <p:nvSpPr>
          <p:cNvPr id="193" name="직사각형 192">
            <a:extLst>
              <a:ext uri="{FF2B5EF4-FFF2-40B4-BE49-F238E27FC236}">
                <a16:creationId xmlns:a16="http://schemas.microsoft.com/office/drawing/2014/main" id="{6BAEE553-0D85-CDE0-01E1-A2F6A9C63FF3}"/>
              </a:ext>
            </a:extLst>
          </p:cNvPr>
          <p:cNvSpPr/>
          <p:nvPr/>
        </p:nvSpPr>
        <p:spPr>
          <a:xfrm>
            <a:off x="5936915" y="5483350"/>
            <a:ext cx="392727" cy="198000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신청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D2875D08-F878-4461-C86A-94016C2134EC}"/>
              </a:ext>
            </a:extLst>
          </p:cNvPr>
          <p:cNvSpPr>
            <a:spLocks noChangeAspect="1"/>
          </p:cNvSpPr>
          <p:nvPr/>
        </p:nvSpPr>
        <p:spPr>
          <a:xfrm>
            <a:off x="3136381" y="2228717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CD271A19-532A-611D-8C1A-1AE34CF1E2DC}"/>
              </a:ext>
            </a:extLst>
          </p:cNvPr>
          <p:cNvSpPr>
            <a:spLocks noChangeAspect="1"/>
          </p:cNvSpPr>
          <p:nvPr/>
        </p:nvSpPr>
        <p:spPr>
          <a:xfrm>
            <a:off x="512127" y="2613075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3069B566-1D37-36CD-8CB2-65CA1B82FE76}"/>
              </a:ext>
            </a:extLst>
          </p:cNvPr>
          <p:cNvSpPr>
            <a:spLocks noChangeAspect="1"/>
          </p:cNvSpPr>
          <p:nvPr/>
        </p:nvSpPr>
        <p:spPr>
          <a:xfrm>
            <a:off x="512127" y="2849217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2A7EA09E-72D8-2BAF-CAEE-A2F23F80BEFC}"/>
              </a:ext>
            </a:extLst>
          </p:cNvPr>
          <p:cNvSpPr>
            <a:spLocks noChangeAspect="1"/>
          </p:cNvSpPr>
          <p:nvPr/>
        </p:nvSpPr>
        <p:spPr>
          <a:xfrm>
            <a:off x="512127" y="3094075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C9677565-4277-491C-A9C4-0312F05E1815}"/>
              </a:ext>
            </a:extLst>
          </p:cNvPr>
          <p:cNvGrpSpPr/>
          <p:nvPr/>
        </p:nvGrpSpPr>
        <p:grpSpPr>
          <a:xfrm>
            <a:off x="1902104" y="3073250"/>
            <a:ext cx="3380561" cy="147301"/>
            <a:chOff x="749381" y="3305176"/>
            <a:chExt cx="3380561" cy="147301"/>
          </a:xfrm>
        </p:grpSpPr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46D3210D-8C3A-FEB4-F3E6-0E40F8BD395D}"/>
                </a:ext>
              </a:extLst>
            </p:cNvPr>
            <p:cNvSpPr/>
            <p:nvPr/>
          </p:nvSpPr>
          <p:spPr>
            <a:xfrm>
              <a:off x="1904260" y="3306826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700" dirty="0">
                  <a:solidFill>
                    <a:prstClr val="black">
                      <a:lumMod val="95000"/>
                      <a:lumOff val="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자격증사본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7CB72144-9DD0-81DD-E0C3-37458EE28E04}"/>
                </a:ext>
              </a:extLst>
            </p:cNvPr>
            <p:cNvSpPr/>
            <p:nvPr/>
          </p:nvSpPr>
          <p:spPr>
            <a:xfrm>
              <a:off x="3557258" y="3306818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제출</a:t>
              </a: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D5961F3D-BF62-5DD2-0D3E-989CF00F8961}"/>
                </a:ext>
              </a:extLst>
            </p:cNvPr>
            <p:cNvSpPr/>
            <p:nvPr/>
          </p:nvSpPr>
          <p:spPr>
            <a:xfrm>
              <a:off x="3865768" y="3306818"/>
              <a:ext cx="264174" cy="144016"/>
            </a:xfrm>
            <a:prstGeom prst="rect">
              <a:avLst/>
            </a:prstGeom>
            <a:solidFill>
              <a:srgbClr val="66FF66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5" name="Rectangle 191">
              <a:extLst>
                <a:ext uri="{FF2B5EF4-FFF2-40B4-BE49-F238E27FC236}">
                  <a16:creationId xmlns:a16="http://schemas.microsoft.com/office/drawing/2014/main" id="{CC5095FA-5E2A-77E3-03F6-D8C7E2520D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9381" y="3324965"/>
              <a:ext cx="359073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자격내용</a:t>
              </a:r>
            </a:p>
          </p:txBody>
        </p:sp>
        <p:pic>
          <p:nvPicPr>
            <p:cNvPr id="36" name="Picture 13">
              <a:extLst>
                <a:ext uri="{FF2B5EF4-FFF2-40B4-BE49-F238E27FC236}">
                  <a16:creationId xmlns:a16="http://schemas.microsoft.com/office/drawing/2014/main" id="{103A3539-C719-0BAE-339D-EB193C0C8AC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87888" y="3305176"/>
              <a:ext cx="154667" cy="147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DB6F3CAB-D15A-C614-7B2C-8A18EC1231B8}"/>
                </a:ext>
              </a:extLst>
            </p:cNvPr>
            <p:cNvSpPr/>
            <p:nvPr/>
          </p:nvSpPr>
          <p:spPr>
            <a:xfrm>
              <a:off x="1127998" y="3306826"/>
              <a:ext cx="35765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700" dirty="0">
                  <a:solidFill>
                    <a:prstClr val="black">
                      <a:lumMod val="95000"/>
                      <a:lumOff val="5000"/>
                    </a:prstClr>
                  </a:solidFill>
                </a:rPr>
                <a:t>선택</a:t>
              </a:r>
            </a:p>
          </p:txBody>
        </p:sp>
        <p:sp>
          <p:nvSpPr>
            <p:cNvPr id="38" name="Rectangle 191">
              <a:extLst>
                <a:ext uri="{FF2B5EF4-FFF2-40B4-BE49-F238E27FC236}">
                  <a16:creationId xmlns:a16="http://schemas.microsoft.com/office/drawing/2014/main" id="{C57B5E77-D374-E3EF-621D-BD3D754C4E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2518" y="3324965"/>
              <a:ext cx="179536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첨부</a:t>
              </a: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D104BD42-8243-8AC9-BB28-B169C899E0B9}"/>
              </a:ext>
            </a:extLst>
          </p:cNvPr>
          <p:cNvGrpSpPr/>
          <p:nvPr/>
        </p:nvGrpSpPr>
        <p:grpSpPr>
          <a:xfrm>
            <a:off x="1897456" y="3325188"/>
            <a:ext cx="2704513" cy="144016"/>
            <a:chOff x="1897884" y="2847629"/>
            <a:chExt cx="2704513" cy="144016"/>
          </a:xfrm>
        </p:grpSpPr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A740EE1B-0E8A-9E78-006D-A4FD4EB265FE}"/>
                </a:ext>
              </a:extLst>
            </p:cNvPr>
            <p:cNvSpPr/>
            <p:nvPr/>
          </p:nvSpPr>
          <p:spPr>
            <a:xfrm>
              <a:off x="1897884" y="2847637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추천서</a:t>
              </a:r>
              <a:r>
                <a:rPr kumimoji="0" lang="en-US" altLang="ko-KR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ABF0F4A5-90DA-4CAD-B9C8-E688C0A43848}"/>
                </a:ext>
              </a:extLst>
            </p:cNvPr>
            <p:cNvSpPr/>
            <p:nvPr/>
          </p:nvSpPr>
          <p:spPr>
            <a:xfrm>
              <a:off x="3550882" y="2847629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제출</a:t>
              </a: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93095EE8-D0AD-D25A-E17A-14233F7CE92E}"/>
                </a:ext>
              </a:extLst>
            </p:cNvPr>
            <p:cNvSpPr/>
            <p:nvPr/>
          </p:nvSpPr>
          <p:spPr>
            <a:xfrm>
              <a:off x="3859392" y="2847629"/>
              <a:ext cx="264174" cy="144016"/>
            </a:xfrm>
            <a:prstGeom prst="rect">
              <a:avLst/>
            </a:prstGeom>
            <a:solidFill>
              <a:srgbClr val="66FF66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9CB684EC-B46C-D243-3392-0F76228CE0E0}"/>
                </a:ext>
              </a:extLst>
            </p:cNvPr>
            <p:cNvSpPr/>
            <p:nvPr/>
          </p:nvSpPr>
          <p:spPr>
            <a:xfrm>
              <a:off x="4176942" y="2847629"/>
              <a:ext cx="425455" cy="14401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양식받기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F0D6D3AD-4909-C3A3-0E79-2FDB2E8EE922}"/>
              </a:ext>
            </a:extLst>
          </p:cNvPr>
          <p:cNvGrpSpPr/>
          <p:nvPr/>
        </p:nvGrpSpPr>
        <p:grpSpPr>
          <a:xfrm>
            <a:off x="1900611" y="4961270"/>
            <a:ext cx="2386963" cy="144016"/>
            <a:chOff x="1897884" y="4476806"/>
            <a:chExt cx="2386963" cy="144016"/>
          </a:xfrm>
        </p:grpSpPr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6880CDDF-32A5-E6A7-32AD-4E29354C5556}"/>
                </a:ext>
              </a:extLst>
            </p:cNvPr>
            <p:cNvSpPr/>
            <p:nvPr/>
          </p:nvSpPr>
          <p:spPr>
            <a:xfrm>
              <a:off x="1897884" y="4476814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DFE5C625-61AA-A1EE-AE77-2EEA81747A1C}"/>
                </a:ext>
              </a:extLst>
            </p:cNvPr>
            <p:cNvSpPr/>
            <p:nvPr/>
          </p:nvSpPr>
          <p:spPr>
            <a:xfrm>
              <a:off x="3550882" y="4476806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추가</a:t>
              </a: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7098BD56-6597-64B4-DC10-D03C7B23A177}"/>
                </a:ext>
              </a:extLst>
            </p:cNvPr>
            <p:cNvSpPr/>
            <p:nvPr/>
          </p:nvSpPr>
          <p:spPr>
            <a:xfrm>
              <a:off x="3859392" y="4476806"/>
              <a:ext cx="425455" cy="14401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양식받기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99EE3599-C65A-272E-C0C6-385BA5D03673}"/>
              </a:ext>
            </a:extLst>
          </p:cNvPr>
          <p:cNvSpPr/>
          <p:nvPr/>
        </p:nvSpPr>
        <p:spPr>
          <a:xfrm>
            <a:off x="668524" y="4925266"/>
            <a:ext cx="6121214" cy="21600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73DBD3DC-DDBF-98C1-EFB1-3F06D51EA681}"/>
              </a:ext>
            </a:extLst>
          </p:cNvPr>
          <p:cNvSpPr>
            <a:spLocks noChangeAspect="1"/>
          </p:cNvSpPr>
          <p:nvPr/>
        </p:nvSpPr>
        <p:spPr>
          <a:xfrm>
            <a:off x="512127" y="4961266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E5BDDE49-8329-726F-6A75-7CE1E3719AB3}"/>
              </a:ext>
            </a:extLst>
          </p:cNvPr>
          <p:cNvSpPr/>
          <p:nvPr/>
        </p:nvSpPr>
        <p:spPr>
          <a:xfrm>
            <a:off x="668524" y="3029091"/>
            <a:ext cx="6121214" cy="466345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92188877-5CB5-87FE-B1C2-7CC16C255AB3}"/>
              </a:ext>
            </a:extLst>
          </p:cNvPr>
          <p:cNvSpPr>
            <a:spLocks noChangeAspect="1"/>
          </p:cNvSpPr>
          <p:nvPr/>
        </p:nvSpPr>
        <p:spPr>
          <a:xfrm>
            <a:off x="512127" y="3314876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5533821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06502-AF18-46F7-6C47-75C43DA94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929587F-94A7-423A-32CA-2970F7AC12EA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특기생장학금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신청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35AEAA9-1CCE-939C-53A2-CA89200291D7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프로그램신청관리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특기생장학금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장학금신청</a:t>
            </a: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3161DFF4-4C63-F226-49D6-8D9D4F7D73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6800257"/>
              </p:ext>
            </p:extLst>
          </p:nvPr>
        </p:nvGraphicFramePr>
        <p:xfrm>
          <a:off x="6969418" y="2548005"/>
          <a:ext cx="2772114" cy="3306619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프로그램신청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특기생장학금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조회 화면 목록에서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신청하기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클릭 시 보이는 화면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전형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학업성적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전형별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고등학교졸업증명서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대학교재학증명서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성적증빙자료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성적증빙자료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성적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성적증빙자료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기반 성적을 입력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첨부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제출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]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클릭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&gt;&gt;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제출 서류 파일 선택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&gt;&gt;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첨부완료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받기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] 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클릭 시 첨부된 제출 서류 파일 다운로드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추천서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첨부 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: [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제출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제출 서류 파일 선택 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첨부완료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받기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 첨부된 제출 서류 파일 다운로드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양식받기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 추천서 양식 파일을 다운 받는다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주민등록초본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거주기간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신청 회원의 거주기간을 입력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첨부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제출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]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클릭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&gt;&gt;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제출 서류 파일 선택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&gt;&gt;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첨부완료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받기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] 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클릭 시 첨부된 제출 서류 파일 다운로드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첨부파일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추가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] : 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추가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파일 선택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첨부 설정완료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파일받기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파일명 클릭 시 첨부된 파일 다운로드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[x]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 첨부된 해당 파일 삭제 처리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양식받기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시 추천서 양식 파일을 다운 받는다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C41023CD-7BAA-F368-8EEF-05B71AFAFCD9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pat_application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8B5DCCA-90BC-7F5C-F369-054FA63DDC3C}"/>
              </a:ext>
            </a:extLst>
          </p:cNvPr>
          <p:cNvSpPr/>
          <p:nvPr/>
        </p:nvSpPr>
        <p:spPr>
          <a:xfrm>
            <a:off x="165100" y="1376363"/>
            <a:ext cx="6732116" cy="460414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B1C8E21-7805-C8F4-2F1A-13FDD909BE21}"/>
              </a:ext>
            </a:extLst>
          </p:cNvPr>
          <p:cNvSpPr/>
          <p:nvPr/>
        </p:nvSpPr>
        <p:spPr>
          <a:xfrm>
            <a:off x="292846" y="1448780"/>
            <a:ext cx="1099660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800" b="1" dirty="0" err="1">
                <a:solidFill>
                  <a:prstClr val="black"/>
                </a:solidFill>
              </a:rPr>
              <a:t>특기생</a:t>
            </a:r>
            <a:r>
              <a:rPr lang="ko-KR" altLang="en-US" sz="800" b="1" dirty="0">
                <a:solidFill>
                  <a:prstClr val="black"/>
                </a:solidFill>
              </a:rPr>
              <a:t> 장학금 신청정보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765FD6E-34EB-13DC-6907-50706C78166C}"/>
              </a:ext>
            </a:extLst>
          </p:cNvPr>
          <p:cNvSpPr/>
          <p:nvPr/>
        </p:nvSpPr>
        <p:spPr>
          <a:xfrm>
            <a:off x="165100" y="6023481"/>
            <a:ext cx="6732116" cy="46622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46C6FD2A-71EE-6CC1-0E5F-4EBC08E53A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6165304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AEA6A68-88A8-6AAC-C7B7-98D80FB17C32}"/>
              </a:ext>
            </a:extLst>
          </p:cNvPr>
          <p:cNvSpPr txBox="1"/>
          <p:nvPr/>
        </p:nvSpPr>
        <p:spPr>
          <a:xfrm>
            <a:off x="1172580" y="6077394"/>
            <a:ext cx="31242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경기 오산시 성호대로 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141 (</a:t>
            </a:r>
            <a:r>
              <a:rPr lang="ko-KR" altLang="en-US" sz="600" b="0" i="0" dirty="0" err="1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오산동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오산시청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오산교육재단</a:t>
            </a:r>
            <a:endParaRPr lang="en-US" altLang="ko-KR" sz="600" b="0" i="0" dirty="0">
              <a:solidFill>
                <a:srgbClr val="666666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>
              <a:buNone/>
            </a:pP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TEL. (031)8036-8905 FAX. (031)8036-8905</a:t>
            </a:r>
          </a:p>
          <a:p>
            <a:pPr algn="l">
              <a:buNone/>
            </a:pP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Copyright©2025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오산교육재단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 ALL RIGHTSRESERVED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84A3981-9117-2565-6843-544E04158F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1510170"/>
              </p:ext>
            </p:extLst>
          </p:nvPr>
        </p:nvGraphicFramePr>
        <p:xfrm>
          <a:off x="272480" y="1628800"/>
          <a:ext cx="6517258" cy="375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054">
                  <a:extLst>
                    <a:ext uri="{9D8B030D-6E8A-4147-A177-3AD203B41FA5}">
                      <a16:colId xmlns:a16="http://schemas.microsoft.com/office/drawing/2014/main" val="3668863434"/>
                    </a:ext>
                  </a:extLst>
                </a:gridCol>
                <a:gridCol w="4921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구분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특기생</a:t>
                      </a:r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장학금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894265"/>
                  </a:ext>
                </a:extLst>
              </a:tr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</a:t>
                      </a:r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하반기 </a:t>
                      </a:r>
                      <a:r>
                        <a:rPr lang="ko-KR" altLang="en-US" sz="7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특기생</a:t>
                      </a:r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장학금 신청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접수기간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2025.09.20 10:00 </a:t>
                      </a:r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~ 2025.09.30 10:00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전형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4735">
                <a:tc rowSpan="3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전형별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고등학교졸업증명서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2230354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대학교재학증명서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446280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성적증빙자료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1427946"/>
                  </a:ext>
                </a:extLst>
              </a:tr>
              <a:tr h="234735">
                <a:tc rowSpan="9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공통 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추천서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주민등록초본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1958612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주민등록등본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164179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국민기초생활보장수급자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차상위계층확인서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한부모가족보호대상확인서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장애인증명서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첨부파일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8089092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8418894"/>
                  </a:ext>
                </a:extLst>
              </a:tr>
            </a:tbl>
          </a:graphicData>
        </a:graphic>
      </p:graphicFrame>
      <p:sp>
        <p:nvSpPr>
          <p:cNvPr id="77" name="직사각형 76">
            <a:extLst>
              <a:ext uri="{FF2B5EF4-FFF2-40B4-BE49-F238E27FC236}">
                <a16:creationId xmlns:a16="http://schemas.microsoft.com/office/drawing/2014/main" id="{2256D5FD-6871-E38A-59ED-CD6E73ECF2C1}"/>
              </a:ext>
            </a:extLst>
          </p:cNvPr>
          <p:cNvSpPr/>
          <p:nvPr/>
        </p:nvSpPr>
        <p:spPr>
          <a:xfrm>
            <a:off x="1904260" y="3782257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주민등록등본</a:t>
            </a:r>
            <a:r>
              <a:rPr kumimoji="0" lang="en-US" altLang="ko-KR" sz="7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31C01EC1-06F5-A361-5732-C6ADCA81DF55}"/>
              </a:ext>
            </a:extLst>
          </p:cNvPr>
          <p:cNvSpPr/>
          <p:nvPr/>
        </p:nvSpPr>
        <p:spPr>
          <a:xfrm>
            <a:off x="3557258" y="3782249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9787F13E-8AA5-164A-8B42-71EFD9601C45}"/>
              </a:ext>
            </a:extLst>
          </p:cNvPr>
          <p:cNvSpPr/>
          <p:nvPr/>
        </p:nvSpPr>
        <p:spPr>
          <a:xfrm>
            <a:off x="1904260" y="4025174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dirty="0" err="1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국민기초생활보장수급자</a:t>
            </a:r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3112DCBF-B589-267F-EE2A-3806ABB043A5}"/>
              </a:ext>
            </a:extLst>
          </p:cNvPr>
          <p:cNvSpPr/>
          <p:nvPr/>
        </p:nvSpPr>
        <p:spPr>
          <a:xfrm>
            <a:off x="3557258" y="4025166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BB1F5DAB-D500-2344-C8BB-250F189569FE}"/>
              </a:ext>
            </a:extLst>
          </p:cNvPr>
          <p:cNvSpPr/>
          <p:nvPr/>
        </p:nvSpPr>
        <p:spPr>
          <a:xfrm>
            <a:off x="1904260" y="4253967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차상위계층확인서</a:t>
            </a:r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BC6D90A3-87E8-6CB0-6405-E5E060404433}"/>
              </a:ext>
            </a:extLst>
          </p:cNvPr>
          <p:cNvSpPr/>
          <p:nvPr/>
        </p:nvSpPr>
        <p:spPr>
          <a:xfrm>
            <a:off x="3557258" y="4253959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E0505F5F-F23D-9974-9E2C-294994FE6090}"/>
              </a:ext>
            </a:extLst>
          </p:cNvPr>
          <p:cNvSpPr/>
          <p:nvPr/>
        </p:nvSpPr>
        <p:spPr>
          <a:xfrm>
            <a:off x="1904260" y="4491170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1366933D-51DD-49E2-CBDF-D2347851B43B}"/>
              </a:ext>
            </a:extLst>
          </p:cNvPr>
          <p:cNvSpPr/>
          <p:nvPr/>
        </p:nvSpPr>
        <p:spPr>
          <a:xfrm>
            <a:off x="3557258" y="4491162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777A1913-4AD5-195E-92A1-32849A1095A4}"/>
              </a:ext>
            </a:extLst>
          </p:cNvPr>
          <p:cNvSpPr/>
          <p:nvPr/>
        </p:nvSpPr>
        <p:spPr>
          <a:xfrm>
            <a:off x="1904260" y="4725152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00222BF9-60EF-67BE-ACAE-34B888B4EFDD}"/>
              </a:ext>
            </a:extLst>
          </p:cNvPr>
          <p:cNvSpPr/>
          <p:nvPr/>
        </p:nvSpPr>
        <p:spPr>
          <a:xfrm>
            <a:off x="3557258" y="4725144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8811F575-E12C-6E99-8583-2C2B88A3531B}"/>
              </a:ext>
            </a:extLst>
          </p:cNvPr>
          <p:cNvGrpSpPr/>
          <p:nvPr/>
        </p:nvGrpSpPr>
        <p:grpSpPr>
          <a:xfrm>
            <a:off x="1939541" y="5213519"/>
            <a:ext cx="1105196" cy="128396"/>
            <a:chOff x="3438680" y="4305150"/>
            <a:chExt cx="1105196" cy="128396"/>
          </a:xfrm>
        </p:grpSpPr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4C09F5BF-F074-013D-1864-19BEC677820D}"/>
                </a:ext>
              </a:extLst>
            </p:cNvPr>
            <p:cNvSpPr txBox="1"/>
            <p:nvPr/>
          </p:nvSpPr>
          <p:spPr>
            <a:xfrm>
              <a:off x="3438680" y="4305150"/>
              <a:ext cx="971420" cy="10772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신청 관련 부가 서류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91" name="Picture 10">
              <a:extLst>
                <a:ext uri="{FF2B5EF4-FFF2-40B4-BE49-F238E27FC236}">
                  <a16:creationId xmlns:a16="http://schemas.microsoft.com/office/drawing/2014/main" id="{1FB41199-A4B1-4ADB-21EF-1C59A2574CA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7418" y="4312303"/>
              <a:ext cx="106458" cy="121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95C1F175-F3AC-E753-333A-2472539DD422}"/>
              </a:ext>
            </a:extLst>
          </p:cNvPr>
          <p:cNvGrpSpPr/>
          <p:nvPr/>
        </p:nvGrpSpPr>
        <p:grpSpPr>
          <a:xfrm>
            <a:off x="3125954" y="5213519"/>
            <a:ext cx="1105196" cy="128396"/>
            <a:chOff x="3438680" y="4305150"/>
            <a:chExt cx="1105196" cy="128396"/>
          </a:xfrm>
        </p:grpSpPr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00890026-57A9-28A0-0B0D-84CE71DA7C4B}"/>
                </a:ext>
              </a:extLst>
            </p:cNvPr>
            <p:cNvSpPr txBox="1"/>
            <p:nvPr/>
          </p:nvSpPr>
          <p:spPr>
            <a:xfrm>
              <a:off x="3438680" y="4305150"/>
              <a:ext cx="971420" cy="10772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신청 관련 부가 서류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94" name="Picture 10">
              <a:extLst>
                <a:ext uri="{FF2B5EF4-FFF2-40B4-BE49-F238E27FC236}">
                  <a16:creationId xmlns:a16="http://schemas.microsoft.com/office/drawing/2014/main" id="{9B1C3FC4-627E-1383-643F-9246491EC7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7418" y="4312303"/>
              <a:ext cx="106458" cy="121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63207ED7-BE89-83AD-8F22-7916CA465F29}"/>
              </a:ext>
            </a:extLst>
          </p:cNvPr>
          <p:cNvSpPr/>
          <p:nvPr/>
        </p:nvSpPr>
        <p:spPr>
          <a:xfrm>
            <a:off x="3865768" y="3781089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F81405E3-1284-34E0-9329-B076B6C73B1D}"/>
              </a:ext>
            </a:extLst>
          </p:cNvPr>
          <p:cNvSpPr/>
          <p:nvPr/>
        </p:nvSpPr>
        <p:spPr>
          <a:xfrm>
            <a:off x="3865768" y="4025207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F7C3ED79-84AA-5C6F-DBD0-43F2E92B0679}"/>
              </a:ext>
            </a:extLst>
          </p:cNvPr>
          <p:cNvSpPr/>
          <p:nvPr/>
        </p:nvSpPr>
        <p:spPr>
          <a:xfrm>
            <a:off x="3865768" y="4253341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D0DFD66D-3BE0-EAAF-D80B-C2860F0A465E}"/>
              </a:ext>
            </a:extLst>
          </p:cNvPr>
          <p:cNvSpPr/>
          <p:nvPr/>
        </p:nvSpPr>
        <p:spPr>
          <a:xfrm>
            <a:off x="3865768" y="4485267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15F92E36-9330-E8F4-C3D9-72B4C8A72CE6}"/>
              </a:ext>
            </a:extLst>
          </p:cNvPr>
          <p:cNvSpPr/>
          <p:nvPr/>
        </p:nvSpPr>
        <p:spPr>
          <a:xfrm>
            <a:off x="3865768" y="4727012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A711C458-3A8F-6386-C474-30EC63A41208}"/>
              </a:ext>
            </a:extLst>
          </p:cNvPr>
          <p:cNvGrpSpPr/>
          <p:nvPr/>
        </p:nvGrpSpPr>
        <p:grpSpPr>
          <a:xfrm>
            <a:off x="3429010" y="2378109"/>
            <a:ext cx="505750" cy="144462"/>
            <a:chOff x="2716253" y="2405617"/>
            <a:chExt cx="505750" cy="144462"/>
          </a:xfrm>
        </p:grpSpPr>
        <p:sp>
          <p:nvSpPr>
            <p:cNvPr id="104" name="Rectangle 191">
              <a:extLst>
                <a:ext uri="{FF2B5EF4-FFF2-40B4-BE49-F238E27FC236}">
                  <a16:creationId xmlns:a16="http://schemas.microsoft.com/office/drawing/2014/main" id="{D776F974-549A-E236-FDBB-9B5A961209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359073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학업성적</a:t>
              </a:r>
            </a:p>
          </p:txBody>
        </p:sp>
        <p:graphicFrame>
          <p:nvGraphicFramePr>
            <p:cNvPr id="105" name="개체 104">
              <a:extLst>
                <a:ext uri="{FF2B5EF4-FFF2-40B4-BE49-F238E27FC236}">
                  <a16:creationId xmlns:a16="http://schemas.microsoft.com/office/drawing/2014/main" id="{C1730C0D-7B8A-5867-A1DD-8BCA364BB73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145435" imgH="145435" progId="Visio.Drawing.11">
                    <p:embed/>
                  </p:oleObj>
                </mc:Choice>
                <mc:Fallback>
                  <p:oleObj name="Visio" r:id="rId4" imgW="145435" imgH="145435" progId="Visio.Drawing.11">
                    <p:embed/>
                    <p:pic>
                      <p:nvPicPr>
                        <p:cNvPr id="46" name="개체 45">
                          <a:extLst>
                            <a:ext uri="{FF2B5EF4-FFF2-40B4-BE49-F238E27FC236}">
                              <a16:creationId xmlns:a16="http://schemas.microsoft.com/office/drawing/2014/main" id="{C1730C0D-7B8A-5867-A1DD-8BCA364BB73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8A4E6A6D-0A57-B61B-2A81-B963A6267B72}"/>
              </a:ext>
            </a:extLst>
          </p:cNvPr>
          <p:cNvGrpSpPr/>
          <p:nvPr/>
        </p:nvGrpSpPr>
        <p:grpSpPr>
          <a:xfrm>
            <a:off x="4006768" y="2378109"/>
            <a:ext cx="326213" cy="144462"/>
            <a:chOff x="2716253" y="2405617"/>
            <a:chExt cx="326213" cy="144462"/>
          </a:xfrm>
        </p:grpSpPr>
        <p:sp>
          <p:nvSpPr>
            <p:cNvPr id="107" name="Rectangle 191">
              <a:extLst>
                <a:ext uri="{FF2B5EF4-FFF2-40B4-BE49-F238E27FC236}">
                  <a16:creationId xmlns:a16="http://schemas.microsoft.com/office/drawing/2014/main" id="{D908DEDE-48A1-526F-780B-FFF7093644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179536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기타</a:t>
              </a:r>
            </a:p>
          </p:txBody>
        </p:sp>
        <p:graphicFrame>
          <p:nvGraphicFramePr>
            <p:cNvPr id="108" name="개체 107">
              <a:extLst>
                <a:ext uri="{FF2B5EF4-FFF2-40B4-BE49-F238E27FC236}">
                  <a16:creationId xmlns:a16="http://schemas.microsoft.com/office/drawing/2014/main" id="{187E3ECD-7FB9-A893-C077-58D6D59D654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145435" imgH="145435" progId="Visio.Drawing.11">
                    <p:embed/>
                  </p:oleObj>
                </mc:Choice>
                <mc:Fallback>
                  <p:oleObj name="Visio" r:id="rId4" imgW="145435" imgH="145435" progId="Visio.Drawing.11">
                    <p:embed/>
                    <p:pic>
                      <p:nvPicPr>
                        <p:cNvPr id="49" name="개체 48">
                          <a:extLst>
                            <a:ext uri="{FF2B5EF4-FFF2-40B4-BE49-F238E27FC236}">
                              <a16:creationId xmlns:a16="http://schemas.microsoft.com/office/drawing/2014/main" id="{187E3ECD-7FB9-A893-C077-58D6D59D654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9" name="Rectangle 191">
            <a:extLst>
              <a:ext uri="{FF2B5EF4-FFF2-40B4-BE49-F238E27FC236}">
                <a16:creationId xmlns:a16="http://schemas.microsoft.com/office/drawing/2014/main" id="{2F48BDBE-187E-B1AA-973A-EBA8F72F68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2177" y="2396479"/>
            <a:ext cx="1439497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입상실적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                                )</a:t>
            </a:r>
            <a:endParaRPr kumimoji="0" lang="ko-KR" altLang="en-US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4A2B4B46-B692-8D2D-3E92-3F5ABAB9FBDD}"/>
              </a:ext>
            </a:extLst>
          </p:cNvPr>
          <p:cNvGrpSpPr/>
          <p:nvPr/>
        </p:nvGrpSpPr>
        <p:grpSpPr>
          <a:xfrm>
            <a:off x="2645151" y="2378109"/>
            <a:ext cx="318262" cy="144462"/>
            <a:chOff x="2716253" y="2405617"/>
            <a:chExt cx="318262" cy="144462"/>
          </a:xfrm>
        </p:grpSpPr>
        <p:sp>
          <p:nvSpPr>
            <p:cNvPr id="111" name="Rectangle 191">
              <a:extLst>
                <a:ext uri="{FF2B5EF4-FFF2-40B4-BE49-F238E27FC236}">
                  <a16:creationId xmlns:a16="http://schemas.microsoft.com/office/drawing/2014/main" id="{739FC960-30EB-EB74-85C9-4E8686651D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4979" y="2416036"/>
              <a:ext cx="179536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단체</a:t>
              </a:r>
            </a:p>
          </p:txBody>
        </p:sp>
        <p:graphicFrame>
          <p:nvGraphicFramePr>
            <p:cNvPr id="112" name="개체 111">
              <a:extLst>
                <a:ext uri="{FF2B5EF4-FFF2-40B4-BE49-F238E27FC236}">
                  <a16:creationId xmlns:a16="http://schemas.microsoft.com/office/drawing/2014/main" id="{40F44762-DED6-8740-C315-E1AE51D1030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145435" imgH="145435" progId="Visio.Drawing.11">
                    <p:embed/>
                  </p:oleObj>
                </mc:Choice>
                <mc:Fallback>
                  <p:oleObj name="Visio" r:id="rId4" imgW="145435" imgH="145435" progId="Visio.Drawing.11">
                    <p:embed/>
                    <p:pic>
                      <p:nvPicPr>
                        <p:cNvPr id="53" name="개체 52">
                          <a:extLst>
                            <a:ext uri="{FF2B5EF4-FFF2-40B4-BE49-F238E27FC236}">
                              <a16:creationId xmlns:a16="http://schemas.microsoft.com/office/drawing/2014/main" id="{40F44762-DED6-8740-C315-E1AE51D1030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6BE48F2B-EB27-2191-AF66-F135C99FFE2C}"/>
              </a:ext>
            </a:extLst>
          </p:cNvPr>
          <p:cNvGrpSpPr/>
          <p:nvPr/>
        </p:nvGrpSpPr>
        <p:grpSpPr>
          <a:xfrm>
            <a:off x="2306629" y="2378109"/>
            <a:ext cx="318262" cy="144462"/>
            <a:chOff x="2716253" y="2405617"/>
            <a:chExt cx="318262" cy="144462"/>
          </a:xfrm>
        </p:grpSpPr>
        <p:sp>
          <p:nvSpPr>
            <p:cNvPr id="114" name="Rectangle 191">
              <a:extLst>
                <a:ext uri="{FF2B5EF4-FFF2-40B4-BE49-F238E27FC236}">
                  <a16:creationId xmlns:a16="http://schemas.microsoft.com/office/drawing/2014/main" id="{7E978DF0-6276-EEB0-9AD2-FB6D64C17F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4979" y="2416036"/>
              <a:ext cx="179536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개인</a:t>
              </a:r>
            </a:p>
          </p:txBody>
        </p:sp>
        <p:graphicFrame>
          <p:nvGraphicFramePr>
            <p:cNvPr id="115" name="개체 114">
              <a:extLst>
                <a:ext uri="{FF2B5EF4-FFF2-40B4-BE49-F238E27FC236}">
                  <a16:creationId xmlns:a16="http://schemas.microsoft.com/office/drawing/2014/main" id="{F61B9B3E-F5F7-77A5-C2FC-9870FFE4B53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145435" imgH="145435" progId="Visio.Drawing.11">
                    <p:embed/>
                  </p:oleObj>
                </mc:Choice>
                <mc:Fallback>
                  <p:oleObj name="Visio" r:id="rId4" imgW="145435" imgH="145435" progId="Visio.Drawing.11">
                    <p:embed/>
                    <p:pic>
                      <p:nvPicPr>
                        <p:cNvPr id="56" name="개체 55">
                          <a:extLst>
                            <a:ext uri="{FF2B5EF4-FFF2-40B4-BE49-F238E27FC236}">
                              <a16:creationId xmlns:a16="http://schemas.microsoft.com/office/drawing/2014/main" id="{F61B9B3E-F5F7-77A5-C2FC-9870FFE4B53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D1FDDE92-ED3E-0593-D12E-A26C1E129BAA}"/>
              </a:ext>
            </a:extLst>
          </p:cNvPr>
          <p:cNvGrpSpPr/>
          <p:nvPr/>
        </p:nvGrpSpPr>
        <p:grpSpPr>
          <a:xfrm>
            <a:off x="2980970" y="2378109"/>
            <a:ext cx="318262" cy="144462"/>
            <a:chOff x="2716253" y="2405617"/>
            <a:chExt cx="318262" cy="144462"/>
          </a:xfrm>
        </p:grpSpPr>
        <p:sp>
          <p:nvSpPr>
            <p:cNvPr id="117" name="Rectangle 191">
              <a:extLst>
                <a:ext uri="{FF2B5EF4-FFF2-40B4-BE49-F238E27FC236}">
                  <a16:creationId xmlns:a16="http://schemas.microsoft.com/office/drawing/2014/main" id="{2D188886-A16C-C515-E620-E0FA605E30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4979" y="2416036"/>
              <a:ext cx="179536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기능</a:t>
              </a:r>
            </a:p>
          </p:txBody>
        </p:sp>
        <p:graphicFrame>
          <p:nvGraphicFramePr>
            <p:cNvPr id="118" name="개체 117">
              <a:extLst>
                <a:ext uri="{FF2B5EF4-FFF2-40B4-BE49-F238E27FC236}">
                  <a16:creationId xmlns:a16="http://schemas.microsoft.com/office/drawing/2014/main" id="{3B802556-CB23-E31E-DD22-93D503C259A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145435" imgH="145435" progId="Visio.Drawing.11">
                    <p:embed/>
                  </p:oleObj>
                </mc:Choice>
                <mc:Fallback>
                  <p:oleObj name="Visio" r:id="rId4" imgW="145435" imgH="145435" progId="Visio.Drawing.11">
                    <p:embed/>
                    <p:pic>
                      <p:nvPicPr>
                        <p:cNvPr id="59" name="개체 58">
                          <a:extLst>
                            <a:ext uri="{FF2B5EF4-FFF2-40B4-BE49-F238E27FC236}">
                              <a16:creationId xmlns:a16="http://schemas.microsoft.com/office/drawing/2014/main" id="{3B802556-CB23-E31E-DD22-93D503C259A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9" name="개체 118">
            <a:extLst>
              <a:ext uri="{FF2B5EF4-FFF2-40B4-BE49-F238E27FC236}">
                <a16:creationId xmlns:a16="http://schemas.microsoft.com/office/drawing/2014/main" id="{3B2AD99D-64D1-619C-32F7-A3E36FAD82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6320936"/>
              </p:ext>
            </p:extLst>
          </p:nvPr>
        </p:nvGraphicFramePr>
        <p:xfrm>
          <a:off x="3424957" y="2378109"/>
          <a:ext cx="144462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145435" imgH="145435" progId="Visio.Drawing.11">
                  <p:embed/>
                </p:oleObj>
              </mc:Choice>
              <mc:Fallback>
                <p:oleObj name="Visio" r:id="rId6" imgW="145435" imgH="145435" progId="Visio.Drawing.11">
                  <p:embed/>
                  <p:pic>
                    <p:nvPicPr>
                      <p:cNvPr id="60" name="개체 59">
                        <a:extLst>
                          <a:ext uri="{FF2B5EF4-FFF2-40B4-BE49-F238E27FC236}">
                            <a16:creationId xmlns:a16="http://schemas.microsoft.com/office/drawing/2014/main" id="{3B2AD99D-64D1-619C-32F7-A3E36FAD82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4957" y="2378109"/>
                        <a:ext cx="144462" cy="14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99FF65F5-CFDB-1437-FB47-225657235B42}"/>
              </a:ext>
            </a:extLst>
          </p:cNvPr>
          <p:cNvSpPr/>
          <p:nvPr/>
        </p:nvSpPr>
        <p:spPr>
          <a:xfrm>
            <a:off x="1904260" y="2613067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고등학교졸업증명서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4ED392B3-222D-4CB3-A6E0-619A15B5AEE5}"/>
              </a:ext>
            </a:extLst>
          </p:cNvPr>
          <p:cNvSpPr/>
          <p:nvPr/>
        </p:nvSpPr>
        <p:spPr>
          <a:xfrm>
            <a:off x="3557258" y="2613059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C3823F1A-8EA8-801C-DD0C-2769EF34B166}"/>
              </a:ext>
            </a:extLst>
          </p:cNvPr>
          <p:cNvSpPr/>
          <p:nvPr/>
        </p:nvSpPr>
        <p:spPr>
          <a:xfrm>
            <a:off x="3865768" y="2613059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CC826EDA-75D6-21AD-415E-0E46402E76EB}"/>
              </a:ext>
            </a:extLst>
          </p:cNvPr>
          <p:cNvSpPr/>
          <p:nvPr/>
        </p:nvSpPr>
        <p:spPr>
          <a:xfrm>
            <a:off x="1904260" y="2844993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대학교재학증명서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47132FCC-BAEF-BD2A-A141-C0AB0BF3160C}"/>
              </a:ext>
            </a:extLst>
          </p:cNvPr>
          <p:cNvSpPr/>
          <p:nvPr/>
        </p:nvSpPr>
        <p:spPr>
          <a:xfrm>
            <a:off x="3557258" y="2844985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B80FA516-855F-6490-97E4-1C5ABAEDD00F}"/>
              </a:ext>
            </a:extLst>
          </p:cNvPr>
          <p:cNvSpPr/>
          <p:nvPr/>
        </p:nvSpPr>
        <p:spPr>
          <a:xfrm>
            <a:off x="3865768" y="2844985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CE2F80A9-D665-0D96-F247-D237D36C7E0D}"/>
              </a:ext>
            </a:extLst>
          </p:cNvPr>
          <p:cNvSpPr/>
          <p:nvPr/>
        </p:nvSpPr>
        <p:spPr>
          <a:xfrm>
            <a:off x="6397011" y="5481228"/>
            <a:ext cx="392727" cy="19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목록</a:t>
            </a: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E826BDDA-F588-E5E1-F560-A17F5D0DA4E1}"/>
              </a:ext>
            </a:extLst>
          </p:cNvPr>
          <p:cNvSpPr/>
          <p:nvPr/>
        </p:nvSpPr>
        <p:spPr>
          <a:xfrm>
            <a:off x="5936915" y="5481228"/>
            <a:ext cx="392727" cy="198000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신청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36B88B0-FB46-0BD4-E1F7-FCB0406299F6}"/>
              </a:ext>
            </a:extLst>
          </p:cNvPr>
          <p:cNvSpPr/>
          <p:nvPr/>
        </p:nvSpPr>
        <p:spPr>
          <a:xfrm>
            <a:off x="2736884" y="3079902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성적증빙자료</a:t>
            </a:r>
            <a:r>
              <a:rPr kumimoji="0" lang="en-US" altLang="ko-KR" sz="7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.zip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FA15884-3D48-9DAC-FA41-7B96A77F9295}"/>
              </a:ext>
            </a:extLst>
          </p:cNvPr>
          <p:cNvSpPr/>
          <p:nvPr/>
        </p:nvSpPr>
        <p:spPr>
          <a:xfrm>
            <a:off x="4389882" y="3079894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CF57D2D-E243-92A5-5D2D-12C3A03F4AAA}"/>
              </a:ext>
            </a:extLst>
          </p:cNvPr>
          <p:cNvSpPr/>
          <p:nvPr/>
        </p:nvSpPr>
        <p:spPr>
          <a:xfrm>
            <a:off x="4698392" y="3079894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Rectangle 191">
            <a:extLst>
              <a:ext uri="{FF2B5EF4-FFF2-40B4-BE49-F238E27FC236}">
                <a16:creationId xmlns:a16="http://schemas.microsoft.com/office/drawing/2014/main" id="{DA685F1F-17CF-D795-2A1E-85047D6700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4260" y="3101260"/>
            <a:ext cx="17953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성적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890755D-394A-4148-F613-9BFA61943502}"/>
              </a:ext>
            </a:extLst>
          </p:cNvPr>
          <p:cNvSpPr/>
          <p:nvPr/>
        </p:nvSpPr>
        <p:spPr>
          <a:xfrm>
            <a:off x="2108894" y="3079902"/>
            <a:ext cx="36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4.5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Rectangle 191">
            <a:extLst>
              <a:ext uri="{FF2B5EF4-FFF2-40B4-BE49-F238E27FC236}">
                <a16:creationId xmlns:a16="http://schemas.microsoft.com/office/drawing/2014/main" id="{C5721A22-6ECD-71F4-5C03-1C31DAAB6A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7429" y="3101260"/>
            <a:ext cx="17953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첨부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070F5C3-A3D6-CA6E-F191-4D67C4F4C8C6}"/>
              </a:ext>
            </a:extLst>
          </p:cNvPr>
          <p:cNvSpPr/>
          <p:nvPr/>
        </p:nvSpPr>
        <p:spPr>
          <a:xfrm>
            <a:off x="2908953" y="3549618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주민등록초본</a:t>
            </a:r>
            <a:r>
              <a:rPr kumimoji="0" lang="en-US" altLang="ko-KR" sz="7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FF03348-ADE2-8190-B00A-2E333DD637D3}"/>
              </a:ext>
            </a:extLst>
          </p:cNvPr>
          <p:cNvSpPr/>
          <p:nvPr/>
        </p:nvSpPr>
        <p:spPr>
          <a:xfrm>
            <a:off x="4561951" y="3549610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71B5FA7-A833-0A53-0043-CBE35B26D598}"/>
              </a:ext>
            </a:extLst>
          </p:cNvPr>
          <p:cNvSpPr/>
          <p:nvPr/>
        </p:nvSpPr>
        <p:spPr>
          <a:xfrm>
            <a:off x="4870461" y="3549610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Rectangle 191">
            <a:extLst>
              <a:ext uri="{FF2B5EF4-FFF2-40B4-BE49-F238E27FC236}">
                <a16:creationId xmlns:a16="http://schemas.microsoft.com/office/drawing/2014/main" id="{BEFF03CA-AE73-5547-EAE9-986444AED6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9498" y="3564156"/>
            <a:ext cx="17953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첨부</a:t>
            </a:r>
          </a:p>
        </p:txBody>
      </p:sp>
      <p:sp>
        <p:nvSpPr>
          <p:cNvPr id="19" name="Rectangle 191">
            <a:extLst>
              <a:ext uri="{FF2B5EF4-FFF2-40B4-BE49-F238E27FC236}">
                <a16:creationId xmlns:a16="http://schemas.microsoft.com/office/drawing/2014/main" id="{4C7ED844-03C5-A836-401A-0B1A0A5B2E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4260" y="3572533"/>
            <a:ext cx="359073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거주기간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B432B33-FC58-F6A3-81B5-00C909874BCD}"/>
              </a:ext>
            </a:extLst>
          </p:cNvPr>
          <p:cNvSpPr/>
          <p:nvPr/>
        </p:nvSpPr>
        <p:spPr>
          <a:xfrm>
            <a:off x="2287592" y="3551175"/>
            <a:ext cx="36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년</a:t>
            </a: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CE469131-F61F-EDBB-EED2-FC32406CA7DF}"/>
              </a:ext>
            </a:extLst>
          </p:cNvPr>
          <p:cNvSpPr>
            <a:spLocks noChangeAspect="1"/>
          </p:cNvSpPr>
          <p:nvPr/>
        </p:nvSpPr>
        <p:spPr>
          <a:xfrm>
            <a:off x="3676974" y="2228717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ABE61116-653E-4986-1603-80F4C81D1A22}"/>
              </a:ext>
            </a:extLst>
          </p:cNvPr>
          <p:cNvSpPr>
            <a:spLocks noChangeAspect="1"/>
          </p:cNvSpPr>
          <p:nvPr/>
        </p:nvSpPr>
        <p:spPr>
          <a:xfrm>
            <a:off x="512127" y="2608859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038129FE-8CEB-11CF-F549-3239A91703D6}"/>
              </a:ext>
            </a:extLst>
          </p:cNvPr>
          <p:cNvSpPr>
            <a:spLocks noChangeAspect="1"/>
          </p:cNvSpPr>
          <p:nvPr/>
        </p:nvSpPr>
        <p:spPr>
          <a:xfrm>
            <a:off x="512127" y="2844993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EBABC5DA-D390-3F8B-2210-89EE46B3CF42}"/>
              </a:ext>
            </a:extLst>
          </p:cNvPr>
          <p:cNvSpPr>
            <a:spLocks noChangeAspect="1"/>
          </p:cNvSpPr>
          <p:nvPr/>
        </p:nvSpPr>
        <p:spPr>
          <a:xfrm>
            <a:off x="512127" y="3082669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C99A3AF3-2943-6777-AAAE-54ED8D6B69EA}"/>
              </a:ext>
            </a:extLst>
          </p:cNvPr>
          <p:cNvSpPr>
            <a:spLocks noChangeAspect="1"/>
          </p:cNvSpPr>
          <p:nvPr/>
        </p:nvSpPr>
        <p:spPr>
          <a:xfrm>
            <a:off x="512127" y="3557364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0E30B968-870A-A468-8E25-E30799DB2611}"/>
              </a:ext>
            </a:extLst>
          </p:cNvPr>
          <p:cNvGrpSpPr/>
          <p:nvPr/>
        </p:nvGrpSpPr>
        <p:grpSpPr>
          <a:xfrm>
            <a:off x="1897456" y="3316788"/>
            <a:ext cx="2704513" cy="144016"/>
            <a:chOff x="1897884" y="2847629"/>
            <a:chExt cx="2704513" cy="144016"/>
          </a:xfrm>
        </p:grpSpPr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DC1E950F-9F38-1A57-082D-275220971E55}"/>
                </a:ext>
              </a:extLst>
            </p:cNvPr>
            <p:cNvSpPr/>
            <p:nvPr/>
          </p:nvSpPr>
          <p:spPr>
            <a:xfrm>
              <a:off x="1897884" y="2847637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추천서</a:t>
              </a:r>
              <a:r>
                <a:rPr kumimoji="0" lang="en-US" altLang="ko-KR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50F3BDBA-CFFE-2A6C-509A-64BFD33BA5C9}"/>
                </a:ext>
              </a:extLst>
            </p:cNvPr>
            <p:cNvSpPr/>
            <p:nvPr/>
          </p:nvSpPr>
          <p:spPr>
            <a:xfrm>
              <a:off x="3550882" y="2847629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제출</a:t>
              </a: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7E68757C-8C1A-2761-F3BB-5CA681E9EF98}"/>
                </a:ext>
              </a:extLst>
            </p:cNvPr>
            <p:cNvSpPr/>
            <p:nvPr/>
          </p:nvSpPr>
          <p:spPr>
            <a:xfrm>
              <a:off x="3859392" y="2847629"/>
              <a:ext cx="264174" cy="144016"/>
            </a:xfrm>
            <a:prstGeom prst="rect">
              <a:avLst/>
            </a:prstGeom>
            <a:solidFill>
              <a:srgbClr val="66FF66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679D3FDD-2092-9579-FF11-BEDF63216B24}"/>
                </a:ext>
              </a:extLst>
            </p:cNvPr>
            <p:cNvSpPr/>
            <p:nvPr/>
          </p:nvSpPr>
          <p:spPr>
            <a:xfrm>
              <a:off x="4176942" y="2847629"/>
              <a:ext cx="425455" cy="14401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양식받기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50937640-D341-0D47-AEEE-8350CD07D43A}"/>
              </a:ext>
            </a:extLst>
          </p:cNvPr>
          <p:cNvGrpSpPr/>
          <p:nvPr/>
        </p:nvGrpSpPr>
        <p:grpSpPr>
          <a:xfrm>
            <a:off x="1900611" y="4957070"/>
            <a:ext cx="2386963" cy="144016"/>
            <a:chOff x="1897884" y="4476806"/>
            <a:chExt cx="2386963" cy="144016"/>
          </a:xfrm>
        </p:grpSpPr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23E5A64E-F66C-8BA8-D20D-45FD47278017}"/>
                </a:ext>
              </a:extLst>
            </p:cNvPr>
            <p:cNvSpPr/>
            <p:nvPr/>
          </p:nvSpPr>
          <p:spPr>
            <a:xfrm>
              <a:off x="1897884" y="4476814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4C8A16E6-1944-EE70-96B6-D99A1F0413D4}"/>
                </a:ext>
              </a:extLst>
            </p:cNvPr>
            <p:cNvSpPr/>
            <p:nvPr/>
          </p:nvSpPr>
          <p:spPr>
            <a:xfrm>
              <a:off x="3550882" y="4476806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추가</a:t>
              </a: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64046BF2-2B64-7DCC-9971-292C5D6DBE0F}"/>
                </a:ext>
              </a:extLst>
            </p:cNvPr>
            <p:cNvSpPr/>
            <p:nvPr/>
          </p:nvSpPr>
          <p:spPr>
            <a:xfrm>
              <a:off x="3859392" y="4476806"/>
              <a:ext cx="425455" cy="14401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양식받기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B83F1D52-124D-D923-C8B4-57A194CD899F}"/>
              </a:ext>
            </a:extLst>
          </p:cNvPr>
          <p:cNvSpPr/>
          <p:nvPr/>
        </p:nvSpPr>
        <p:spPr>
          <a:xfrm>
            <a:off x="668524" y="4925266"/>
            <a:ext cx="6121214" cy="21600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4BA13985-5011-EDC8-7951-A03908353D87}"/>
              </a:ext>
            </a:extLst>
          </p:cNvPr>
          <p:cNvSpPr>
            <a:spLocks noChangeAspect="1"/>
          </p:cNvSpPr>
          <p:nvPr/>
        </p:nvSpPr>
        <p:spPr>
          <a:xfrm>
            <a:off x="512127" y="4961266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EE99E23D-8091-7CA5-5502-2D5636E45F3B}"/>
              </a:ext>
            </a:extLst>
          </p:cNvPr>
          <p:cNvSpPr/>
          <p:nvPr/>
        </p:nvSpPr>
        <p:spPr>
          <a:xfrm>
            <a:off x="668524" y="3280246"/>
            <a:ext cx="6121214" cy="21600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47CCA4C5-0136-F3CB-B719-D85B694AA315}"/>
              </a:ext>
            </a:extLst>
          </p:cNvPr>
          <p:cNvSpPr>
            <a:spLocks noChangeAspect="1"/>
          </p:cNvSpPr>
          <p:nvPr/>
        </p:nvSpPr>
        <p:spPr>
          <a:xfrm>
            <a:off x="512127" y="3316246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540891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7BADD-462F-C79A-BCB8-E729E2952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A500D7D-2962-41DB-5A9A-DE4C51157705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특기생장학금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신청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D9C780D-C158-F47E-AB5C-6DCEFE486DC4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프로그램신청관리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특기생장학금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장학금신청</a:t>
            </a: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2AE2278F-7EEF-89DB-6A2A-E67ED755BF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8279149"/>
              </p:ext>
            </p:extLst>
          </p:nvPr>
        </p:nvGraphicFramePr>
        <p:xfrm>
          <a:off x="6969418" y="2548005"/>
          <a:ext cx="2772114" cy="2778299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프로그램신청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특기생장학금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조회 화면 목록에서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신청하기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클릭 시 보이는 화면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전형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기타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전형별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고등학교졸업증명서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대학교재학증명서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성적증빙자료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추천증빙자료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성적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대회결과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추천증빙자료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기반 성적 또는 대회결과를 입력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첨부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제출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]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클릭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&gt;&gt;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제출 서류 파일 선택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&gt;&gt;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첨부완료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받기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] 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클릭 시 첨부된 제출 서류 파일 다운로드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추천서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첨부 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: [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제출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제출 서류 파일 선택 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첨부완료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받기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 첨부된 제출 서류 파일 다운로드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양식받기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 추천서 양식 파일을 다운 받는다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첨부파일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추가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] : 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추가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파일 선택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첨부 설정완료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파일받기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파일명 클릭 시 첨부된 파일 다운로드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[x]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 첨부된 해당 파일 삭제 처리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양식받기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시 추천서 양식 파일을 다운 받는다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D7D17524-B01F-0738-D8B1-CF5349C680F6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pat_application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EF6A940-DF59-CA5F-8A60-AE8006AE2114}"/>
              </a:ext>
            </a:extLst>
          </p:cNvPr>
          <p:cNvSpPr/>
          <p:nvPr/>
        </p:nvSpPr>
        <p:spPr>
          <a:xfrm>
            <a:off x="165100" y="1376363"/>
            <a:ext cx="6732116" cy="460414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DCD568E-4350-C571-A055-22198547BEB2}"/>
              </a:ext>
            </a:extLst>
          </p:cNvPr>
          <p:cNvSpPr/>
          <p:nvPr/>
        </p:nvSpPr>
        <p:spPr>
          <a:xfrm>
            <a:off x="292846" y="1448780"/>
            <a:ext cx="1099660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800" b="1" dirty="0" err="1">
                <a:solidFill>
                  <a:prstClr val="black"/>
                </a:solidFill>
              </a:rPr>
              <a:t>특기생</a:t>
            </a:r>
            <a:r>
              <a:rPr lang="ko-KR" altLang="en-US" sz="800" b="1" dirty="0">
                <a:solidFill>
                  <a:prstClr val="black"/>
                </a:solidFill>
              </a:rPr>
              <a:t> 장학금 신청정보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FF75562-BD86-8CB7-E33E-0480598ED0A6}"/>
              </a:ext>
            </a:extLst>
          </p:cNvPr>
          <p:cNvSpPr/>
          <p:nvPr/>
        </p:nvSpPr>
        <p:spPr>
          <a:xfrm>
            <a:off x="165100" y="6023481"/>
            <a:ext cx="6732116" cy="46622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28207286-B1C3-FBAA-BAFD-226221B3C9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6165304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76D3E81-D134-5E27-1CCB-33B635CAA771}"/>
              </a:ext>
            </a:extLst>
          </p:cNvPr>
          <p:cNvSpPr txBox="1"/>
          <p:nvPr/>
        </p:nvSpPr>
        <p:spPr>
          <a:xfrm>
            <a:off x="1172580" y="6077394"/>
            <a:ext cx="31242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경기 오산시 성호대로 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141 (</a:t>
            </a:r>
            <a:r>
              <a:rPr lang="ko-KR" altLang="en-US" sz="600" b="0" i="0" dirty="0" err="1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오산동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오산시청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오산교육재단</a:t>
            </a:r>
            <a:endParaRPr lang="en-US" altLang="ko-KR" sz="600" b="0" i="0" dirty="0">
              <a:solidFill>
                <a:srgbClr val="666666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>
              <a:buNone/>
            </a:pP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TEL. (031)8036-8905 FAX. (031)8036-8905</a:t>
            </a:r>
          </a:p>
          <a:p>
            <a:pPr algn="l">
              <a:buNone/>
            </a:pP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Copyright©2025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오산교육재단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 ALL RIGHTSRESERVED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3DB0C58-CF5F-D34B-EEBA-4B41D13FF6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5373096"/>
              </p:ext>
            </p:extLst>
          </p:nvPr>
        </p:nvGraphicFramePr>
        <p:xfrm>
          <a:off x="272480" y="1628800"/>
          <a:ext cx="6517258" cy="375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054">
                  <a:extLst>
                    <a:ext uri="{9D8B030D-6E8A-4147-A177-3AD203B41FA5}">
                      <a16:colId xmlns:a16="http://schemas.microsoft.com/office/drawing/2014/main" val="3668863434"/>
                    </a:ext>
                  </a:extLst>
                </a:gridCol>
                <a:gridCol w="4921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구분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특기생</a:t>
                      </a:r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장학금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894265"/>
                  </a:ext>
                </a:extLst>
              </a:tr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</a:t>
                      </a:r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하반기 </a:t>
                      </a:r>
                      <a:r>
                        <a:rPr lang="ko-KR" altLang="en-US" sz="7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특기생</a:t>
                      </a:r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장학금 신청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접수기간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2025.09.20 10:00 </a:t>
                      </a:r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~ 2025.09.30 10:00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4735">
                <a:tc gridSpan="2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전형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4735">
                <a:tc rowSpan="3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전형별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고등학교졸업증명서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2230354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대학교재학증명서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446280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추천증빙자료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1427946"/>
                  </a:ext>
                </a:extLst>
              </a:tr>
              <a:tr h="234735">
                <a:tc rowSpan="9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공통 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추천서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주민등록초본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1958612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주민등록등본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164179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국민기초생활보장수급자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차상위계층확인서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한부모가족보호대상확인서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장애인증명서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첨부파일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8089092"/>
                  </a:ext>
                </a:extLst>
              </a:tr>
              <a:tr h="23473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8418894"/>
                  </a:ext>
                </a:extLst>
              </a:tr>
            </a:tbl>
          </a:graphicData>
        </a:graphic>
      </p:graphicFrame>
      <p:sp>
        <p:nvSpPr>
          <p:cNvPr id="11" name="직사각형 10">
            <a:extLst>
              <a:ext uri="{FF2B5EF4-FFF2-40B4-BE49-F238E27FC236}">
                <a16:creationId xmlns:a16="http://schemas.microsoft.com/office/drawing/2014/main" id="{7C392E47-288A-AB3E-3F27-941269FF3E51}"/>
              </a:ext>
            </a:extLst>
          </p:cNvPr>
          <p:cNvSpPr/>
          <p:nvPr/>
        </p:nvSpPr>
        <p:spPr>
          <a:xfrm>
            <a:off x="1904260" y="3544971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주민등록초본</a:t>
            </a:r>
            <a:r>
              <a:rPr kumimoji="0" lang="en-US" altLang="ko-KR" sz="7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0440618-784E-9F0F-E695-85840812C54B}"/>
              </a:ext>
            </a:extLst>
          </p:cNvPr>
          <p:cNvSpPr/>
          <p:nvPr/>
        </p:nvSpPr>
        <p:spPr>
          <a:xfrm>
            <a:off x="3557258" y="3544963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A208C79-7243-161C-D40A-EE465729ADB2}"/>
              </a:ext>
            </a:extLst>
          </p:cNvPr>
          <p:cNvSpPr/>
          <p:nvPr/>
        </p:nvSpPr>
        <p:spPr>
          <a:xfrm>
            <a:off x="1904260" y="3782257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주민등록등본</a:t>
            </a:r>
            <a:r>
              <a:rPr kumimoji="0" lang="en-US" altLang="ko-KR" sz="7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2E92F81-597B-A786-72B5-DE7813CC8CF5}"/>
              </a:ext>
            </a:extLst>
          </p:cNvPr>
          <p:cNvSpPr/>
          <p:nvPr/>
        </p:nvSpPr>
        <p:spPr>
          <a:xfrm>
            <a:off x="3557258" y="3782249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ECCD3DF-5EC3-90E1-9D89-DE088363AA97}"/>
              </a:ext>
            </a:extLst>
          </p:cNvPr>
          <p:cNvSpPr/>
          <p:nvPr/>
        </p:nvSpPr>
        <p:spPr>
          <a:xfrm>
            <a:off x="1904260" y="4020974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dirty="0" err="1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국민기초생활보장수급자</a:t>
            </a:r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71D8E56-2A69-0474-A2B9-859EB511BC9B}"/>
              </a:ext>
            </a:extLst>
          </p:cNvPr>
          <p:cNvSpPr/>
          <p:nvPr/>
        </p:nvSpPr>
        <p:spPr>
          <a:xfrm>
            <a:off x="3557258" y="4020966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53A9FA5-8B11-FF8B-2A5B-C6E1A0AC5DF6}"/>
              </a:ext>
            </a:extLst>
          </p:cNvPr>
          <p:cNvSpPr/>
          <p:nvPr/>
        </p:nvSpPr>
        <p:spPr>
          <a:xfrm>
            <a:off x="1904260" y="4257718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차상위계층확인서</a:t>
            </a:r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0563A9E-95C2-8313-9753-2E6D68AD8B41}"/>
              </a:ext>
            </a:extLst>
          </p:cNvPr>
          <p:cNvSpPr/>
          <p:nvPr/>
        </p:nvSpPr>
        <p:spPr>
          <a:xfrm>
            <a:off x="3557258" y="4257710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1A01FAC-94E6-2D8C-FE25-914A4055E37B}"/>
              </a:ext>
            </a:extLst>
          </p:cNvPr>
          <p:cNvSpPr/>
          <p:nvPr/>
        </p:nvSpPr>
        <p:spPr>
          <a:xfrm>
            <a:off x="1904260" y="4491170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A6CE912-553B-A0C3-EC88-89A0B2FF7293}"/>
              </a:ext>
            </a:extLst>
          </p:cNvPr>
          <p:cNvSpPr/>
          <p:nvPr/>
        </p:nvSpPr>
        <p:spPr>
          <a:xfrm>
            <a:off x="3557258" y="4491162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660405F-6A81-41B4-1C4B-4CF98CEF8E74}"/>
              </a:ext>
            </a:extLst>
          </p:cNvPr>
          <p:cNvSpPr/>
          <p:nvPr/>
        </p:nvSpPr>
        <p:spPr>
          <a:xfrm>
            <a:off x="1904260" y="4733103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24C662C-93FB-C350-FD51-FD1EF19B456E}"/>
              </a:ext>
            </a:extLst>
          </p:cNvPr>
          <p:cNvSpPr/>
          <p:nvPr/>
        </p:nvSpPr>
        <p:spPr>
          <a:xfrm>
            <a:off x="3557258" y="4733095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BA8E92CC-6ACE-9F26-B721-A0498696D478}"/>
              </a:ext>
            </a:extLst>
          </p:cNvPr>
          <p:cNvGrpSpPr/>
          <p:nvPr/>
        </p:nvGrpSpPr>
        <p:grpSpPr>
          <a:xfrm>
            <a:off x="1939541" y="5213519"/>
            <a:ext cx="1105196" cy="128396"/>
            <a:chOff x="3438680" y="4305150"/>
            <a:chExt cx="1105196" cy="128396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86CC4D8-2B66-DE46-BB45-54B8F49F9F92}"/>
                </a:ext>
              </a:extLst>
            </p:cNvPr>
            <p:cNvSpPr txBox="1"/>
            <p:nvPr/>
          </p:nvSpPr>
          <p:spPr>
            <a:xfrm>
              <a:off x="3438680" y="4305150"/>
              <a:ext cx="971420" cy="10772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신청 관련 부가 서류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31" name="Picture 10">
              <a:extLst>
                <a:ext uri="{FF2B5EF4-FFF2-40B4-BE49-F238E27FC236}">
                  <a16:creationId xmlns:a16="http://schemas.microsoft.com/office/drawing/2014/main" id="{60047F38-4CFE-A70E-9F18-6A6E178795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7418" y="4312303"/>
              <a:ext cx="106458" cy="121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1339384B-3F1F-B7D3-01A1-0C8E07904198}"/>
              </a:ext>
            </a:extLst>
          </p:cNvPr>
          <p:cNvGrpSpPr/>
          <p:nvPr/>
        </p:nvGrpSpPr>
        <p:grpSpPr>
          <a:xfrm>
            <a:off x="3125954" y="5213519"/>
            <a:ext cx="1105196" cy="128396"/>
            <a:chOff x="3438680" y="4305150"/>
            <a:chExt cx="1105196" cy="128396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71F5B15-111D-811C-3285-8AC0C811A544}"/>
                </a:ext>
              </a:extLst>
            </p:cNvPr>
            <p:cNvSpPr txBox="1"/>
            <p:nvPr/>
          </p:nvSpPr>
          <p:spPr>
            <a:xfrm>
              <a:off x="3438680" y="4305150"/>
              <a:ext cx="971420" cy="10772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신청 관련 부가 서류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34" name="Picture 10">
              <a:extLst>
                <a:ext uri="{FF2B5EF4-FFF2-40B4-BE49-F238E27FC236}">
                  <a16:creationId xmlns:a16="http://schemas.microsoft.com/office/drawing/2014/main" id="{53A75F83-A21B-8833-FB7A-4669F9004F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7418" y="4312303"/>
              <a:ext cx="106458" cy="121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A163ED70-845A-AF7A-155C-AE8CF42155E9}"/>
              </a:ext>
            </a:extLst>
          </p:cNvPr>
          <p:cNvSpPr/>
          <p:nvPr/>
        </p:nvSpPr>
        <p:spPr>
          <a:xfrm>
            <a:off x="3865768" y="3544963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4CF56F13-7A31-0C5F-C037-D10EEB9E153A}"/>
              </a:ext>
            </a:extLst>
          </p:cNvPr>
          <p:cNvSpPr/>
          <p:nvPr/>
        </p:nvSpPr>
        <p:spPr>
          <a:xfrm>
            <a:off x="3865768" y="3781089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172B1DF-414B-1D9A-C890-1B66C0CA0F62}"/>
              </a:ext>
            </a:extLst>
          </p:cNvPr>
          <p:cNvSpPr/>
          <p:nvPr/>
        </p:nvSpPr>
        <p:spPr>
          <a:xfrm>
            <a:off x="3865768" y="4021007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815721E-E823-D304-CE6C-4DADFD7749DE}"/>
              </a:ext>
            </a:extLst>
          </p:cNvPr>
          <p:cNvSpPr/>
          <p:nvPr/>
        </p:nvSpPr>
        <p:spPr>
          <a:xfrm>
            <a:off x="3865768" y="4257092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737C41BF-799B-E3B1-D151-F7C805A0DE9C}"/>
              </a:ext>
            </a:extLst>
          </p:cNvPr>
          <p:cNvSpPr/>
          <p:nvPr/>
        </p:nvSpPr>
        <p:spPr>
          <a:xfrm>
            <a:off x="3865768" y="4485267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2AB02334-18FE-75AD-776B-455150333A4F}"/>
              </a:ext>
            </a:extLst>
          </p:cNvPr>
          <p:cNvSpPr/>
          <p:nvPr/>
        </p:nvSpPr>
        <p:spPr>
          <a:xfrm>
            <a:off x="3865768" y="4734963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C857DC73-B9F8-9B8F-C496-89E0C326D718}"/>
              </a:ext>
            </a:extLst>
          </p:cNvPr>
          <p:cNvGrpSpPr/>
          <p:nvPr/>
        </p:nvGrpSpPr>
        <p:grpSpPr>
          <a:xfrm>
            <a:off x="3429010" y="2378109"/>
            <a:ext cx="505750" cy="144462"/>
            <a:chOff x="2716253" y="2405617"/>
            <a:chExt cx="505750" cy="144462"/>
          </a:xfrm>
        </p:grpSpPr>
        <p:sp>
          <p:nvSpPr>
            <p:cNvPr id="44" name="Rectangle 191">
              <a:extLst>
                <a:ext uri="{FF2B5EF4-FFF2-40B4-BE49-F238E27FC236}">
                  <a16:creationId xmlns:a16="http://schemas.microsoft.com/office/drawing/2014/main" id="{F4E476C2-A779-B7FB-C9B8-784BF643F5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359073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학업성적</a:t>
              </a:r>
            </a:p>
          </p:txBody>
        </p:sp>
        <p:graphicFrame>
          <p:nvGraphicFramePr>
            <p:cNvPr id="46" name="개체 45">
              <a:extLst>
                <a:ext uri="{FF2B5EF4-FFF2-40B4-BE49-F238E27FC236}">
                  <a16:creationId xmlns:a16="http://schemas.microsoft.com/office/drawing/2014/main" id="{D05461CB-C95A-7F2B-8196-17F00C1348B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145435" imgH="145435" progId="Visio.Drawing.11">
                    <p:embed/>
                  </p:oleObj>
                </mc:Choice>
                <mc:Fallback>
                  <p:oleObj name="Visio" r:id="rId4" imgW="145435" imgH="145435" progId="Visio.Drawing.11">
                    <p:embed/>
                    <p:pic>
                      <p:nvPicPr>
                        <p:cNvPr id="62" name="개체 61">
                          <a:extLst>
                            <a:ext uri="{FF2B5EF4-FFF2-40B4-BE49-F238E27FC236}">
                              <a16:creationId xmlns:a16="http://schemas.microsoft.com/office/drawing/2014/main" id="{2E335067-7002-0BE1-9ACD-A8ADAE77B0E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4DDB79DF-FF1E-D9AB-6030-2842E8EF65D3}"/>
              </a:ext>
            </a:extLst>
          </p:cNvPr>
          <p:cNvGrpSpPr/>
          <p:nvPr/>
        </p:nvGrpSpPr>
        <p:grpSpPr>
          <a:xfrm>
            <a:off x="4006768" y="2378109"/>
            <a:ext cx="326213" cy="144462"/>
            <a:chOff x="2716253" y="2405617"/>
            <a:chExt cx="326213" cy="144462"/>
          </a:xfrm>
        </p:grpSpPr>
        <p:sp>
          <p:nvSpPr>
            <p:cNvPr id="48" name="Rectangle 191">
              <a:extLst>
                <a:ext uri="{FF2B5EF4-FFF2-40B4-BE49-F238E27FC236}">
                  <a16:creationId xmlns:a16="http://schemas.microsoft.com/office/drawing/2014/main" id="{F6DC4384-F9C4-494D-8D56-9FCDC65110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930" y="2423987"/>
              <a:ext cx="179536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기타</a:t>
              </a:r>
            </a:p>
          </p:txBody>
        </p:sp>
        <p:graphicFrame>
          <p:nvGraphicFramePr>
            <p:cNvPr id="49" name="개체 48">
              <a:extLst>
                <a:ext uri="{FF2B5EF4-FFF2-40B4-BE49-F238E27FC236}">
                  <a16:creationId xmlns:a16="http://schemas.microsoft.com/office/drawing/2014/main" id="{52531D9D-FF18-DD2E-6703-FF9FB05B292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145435" imgH="145435" progId="Visio.Drawing.11">
                    <p:embed/>
                  </p:oleObj>
                </mc:Choice>
                <mc:Fallback>
                  <p:oleObj name="Visio" r:id="rId4" imgW="145435" imgH="145435" progId="Visio.Drawing.11">
                    <p:embed/>
                    <p:pic>
                      <p:nvPicPr>
                        <p:cNvPr id="65" name="개체 64">
                          <a:extLst>
                            <a:ext uri="{FF2B5EF4-FFF2-40B4-BE49-F238E27FC236}">
                              <a16:creationId xmlns:a16="http://schemas.microsoft.com/office/drawing/2014/main" id="{B324A1B5-CB61-D2F8-97E2-C078422DDBC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0" name="Rectangle 191">
            <a:extLst>
              <a:ext uri="{FF2B5EF4-FFF2-40B4-BE49-F238E27FC236}">
                <a16:creationId xmlns:a16="http://schemas.microsoft.com/office/drawing/2014/main" id="{09802A7B-6A1E-DFC5-C08C-C51B6A4193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2177" y="2396479"/>
            <a:ext cx="1439497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입상실적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                                )</a:t>
            </a:r>
            <a:endParaRPr kumimoji="0" lang="ko-KR" altLang="en-US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6B6E0A8E-48F2-C686-D350-5C96DFE15A7D}"/>
              </a:ext>
            </a:extLst>
          </p:cNvPr>
          <p:cNvGrpSpPr/>
          <p:nvPr/>
        </p:nvGrpSpPr>
        <p:grpSpPr>
          <a:xfrm>
            <a:off x="2645151" y="2378109"/>
            <a:ext cx="318262" cy="144462"/>
            <a:chOff x="2716253" y="2405617"/>
            <a:chExt cx="318262" cy="144462"/>
          </a:xfrm>
        </p:grpSpPr>
        <p:sp>
          <p:nvSpPr>
            <p:cNvPr id="52" name="Rectangle 191">
              <a:extLst>
                <a:ext uri="{FF2B5EF4-FFF2-40B4-BE49-F238E27FC236}">
                  <a16:creationId xmlns:a16="http://schemas.microsoft.com/office/drawing/2014/main" id="{D1294D38-AC65-ADDB-A53C-87878BA4AF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4979" y="2416036"/>
              <a:ext cx="179536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단체</a:t>
              </a:r>
            </a:p>
          </p:txBody>
        </p:sp>
        <p:graphicFrame>
          <p:nvGraphicFramePr>
            <p:cNvPr id="53" name="개체 52">
              <a:extLst>
                <a:ext uri="{FF2B5EF4-FFF2-40B4-BE49-F238E27FC236}">
                  <a16:creationId xmlns:a16="http://schemas.microsoft.com/office/drawing/2014/main" id="{75B99133-6B77-C63E-D7A1-56A1BA33EBB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145435" imgH="145435" progId="Visio.Drawing.11">
                    <p:embed/>
                  </p:oleObj>
                </mc:Choice>
                <mc:Fallback>
                  <p:oleObj name="Visio" r:id="rId4" imgW="145435" imgH="145435" progId="Visio.Drawing.11">
                    <p:embed/>
                    <p:pic>
                      <p:nvPicPr>
                        <p:cNvPr id="69" name="개체 68">
                          <a:extLst>
                            <a:ext uri="{FF2B5EF4-FFF2-40B4-BE49-F238E27FC236}">
                              <a16:creationId xmlns:a16="http://schemas.microsoft.com/office/drawing/2014/main" id="{C2F56BBF-6CB9-38E3-28E9-A987EA575B6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8809BD14-DF96-3F68-9B67-2EEC95137F43}"/>
              </a:ext>
            </a:extLst>
          </p:cNvPr>
          <p:cNvGrpSpPr/>
          <p:nvPr/>
        </p:nvGrpSpPr>
        <p:grpSpPr>
          <a:xfrm>
            <a:off x="2306629" y="2378109"/>
            <a:ext cx="318262" cy="144462"/>
            <a:chOff x="2716253" y="2405617"/>
            <a:chExt cx="318262" cy="144462"/>
          </a:xfrm>
        </p:grpSpPr>
        <p:sp>
          <p:nvSpPr>
            <p:cNvPr id="55" name="Rectangle 191">
              <a:extLst>
                <a:ext uri="{FF2B5EF4-FFF2-40B4-BE49-F238E27FC236}">
                  <a16:creationId xmlns:a16="http://schemas.microsoft.com/office/drawing/2014/main" id="{821D2320-DF4C-B275-E8B5-494D7A34D6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4979" y="2416036"/>
              <a:ext cx="179536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개인</a:t>
              </a:r>
            </a:p>
          </p:txBody>
        </p:sp>
        <p:graphicFrame>
          <p:nvGraphicFramePr>
            <p:cNvPr id="56" name="개체 55">
              <a:extLst>
                <a:ext uri="{FF2B5EF4-FFF2-40B4-BE49-F238E27FC236}">
                  <a16:creationId xmlns:a16="http://schemas.microsoft.com/office/drawing/2014/main" id="{9BBD88C5-63C2-65EB-D290-B43CD16459C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145435" imgH="145435" progId="Visio.Drawing.11">
                    <p:embed/>
                  </p:oleObj>
                </mc:Choice>
                <mc:Fallback>
                  <p:oleObj name="Visio" r:id="rId4" imgW="145435" imgH="145435" progId="Visio.Drawing.11">
                    <p:embed/>
                    <p:pic>
                      <p:nvPicPr>
                        <p:cNvPr id="72" name="개체 71">
                          <a:extLst>
                            <a:ext uri="{FF2B5EF4-FFF2-40B4-BE49-F238E27FC236}">
                              <a16:creationId xmlns:a16="http://schemas.microsoft.com/office/drawing/2014/main" id="{32DA54BF-A38E-CB08-C8F4-B31423986C6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8614ED6B-8ACD-2397-65A9-EB44F0E05278}"/>
              </a:ext>
            </a:extLst>
          </p:cNvPr>
          <p:cNvGrpSpPr/>
          <p:nvPr/>
        </p:nvGrpSpPr>
        <p:grpSpPr>
          <a:xfrm>
            <a:off x="2980970" y="2378109"/>
            <a:ext cx="318262" cy="144462"/>
            <a:chOff x="2716253" y="2405617"/>
            <a:chExt cx="318262" cy="144462"/>
          </a:xfrm>
        </p:grpSpPr>
        <p:sp>
          <p:nvSpPr>
            <p:cNvPr id="58" name="Rectangle 191">
              <a:extLst>
                <a:ext uri="{FF2B5EF4-FFF2-40B4-BE49-F238E27FC236}">
                  <a16:creationId xmlns:a16="http://schemas.microsoft.com/office/drawing/2014/main" id="{F2A67B3D-9F02-C0BE-3E55-689E51FCB6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4979" y="2416036"/>
              <a:ext cx="179536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기능</a:t>
              </a:r>
            </a:p>
          </p:txBody>
        </p:sp>
        <p:graphicFrame>
          <p:nvGraphicFramePr>
            <p:cNvPr id="59" name="개체 58">
              <a:extLst>
                <a:ext uri="{FF2B5EF4-FFF2-40B4-BE49-F238E27FC236}">
                  <a16:creationId xmlns:a16="http://schemas.microsoft.com/office/drawing/2014/main" id="{420A20C2-2BB0-9F3E-459A-26D6E59C98B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16253" y="2405617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145435" imgH="145435" progId="Visio.Drawing.11">
                    <p:embed/>
                  </p:oleObj>
                </mc:Choice>
                <mc:Fallback>
                  <p:oleObj name="Visio" r:id="rId4" imgW="145435" imgH="145435" progId="Visio.Drawing.11">
                    <p:embed/>
                    <p:pic>
                      <p:nvPicPr>
                        <p:cNvPr id="76" name="개체 75">
                          <a:extLst>
                            <a:ext uri="{FF2B5EF4-FFF2-40B4-BE49-F238E27FC236}">
                              <a16:creationId xmlns:a16="http://schemas.microsoft.com/office/drawing/2014/main" id="{F56A6D57-3196-9A42-1BFB-E0C9AE856AC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6253" y="2405617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0" name="개체 59">
            <a:extLst>
              <a:ext uri="{FF2B5EF4-FFF2-40B4-BE49-F238E27FC236}">
                <a16:creationId xmlns:a16="http://schemas.microsoft.com/office/drawing/2014/main" id="{0AAB821D-E8FC-D393-7792-386FC3A1A5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9153835"/>
              </p:ext>
            </p:extLst>
          </p:nvPr>
        </p:nvGraphicFramePr>
        <p:xfrm>
          <a:off x="4005448" y="2378109"/>
          <a:ext cx="144462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145435" imgH="145435" progId="Visio.Drawing.11">
                  <p:embed/>
                </p:oleObj>
              </mc:Choice>
              <mc:Fallback>
                <p:oleObj name="Visio" r:id="rId6" imgW="145435" imgH="145435" progId="Visio.Drawing.11">
                  <p:embed/>
                  <p:pic>
                    <p:nvPicPr>
                      <p:cNvPr id="77" name="개체 76">
                        <a:extLst>
                          <a:ext uri="{FF2B5EF4-FFF2-40B4-BE49-F238E27FC236}">
                            <a16:creationId xmlns:a16="http://schemas.microsoft.com/office/drawing/2014/main" id="{6E9026C3-2831-50A7-1982-B62A3E80FA6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5448" y="2378109"/>
                        <a:ext cx="144462" cy="14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직사각형 60">
            <a:extLst>
              <a:ext uri="{FF2B5EF4-FFF2-40B4-BE49-F238E27FC236}">
                <a16:creationId xmlns:a16="http://schemas.microsoft.com/office/drawing/2014/main" id="{6FB8AE75-EBCF-2972-3076-9511A06FEDD6}"/>
              </a:ext>
            </a:extLst>
          </p:cNvPr>
          <p:cNvSpPr/>
          <p:nvPr/>
        </p:nvSpPr>
        <p:spPr>
          <a:xfrm>
            <a:off x="1904260" y="2613067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고등학교졸업증명서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79368B38-2383-716F-9DA8-3FC4CB05744A}"/>
              </a:ext>
            </a:extLst>
          </p:cNvPr>
          <p:cNvSpPr/>
          <p:nvPr/>
        </p:nvSpPr>
        <p:spPr>
          <a:xfrm>
            <a:off x="3557258" y="2613059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63D785BE-5F34-1026-5D19-C9A16CB855C9}"/>
              </a:ext>
            </a:extLst>
          </p:cNvPr>
          <p:cNvSpPr/>
          <p:nvPr/>
        </p:nvSpPr>
        <p:spPr>
          <a:xfrm>
            <a:off x="3865768" y="2613059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9B778D43-F7A3-896E-3573-70B9A90731B7}"/>
              </a:ext>
            </a:extLst>
          </p:cNvPr>
          <p:cNvSpPr/>
          <p:nvPr/>
        </p:nvSpPr>
        <p:spPr>
          <a:xfrm>
            <a:off x="1904260" y="2844993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대학교재학증명서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81B2EECE-7EF4-3471-4BED-D74AFB8AE992}"/>
              </a:ext>
            </a:extLst>
          </p:cNvPr>
          <p:cNvSpPr/>
          <p:nvPr/>
        </p:nvSpPr>
        <p:spPr>
          <a:xfrm>
            <a:off x="3557258" y="2844985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40357545-B331-C02A-313B-6106741800B9}"/>
              </a:ext>
            </a:extLst>
          </p:cNvPr>
          <p:cNvSpPr/>
          <p:nvPr/>
        </p:nvSpPr>
        <p:spPr>
          <a:xfrm>
            <a:off x="3865768" y="2844985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FC059B86-4B21-B906-0981-72CF69F8585C}"/>
              </a:ext>
            </a:extLst>
          </p:cNvPr>
          <p:cNvSpPr/>
          <p:nvPr/>
        </p:nvSpPr>
        <p:spPr>
          <a:xfrm>
            <a:off x="6397011" y="5481228"/>
            <a:ext cx="392727" cy="19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목록</a:t>
            </a:r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B5ABCCBA-8BA5-BC42-0E0E-4E35AB086B02}"/>
              </a:ext>
            </a:extLst>
          </p:cNvPr>
          <p:cNvSpPr/>
          <p:nvPr/>
        </p:nvSpPr>
        <p:spPr>
          <a:xfrm>
            <a:off x="5936915" y="5481228"/>
            <a:ext cx="392727" cy="198000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신청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BAD3E94-34C8-AE4A-00EC-B9366FA167DD}"/>
              </a:ext>
            </a:extLst>
          </p:cNvPr>
          <p:cNvSpPr/>
          <p:nvPr/>
        </p:nvSpPr>
        <p:spPr>
          <a:xfrm>
            <a:off x="3142186" y="3074232"/>
            <a:ext cx="1338843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추천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증빙자료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.zip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D0F6EAF9-D853-9A49-4C51-EF4193BC2C9B}"/>
              </a:ext>
            </a:extLst>
          </p:cNvPr>
          <p:cNvSpPr/>
          <p:nvPr/>
        </p:nvSpPr>
        <p:spPr>
          <a:xfrm>
            <a:off x="4515229" y="3074224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35620E6E-3A65-527A-0BDC-83D7B5B377C7}"/>
              </a:ext>
            </a:extLst>
          </p:cNvPr>
          <p:cNvSpPr/>
          <p:nvPr/>
        </p:nvSpPr>
        <p:spPr>
          <a:xfrm>
            <a:off x="4823739" y="3074224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9" name="Rectangle 191">
            <a:extLst>
              <a:ext uri="{FF2B5EF4-FFF2-40B4-BE49-F238E27FC236}">
                <a16:creationId xmlns:a16="http://schemas.microsoft.com/office/drawing/2014/main" id="{BBA8A1E0-478D-6220-E1D2-6C96BD28E5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4260" y="3095590"/>
            <a:ext cx="593111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성적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대회결과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0" lang="ko-KR" altLang="en-US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CD495CF9-8C59-A077-6226-34DE16D5199C}"/>
              </a:ext>
            </a:extLst>
          </p:cNvPr>
          <p:cNvSpPr/>
          <p:nvPr/>
        </p:nvSpPr>
        <p:spPr>
          <a:xfrm>
            <a:off x="2528348" y="3074232"/>
            <a:ext cx="36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4.5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1" name="Rectangle 191">
            <a:extLst>
              <a:ext uri="{FF2B5EF4-FFF2-40B4-BE49-F238E27FC236}">
                <a16:creationId xmlns:a16="http://schemas.microsoft.com/office/drawing/2014/main" id="{C0345371-A558-8076-2552-3D7C5D9D6A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6608" y="3095590"/>
            <a:ext cx="17953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첨부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EFA4AFD0-074C-75FB-07B5-826EC381020D}"/>
              </a:ext>
            </a:extLst>
          </p:cNvPr>
          <p:cNvSpPr>
            <a:spLocks noChangeAspect="1"/>
          </p:cNvSpPr>
          <p:nvPr/>
        </p:nvSpPr>
        <p:spPr>
          <a:xfrm>
            <a:off x="4176830" y="2228717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0F6E911-BE85-54E3-72FE-AD9B35153E9A}"/>
              </a:ext>
            </a:extLst>
          </p:cNvPr>
          <p:cNvSpPr>
            <a:spLocks noChangeAspect="1"/>
          </p:cNvSpPr>
          <p:nvPr/>
        </p:nvSpPr>
        <p:spPr>
          <a:xfrm>
            <a:off x="512127" y="2608859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373B6D40-5160-5B26-9E44-98A7B891D5BC}"/>
              </a:ext>
            </a:extLst>
          </p:cNvPr>
          <p:cNvSpPr>
            <a:spLocks noChangeAspect="1"/>
          </p:cNvSpPr>
          <p:nvPr/>
        </p:nvSpPr>
        <p:spPr>
          <a:xfrm>
            <a:off x="512127" y="2838584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1E30783C-C990-2513-D064-A8EA63EC8DA2}"/>
              </a:ext>
            </a:extLst>
          </p:cNvPr>
          <p:cNvSpPr>
            <a:spLocks noChangeAspect="1"/>
          </p:cNvSpPr>
          <p:nvPr/>
        </p:nvSpPr>
        <p:spPr>
          <a:xfrm>
            <a:off x="512127" y="3084878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E8498E79-3A74-3A93-AA19-931EA7788FE9}"/>
              </a:ext>
            </a:extLst>
          </p:cNvPr>
          <p:cNvGrpSpPr/>
          <p:nvPr/>
        </p:nvGrpSpPr>
        <p:grpSpPr>
          <a:xfrm>
            <a:off x="1897456" y="3316788"/>
            <a:ext cx="2704513" cy="144016"/>
            <a:chOff x="1897884" y="2847629"/>
            <a:chExt cx="2704513" cy="144016"/>
          </a:xfrm>
        </p:grpSpPr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89742884-C847-F198-0954-27F0E0B32877}"/>
                </a:ext>
              </a:extLst>
            </p:cNvPr>
            <p:cNvSpPr/>
            <p:nvPr/>
          </p:nvSpPr>
          <p:spPr>
            <a:xfrm>
              <a:off x="1897884" y="2847637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추천서</a:t>
              </a:r>
              <a:r>
                <a:rPr kumimoji="0" lang="en-US" altLang="ko-KR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CC6B64E6-CBF2-AB18-2E06-AB8F60ED72FD}"/>
                </a:ext>
              </a:extLst>
            </p:cNvPr>
            <p:cNvSpPr/>
            <p:nvPr/>
          </p:nvSpPr>
          <p:spPr>
            <a:xfrm>
              <a:off x="3550882" y="2847629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제출</a:t>
              </a:r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B80C6136-B329-047F-8AA7-F0D7E0204B7A}"/>
                </a:ext>
              </a:extLst>
            </p:cNvPr>
            <p:cNvSpPr/>
            <p:nvPr/>
          </p:nvSpPr>
          <p:spPr>
            <a:xfrm>
              <a:off x="3859392" y="2847629"/>
              <a:ext cx="264174" cy="144016"/>
            </a:xfrm>
            <a:prstGeom prst="rect">
              <a:avLst/>
            </a:prstGeom>
            <a:solidFill>
              <a:srgbClr val="66FF66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84F17BB2-60E9-F51C-3309-9C26242EACFC}"/>
                </a:ext>
              </a:extLst>
            </p:cNvPr>
            <p:cNvSpPr/>
            <p:nvPr/>
          </p:nvSpPr>
          <p:spPr>
            <a:xfrm>
              <a:off x="4176942" y="2847629"/>
              <a:ext cx="425455" cy="14401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양식받기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6992D7B6-C4BD-3296-9E23-11AECF11121E}"/>
              </a:ext>
            </a:extLst>
          </p:cNvPr>
          <p:cNvGrpSpPr/>
          <p:nvPr/>
        </p:nvGrpSpPr>
        <p:grpSpPr>
          <a:xfrm>
            <a:off x="1900611" y="4957070"/>
            <a:ext cx="2386963" cy="144016"/>
            <a:chOff x="1897884" y="4476806"/>
            <a:chExt cx="2386963" cy="144016"/>
          </a:xfrm>
        </p:grpSpPr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DCB2EE34-4A57-AC81-418A-19E054B88138}"/>
                </a:ext>
              </a:extLst>
            </p:cNvPr>
            <p:cNvSpPr/>
            <p:nvPr/>
          </p:nvSpPr>
          <p:spPr>
            <a:xfrm>
              <a:off x="1897884" y="4476814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A2E116A6-B57A-BF8E-FD52-E344BFEE550A}"/>
                </a:ext>
              </a:extLst>
            </p:cNvPr>
            <p:cNvSpPr/>
            <p:nvPr/>
          </p:nvSpPr>
          <p:spPr>
            <a:xfrm>
              <a:off x="3550882" y="4476806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추가</a:t>
              </a:r>
            </a:p>
          </p:txBody>
        </p:sp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1B163CD1-03A8-03E6-C25C-FFC04FE9E2EC}"/>
                </a:ext>
              </a:extLst>
            </p:cNvPr>
            <p:cNvSpPr/>
            <p:nvPr/>
          </p:nvSpPr>
          <p:spPr>
            <a:xfrm>
              <a:off x="3859392" y="4476806"/>
              <a:ext cx="425455" cy="14401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양식받기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E16524F7-E3E8-78CC-0037-3CC81BC308D9}"/>
              </a:ext>
            </a:extLst>
          </p:cNvPr>
          <p:cNvSpPr/>
          <p:nvPr/>
        </p:nvSpPr>
        <p:spPr>
          <a:xfrm>
            <a:off x="668524" y="4925266"/>
            <a:ext cx="6121214" cy="21600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6" name="타원 85">
            <a:extLst>
              <a:ext uri="{FF2B5EF4-FFF2-40B4-BE49-F238E27FC236}">
                <a16:creationId xmlns:a16="http://schemas.microsoft.com/office/drawing/2014/main" id="{9B9B50C1-A8BA-C127-EE93-FA7DE353FDD8}"/>
              </a:ext>
            </a:extLst>
          </p:cNvPr>
          <p:cNvSpPr>
            <a:spLocks noChangeAspect="1"/>
          </p:cNvSpPr>
          <p:nvPr/>
        </p:nvSpPr>
        <p:spPr>
          <a:xfrm>
            <a:off x="512127" y="4961266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D8229812-7F8E-EF78-51F9-A05770A4963C}"/>
              </a:ext>
            </a:extLst>
          </p:cNvPr>
          <p:cNvSpPr/>
          <p:nvPr/>
        </p:nvSpPr>
        <p:spPr>
          <a:xfrm>
            <a:off x="668524" y="3285795"/>
            <a:ext cx="6121214" cy="21600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8" name="타원 87">
            <a:extLst>
              <a:ext uri="{FF2B5EF4-FFF2-40B4-BE49-F238E27FC236}">
                <a16:creationId xmlns:a16="http://schemas.microsoft.com/office/drawing/2014/main" id="{DDFD6F69-837C-FEE7-214D-F4301CD81D11}"/>
              </a:ext>
            </a:extLst>
          </p:cNvPr>
          <p:cNvSpPr>
            <a:spLocks noChangeAspect="1"/>
          </p:cNvSpPr>
          <p:nvPr/>
        </p:nvSpPr>
        <p:spPr>
          <a:xfrm>
            <a:off x="512127" y="3321795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6765484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6E941-78B5-B3FB-2241-809666F53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44">
            <a:extLst>
              <a:ext uri="{FF2B5EF4-FFF2-40B4-BE49-F238E27FC236}">
                <a16:creationId xmlns:a16="http://schemas.microsoft.com/office/drawing/2014/main" id="{B6FC12AF-5D36-F545-2D94-467C8430DEDF}"/>
              </a:ext>
            </a:extLst>
          </p:cNvPr>
          <p:cNvSpPr txBox="1"/>
          <p:nvPr/>
        </p:nvSpPr>
        <p:spPr>
          <a:xfrm rot="16200000">
            <a:off x="-432110" y="1197338"/>
            <a:ext cx="23066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Noto Sans" panose="020B0502040504020204" pitchFamily="34" charset="0"/>
                <a:ea typeface="맑은 고딕" panose="020B0503020000020004" pitchFamily="50" charset="-127"/>
                <a:cs typeface="+mn-cs"/>
              </a:rPr>
              <a:t>C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D7D7D7"/>
                </a:solidFill>
                <a:effectLst/>
                <a:uLnTx/>
                <a:uFillTx/>
                <a:latin typeface="Noto Sans" panose="020B0502040504020204" pitchFamily="34" charset="0"/>
                <a:ea typeface="맑은 고딕" panose="020B0503020000020004" pitchFamily="50" charset="-127"/>
                <a:cs typeface="+mn-cs"/>
              </a:rPr>
              <a:t>O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Noto Sans" panose="020B0502040504020204" pitchFamily="34" charset="0"/>
                <a:ea typeface="맑은 고딕" panose="020B0503020000020004" pitchFamily="50" charset="-127"/>
                <a:cs typeface="+mn-cs"/>
              </a:rPr>
              <a:t>NTENT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Noto Sans" panose="020B0502040504020204" pitchFamily="34" charset="0"/>
                <a:ea typeface="맑은 고딕" panose="020B0503020000020004" pitchFamily="50" charset="-127"/>
                <a:cs typeface="+mn-cs"/>
              </a:rPr>
              <a:t>S</a:t>
            </a:r>
            <a:endParaRPr kumimoji="0" lang="ko-KR" altLang="en-US" sz="3000" b="1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Noto Sans" panose="020B050204050402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0" name="Text Box 11">
            <a:extLst>
              <a:ext uri="{FF2B5EF4-FFF2-40B4-BE49-F238E27FC236}">
                <a16:creationId xmlns:a16="http://schemas.microsoft.com/office/drawing/2014/main" id="{26D7BBFD-DFC1-C93A-9447-BD4DE1B7D0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5436" y="2140622"/>
            <a:ext cx="4765463" cy="677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굴림" pitchFamily="50" charset="-127"/>
              </a:rPr>
              <a:t>행복기숙사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굴림" pitchFamily="50" charset="-127"/>
              </a:rPr>
              <a:t> </a:t>
            </a: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굴림" pitchFamily="50" charset="-127"/>
              </a:rPr>
              <a:t>입사비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굴림" pitchFamily="50" charset="-127"/>
              </a:rPr>
              <a:t> 신청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굴림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굴림" pitchFamily="50" charset="-127"/>
              </a:rPr>
              <a:t>● </a:t>
            </a: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굴림" pitchFamily="50" charset="-127"/>
              </a:rPr>
              <a:t>행복기숙사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굴림" pitchFamily="50" charset="-127"/>
              </a:rPr>
              <a:t> </a:t>
            </a: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굴림" pitchFamily="50" charset="-127"/>
              </a:rPr>
              <a:t>입사비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굴림" pitchFamily="50" charset="-127"/>
              </a:rPr>
              <a:t> 프로그램 조회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굴림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굴림" pitchFamily="50" charset="-127"/>
              </a:rPr>
              <a:t>● </a:t>
            </a: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굴림" pitchFamily="50" charset="-127"/>
              </a:rPr>
              <a:t>행복기숙사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굴림" pitchFamily="50" charset="-127"/>
              </a:rPr>
              <a:t> </a:t>
            </a: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굴림" pitchFamily="50" charset="-127"/>
              </a:rPr>
              <a:t>입사비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굴림" pitchFamily="50" charset="-127"/>
              </a:rPr>
              <a:t> 신청 등록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굴림" pitchFamily="50" charset="-127"/>
            </a:endParaRPr>
          </a:p>
        </p:txBody>
      </p:sp>
      <p:sp>
        <p:nvSpPr>
          <p:cNvPr id="31" name="Text Box 5">
            <a:extLst>
              <a:ext uri="{FF2B5EF4-FFF2-40B4-BE49-F238E27FC236}">
                <a16:creationId xmlns:a16="http://schemas.microsoft.com/office/drawing/2014/main" id="{4BACDFD5-50FC-E940-59CD-976DCE6F86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6305" y="1477454"/>
            <a:ext cx="3703099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Noto Sans" panose="020B0502040504020204" pitchFamily="34" charset="0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Noto Sans" panose="020B0502040504020204" pitchFamily="34" charset="0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Noto Sans" panose="020B0502040504020204" pitchFamily="34" charset="0"/>
                <a:ea typeface="맑은 고딕" panose="020B0503020000020004" pitchFamily="50" charset="-127"/>
                <a:cs typeface="+mn-cs"/>
              </a:rPr>
              <a:t>프로그램신청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Noto Sans" panose="020B0502040504020204" pitchFamily="34" charset="0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Noto Sans" panose="020B0502040504020204" pitchFamily="34" charset="0"/>
                <a:ea typeface="맑은 고딕" panose="020B0503020000020004" pitchFamily="50" charset="-127"/>
                <a:cs typeface="+mn-cs"/>
              </a:rPr>
              <a:t>행복기숙사입사비</a:t>
            </a: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Noto Sans" panose="020B050204050402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TextBox 13">
            <a:extLst>
              <a:ext uri="{FF2B5EF4-FFF2-40B4-BE49-F238E27FC236}">
                <a16:creationId xmlns:a16="http://schemas.microsoft.com/office/drawing/2014/main" id="{0E8D9506-68F7-67B9-579A-C940FC9152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0483" y="1369732"/>
            <a:ext cx="764953" cy="55399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0</a:t>
            </a:r>
            <a:r>
              <a:rPr lang="en-US" altLang="ko-KR" sz="20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rPr>
              <a:t>4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95195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D600A-086D-AA42-ABFA-6ED61EDD9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Group 1091">
            <a:extLst>
              <a:ext uri="{FF2B5EF4-FFF2-40B4-BE49-F238E27FC236}">
                <a16:creationId xmlns:a16="http://schemas.microsoft.com/office/drawing/2014/main" id="{6B22EB2D-3FEF-9A08-D15B-D0B5AAB7D0E2}"/>
              </a:ext>
            </a:extLst>
          </p:cNvPr>
          <p:cNvGraphicFramePr>
            <a:graphicFrameLocks/>
          </p:cNvGraphicFramePr>
          <p:nvPr/>
        </p:nvGraphicFramePr>
        <p:xfrm>
          <a:off x="165100" y="1175295"/>
          <a:ext cx="9575800" cy="237482"/>
        </p:xfrm>
        <a:graphic>
          <a:graphicData uri="http://schemas.openxmlformats.org/drawingml/2006/table">
            <a:tbl>
              <a:tblPr/>
              <a:tblGrid>
                <a:gridCol w="957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9436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홈페이지 메뉴 구조</a:t>
                      </a: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5" name="모서리가 둥근 직사각형 74">
            <a:extLst>
              <a:ext uri="{FF2B5EF4-FFF2-40B4-BE49-F238E27FC236}">
                <a16:creationId xmlns:a16="http://schemas.microsoft.com/office/drawing/2014/main" id="{002FB0A6-435A-F919-3396-959BC9741BB8}"/>
              </a:ext>
            </a:extLst>
          </p:cNvPr>
          <p:cNvSpPr/>
          <p:nvPr/>
        </p:nvSpPr>
        <p:spPr>
          <a:xfrm>
            <a:off x="4064743" y="1520788"/>
            <a:ext cx="1931636" cy="229116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tx1">
                <a:lumMod val="95000"/>
                <a:lumOff val="5000"/>
              </a:schemeClr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오산교육재단 홈페이지</a:t>
            </a:r>
          </a:p>
        </p:txBody>
      </p:sp>
      <p:sp>
        <p:nvSpPr>
          <p:cNvPr id="76" name="모서리가 둥근 직사각형 75">
            <a:extLst>
              <a:ext uri="{FF2B5EF4-FFF2-40B4-BE49-F238E27FC236}">
                <a16:creationId xmlns:a16="http://schemas.microsoft.com/office/drawing/2014/main" id="{C092F377-67A1-8928-7398-52656EC65970}"/>
              </a:ext>
            </a:extLst>
          </p:cNvPr>
          <p:cNvSpPr/>
          <p:nvPr/>
        </p:nvSpPr>
        <p:spPr>
          <a:xfrm>
            <a:off x="164468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메인</a:t>
            </a:r>
          </a:p>
        </p:txBody>
      </p:sp>
      <p:sp>
        <p:nvSpPr>
          <p:cNvPr id="81" name="모서리가 둥근 직사각형 80">
            <a:extLst>
              <a:ext uri="{FF2B5EF4-FFF2-40B4-BE49-F238E27FC236}">
                <a16:creationId xmlns:a16="http://schemas.microsoft.com/office/drawing/2014/main" id="{ECF8E8EC-B30B-C064-97C1-D54E82F9E6FD}"/>
              </a:ext>
            </a:extLst>
          </p:cNvPr>
          <p:cNvSpPr/>
          <p:nvPr/>
        </p:nvSpPr>
        <p:spPr>
          <a:xfrm>
            <a:off x="1068205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로그인</a:t>
            </a:r>
          </a:p>
        </p:txBody>
      </p:sp>
      <p:sp>
        <p:nvSpPr>
          <p:cNvPr id="82" name="모서리가 둥근 직사각형 81">
            <a:extLst>
              <a:ext uri="{FF2B5EF4-FFF2-40B4-BE49-F238E27FC236}">
                <a16:creationId xmlns:a16="http://schemas.microsoft.com/office/drawing/2014/main" id="{98502847-072F-AD37-BEF6-EA969080C930}"/>
              </a:ext>
            </a:extLst>
          </p:cNvPr>
          <p:cNvSpPr/>
          <p:nvPr/>
        </p:nvSpPr>
        <p:spPr>
          <a:xfrm>
            <a:off x="1976252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회원가입</a:t>
            </a:r>
          </a:p>
        </p:txBody>
      </p:sp>
      <p:sp>
        <p:nvSpPr>
          <p:cNvPr id="83" name="모서리가 둥근 직사각형 82">
            <a:extLst>
              <a:ext uri="{FF2B5EF4-FFF2-40B4-BE49-F238E27FC236}">
                <a16:creationId xmlns:a16="http://schemas.microsoft.com/office/drawing/2014/main" id="{606B1653-7EF2-306A-1548-69FD00C1C38A}"/>
              </a:ext>
            </a:extLst>
          </p:cNvPr>
          <p:cNvSpPr/>
          <p:nvPr/>
        </p:nvSpPr>
        <p:spPr>
          <a:xfrm>
            <a:off x="2919280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ID/PW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찾기</a:t>
            </a:r>
          </a:p>
        </p:txBody>
      </p:sp>
      <p:sp>
        <p:nvSpPr>
          <p:cNvPr id="84" name="모서리가 둥근 직사각형 83">
            <a:extLst>
              <a:ext uri="{FF2B5EF4-FFF2-40B4-BE49-F238E27FC236}">
                <a16:creationId xmlns:a16="http://schemas.microsoft.com/office/drawing/2014/main" id="{F2FE255D-AE5A-EEE7-B7B3-CA7ABFE500B8}"/>
              </a:ext>
            </a:extLst>
          </p:cNvPr>
          <p:cNvSpPr/>
          <p:nvPr/>
        </p:nvSpPr>
        <p:spPr>
          <a:xfrm>
            <a:off x="3859353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재단소개</a:t>
            </a:r>
          </a:p>
        </p:txBody>
      </p:sp>
      <p:sp>
        <p:nvSpPr>
          <p:cNvPr id="85" name="모서리가 둥근 직사각형 84">
            <a:extLst>
              <a:ext uri="{FF2B5EF4-FFF2-40B4-BE49-F238E27FC236}">
                <a16:creationId xmlns:a16="http://schemas.microsoft.com/office/drawing/2014/main" id="{9E631B18-FE57-F7AB-0F0B-D32ADA8588E1}"/>
              </a:ext>
            </a:extLst>
          </p:cNvPr>
          <p:cNvSpPr/>
          <p:nvPr/>
        </p:nvSpPr>
        <p:spPr>
          <a:xfrm>
            <a:off x="4772461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열린경영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5" name="모서리가 둥근 직사각형 94">
            <a:extLst>
              <a:ext uri="{FF2B5EF4-FFF2-40B4-BE49-F238E27FC236}">
                <a16:creationId xmlns:a16="http://schemas.microsoft.com/office/drawing/2014/main" id="{DB682504-13DD-84D1-D7F4-8DB51F2CD99E}"/>
              </a:ext>
            </a:extLst>
          </p:cNvPr>
          <p:cNvSpPr/>
          <p:nvPr/>
        </p:nvSpPr>
        <p:spPr>
          <a:xfrm>
            <a:off x="8876900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마이페이지</a:t>
            </a:r>
          </a:p>
        </p:txBody>
      </p:sp>
      <p:cxnSp>
        <p:nvCxnSpPr>
          <p:cNvPr id="104" name="꺾인 연결선 103">
            <a:extLst>
              <a:ext uri="{FF2B5EF4-FFF2-40B4-BE49-F238E27FC236}">
                <a16:creationId xmlns:a16="http://schemas.microsoft.com/office/drawing/2014/main" id="{8A2F48AD-82F5-FE34-19CD-2E4B193B443B}"/>
              </a:ext>
            </a:extLst>
          </p:cNvPr>
          <p:cNvCxnSpPr>
            <a:stCxn id="76" idx="0"/>
            <a:endCxn id="75" idx="2"/>
          </p:cNvCxnSpPr>
          <p:nvPr/>
        </p:nvCxnSpPr>
        <p:spPr>
          <a:xfrm rot="5400000" flipH="1" flipV="1">
            <a:off x="2641771" y="-295398"/>
            <a:ext cx="343487" cy="4434093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꺾인 연결선 105">
            <a:extLst>
              <a:ext uri="{FF2B5EF4-FFF2-40B4-BE49-F238E27FC236}">
                <a16:creationId xmlns:a16="http://schemas.microsoft.com/office/drawing/2014/main" id="{BE335553-A917-6C8C-809A-572E9E2C4351}"/>
              </a:ext>
            </a:extLst>
          </p:cNvPr>
          <p:cNvCxnSpPr>
            <a:stCxn id="81" idx="0"/>
            <a:endCxn id="75" idx="2"/>
          </p:cNvCxnSpPr>
          <p:nvPr/>
        </p:nvCxnSpPr>
        <p:spPr>
          <a:xfrm rot="5400000" flipH="1" flipV="1">
            <a:off x="3093640" y="156470"/>
            <a:ext cx="343487" cy="3530356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꺾인 연결선 106">
            <a:extLst>
              <a:ext uri="{FF2B5EF4-FFF2-40B4-BE49-F238E27FC236}">
                <a16:creationId xmlns:a16="http://schemas.microsoft.com/office/drawing/2014/main" id="{A7D3C598-AD01-433A-5114-2A92BE4D447C}"/>
              </a:ext>
            </a:extLst>
          </p:cNvPr>
          <p:cNvCxnSpPr>
            <a:stCxn id="82" idx="0"/>
            <a:endCxn id="75" idx="2"/>
          </p:cNvCxnSpPr>
          <p:nvPr/>
        </p:nvCxnSpPr>
        <p:spPr>
          <a:xfrm rot="5400000" flipH="1" flipV="1">
            <a:off x="3547663" y="610494"/>
            <a:ext cx="343487" cy="2622309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꺾인 연결선 108">
            <a:extLst>
              <a:ext uri="{FF2B5EF4-FFF2-40B4-BE49-F238E27FC236}">
                <a16:creationId xmlns:a16="http://schemas.microsoft.com/office/drawing/2014/main" id="{C5D8CFBD-F470-6384-BD6C-6C2DCE6A9EDD}"/>
              </a:ext>
            </a:extLst>
          </p:cNvPr>
          <p:cNvCxnSpPr>
            <a:cxnSpLocks/>
            <a:stCxn id="83" idx="0"/>
            <a:endCxn id="75" idx="2"/>
          </p:cNvCxnSpPr>
          <p:nvPr/>
        </p:nvCxnSpPr>
        <p:spPr>
          <a:xfrm rot="5400000" flipH="1" flipV="1">
            <a:off x="4019177" y="1082008"/>
            <a:ext cx="343487" cy="1679281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꺾인 연결선 109">
            <a:extLst>
              <a:ext uri="{FF2B5EF4-FFF2-40B4-BE49-F238E27FC236}">
                <a16:creationId xmlns:a16="http://schemas.microsoft.com/office/drawing/2014/main" id="{6F6D5D15-D28A-44C7-876D-B5EC3C146C7C}"/>
              </a:ext>
            </a:extLst>
          </p:cNvPr>
          <p:cNvCxnSpPr>
            <a:stCxn id="84" idx="0"/>
            <a:endCxn id="75" idx="2"/>
          </p:cNvCxnSpPr>
          <p:nvPr/>
        </p:nvCxnSpPr>
        <p:spPr>
          <a:xfrm rot="5400000" flipH="1" flipV="1">
            <a:off x="4489214" y="1552044"/>
            <a:ext cx="343487" cy="739208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꺾인 연결선 111">
            <a:extLst>
              <a:ext uri="{FF2B5EF4-FFF2-40B4-BE49-F238E27FC236}">
                <a16:creationId xmlns:a16="http://schemas.microsoft.com/office/drawing/2014/main" id="{84CB9956-3F4D-EF6E-DDFC-7E9FCBB6FD20}"/>
              </a:ext>
            </a:extLst>
          </p:cNvPr>
          <p:cNvCxnSpPr>
            <a:stCxn id="85" idx="0"/>
            <a:endCxn id="75" idx="2"/>
          </p:cNvCxnSpPr>
          <p:nvPr/>
        </p:nvCxnSpPr>
        <p:spPr>
          <a:xfrm rot="16200000" flipV="1">
            <a:off x="4945768" y="1834698"/>
            <a:ext cx="343487" cy="173900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꺾인 연결선 116">
            <a:extLst>
              <a:ext uri="{FF2B5EF4-FFF2-40B4-BE49-F238E27FC236}">
                <a16:creationId xmlns:a16="http://schemas.microsoft.com/office/drawing/2014/main" id="{5A3EB7BF-2FE8-BDDC-F351-1FD557F8F574}"/>
              </a:ext>
            </a:extLst>
          </p:cNvPr>
          <p:cNvCxnSpPr>
            <a:cxnSpLocks/>
            <a:stCxn id="14" idx="0"/>
            <a:endCxn id="75" idx="2"/>
          </p:cNvCxnSpPr>
          <p:nvPr/>
        </p:nvCxnSpPr>
        <p:spPr>
          <a:xfrm rot="16200000" flipV="1">
            <a:off x="5854079" y="926387"/>
            <a:ext cx="343487" cy="1990521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꺾인 연결선 145">
            <a:extLst>
              <a:ext uri="{FF2B5EF4-FFF2-40B4-BE49-F238E27FC236}">
                <a16:creationId xmlns:a16="http://schemas.microsoft.com/office/drawing/2014/main" id="{C8D54339-66F6-0BE7-8FE6-FE39B42063E0}"/>
              </a:ext>
            </a:extLst>
          </p:cNvPr>
          <p:cNvCxnSpPr>
            <a:cxnSpLocks/>
            <a:stCxn id="95" idx="0"/>
            <a:endCxn id="75" idx="2"/>
          </p:cNvCxnSpPr>
          <p:nvPr/>
        </p:nvCxnSpPr>
        <p:spPr>
          <a:xfrm rot="16200000" flipV="1">
            <a:off x="6997988" y="-217522"/>
            <a:ext cx="343487" cy="4278339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모서리가 둥근 직사각형 84">
            <a:extLst>
              <a:ext uri="{FF2B5EF4-FFF2-40B4-BE49-F238E27FC236}">
                <a16:creationId xmlns:a16="http://schemas.microsoft.com/office/drawing/2014/main" id="{BA3AA7FA-9894-811F-BE10-AA4C6B7F0EE1}"/>
              </a:ext>
            </a:extLst>
          </p:cNvPr>
          <p:cNvSpPr/>
          <p:nvPr/>
        </p:nvSpPr>
        <p:spPr>
          <a:xfrm>
            <a:off x="6589082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</a:t>
            </a:r>
          </a:p>
        </p:txBody>
      </p:sp>
      <p:sp>
        <p:nvSpPr>
          <p:cNvPr id="164" name="모서리가 둥근 직사각형 84">
            <a:extLst>
              <a:ext uri="{FF2B5EF4-FFF2-40B4-BE49-F238E27FC236}">
                <a16:creationId xmlns:a16="http://schemas.microsoft.com/office/drawing/2014/main" id="{A28C17CE-5442-E69B-79BD-61A713B13615}"/>
              </a:ext>
            </a:extLst>
          </p:cNvPr>
          <p:cNvSpPr/>
          <p:nvPr/>
        </p:nvSpPr>
        <p:spPr>
          <a:xfrm>
            <a:off x="5685569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재단소식</a:t>
            </a:r>
          </a:p>
        </p:txBody>
      </p:sp>
      <p:cxnSp>
        <p:nvCxnSpPr>
          <p:cNvPr id="165" name="꺾인 연결선 111">
            <a:extLst>
              <a:ext uri="{FF2B5EF4-FFF2-40B4-BE49-F238E27FC236}">
                <a16:creationId xmlns:a16="http://schemas.microsoft.com/office/drawing/2014/main" id="{8BF51F38-48B3-D711-7630-CB8E0F90A167}"/>
              </a:ext>
            </a:extLst>
          </p:cNvPr>
          <p:cNvCxnSpPr>
            <a:cxnSpLocks/>
            <a:stCxn id="164" idx="0"/>
            <a:endCxn id="75" idx="2"/>
          </p:cNvCxnSpPr>
          <p:nvPr/>
        </p:nvCxnSpPr>
        <p:spPr>
          <a:xfrm rot="16200000" flipV="1">
            <a:off x="5402322" y="1378144"/>
            <a:ext cx="343487" cy="1087008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모서리가 둥근 직사각형 83">
            <a:extLst>
              <a:ext uri="{FF2B5EF4-FFF2-40B4-BE49-F238E27FC236}">
                <a16:creationId xmlns:a16="http://schemas.microsoft.com/office/drawing/2014/main" id="{F5B01719-3E4C-F4AC-2A32-BCC8FFD394FB}"/>
              </a:ext>
            </a:extLst>
          </p:cNvPr>
          <p:cNvSpPr/>
          <p:nvPr/>
        </p:nvSpPr>
        <p:spPr>
          <a:xfrm>
            <a:off x="7120246" y="2344450"/>
            <a:ext cx="935392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고등학생 장학금</a:t>
            </a:r>
          </a:p>
        </p:txBody>
      </p:sp>
      <p:cxnSp>
        <p:nvCxnSpPr>
          <p:cNvPr id="40" name="꺾인 연결선 111">
            <a:extLst>
              <a:ext uri="{FF2B5EF4-FFF2-40B4-BE49-F238E27FC236}">
                <a16:creationId xmlns:a16="http://schemas.microsoft.com/office/drawing/2014/main" id="{F75165F5-1029-60F1-6671-CC27A8192313}"/>
              </a:ext>
            </a:extLst>
          </p:cNvPr>
          <p:cNvCxnSpPr>
            <a:cxnSpLocks/>
            <a:stCxn id="39" idx="1"/>
            <a:endCxn id="14" idx="2"/>
          </p:cNvCxnSpPr>
          <p:nvPr/>
        </p:nvCxnSpPr>
        <p:spPr>
          <a:xfrm rot="10800000">
            <a:off x="7021082" y="2282743"/>
            <a:ext cx="99164" cy="147776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모서리가 둥근 직사각형 83">
            <a:extLst>
              <a:ext uri="{FF2B5EF4-FFF2-40B4-BE49-F238E27FC236}">
                <a16:creationId xmlns:a16="http://schemas.microsoft.com/office/drawing/2014/main" id="{61922F2D-B8A7-A87C-B61F-6301250F1D62}"/>
              </a:ext>
            </a:extLst>
          </p:cNvPr>
          <p:cNvSpPr/>
          <p:nvPr/>
        </p:nvSpPr>
        <p:spPr>
          <a:xfrm>
            <a:off x="7120246" y="2558046"/>
            <a:ext cx="935392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대학생 장학금</a:t>
            </a:r>
          </a:p>
        </p:txBody>
      </p:sp>
      <p:sp>
        <p:nvSpPr>
          <p:cNvPr id="46" name="모서리가 둥근 직사각형 83">
            <a:extLst>
              <a:ext uri="{FF2B5EF4-FFF2-40B4-BE49-F238E27FC236}">
                <a16:creationId xmlns:a16="http://schemas.microsoft.com/office/drawing/2014/main" id="{E996A5A1-71FA-F579-A4F3-3AF606184FC4}"/>
              </a:ext>
            </a:extLst>
          </p:cNvPr>
          <p:cNvSpPr/>
          <p:nvPr/>
        </p:nvSpPr>
        <p:spPr>
          <a:xfrm>
            <a:off x="7120246" y="2771833"/>
            <a:ext cx="935392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특기생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장학금</a:t>
            </a:r>
          </a:p>
        </p:txBody>
      </p:sp>
      <p:sp>
        <p:nvSpPr>
          <p:cNvPr id="50" name="모서리가 둥근 직사각형 83">
            <a:extLst>
              <a:ext uri="{FF2B5EF4-FFF2-40B4-BE49-F238E27FC236}">
                <a16:creationId xmlns:a16="http://schemas.microsoft.com/office/drawing/2014/main" id="{0A801129-5A17-41EC-90D2-1307287BA2E7}"/>
              </a:ext>
            </a:extLst>
          </p:cNvPr>
          <p:cNvSpPr/>
          <p:nvPr/>
        </p:nvSpPr>
        <p:spPr>
          <a:xfrm>
            <a:off x="7120246" y="2987887"/>
            <a:ext cx="935392" cy="172138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행복기숙사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입사비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3" name="모서리가 둥근 직사각형 83">
            <a:extLst>
              <a:ext uri="{FF2B5EF4-FFF2-40B4-BE49-F238E27FC236}">
                <a16:creationId xmlns:a16="http://schemas.microsoft.com/office/drawing/2014/main" id="{C8621459-95FB-61B6-589F-AFEDE6D5B5EB}"/>
              </a:ext>
            </a:extLst>
          </p:cNvPr>
          <p:cNvSpPr/>
          <p:nvPr/>
        </p:nvSpPr>
        <p:spPr>
          <a:xfrm>
            <a:off x="7120246" y="3433932"/>
            <a:ext cx="935392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평생교육장려금</a:t>
            </a:r>
          </a:p>
        </p:txBody>
      </p:sp>
      <p:cxnSp>
        <p:nvCxnSpPr>
          <p:cNvPr id="54" name="꺾인 연결선 111">
            <a:extLst>
              <a:ext uri="{FF2B5EF4-FFF2-40B4-BE49-F238E27FC236}">
                <a16:creationId xmlns:a16="http://schemas.microsoft.com/office/drawing/2014/main" id="{D8975487-0131-8FBB-2127-EF8F02879499}"/>
              </a:ext>
            </a:extLst>
          </p:cNvPr>
          <p:cNvCxnSpPr>
            <a:cxnSpLocks/>
            <a:stCxn id="45" idx="1"/>
            <a:endCxn id="14" idx="2"/>
          </p:cNvCxnSpPr>
          <p:nvPr/>
        </p:nvCxnSpPr>
        <p:spPr>
          <a:xfrm rot="10800000">
            <a:off x="7021082" y="2282743"/>
            <a:ext cx="99164" cy="361372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꺾인 연결선 111">
            <a:extLst>
              <a:ext uri="{FF2B5EF4-FFF2-40B4-BE49-F238E27FC236}">
                <a16:creationId xmlns:a16="http://schemas.microsoft.com/office/drawing/2014/main" id="{0F1B25DF-DBDC-0146-09B4-79FF2141B7F8}"/>
              </a:ext>
            </a:extLst>
          </p:cNvPr>
          <p:cNvCxnSpPr>
            <a:cxnSpLocks/>
            <a:stCxn id="46" idx="1"/>
            <a:endCxn id="14" idx="2"/>
          </p:cNvCxnSpPr>
          <p:nvPr/>
        </p:nvCxnSpPr>
        <p:spPr>
          <a:xfrm rot="10800000">
            <a:off x="7021082" y="2282744"/>
            <a:ext cx="99164" cy="575159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꺾인 연결선 111">
            <a:extLst>
              <a:ext uri="{FF2B5EF4-FFF2-40B4-BE49-F238E27FC236}">
                <a16:creationId xmlns:a16="http://schemas.microsoft.com/office/drawing/2014/main" id="{5D7329D5-6588-64CA-6E1B-1651900B9BAA}"/>
              </a:ext>
            </a:extLst>
          </p:cNvPr>
          <p:cNvCxnSpPr>
            <a:cxnSpLocks/>
            <a:stCxn id="50" idx="1"/>
            <a:endCxn id="14" idx="2"/>
          </p:cNvCxnSpPr>
          <p:nvPr/>
        </p:nvCxnSpPr>
        <p:spPr>
          <a:xfrm rot="10800000">
            <a:off x="7021082" y="2282744"/>
            <a:ext cx="99164" cy="791213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꺾인 연결선 111">
            <a:extLst>
              <a:ext uri="{FF2B5EF4-FFF2-40B4-BE49-F238E27FC236}">
                <a16:creationId xmlns:a16="http://schemas.microsoft.com/office/drawing/2014/main" id="{02960AFE-9A20-F1C0-ADAE-3EC44A7D13B2}"/>
              </a:ext>
            </a:extLst>
          </p:cNvPr>
          <p:cNvCxnSpPr>
            <a:cxnSpLocks/>
            <a:stCxn id="53" idx="1"/>
            <a:endCxn id="14" idx="2"/>
          </p:cNvCxnSpPr>
          <p:nvPr/>
        </p:nvCxnSpPr>
        <p:spPr>
          <a:xfrm rot="10800000">
            <a:off x="7021082" y="2282743"/>
            <a:ext cx="99164" cy="1237258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모서리가 둥근 직사각형 83">
            <a:extLst>
              <a:ext uri="{FF2B5EF4-FFF2-40B4-BE49-F238E27FC236}">
                <a16:creationId xmlns:a16="http://schemas.microsoft.com/office/drawing/2014/main" id="{79716CA3-9D5B-8987-72CB-F0A7FE98DAAA}"/>
              </a:ext>
            </a:extLst>
          </p:cNvPr>
          <p:cNvSpPr/>
          <p:nvPr/>
        </p:nvSpPr>
        <p:spPr>
          <a:xfrm>
            <a:off x="7120246" y="3652906"/>
            <a:ext cx="935392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교육사업 신청</a:t>
            </a:r>
          </a:p>
        </p:txBody>
      </p:sp>
      <p:cxnSp>
        <p:nvCxnSpPr>
          <p:cNvPr id="62" name="꺾인 연결선 111">
            <a:extLst>
              <a:ext uri="{FF2B5EF4-FFF2-40B4-BE49-F238E27FC236}">
                <a16:creationId xmlns:a16="http://schemas.microsoft.com/office/drawing/2014/main" id="{005FE77E-CB89-C7BD-E8C0-F08AAF0490B1}"/>
              </a:ext>
            </a:extLst>
          </p:cNvPr>
          <p:cNvCxnSpPr>
            <a:cxnSpLocks/>
            <a:stCxn id="60" idx="1"/>
            <a:endCxn id="14" idx="2"/>
          </p:cNvCxnSpPr>
          <p:nvPr/>
        </p:nvCxnSpPr>
        <p:spPr>
          <a:xfrm rot="10800000">
            <a:off x="7021082" y="2282743"/>
            <a:ext cx="99164" cy="1456232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모서리가 둥근 직사각형 84">
            <a:extLst>
              <a:ext uri="{FF2B5EF4-FFF2-40B4-BE49-F238E27FC236}">
                <a16:creationId xmlns:a16="http://schemas.microsoft.com/office/drawing/2014/main" id="{29C7815B-C50C-C24B-8955-5FCEED6199C4}"/>
              </a:ext>
            </a:extLst>
          </p:cNvPr>
          <p:cNvSpPr/>
          <p:nvPr/>
        </p:nvSpPr>
        <p:spPr>
          <a:xfrm>
            <a:off x="7532495" y="2093391"/>
            <a:ext cx="1264982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오산시민평생교육장려금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9" name="꺾인 연결선 145">
            <a:extLst>
              <a:ext uri="{FF2B5EF4-FFF2-40B4-BE49-F238E27FC236}">
                <a16:creationId xmlns:a16="http://schemas.microsoft.com/office/drawing/2014/main" id="{F09E1B89-501F-03D2-340D-05B125B57106}"/>
              </a:ext>
            </a:extLst>
          </p:cNvPr>
          <p:cNvCxnSpPr>
            <a:cxnSpLocks/>
            <a:stCxn id="17" idx="0"/>
            <a:endCxn id="75" idx="2"/>
          </p:cNvCxnSpPr>
          <p:nvPr/>
        </p:nvCxnSpPr>
        <p:spPr>
          <a:xfrm rot="16200000" flipV="1">
            <a:off x="6426031" y="354435"/>
            <a:ext cx="343487" cy="3134425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모서리가 둥근 직사각형 83">
            <a:extLst>
              <a:ext uri="{FF2B5EF4-FFF2-40B4-BE49-F238E27FC236}">
                <a16:creationId xmlns:a16="http://schemas.microsoft.com/office/drawing/2014/main" id="{F48A32EF-A41A-4324-DA45-128EBCADA781}"/>
              </a:ext>
            </a:extLst>
          </p:cNvPr>
          <p:cNvSpPr/>
          <p:nvPr/>
        </p:nvSpPr>
        <p:spPr>
          <a:xfrm>
            <a:off x="7687106" y="3219547"/>
            <a:ext cx="935392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 조회</a:t>
            </a:r>
          </a:p>
        </p:txBody>
      </p:sp>
      <p:cxnSp>
        <p:nvCxnSpPr>
          <p:cNvPr id="6" name="꺾인 연결선 111">
            <a:extLst>
              <a:ext uri="{FF2B5EF4-FFF2-40B4-BE49-F238E27FC236}">
                <a16:creationId xmlns:a16="http://schemas.microsoft.com/office/drawing/2014/main" id="{37FF28AA-E543-3766-2F41-6987C09B481A}"/>
              </a:ext>
            </a:extLst>
          </p:cNvPr>
          <p:cNvCxnSpPr>
            <a:cxnSpLocks/>
            <a:stCxn id="5" idx="1"/>
            <a:endCxn id="50" idx="2"/>
          </p:cNvCxnSpPr>
          <p:nvPr/>
        </p:nvCxnSpPr>
        <p:spPr>
          <a:xfrm rot="10800000">
            <a:off x="7587942" y="3160026"/>
            <a:ext cx="99164" cy="145591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모서리가 둥근 직사각형 83">
            <a:extLst>
              <a:ext uri="{FF2B5EF4-FFF2-40B4-BE49-F238E27FC236}">
                <a16:creationId xmlns:a16="http://schemas.microsoft.com/office/drawing/2014/main" id="{05680A6F-028C-C460-0E6B-FB9B9B29F5F1}"/>
              </a:ext>
            </a:extLst>
          </p:cNvPr>
          <p:cNvSpPr/>
          <p:nvPr/>
        </p:nvSpPr>
        <p:spPr>
          <a:xfrm>
            <a:off x="8646351" y="3219547"/>
            <a:ext cx="935392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장학금 신청</a:t>
            </a:r>
          </a:p>
        </p:txBody>
      </p:sp>
    </p:spTree>
    <p:extLst>
      <p:ext uri="{BB962C8B-B14F-4D97-AF65-F5344CB8AC3E}">
        <p14:creationId xmlns:p14="http://schemas.microsoft.com/office/powerpoint/2010/main" val="361266549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863E9-3186-1325-F064-2F2A7C0CA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5CA0CEC-2530-3228-1B57-99C63362B1D6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행복기숙사입사비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조회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FCCD892-D66F-25D1-2B93-C34D4E884699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프로그램신청관리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행복기숙사입사비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조회</a:t>
            </a: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5144B0E1-07B1-0DA1-AD3D-79C57A9788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3630192"/>
              </p:ext>
            </p:extLst>
          </p:nvPr>
        </p:nvGraphicFramePr>
        <p:xfrm>
          <a:off x="6969418" y="2548005"/>
          <a:ext cx="2772114" cy="3459899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프로그램신청 메뉴 중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행복기숙사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입사비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클릭 시 보이는 화면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전체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선택 후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검색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시 등록된 모든 공고를 목록에 표시 한다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.</a:t>
                      </a: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준비중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조회일 기준 접수기간 이전일 경우의 상태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선택 후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검색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시 준비중 상태의 공고를 목록에 표시 한다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접수중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조회일 기준 접수기간일 경우의 상태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선택 후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검색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시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접수중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상태의 공고를 목록에 표시 한다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마감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조회일 기준 접수기간이 지난 경우의 상태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선택 후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검색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시 마감 상태의 공고를 목록에 표시 한다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검색조건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제목 고정 표시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공고의 제목 입력 후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검색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시 해당 조건에 맞는 공고가 목록에 보인다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.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제목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공고 등록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수정 시 설정된 제목을 표시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접수기간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공고 등록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수정 시 설정된 접수기간을 표시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상태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준비중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/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접수중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/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마감 중 표시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준비중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조회일 기준 접수기간 이전일 경우의 상태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접수중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조회일 기준 접수기간일 경우의 상태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21C2884A-0BD1-F0CB-35AC-9FE6C77D0B4D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pad_hit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32E5F1E3-45FB-67F1-6596-8ECEA2B0DC62}"/>
              </a:ext>
            </a:extLst>
          </p:cNvPr>
          <p:cNvSpPr/>
          <p:nvPr/>
        </p:nvSpPr>
        <p:spPr>
          <a:xfrm>
            <a:off x="165100" y="1376772"/>
            <a:ext cx="6732116" cy="36877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3D16CB1F-849E-3667-A6E3-CF316676FC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1468700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C5CE04AD-E8A6-2E9F-0D69-3B3DEDB29909}"/>
              </a:ext>
            </a:extLst>
          </p:cNvPr>
          <p:cNvSpPr/>
          <p:nvPr/>
        </p:nvSpPr>
        <p:spPr>
          <a:xfrm>
            <a:off x="5680946" y="1586865"/>
            <a:ext cx="1165384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오산시민 평생교육장려금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A52D636-FE99-4F3B-B599-29BA9EECC4C2}"/>
              </a:ext>
            </a:extLst>
          </p:cNvPr>
          <p:cNvSpPr/>
          <p:nvPr/>
        </p:nvSpPr>
        <p:spPr>
          <a:xfrm>
            <a:off x="4831365" y="1586865"/>
            <a:ext cx="652423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 신청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CE96412-B3FA-8F22-7CFE-F487109C0D70}"/>
              </a:ext>
            </a:extLst>
          </p:cNvPr>
          <p:cNvSpPr/>
          <p:nvPr/>
        </p:nvSpPr>
        <p:spPr>
          <a:xfrm>
            <a:off x="4223838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재단소식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21E417A-8044-3512-39D0-2FCF567180D7}"/>
              </a:ext>
            </a:extLst>
          </p:cNvPr>
          <p:cNvSpPr/>
          <p:nvPr/>
        </p:nvSpPr>
        <p:spPr>
          <a:xfrm>
            <a:off x="3616311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열린경영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A1262B3-6340-9F9A-4D25-F58379D8B98C}"/>
              </a:ext>
            </a:extLst>
          </p:cNvPr>
          <p:cNvSpPr/>
          <p:nvPr/>
        </p:nvSpPr>
        <p:spPr>
          <a:xfrm>
            <a:off x="3008784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4F32B6E-2C35-781C-2D8A-AE37A9B4536E}"/>
              </a:ext>
            </a:extLst>
          </p:cNvPr>
          <p:cNvSpPr/>
          <p:nvPr/>
        </p:nvSpPr>
        <p:spPr>
          <a:xfrm>
            <a:off x="165100" y="1790190"/>
            <a:ext cx="6732116" cy="469951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8400C95-5E34-D21D-39CE-79B03D1A72A5}"/>
              </a:ext>
            </a:extLst>
          </p:cNvPr>
          <p:cNvSpPr/>
          <p:nvPr/>
        </p:nvSpPr>
        <p:spPr>
          <a:xfrm>
            <a:off x="5406844" y="1879740"/>
            <a:ext cx="1372172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행복기숙사입사비</a:t>
            </a:r>
            <a:endParaRPr kumimoji="0" lang="ko-KR" alt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402E7DD-11C7-A632-AB23-6D8F5FE8614B}"/>
              </a:ext>
            </a:extLst>
          </p:cNvPr>
          <p:cNvSpPr/>
          <p:nvPr/>
        </p:nvSpPr>
        <p:spPr>
          <a:xfrm>
            <a:off x="236476" y="1844824"/>
            <a:ext cx="963405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행복기숙사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9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입사비</a:t>
            </a:r>
            <a:endParaRPr kumimoji="0" lang="ko-KR" alt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4D82CFC-4D28-25E5-1240-42ECA9CBE513}"/>
              </a:ext>
            </a:extLst>
          </p:cNvPr>
          <p:cNvSpPr/>
          <p:nvPr/>
        </p:nvSpPr>
        <p:spPr>
          <a:xfrm>
            <a:off x="3824511" y="2248048"/>
            <a:ext cx="277591" cy="144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검색</a:t>
            </a: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AA9D7AC-2DB9-3152-C0C4-3F0F3BAF4FDB}"/>
              </a:ext>
            </a:extLst>
          </p:cNvPr>
          <p:cNvSpPr/>
          <p:nvPr/>
        </p:nvSpPr>
        <p:spPr>
          <a:xfrm>
            <a:off x="2610475" y="2248048"/>
            <a:ext cx="1193641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검색어를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입력하세요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3" name="Picture 13">
            <a:extLst>
              <a:ext uri="{FF2B5EF4-FFF2-40B4-BE49-F238E27FC236}">
                <a16:creationId xmlns:a16="http://schemas.microsoft.com/office/drawing/2014/main" id="{F0075BAB-11CA-B1FB-312A-1FB5E71E3C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2534" y="2246398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E5F38D78-DAEB-A719-064F-90C16AA6C0C9}"/>
              </a:ext>
            </a:extLst>
          </p:cNvPr>
          <p:cNvSpPr/>
          <p:nvPr/>
        </p:nvSpPr>
        <p:spPr>
          <a:xfrm>
            <a:off x="2025221" y="2248048"/>
            <a:ext cx="393415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제목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B6B2D217-6623-3318-0D3C-F86BF73EFFE5}"/>
              </a:ext>
            </a:extLst>
          </p:cNvPr>
          <p:cNvGrpSpPr/>
          <p:nvPr/>
        </p:nvGrpSpPr>
        <p:grpSpPr>
          <a:xfrm>
            <a:off x="1169162" y="2246542"/>
            <a:ext cx="408361" cy="144462"/>
            <a:chOff x="2403014" y="4597515"/>
            <a:chExt cx="408361" cy="144462"/>
          </a:xfrm>
        </p:grpSpPr>
        <p:sp>
          <p:nvSpPr>
            <p:cNvPr id="30" name="Rectangle 191">
              <a:extLst>
                <a:ext uri="{FF2B5EF4-FFF2-40B4-BE49-F238E27FC236}">
                  <a16:creationId xmlns:a16="http://schemas.microsoft.com/office/drawing/2014/main" id="{76A5CB5B-3F50-71BF-80A0-D37E68D1E3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2071" y="4615885"/>
              <a:ext cx="269304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접수중</a:t>
              </a:r>
            </a:p>
          </p:txBody>
        </p:sp>
        <p:graphicFrame>
          <p:nvGraphicFramePr>
            <p:cNvPr id="31" name="개체 30">
              <a:extLst>
                <a:ext uri="{FF2B5EF4-FFF2-40B4-BE49-F238E27FC236}">
                  <a16:creationId xmlns:a16="http://schemas.microsoft.com/office/drawing/2014/main" id="{14750A14-E90C-6006-06CB-0393941BBC9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03014" y="4597515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145435" imgH="145435" progId="Visio.Drawing.11">
                    <p:embed/>
                  </p:oleObj>
                </mc:Choice>
                <mc:Fallback>
                  <p:oleObj name="Visio" r:id="rId4" imgW="145435" imgH="145435" progId="Visio.Drawing.11">
                    <p:embed/>
                    <p:pic>
                      <p:nvPicPr>
                        <p:cNvPr id="31" name="개체 30">
                          <a:extLst>
                            <a:ext uri="{FF2B5EF4-FFF2-40B4-BE49-F238E27FC236}">
                              <a16:creationId xmlns:a16="http://schemas.microsoft.com/office/drawing/2014/main" id="{63C3A279-5C26-6CE0-5D7E-6B376DC6654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3014" y="4597515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24E61F31-C490-4885-094C-17DAB1051433}"/>
              </a:ext>
            </a:extLst>
          </p:cNvPr>
          <p:cNvGrpSpPr/>
          <p:nvPr/>
        </p:nvGrpSpPr>
        <p:grpSpPr>
          <a:xfrm>
            <a:off x="266961" y="2246398"/>
            <a:ext cx="316600" cy="144462"/>
            <a:chOff x="2145750" y="2807609"/>
            <a:chExt cx="316600" cy="144462"/>
          </a:xfrm>
        </p:grpSpPr>
        <p:sp>
          <p:nvSpPr>
            <p:cNvPr id="33" name="Rectangle 191">
              <a:extLst>
                <a:ext uri="{FF2B5EF4-FFF2-40B4-BE49-F238E27FC236}">
                  <a16:creationId xmlns:a16="http://schemas.microsoft.com/office/drawing/2014/main" id="{8AA55726-8053-00E2-A452-A393BFA819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2814" y="2826123"/>
              <a:ext cx="179536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전체</a:t>
              </a:r>
            </a:p>
          </p:txBody>
        </p:sp>
        <p:graphicFrame>
          <p:nvGraphicFramePr>
            <p:cNvPr id="34" name="개체 33">
              <a:extLst>
                <a:ext uri="{FF2B5EF4-FFF2-40B4-BE49-F238E27FC236}">
                  <a16:creationId xmlns:a16="http://schemas.microsoft.com/office/drawing/2014/main" id="{6B28E06E-A4B2-AED8-0BDF-D74A1A92C9E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45750" y="2807609"/>
            <a:ext cx="144463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6" imgW="145435" imgH="145435" progId="Visio.Drawing.11">
                    <p:embed/>
                  </p:oleObj>
                </mc:Choice>
                <mc:Fallback>
                  <p:oleObj name="Visio" r:id="rId6" imgW="145435" imgH="145435" progId="Visio.Drawing.11">
                    <p:embed/>
                    <p:pic>
                      <p:nvPicPr>
                        <p:cNvPr id="34" name="개체 33">
                          <a:extLst>
                            <a:ext uri="{FF2B5EF4-FFF2-40B4-BE49-F238E27FC236}">
                              <a16:creationId xmlns:a16="http://schemas.microsoft.com/office/drawing/2014/main" id="{414892EC-4E10-F95B-7F27-36C46D7F155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45750" y="2807609"/>
                          <a:ext cx="144463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B7CCB0C7-599C-21CF-2CBD-C6E659CD6725}"/>
              </a:ext>
            </a:extLst>
          </p:cNvPr>
          <p:cNvGrpSpPr/>
          <p:nvPr/>
        </p:nvGrpSpPr>
        <p:grpSpPr>
          <a:xfrm>
            <a:off x="1666143" y="2246542"/>
            <a:ext cx="318593" cy="144462"/>
            <a:chOff x="2403014" y="4597515"/>
            <a:chExt cx="318593" cy="144462"/>
          </a:xfrm>
        </p:grpSpPr>
        <p:sp>
          <p:nvSpPr>
            <p:cNvPr id="36" name="Rectangle 191">
              <a:extLst>
                <a:ext uri="{FF2B5EF4-FFF2-40B4-BE49-F238E27FC236}">
                  <a16:creationId xmlns:a16="http://schemas.microsoft.com/office/drawing/2014/main" id="{527552D7-373C-B793-96BA-EA12BF6D5F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2071" y="4615885"/>
              <a:ext cx="179536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마감</a:t>
              </a:r>
            </a:p>
          </p:txBody>
        </p:sp>
        <p:graphicFrame>
          <p:nvGraphicFramePr>
            <p:cNvPr id="37" name="개체 36">
              <a:extLst>
                <a:ext uri="{FF2B5EF4-FFF2-40B4-BE49-F238E27FC236}">
                  <a16:creationId xmlns:a16="http://schemas.microsoft.com/office/drawing/2014/main" id="{98721F3C-F45E-2B11-F648-892F0C395F0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03014" y="4597515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145435" imgH="145435" progId="Visio.Drawing.11">
                    <p:embed/>
                  </p:oleObj>
                </mc:Choice>
                <mc:Fallback>
                  <p:oleObj name="Visio" r:id="rId4" imgW="145435" imgH="145435" progId="Visio.Drawing.11">
                    <p:embed/>
                    <p:pic>
                      <p:nvPicPr>
                        <p:cNvPr id="37" name="개체 36">
                          <a:extLst>
                            <a:ext uri="{FF2B5EF4-FFF2-40B4-BE49-F238E27FC236}">
                              <a16:creationId xmlns:a16="http://schemas.microsoft.com/office/drawing/2014/main" id="{5BA96A23-299F-0D26-B547-B96178C1F08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3014" y="4597515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8653E3DB-6340-14C7-FB4F-506087C5D6B4}"/>
              </a:ext>
            </a:extLst>
          </p:cNvPr>
          <p:cNvGrpSpPr/>
          <p:nvPr/>
        </p:nvGrpSpPr>
        <p:grpSpPr>
          <a:xfrm>
            <a:off x="672181" y="2246542"/>
            <a:ext cx="408361" cy="144462"/>
            <a:chOff x="2403014" y="4597515"/>
            <a:chExt cx="408361" cy="144462"/>
          </a:xfrm>
        </p:grpSpPr>
        <p:sp>
          <p:nvSpPr>
            <p:cNvPr id="39" name="Rectangle 191">
              <a:extLst>
                <a:ext uri="{FF2B5EF4-FFF2-40B4-BE49-F238E27FC236}">
                  <a16:creationId xmlns:a16="http://schemas.microsoft.com/office/drawing/2014/main" id="{42C1B7CD-E4D2-08C9-5E03-2AF55612A1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2071" y="4615885"/>
              <a:ext cx="269304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준비중</a:t>
              </a:r>
            </a:p>
          </p:txBody>
        </p:sp>
        <p:graphicFrame>
          <p:nvGraphicFramePr>
            <p:cNvPr id="40" name="개체 39">
              <a:extLst>
                <a:ext uri="{FF2B5EF4-FFF2-40B4-BE49-F238E27FC236}">
                  <a16:creationId xmlns:a16="http://schemas.microsoft.com/office/drawing/2014/main" id="{509E9A6C-B0EE-B9F4-4738-374A3B30B9B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03014" y="4597515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145435" imgH="145435" progId="Visio.Drawing.11">
                    <p:embed/>
                  </p:oleObj>
                </mc:Choice>
                <mc:Fallback>
                  <p:oleObj name="Visio" r:id="rId4" imgW="145435" imgH="145435" progId="Visio.Drawing.11">
                    <p:embed/>
                    <p:pic>
                      <p:nvPicPr>
                        <p:cNvPr id="40" name="개체 39">
                          <a:extLst>
                            <a:ext uri="{FF2B5EF4-FFF2-40B4-BE49-F238E27FC236}">
                              <a16:creationId xmlns:a16="http://schemas.microsoft.com/office/drawing/2014/main" id="{A6716FD1-8DBA-6471-53BF-67C40C57F7E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3014" y="4597515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57F70801-4E42-86EF-5B87-76ABF9CF70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4528901"/>
              </p:ext>
            </p:extLst>
          </p:nvPr>
        </p:nvGraphicFramePr>
        <p:xfrm>
          <a:off x="284966" y="2881893"/>
          <a:ext cx="6494051" cy="27033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6426">
                  <a:extLst>
                    <a:ext uri="{9D8B030D-6E8A-4147-A177-3AD203B41FA5}">
                      <a16:colId xmlns:a16="http://schemas.microsoft.com/office/drawing/2014/main" val="795720410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1696">
                  <a:extLst>
                    <a:ext uri="{9D8B030D-6E8A-4147-A177-3AD203B41FA5}">
                      <a16:colId xmlns:a16="http://schemas.microsoft.com/office/drawing/2014/main" val="3302419106"/>
                    </a:ext>
                  </a:extLst>
                </a:gridCol>
                <a:gridCol w="69227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545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접수기간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신청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b="0" dirty="0">
                          <a:latin typeface="맑은 고딕" panose="020B0503020000020004" pitchFamily="50" charset="-127"/>
                          <a:ea typeface="+mn-ea"/>
                        </a:rPr>
                        <a:t>2025</a:t>
                      </a:r>
                      <a:r>
                        <a:rPr lang="ko-KR" altLang="en-US" sz="700" b="0" dirty="0">
                          <a:latin typeface="맑은 고딕" panose="020B0503020000020004" pitchFamily="50" charset="-127"/>
                          <a:ea typeface="+mn-ea"/>
                        </a:rPr>
                        <a:t>년 하반기 </a:t>
                      </a:r>
                      <a:r>
                        <a:rPr lang="ko-KR" altLang="en-US" sz="700" b="0" dirty="0" err="1">
                          <a:latin typeface="맑은 고딕" panose="020B0503020000020004" pitchFamily="50" charset="-127"/>
                          <a:ea typeface="+mn-ea"/>
                        </a:rPr>
                        <a:t>행복기숙사</a:t>
                      </a:r>
                      <a:r>
                        <a:rPr lang="ko-KR" altLang="en-US" sz="700" b="0" dirty="0"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700" b="0" dirty="0" err="1">
                          <a:latin typeface="맑은 고딕" panose="020B0503020000020004" pitchFamily="50" charset="-127"/>
                          <a:ea typeface="+mn-ea"/>
                        </a:rPr>
                        <a:t>입사비</a:t>
                      </a:r>
                      <a:r>
                        <a:rPr lang="ko-KR" altLang="en-US" sz="700" b="0" dirty="0">
                          <a:latin typeface="맑은 고딕" panose="020B0503020000020004" pitchFamily="50" charset="-127"/>
                          <a:ea typeface="+mn-ea"/>
                        </a:rPr>
                        <a:t>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준비중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 하반기 행복기숙사 입사비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접수중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7312254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 하반기 행복기숙사 </a:t>
                      </a: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입사비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접수중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8246901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 하반기 행복기숙사 입사비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마감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1439070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 하반기 행복기숙사 입사비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마감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3880563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 하반기 행복기숙사 </a:t>
                      </a: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입사비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마감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0006018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 하반기 행복기숙사 </a:t>
                      </a: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입사비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2894528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 하반기 행복기숙사 </a:t>
                      </a: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입사비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6804240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 하반기 </a:t>
                      </a: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행복기숙사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입사비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마감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6797012"/>
                  </a:ext>
                </a:extLst>
              </a:tr>
            </a:tbl>
          </a:graphicData>
        </a:graphic>
      </p:graphicFrame>
      <p:sp>
        <p:nvSpPr>
          <p:cNvPr id="19" name="직사각형 18">
            <a:extLst>
              <a:ext uri="{FF2B5EF4-FFF2-40B4-BE49-F238E27FC236}">
                <a16:creationId xmlns:a16="http://schemas.microsoft.com/office/drawing/2014/main" id="{0769BFEA-1622-C1FB-C1CF-193475BA0116}"/>
              </a:ext>
            </a:extLst>
          </p:cNvPr>
          <p:cNvSpPr/>
          <p:nvPr/>
        </p:nvSpPr>
        <p:spPr>
          <a:xfrm>
            <a:off x="3352870" y="5661248"/>
            <a:ext cx="902491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처음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◀  1  ▶  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마지막</a:t>
            </a:r>
          </a:p>
        </p:txBody>
      </p:sp>
      <p:pic>
        <p:nvPicPr>
          <p:cNvPr id="23" name="Picture 13">
            <a:extLst>
              <a:ext uri="{FF2B5EF4-FFF2-40B4-BE49-F238E27FC236}">
                <a16:creationId xmlns:a16="http://schemas.microsoft.com/office/drawing/2014/main" id="{16366327-EB06-F85F-1BE3-7D5848A37E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1455" y="2655760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7F62213F-D9FB-5FBE-D661-F04368A6554D}"/>
              </a:ext>
            </a:extLst>
          </p:cNvPr>
          <p:cNvSpPr/>
          <p:nvPr/>
        </p:nvSpPr>
        <p:spPr>
          <a:xfrm>
            <a:off x="6254137" y="2649459"/>
            <a:ext cx="35765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10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건</a:t>
            </a:r>
          </a:p>
        </p:txBody>
      </p:sp>
      <p:sp>
        <p:nvSpPr>
          <p:cNvPr id="25" name="Rectangle 191">
            <a:extLst>
              <a:ext uri="{FF2B5EF4-FFF2-40B4-BE49-F238E27FC236}">
                <a16:creationId xmlns:a16="http://schemas.microsoft.com/office/drawing/2014/main" id="{0A2DE2FC-C526-01DE-1D3E-67A2DE3989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778" y="2666591"/>
            <a:ext cx="261290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총 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7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건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0613413-6B0F-5C47-C4BC-D232F98B1AAF}"/>
              </a:ext>
            </a:extLst>
          </p:cNvPr>
          <p:cNvSpPr/>
          <p:nvPr/>
        </p:nvSpPr>
        <p:spPr>
          <a:xfrm>
            <a:off x="6205078" y="3470683"/>
            <a:ext cx="468001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신청하기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58BA7AA-3E85-80C8-A0FF-8FBB2E9D3469}"/>
              </a:ext>
            </a:extLst>
          </p:cNvPr>
          <p:cNvSpPr/>
          <p:nvPr/>
        </p:nvSpPr>
        <p:spPr>
          <a:xfrm>
            <a:off x="6205078" y="3738165"/>
            <a:ext cx="468001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신청하기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D68D1DE6-F1E7-C4FE-C2AB-DB7B257EC23D}"/>
              </a:ext>
            </a:extLst>
          </p:cNvPr>
          <p:cNvSpPr>
            <a:spLocks noChangeAspect="1"/>
          </p:cNvSpPr>
          <p:nvPr/>
        </p:nvSpPr>
        <p:spPr>
          <a:xfrm>
            <a:off x="113466" y="2240173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B1A13480-337C-62E6-463E-F50FF60E35E2}"/>
              </a:ext>
            </a:extLst>
          </p:cNvPr>
          <p:cNvSpPr>
            <a:spLocks noChangeAspect="1"/>
          </p:cNvSpPr>
          <p:nvPr/>
        </p:nvSpPr>
        <p:spPr>
          <a:xfrm>
            <a:off x="226603" y="2812217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8295735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8733C-D633-947F-E002-BD1D5A4B5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005E1DB-762A-A011-8EE1-40036F28C8E4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행복기숙사입사비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조회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EA2E461-7BB4-0AC4-3FB2-41E1D2311FF5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프로그램신청관리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행복기숙사입사비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조회</a:t>
            </a: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2C2C7781-D761-6F0B-A3A4-70B89277CE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699698"/>
              </p:ext>
            </p:extLst>
          </p:nvPr>
        </p:nvGraphicFramePr>
        <p:xfrm>
          <a:off x="6969418" y="2548005"/>
          <a:ext cx="2772114" cy="1291200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상태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준비중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/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접수중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/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마감 중 표시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준비중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조회일 기준 접수기간 이전일 경우의 상태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접수중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조회일 기준 접수기간일 경우의 상태로 회원이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행복기숙사입사비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산칭하기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가 가능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마감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조회일 기준 접수기간이 지난 경우의 상태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신청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신청하기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공고 상태가 접수중일 경우에 한해 보이며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시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행복기숙사입사비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신청 화면으로 이동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1A412A86-7E64-471B-A9AB-2487CF417226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pad_hit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6A4E9C47-31F0-0202-61B3-F9F81EC110E1}"/>
              </a:ext>
            </a:extLst>
          </p:cNvPr>
          <p:cNvSpPr/>
          <p:nvPr/>
        </p:nvSpPr>
        <p:spPr>
          <a:xfrm>
            <a:off x="165100" y="1376772"/>
            <a:ext cx="6732116" cy="36877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80DA0038-F745-F6F8-9430-EF71086819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1468700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15464056-45BD-4F8A-06EB-1A25AC0C41FA}"/>
              </a:ext>
            </a:extLst>
          </p:cNvPr>
          <p:cNvSpPr/>
          <p:nvPr/>
        </p:nvSpPr>
        <p:spPr>
          <a:xfrm>
            <a:off x="5680946" y="1586865"/>
            <a:ext cx="1165384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오산시민 평생교육장려금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2834D00-E217-6F65-F376-3C170BC338B9}"/>
              </a:ext>
            </a:extLst>
          </p:cNvPr>
          <p:cNvSpPr/>
          <p:nvPr/>
        </p:nvSpPr>
        <p:spPr>
          <a:xfrm>
            <a:off x="4831365" y="1586865"/>
            <a:ext cx="652423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 신청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9440554-58A3-85F9-063C-9C65711569DE}"/>
              </a:ext>
            </a:extLst>
          </p:cNvPr>
          <p:cNvSpPr/>
          <p:nvPr/>
        </p:nvSpPr>
        <p:spPr>
          <a:xfrm>
            <a:off x="4223838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재단소식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C1808FD-8975-6BB3-A169-A31260CB64F9}"/>
              </a:ext>
            </a:extLst>
          </p:cNvPr>
          <p:cNvSpPr/>
          <p:nvPr/>
        </p:nvSpPr>
        <p:spPr>
          <a:xfrm>
            <a:off x="3616311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열린경영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124003B-68A0-BDB3-EF95-55E3A68FF816}"/>
              </a:ext>
            </a:extLst>
          </p:cNvPr>
          <p:cNvSpPr/>
          <p:nvPr/>
        </p:nvSpPr>
        <p:spPr>
          <a:xfrm>
            <a:off x="3008784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01477D1-4EEE-81A0-3C07-BE6C4DD01AD4}"/>
              </a:ext>
            </a:extLst>
          </p:cNvPr>
          <p:cNvSpPr/>
          <p:nvPr/>
        </p:nvSpPr>
        <p:spPr>
          <a:xfrm>
            <a:off x="165100" y="1790190"/>
            <a:ext cx="6732116" cy="469951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A49623C-FEE6-A63E-9BFF-899EB74141ED}"/>
              </a:ext>
            </a:extLst>
          </p:cNvPr>
          <p:cNvSpPr/>
          <p:nvPr/>
        </p:nvSpPr>
        <p:spPr>
          <a:xfrm>
            <a:off x="5406844" y="1879740"/>
            <a:ext cx="1372172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행복기숙사입사비</a:t>
            </a:r>
            <a:endParaRPr kumimoji="0" lang="ko-KR" alt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110F966-A9FE-5088-9B34-682B5BB14DDE}"/>
              </a:ext>
            </a:extLst>
          </p:cNvPr>
          <p:cNvSpPr/>
          <p:nvPr/>
        </p:nvSpPr>
        <p:spPr>
          <a:xfrm>
            <a:off x="236476" y="1844824"/>
            <a:ext cx="963405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행복기숙사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9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입사비</a:t>
            </a:r>
            <a:endParaRPr kumimoji="0" lang="ko-KR" alt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3E1055C-E72E-1E0E-8425-E5C93E332AD3}"/>
              </a:ext>
            </a:extLst>
          </p:cNvPr>
          <p:cNvSpPr/>
          <p:nvPr/>
        </p:nvSpPr>
        <p:spPr>
          <a:xfrm>
            <a:off x="3824511" y="2248048"/>
            <a:ext cx="277591" cy="144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검색</a:t>
            </a: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C38E63D-BC1B-74D0-E120-C29816FE60BC}"/>
              </a:ext>
            </a:extLst>
          </p:cNvPr>
          <p:cNvSpPr/>
          <p:nvPr/>
        </p:nvSpPr>
        <p:spPr>
          <a:xfrm>
            <a:off x="2610475" y="2248048"/>
            <a:ext cx="1193641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검색어를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입력하세요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3" name="Picture 13">
            <a:extLst>
              <a:ext uri="{FF2B5EF4-FFF2-40B4-BE49-F238E27FC236}">
                <a16:creationId xmlns:a16="http://schemas.microsoft.com/office/drawing/2014/main" id="{20EDC3D3-E882-BC25-44CD-767991B2F2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2534" y="2246398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9FC9A153-F358-7765-6F9C-A2E1EE1A587F}"/>
              </a:ext>
            </a:extLst>
          </p:cNvPr>
          <p:cNvSpPr/>
          <p:nvPr/>
        </p:nvSpPr>
        <p:spPr>
          <a:xfrm>
            <a:off x="2025221" y="2248048"/>
            <a:ext cx="393415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제목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1F8616D4-8861-DEA6-9F55-FC1AD9C1A67D}"/>
              </a:ext>
            </a:extLst>
          </p:cNvPr>
          <p:cNvGrpSpPr/>
          <p:nvPr/>
        </p:nvGrpSpPr>
        <p:grpSpPr>
          <a:xfrm>
            <a:off x="1169162" y="2246542"/>
            <a:ext cx="408361" cy="144462"/>
            <a:chOff x="2403014" y="4597515"/>
            <a:chExt cx="408361" cy="144462"/>
          </a:xfrm>
        </p:grpSpPr>
        <p:sp>
          <p:nvSpPr>
            <p:cNvPr id="30" name="Rectangle 191">
              <a:extLst>
                <a:ext uri="{FF2B5EF4-FFF2-40B4-BE49-F238E27FC236}">
                  <a16:creationId xmlns:a16="http://schemas.microsoft.com/office/drawing/2014/main" id="{74A443FD-C0AA-30C3-9628-6E99624613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2071" y="4615885"/>
              <a:ext cx="269304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접수중</a:t>
              </a:r>
            </a:p>
          </p:txBody>
        </p:sp>
        <p:graphicFrame>
          <p:nvGraphicFramePr>
            <p:cNvPr id="31" name="개체 30">
              <a:extLst>
                <a:ext uri="{FF2B5EF4-FFF2-40B4-BE49-F238E27FC236}">
                  <a16:creationId xmlns:a16="http://schemas.microsoft.com/office/drawing/2014/main" id="{7FE6C113-4CEA-D378-F024-92D20F8980E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03014" y="4597515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145435" imgH="145435" progId="Visio.Drawing.11">
                    <p:embed/>
                  </p:oleObj>
                </mc:Choice>
                <mc:Fallback>
                  <p:oleObj name="Visio" r:id="rId4" imgW="145435" imgH="145435" progId="Visio.Drawing.11">
                    <p:embed/>
                    <p:pic>
                      <p:nvPicPr>
                        <p:cNvPr id="31" name="개체 30">
                          <a:extLst>
                            <a:ext uri="{FF2B5EF4-FFF2-40B4-BE49-F238E27FC236}">
                              <a16:creationId xmlns:a16="http://schemas.microsoft.com/office/drawing/2014/main" id="{14750A14-E90C-6006-06CB-0393941BBC9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3014" y="4597515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CA45CCC7-6EC9-2A2F-1B8D-42B045498211}"/>
              </a:ext>
            </a:extLst>
          </p:cNvPr>
          <p:cNvGrpSpPr/>
          <p:nvPr/>
        </p:nvGrpSpPr>
        <p:grpSpPr>
          <a:xfrm>
            <a:off x="266961" y="2246398"/>
            <a:ext cx="316600" cy="144462"/>
            <a:chOff x="2145750" y="2807609"/>
            <a:chExt cx="316600" cy="144462"/>
          </a:xfrm>
        </p:grpSpPr>
        <p:sp>
          <p:nvSpPr>
            <p:cNvPr id="33" name="Rectangle 191">
              <a:extLst>
                <a:ext uri="{FF2B5EF4-FFF2-40B4-BE49-F238E27FC236}">
                  <a16:creationId xmlns:a16="http://schemas.microsoft.com/office/drawing/2014/main" id="{DC2F5499-DE76-329E-950A-6CB815454A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2814" y="2826123"/>
              <a:ext cx="179536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전체</a:t>
              </a:r>
            </a:p>
          </p:txBody>
        </p:sp>
        <p:graphicFrame>
          <p:nvGraphicFramePr>
            <p:cNvPr id="34" name="개체 33">
              <a:extLst>
                <a:ext uri="{FF2B5EF4-FFF2-40B4-BE49-F238E27FC236}">
                  <a16:creationId xmlns:a16="http://schemas.microsoft.com/office/drawing/2014/main" id="{7BC63176-5CD5-0170-6F3B-068AC39F046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45750" y="2807609"/>
            <a:ext cx="144463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6" imgW="145435" imgH="145435" progId="Visio.Drawing.11">
                    <p:embed/>
                  </p:oleObj>
                </mc:Choice>
                <mc:Fallback>
                  <p:oleObj name="Visio" r:id="rId6" imgW="145435" imgH="145435" progId="Visio.Drawing.11">
                    <p:embed/>
                    <p:pic>
                      <p:nvPicPr>
                        <p:cNvPr id="34" name="개체 33">
                          <a:extLst>
                            <a:ext uri="{FF2B5EF4-FFF2-40B4-BE49-F238E27FC236}">
                              <a16:creationId xmlns:a16="http://schemas.microsoft.com/office/drawing/2014/main" id="{6B28E06E-A4B2-AED8-0BDF-D74A1A92C9E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45750" y="2807609"/>
                          <a:ext cx="144463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11B639C3-212D-1CAC-BEC3-84146C53712E}"/>
              </a:ext>
            </a:extLst>
          </p:cNvPr>
          <p:cNvGrpSpPr/>
          <p:nvPr/>
        </p:nvGrpSpPr>
        <p:grpSpPr>
          <a:xfrm>
            <a:off x="1666143" y="2246542"/>
            <a:ext cx="318593" cy="144462"/>
            <a:chOff x="2403014" y="4597515"/>
            <a:chExt cx="318593" cy="144462"/>
          </a:xfrm>
        </p:grpSpPr>
        <p:sp>
          <p:nvSpPr>
            <p:cNvPr id="36" name="Rectangle 191">
              <a:extLst>
                <a:ext uri="{FF2B5EF4-FFF2-40B4-BE49-F238E27FC236}">
                  <a16:creationId xmlns:a16="http://schemas.microsoft.com/office/drawing/2014/main" id="{5E97DE96-20C4-02B0-660E-F2A9C9F6C7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2071" y="4615885"/>
              <a:ext cx="179536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마감</a:t>
              </a:r>
            </a:p>
          </p:txBody>
        </p:sp>
        <p:graphicFrame>
          <p:nvGraphicFramePr>
            <p:cNvPr id="37" name="개체 36">
              <a:extLst>
                <a:ext uri="{FF2B5EF4-FFF2-40B4-BE49-F238E27FC236}">
                  <a16:creationId xmlns:a16="http://schemas.microsoft.com/office/drawing/2014/main" id="{9CF1DFB2-0B02-FCC1-D7DA-803750726DB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03014" y="4597515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145435" imgH="145435" progId="Visio.Drawing.11">
                    <p:embed/>
                  </p:oleObj>
                </mc:Choice>
                <mc:Fallback>
                  <p:oleObj name="Visio" r:id="rId4" imgW="145435" imgH="145435" progId="Visio.Drawing.11">
                    <p:embed/>
                    <p:pic>
                      <p:nvPicPr>
                        <p:cNvPr id="37" name="개체 36">
                          <a:extLst>
                            <a:ext uri="{FF2B5EF4-FFF2-40B4-BE49-F238E27FC236}">
                              <a16:creationId xmlns:a16="http://schemas.microsoft.com/office/drawing/2014/main" id="{98721F3C-F45E-2B11-F648-892F0C395F0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3014" y="4597515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A63AA93A-A883-7E55-9469-62539E2C6B72}"/>
              </a:ext>
            </a:extLst>
          </p:cNvPr>
          <p:cNvGrpSpPr/>
          <p:nvPr/>
        </p:nvGrpSpPr>
        <p:grpSpPr>
          <a:xfrm>
            <a:off x="672181" y="2246542"/>
            <a:ext cx="408361" cy="144462"/>
            <a:chOff x="2403014" y="4597515"/>
            <a:chExt cx="408361" cy="144462"/>
          </a:xfrm>
        </p:grpSpPr>
        <p:sp>
          <p:nvSpPr>
            <p:cNvPr id="39" name="Rectangle 191">
              <a:extLst>
                <a:ext uri="{FF2B5EF4-FFF2-40B4-BE49-F238E27FC236}">
                  <a16:creationId xmlns:a16="http://schemas.microsoft.com/office/drawing/2014/main" id="{D0F08F69-DB34-D52F-CF14-FF4E951D69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2071" y="4615885"/>
              <a:ext cx="269304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준비중</a:t>
              </a:r>
            </a:p>
          </p:txBody>
        </p:sp>
        <p:graphicFrame>
          <p:nvGraphicFramePr>
            <p:cNvPr id="40" name="개체 39">
              <a:extLst>
                <a:ext uri="{FF2B5EF4-FFF2-40B4-BE49-F238E27FC236}">
                  <a16:creationId xmlns:a16="http://schemas.microsoft.com/office/drawing/2014/main" id="{551B8F14-D842-B07F-43D5-0C07504E8F7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03014" y="4597515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145435" imgH="145435" progId="Visio.Drawing.11">
                    <p:embed/>
                  </p:oleObj>
                </mc:Choice>
                <mc:Fallback>
                  <p:oleObj name="Visio" r:id="rId4" imgW="145435" imgH="145435" progId="Visio.Drawing.11">
                    <p:embed/>
                    <p:pic>
                      <p:nvPicPr>
                        <p:cNvPr id="40" name="개체 39">
                          <a:extLst>
                            <a:ext uri="{FF2B5EF4-FFF2-40B4-BE49-F238E27FC236}">
                              <a16:creationId xmlns:a16="http://schemas.microsoft.com/office/drawing/2014/main" id="{509E9A6C-B0EE-B9F4-4738-374A3B30B9B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3014" y="4597515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4C5900FD-A66C-8E2F-AE33-6096B453BC3C}"/>
              </a:ext>
            </a:extLst>
          </p:cNvPr>
          <p:cNvGraphicFramePr>
            <a:graphicFrameLocks noGrp="1"/>
          </p:cNvGraphicFramePr>
          <p:nvPr/>
        </p:nvGraphicFramePr>
        <p:xfrm>
          <a:off x="284966" y="2881893"/>
          <a:ext cx="6494051" cy="27033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6426">
                  <a:extLst>
                    <a:ext uri="{9D8B030D-6E8A-4147-A177-3AD203B41FA5}">
                      <a16:colId xmlns:a16="http://schemas.microsoft.com/office/drawing/2014/main" val="795720410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1696">
                  <a:extLst>
                    <a:ext uri="{9D8B030D-6E8A-4147-A177-3AD203B41FA5}">
                      <a16:colId xmlns:a16="http://schemas.microsoft.com/office/drawing/2014/main" val="3302419106"/>
                    </a:ext>
                  </a:extLst>
                </a:gridCol>
                <a:gridCol w="69227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545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접수기간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신청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b="0" dirty="0">
                          <a:latin typeface="맑은 고딕" panose="020B0503020000020004" pitchFamily="50" charset="-127"/>
                          <a:ea typeface="+mn-ea"/>
                        </a:rPr>
                        <a:t>2025</a:t>
                      </a:r>
                      <a:r>
                        <a:rPr lang="ko-KR" altLang="en-US" sz="700" b="0" dirty="0">
                          <a:latin typeface="맑은 고딕" panose="020B0503020000020004" pitchFamily="50" charset="-127"/>
                          <a:ea typeface="+mn-ea"/>
                        </a:rPr>
                        <a:t>년 하반기 </a:t>
                      </a:r>
                      <a:r>
                        <a:rPr lang="ko-KR" altLang="en-US" sz="700" b="0" dirty="0" err="1">
                          <a:latin typeface="맑은 고딕" panose="020B0503020000020004" pitchFamily="50" charset="-127"/>
                          <a:ea typeface="+mn-ea"/>
                        </a:rPr>
                        <a:t>행복기숙사</a:t>
                      </a:r>
                      <a:r>
                        <a:rPr lang="ko-KR" altLang="en-US" sz="700" b="0" dirty="0"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700" b="0" dirty="0" err="1">
                          <a:latin typeface="맑은 고딕" panose="020B0503020000020004" pitchFamily="50" charset="-127"/>
                          <a:ea typeface="+mn-ea"/>
                        </a:rPr>
                        <a:t>입사비</a:t>
                      </a:r>
                      <a:r>
                        <a:rPr lang="ko-KR" altLang="en-US" sz="700" b="0" dirty="0">
                          <a:latin typeface="맑은 고딕" panose="020B0503020000020004" pitchFamily="50" charset="-127"/>
                          <a:ea typeface="+mn-ea"/>
                        </a:rPr>
                        <a:t>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준비중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 하반기 행복기숙사 입사비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접수중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7312254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 하반기 행복기숙사 </a:t>
                      </a: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입사비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접수중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8246901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 하반기 행복기숙사 입사비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마감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1439070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 하반기 행복기숙사 입사비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마감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3880563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 하반기 행복기숙사 </a:t>
                      </a: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입사비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마감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0006018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 하반기 행복기숙사 </a:t>
                      </a: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입사비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2894528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 하반기 행복기숙사 </a:t>
                      </a: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입사비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6804240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 하반기 </a:t>
                      </a: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행복기숙사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입사비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마감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6797012"/>
                  </a:ext>
                </a:extLst>
              </a:tr>
            </a:tbl>
          </a:graphicData>
        </a:graphic>
      </p:graphicFrame>
      <p:sp>
        <p:nvSpPr>
          <p:cNvPr id="19" name="직사각형 18">
            <a:extLst>
              <a:ext uri="{FF2B5EF4-FFF2-40B4-BE49-F238E27FC236}">
                <a16:creationId xmlns:a16="http://schemas.microsoft.com/office/drawing/2014/main" id="{A4B689D6-A469-4A4F-F485-AC26C7A9C24E}"/>
              </a:ext>
            </a:extLst>
          </p:cNvPr>
          <p:cNvSpPr/>
          <p:nvPr/>
        </p:nvSpPr>
        <p:spPr>
          <a:xfrm>
            <a:off x="3352870" y="5661248"/>
            <a:ext cx="902491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처음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◀  1  ▶  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마지막</a:t>
            </a:r>
          </a:p>
        </p:txBody>
      </p:sp>
      <p:pic>
        <p:nvPicPr>
          <p:cNvPr id="23" name="Picture 13">
            <a:extLst>
              <a:ext uri="{FF2B5EF4-FFF2-40B4-BE49-F238E27FC236}">
                <a16:creationId xmlns:a16="http://schemas.microsoft.com/office/drawing/2014/main" id="{6117E356-B99E-9189-8BB8-564BD5A19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1455" y="2655760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6D5C49BE-2099-9EC6-8251-9090A1AD6D8A}"/>
              </a:ext>
            </a:extLst>
          </p:cNvPr>
          <p:cNvSpPr/>
          <p:nvPr/>
        </p:nvSpPr>
        <p:spPr>
          <a:xfrm>
            <a:off x="6254137" y="2649459"/>
            <a:ext cx="35765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10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건</a:t>
            </a:r>
          </a:p>
        </p:txBody>
      </p:sp>
      <p:sp>
        <p:nvSpPr>
          <p:cNvPr id="25" name="Rectangle 191">
            <a:extLst>
              <a:ext uri="{FF2B5EF4-FFF2-40B4-BE49-F238E27FC236}">
                <a16:creationId xmlns:a16="http://schemas.microsoft.com/office/drawing/2014/main" id="{B9C075FE-4F15-1E72-074B-C5FEC6FC6C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778" y="2666591"/>
            <a:ext cx="261290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총 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7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건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C2DB94F-9E1C-7F81-6E36-3EC67366F937}"/>
              </a:ext>
            </a:extLst>
          </p:cNvPr>
          <p:cNvSpPr/>
          <p:nvPr/>
        </p:nvSpPr>
        <p:spPr>
          <a:xfrm>
            <a:off x="6205078" y="3470683"/>
            <a:ext cx="468001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신청하기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105502E-EE25-3E7F-0C17-65FF83A948D9}"/>
              </a:ext>
            </a:extLst>
          </p:cNvPr>
          <p:cNvSpPr/>
          <p:nvPr/>
        </p:nvSpPr>
        <p:spPr>
          <a:xfrm>
            <a:off x="6205078" y="3738165"/>
            <a:ext cx="468001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신청하기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AF6A43C4-B552-D2A7-9B7E-7E53CC7B1184}"/>
              </a:ext>
            </a:extLst>
          </p:cNvPr>
          <p:cNvSpPr>
            <a:spLocks noChangeAspect="1"/>
          </p:cNvSpPr>
          <p:nvPr/>
        </p:nvSpPr>
        <p:spPr>
          <a:xfrm>
            <a:off x="113466" y="2240173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17D6E96B-F4BC-A9AC-F8D5-42102E6C4BD7}"/>
              </a:ext>
            </a:extLst>
          </p:cNvPr>
          <p:cNvSpPr>
            <a:spLocks noChangeAspect="1"/>
          </p:cNvSpPr>
          <p:nvPr/>
        </p:nvSpPr>
        <p:spPr>
          <a:xfrm>
            <a:off x="226603" y="2812217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7453658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85FA1-A8FF-18A8-BD62-D825C7D29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CE84511-9496-1D84-9770-6495E0AB62D7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행복기숙사입사비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신청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6A37B92-34CE-2F62-5460-58F0DA0D7993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프로그램신청관리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행복기숙사입사비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신청</a:t>
            </a: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50A627FF-F770-0C12-3461-2A09C6C7D6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3029908"/>
              </p:ext>
            </p:extLst>
          </p:nvPr>
        </p:nvGraphicFramePr>
        <p:xfrm>
          <a:off x="6969418" y="2548005"/>
          <a:ext cx="2772114" cy="3414179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프로그램신청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행복기숙사입사비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조회 화면 목록에서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신청하기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클릭 시 보이는 화면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사이트관리자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프로그램신청관리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개인정보동의관리에서 설정된 개인정보 수집 및 활용에 대한 동의 내용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개인정보 수집 및 활용에 동의합니다 체크 시 신청이 가능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이름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신청자 회원의 이름을 표시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보호자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신청 시 작성한 보호자 이름이며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수정이 가능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연락처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신청 시 설정한 본인 연락처이며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수정이 가능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보호자 연락처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신청 시 설정한 보호자 연락처이며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수정이 가능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이메일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신청 시 설정한 본인 이메일 주소이며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수정이 가능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신청 기숙사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개봉동기숙사형청년주택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연합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), </a:t>
                      </a: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독산동기숙사형청년주택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연합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), </a:t>
                      </a: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대구행복기숙사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연합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), </a:t>
                      </a: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동소문행복기숙사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연합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), </a:t>
                      </a: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부경대행복기숙사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연합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), </a:t>
                      </a: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세종대공동캠퍼스행복기숙사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연합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), </a:t>
                      </a: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천안행복기숙사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연합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), </a:t>
                      </a: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홍제행복기숙사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연합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), </a:t>
                      </a:r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사립행복기숙사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중 선택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학교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학교명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신청 시 설정한 재학 학교명이며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수정이 가능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학년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신청 시 설정한 재학 학교의 학년이며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수정이 가능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(1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학년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~ 4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학년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전공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신청 시 설정한 재학 학교의 전공이며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수정이 가능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8E3C6194-DC4F-FE59-91A6-DD7BB1980A8D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pad_application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3D3E8E17-892E-448C-04EE-BFC893D2C917}"/>
              </a:ext>
            </a:extLst>
          </p:cNvPr>
          <p:cNvSpPr/>
          <p:nvPr/>
        </p:nvSpPr>
        <p:spPr>
          <a:xfrm>
            <a:off x="165100" y="1376772"/>
            <a:ext cx="6732116" cy="36877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A548F031-577F-F6D1-DDD3-844E0B4CC5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1468700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F3CDB858-CCF7-ADBD-A866-4453B6537B32}"/>
              </a:ext>
            </a:extLst>
          </p:cNvPr>
          <p:cNvSpPr/>
          <p:nvPr/>
        </p:nvSpPr>
        <p:spPr>
          <a:xfrm>
            <a:off x="5680946" y="1586865"/>
            <a:ext cx="1165384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오산시민 평생교육장려금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C811CFE-6326-4F1C-1B47-5D8EA9FB825F}"/>
              </a:ext>
            </a:extLst>
          </p:cNvPr>
          <p:cNvSpPr/>
          <p:nvPr/>
        </p:nvSpPr>
        <p:spPr>
          <a:xfrm>
            <a:off x="4831365" y="1586865"/>
            <a:ext cx="652423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 신청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51E8DE0-1DEF-E007-9B59-0E397A37B275}"/>
              </a:ext>
            </a:extLst>
          </p:cNvPr>
          <p:cNvSpPr/>
          <p:nvPr/>
        </p:nvSpPr>
        <p:spPr>
          <a:xfrm>
            <a:off x="4223838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재단소식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123B178-EFAC-5AC6-8837-18E889748DA5}"/>
              </a:ext>
            </a:extLst>
          </p:cNvPr>
          <p:cNvSpPr/>
          <p:nvPr/>
        </p:nvSpPr>
        <p:spPr>
          <a:xfrm>
            <a:off x="3616311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열린경영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7161B77-2F3D-CE66-5D40-1810E6F2EFB8}"/>
              </a:ext>
            </a:extLst>
          </p:cNvPr>
          <p:cNvSpPr/>
          <p:nvPr/>
        </p:nvSpPr>
        <p:spPr>
          <a:xfrm>
            <a:off x="3008784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05E03DD-A211-7A18-7442-F962D9D464A4}"/>
              </a:ext>
            </a:extLst>
          </p:cNvPr>
          <p:cNvSpPr/>
          <p:nvPr/>
        </p:nvSpPr>
        <p:spPr>
          <a:xfrm>
            <a:off x="165100" y="1790190"/>
            <a:ext cx="6732116" cy="469951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706F71D-7AD0-25ED-7C31-4D64AA703299}"/>
              </a:ext>
            </a:extLst>
          </p:cNvPr>
          <p:cNvSpPr/>
          <p:nvPr/>
        </p:nvSpPr>
        <p:spPr>
          <a:xfrm>
            <a:off x="5406844" y="1879740"/>
            <a:ext cx="1372172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행복기숙사입사비</a:t>
            </a:r>
            <a:endParaRPr kumimoji="0" lang="ko-KR" alt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9A4765F-B4AE-DDF0-5C06-EA80001B6603}"/>
              </a:ext>
            </a:extLst>
          </p:cNvPr>
          <p:cNvSpPr/>
          <p:nvPr/>
        </p:nvSpPr>
        <p:spPr>
          <a:xfrm>
            <a:off x="236476" y="1844824"/>
            <a:ext cx="963405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행복기숙사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9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입사비</a:t>
            </a:r>
            <a:endParaRPr kumimoji="0" lang="ko-KR" alt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CEE5356-6BEB-7B59-4274-E55BE37ED5D8}"/>
              </a:ext>
            </a:extLst>
          </p:cNvPr>
          <p:cNvSpPr/>
          <p:nvPr/>
        </p:nvSpPr>
        <p:spPr>
          <a:xfrm>
            <a:off x="273050" y="2248819"/>
            <a:ext cx="1620636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800" b="1" dirty="0">
                <a:solidFill>
                  <a:prstClr val="black"/>
                </a:solidFill>
              </a:rPr>
              <a:t>개인정보 수집 및 활용에 대한 안내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93AA5C47-A9F6-D339-A82A-B2580C1C480D}"/>
              </a:ext>
            </a:extLst>
          </p:cNvPr>
          <p:cNvGrpSpPr/>
          <p:nvPr/>
        </p:nvGrpSpPr>
        <p:grpSpPr>
          <a:xfrm>
            <a:off x="6728560" y="2428508"/>
            <a:ext cx="77080" cy="612000"/>
            <a:chOff x="6781481" y="1888563"/>
            <a:chExt cx="77080" cy="612000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A9BB13D8-F89F-BD77-6090-BC1775F3F26B}"/>
                </a:ext>
              </a:extLst>
            </p:cNvPr>
            <p:cNvSpPr/>
            <p:nvPr/>
          </p:nvSpPr>
          <p:spPr>
            <a:xfrm>
              <a:off x="6786561" y="1888563"/>
              <a:ext cx="72000" cy="612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94D62258-F2A1-E09E-AEBA-0FB8DD2A1374}"/>
                </a:ext>
              </a:extLst>
            </p:cNvPr>
            <p:cNvSpPr/>
            <p:nvPr/>
          </p:nvSpPr>
          <p:spPr>
            <a:xfrm>
              <a:off x="6781481" y="2116070"/>
              <a:ext cx="72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endParaRPr>
            </a:p>
          </p:txBody>
        </p:sp>
      </p:grp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6489596-10F4-ACE1-3AC2-C745725D1875}"/>
              </a:ext>
            </a:extLst>
          </p:cNvPr>
          <p:cNvSpPr/>
          <p:nvPr/>
        </p:nvSpPr>
        <p:spPr>
          <a:xfrm>
            <a:off x="258997" y="2428839"/>
            <a:ext cx="6464483" cy="60045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t"/>
          <a:lstStyle/>
          <a:p>
            <a:r>
              <a:rPr lang="ko-KR" altLang="en-US" sz="700" dirty="0">
                <a:solidFill>
                  <a:prstClr val="black"/>
                </a:solidFill>
              </a:rPr>
              <a:t>오산교육재단 홈페이지 프로그램 신청을 위하여 아래와 같이 개인정보를 수집・이용하고자 합니다</a:t>
            </a:r>
            <a:r>
              <a:rPr lang="en-US" altLang="ko-KR" sz="700" dirty="0">
                <a:solidFill>
                  <a:prstClr val="black"/>
                </a:solidFill>
              </a:rPr>
              <a:t>. </a:t>
            </a:r>
            <a:r>
              <a:rPr lang="ko-KR" altLang="en-US" sz="700" dirty="0">
                <a:solidFill>
                  <a:prstClr val="black"/>
                </a:solidFill>
              </a:rPr>
              <a:t>내용을 자세히 읽으신 후 동의 여부를 결정하여 주시기 바랍니다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</a:p>
          <a:p>
            <a:endParaRPr lang="en-US" altLang="ko-KR" sz="700" dirty="0">
              <a:solidFill>
                <a:prstClr val="black"/>
              </a:solidFill>
            </a:endParaRPr>
          </a:p>
          <a:p>
            <a:r>
              <a:rPr lang="ko-KR" altLang="en-US" sz="700" dirty="0">
                <a:solidFill>
                  <a:prstClr val="black"/>
                </a:solidFill>
              </a:rPr>
              <a:t>개인정보 </a:t>
            </a:r>
            <a:r>
              <a:rPr lang="ko-KR" altLang="en-US" sz="700" dirty="0" err="1">
                <a:solidFill>
                  <a:prstClr val="black"/>
                </a:solidFill>
              </a:rPr>
              <a:t>수집・이용</a:t>
            </a:r>
            <a:r>
              <a:rPr lang="ko-KR" altLang="en-US" sz="700" dirty="0">
                <a:solidFill>
                  <a:prstClr val="black"/>
                </a:solidFill>
              </a:rPr>
              <a:t> 내역</a:t>
            </a:r>
            <a:endParaRPr lang="en-US" altLang="ko-KR" sz="700" dirty="0">
              <a:solidFill>
                <a:prstClr val="black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1F19F09-5202-75A2-1873-00B184AB9FD3}"/>
              </a:ext>
            </a:extLst>
          </p:cNvPr>
          <p:cNvSpPr/>
          <p:nvPr/>
        </p:nvSpPr>
        <p:spPr>
          <a:xfrm>
            <a:off x="273050" y="3248980"/>
            <a:ext cx="549831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800" b="1" dirty="0">
                <a:solidFill>
                  <a:prstClr val="black"/>
                </a:solidFill>
              </a:rPr>
              <a:t>신청자 정보</a:t>
            </a: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06129F14-921F-1C5D-08F2-D46DD9C829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1528405"/>
              </p:ext>
            </p:extLst>
          </p:nvPr>
        </p:nvGraphicFramePr>
        <p:xfrm>
          <a:off x="258996" y="3421894"/>
          <a:ext cx="6520019" cy="2069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97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13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2932">
                  <a:extLst>
                    <a:ext uri="{9D8B030D-6E8A-4147-A177-3AD203B41FA5}">
                      <a16:colId xmlns:a16="http://schemas.microsoft.com/office/drawing/2014/main" val="3116975180"/>
                    </a:ext>
                  </a:extLst>
                </a:gridCol>
                <a:gridCol w="2216010">
                  <a:extLst>
                    <a:ext uri="{9D8B030D-6E8A-4147-A177-3AD203B41FA5}">
                      <a16:colId xmlns:a16="http://schemas.microsoft.com/office/drawing/2014/main" val="4261210409"/>
                    </a:ext>
                  </a:extLst>
                </a:gridCol>
              </a:tblGrid>
              <a:tr h="229955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홍이삭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보호자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9955">
                <a:tc>
                  <a:txBody>
                    <a:bodyPr/>
                    <a:lstStyle/>
                    <a:p>
                      <a:pPr algn="r" latinLnBrk="0"/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연락처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보호자 연락처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9955">
                <a:tc>
                  <a:txBody>
                    <a:bodyPr/>
                    <a:lstStyle/>
                    <a:p>
                      <a:pPr algn="r" latinLnBrk="0"/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이메일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5422586"/>
                  </a:ext>
                </a:extLst>
              </a:tr>
              <a:tr h="229955">
                <a:tc>
                  <a:txBody>
                    <a:bodyPr/>
                    <a:lstStyle/>
                    <a:p>
                      <a:pPr algn="r" latinLnBrk="0"/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신청 기숙사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8278421"/>
                  </a:ext>
                </a:extLst>
              </a:tr>
              <a:tr h="229955">
                <a:tc>
                  <a:txBody>
                    <a:bodyPr/>
                    <a:lstStyle/>
                    <a:p>
                      <a:pPr algn="r" latinLnBrk="0"/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학교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latinLnBrk="0"/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4276378"/>
                  </a:ext>
                </a:extLst>
              </a:tr>
              <a:tr h="229955">
                <a:tc>
                  <a:txBody>
                    <a:bodyPr/>
                    <a:lstStyle/>
                    <a:p>
                      <a:pPr algn="r" latinLnBrk="0"/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최종전입일자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0775587"/>
                  </a:ext>
                </a:extLst>
              </a:tr>
              <a:tr h="229955">
                <a:tc rowSpan="3">
                  <a:txBody>
                    <a:bodyPr/>
                    <a:lstStyle/>
                    <a:p>
                      <a:pPr algn="r" latinLnBrk="0"/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주소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162364"/>
                  </a:ext>
                </a:extLst>
              </a:tr>
              <a:tr h="229955">
                <a:tc vMerge="1">
                  <a:txBody>
                    <a:bodyPr/>
                    <a:lstStyle/>
                    <a:p>
                      <a:pPr algn="r" latinLnBrk="0"/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5576740"/>
                  </a:ext>
                </a:extLst>
              </a:tr>
              <a:tr h="229955">
                <a:tc vMerge="1">
                  <a:txBody>
                    <a:bodyPr/>
                    <a:lstStyle/>
                    <a:p>
                      <a:pPr algn="r" latinLnBrk="0"/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latinLnBrk="0"/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515371"/>
                  </a:ext>
                </a:extLst>
              </a:tr>
            </a:tbl>
          </a:graphicData>
        </a:graphic>
      </p:graphicFrame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AED5EB62-9E0C-E70E-2CEE-1241BED7DC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161926"/>
              </p:ext>
            </p:extLst>
          </p:nvPr>
        </p:nvGraphicFramePr>
        <p:xfrm>
          <a:off x="258996" y="5717408"/>
          <a:ext cx="6530741" cy="699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0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901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3308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은행명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308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예금주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홍이삭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308">
                <a:tc>
                  <a:txBody>
                    <a:bodyPr/>
                    <a:lstStyle/>
                    <a:p>
                      <a:pPr algn="r" latinLnBrk="0"/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계좌번호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2" name="직사각형 41">
            <a:extLst>
              <a:ext uri="{FF2B5EF4-FFF2-40B4-BE49-F238E27FC236}">
                <a16:creationId xmlns:a16="http://schemas.microsoft.com/office/drawing/2014/main" id="{22C760D4-58B5-F10E-AF52-A08E85E90B87}"/>
              </a:ext>
            </a:extLst>
          </p:cNvPr>
          <p:cNvSpPr/>
          <p:nvPr/>
        </p:nvSpPr>
        <p:spPr>
          <a:xfrm>
            <a:off x="273050" y="5537041"/>
            <a:ext cx="755015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800" b="1" dirty="0">
                <a:solidFill>
                  <a:prstClr val="black"/>
                </a:solidFill>
              </a:rPr>
              <a:t>신청자 계좌정보</a:t>
            </a:r>
          </a:p>
        </p:txBody>
      </p:sp>
      <p:pic>
        <p:nvPicPr>
          <p:cNvPr id="43" name="Picture 13">
            <a:extLst>
              <a:ext uri="{FF2B5EF4-FFF2-40B4-BE49-F238E27FC236}">
                <a16:creationId xmlns:a16="http://schemas.microsoft.com/office/drawing/2014/main" id="{6276ACDB-4728-10A6-FE7A-9A554BBD27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0334" y="3693645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4" name="직사각형 43">
            <a:extLst>
              <a:ext uri="{FF2B5EF4-FFF2-40B4-BE49-F238E27FC236}">
                <a16:creationId xmlns:a16="http://schemas.microsoft.com/office/drawing/2014/main" id="{C011AC4F-9F56-4033-1DFF-CC79489A2550}"/>
              </a:ext>
            </a:extLst>
          </p:cNvPr>
          <p:cNvSpPr/>
          <p:nvPr/>
        </p:nvSpPr>
        <p:spPr>
          <a:xfrm>
            <a:off x="4589210" y="3693909"/>
            <a:ext cx="245885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010</a:t>
            </a:r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3AC2F7A6-2449-1761-6B92-51BCEB8101B1}"/>
              </a:ext>
            </a:extLst>
          </p:cNvPr>
          <p:cNvSpPr/>
          <p:nvPr/>
        </p:nvSpPr>
        <p:spPr>
          <a:xfrm>
            <a:off x="5091323" y="3693909"/>
            <a:ext cx="325136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1234</a:t>
            </a:r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80B3AB4E-F25D-44B1-D71D-C485B2050A84}"/>
              </a:ext>
            </a:extLst>
          </p:cNvPr>
          <p:cNvSpPr/>
          <p:nvPr/>
        </p:nvSpPr>
        <p:spPr>
          <a:xfrm>
            <a:off x="5030226" y="3704097"/>
            <a:ext cx="36869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ko-KR" sz="700" dirty="0">
                <a:solidFill>
                  <a:prstClr val="black"/>
                </a:solidFill>
              </a:rPr>
              <a:t>-</a:t>
            </a:r>
            <a:endParaRPr lang="ko-KR" altLang="en-US" sz="700" dirty="0">
              <a:solidFill>
                <a:prstClr val="black"/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EACAED93-D5B7-0CEF-CACA-AF4FE229A290}"/>
              </a:ext>
            </a:extLst>
          </p:cNvPr>
          <p:cNvSpPr/>
          <p:nvPr/>
        </p:nvSpPr>
        <p:spPr>
          <a:xfrm>
            <a:off x="5447163" y="3712048"/>
            <a:ext cx="36869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ko-KR" sz="700" dirty="0">
                <a:solidFill>
                  <a:prstClr val="black"/>
                </a:solidFill>
              </a:rPr>
              <a:t>-</a:t>
            </a:r>
            <a:endParaRPr lang="ko-KR" altLang="en-US" sz="700" dirty="0">
              <a:solidFill>
                <a:prstClr val="black"/>
              </a:solidFill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D5555B9F-904F-5CA2-C785-784C22CD8E77}"/>
              </a:ext>
            </a:extLst>
          </p:cNvPr>
          <p:cNvSpPr/>
          <p:nvPr/>
        </p:nvSpPr>
        <p:spPr>
          <a:xfrm>
            <a:off x="5514736" y="3693909"/>
            <a:ext cx="325136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5678</a:t>
            </a:r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076FCC4F-613B-524B-AC79-0E492519FC2F}"/>
              </a:ext>
            </a:extLst>
          </p:cNvPr>
          <p:cNvSpPr/>
          <p:nvPr/>
        </p:nvSpPr>
        <p:spPr>
          <a:xfrm>
            <a:off x="1572115" y="4378113"/>
            <a:ext cx="864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오산대학교</a:t>
            </a:r>
          </a:p>
        </p:txBody>
      </p:sp>
      <p:pic>
        <p:nvPicPr>
          <p:cNvPr id="51" name="Picture 13">
            <a:extLst>
              <a:ext uri="{FF2B5EF4-FFF2-40B4-BE49-F238E27FC236}">
                <a16:creationId xmlns:a16="http://schemas.microsoft.com/office/drawing/2014/main" id="{19002807-87EF-7DA1-1190-49F5BEC90E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0716" y="4378767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2" name="직사각형 51">
            <a:extLst>
              <a:ext uri="{FF2B5EF4-FFF2-40B4-BE49-F238E27FC236}">
                <a16:creationId xmlns:a16="http://schemas.microsoft.com/office/drawing/2014/main" id="{7B89AA53-CD3A-AEF1-AFC9-AB413F4B646B}"/>
              </a:ext>
            </a:extLst>
          </p:cNvPr>
          <p:cNvSpPr/>
          <p:nvPr/>
        </p:nvSpPr>
        <p:spPr>
          <a:xfrm>
            <a:off x="2705715" y="4379031"/>
            <a:ext cx="295578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2</a:t>
            </a: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학년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86565FC5-0189-9DCF-4BA2-4AB471485545}"/>
              </a:ext>
            </a:extLst>
          </p:cNvPr>
          <p:cNvSpPr/>
          <p:nvPr/>
        </p:nvSpPr>
        <p:spPr>
          <a:xfrm>
            <a:off x="3413432" y="4378113"/>
            <a:ext cx="864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r>
              <a:rPr lang="ko-KR" altLang="en-US" sz="700" b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경영학과</a:t>
            </a:r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5907990D-BEA9-8937-FAE7-A34B2C630FE4}"/>
              </a:ext>
            </a:extLst>
          </p:cNvPr>
          <p:cNvSpPr/>
          <p:nvPr/>
        </p:nvSpPr>
        <p:spPr>
          <a:xfrm>
            <a:off x="4589209" y="3462646"/>
            <a:ext cx="864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홍길동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18EE6193-ADBD-4439-FAAC-1751DD44B509}"/>
              </a:ext>
            </a:extLst>
          </p:cNvPr>
          <p:cNvSpPr/>
          <p:nvPr/>
        </p:nvSpPr>
        <p:spPr>
          <a:xfrm>
            <a:off x="1792424" y="4832681"/>
            <a:ext cx="622908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우편번호 찾기</a:t>
            </a:r>
            <a:endParaRPr lang="ko-KR" altLang="en-US" sz="7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9499378F-7AF4-4E74-C3CE-1366D130ABB0}"/>
              </a:ext>
            </a:extLst>
          </p:cNvPr>
          <p:cNvSpPr/>
          <p:nvPr/>
        </p:nvSpPr>
        <p:spPr>
          <a:xfrm>
            <a:off x="1268922" y="4833285"/>
            <a:ext cx="476033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18131</a:t>
            </a:r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98704A9C-96E2-EAE9-6D6D-DC6A00E59943}"/>
              </a:ext>
            </a:extLst>
          </p:cNvPr>
          <p:cNvSpPr/>
          <p:nvPr/>
        </p:nvSpPr>
        <p:spPr>
          <a:xfrm>
            <a:off x="1268922" y="5067525"/>
            <a:ext cx="2423496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경기 오산시 </a:t>
            </a:r>
            <a:r>
              <a:rPr lang="ko-KR" altLang="en-US" sz="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현충로</a:t>
            </a:r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BF1DF610-50EC-1455-A15C-04079F34E9F0}"/>
              </a:ext>
            </a:extLst>
          </p:cNvPr>
          <p:cNvSpPr/>
          <p:nvPr/>
        </p:nvSpPr>
        <p:spPr>
          <a:xfrm>
            <a:off x="1268922" y="5301224"/>
            <a:ext cx="2423496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오산아파트 </a:t>
            </a:r>
            <a:r>
              <a:rPr lang="en-US" altLang="ko-KR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101</a:t>
            </a:r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 </a:t>
            </a:r>
            <a:r>
              <a:rPr lang="en-US" altLang="ko-KR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203</a:t>
            </a:r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4C95DBFD-4AB7-9A1C-53E1-9CF5D1927759}"/>
              </a:ext>
            </a:extLst>
          </p:cNvPr>
          <p:cNvSpPr/>
          <p:nvPr/>
        </p:nvSpPr>
        <p:spPr>
          <a:xfrm>
            <a:off x="3751760" y="5093358"/>
            <a:ext cx="307777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60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기본주소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25AC8A3C-AFF8-287C-240A-F7BCDE67412E}"/>
              </a:ext>
            </a:extLst>
          </p:cNvPr>
          <p:cNvSpPr/>
          <p:nvPr/>
        </p:nvSpPr>
        <p:spPr>
          <a:xfrm>
            <a:off x="3751760" y="5327057"/>
            <a:ext cx="307777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상세주소</a:t>
            </a:r>
          </a:p>
        </p:txBody>
      </p:sp>
      <p:pic>
        <p:nvPicPr>
          <p:cNvPr id="61" name="Picture 13">
            <a:extLst>
              <a:ext uri="{FF2B5EF4-FFF2-40B4-BE49-F238E27FC236}">
                <a16:creationId xmlns:a16="http://schemas.microsoft.com/office/drawing/2014/main" id="{F672A25D-14AE-985C-B55B-5DE029577D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5978" y="5755691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2" name="직사각형 61">
            <a:extLst>
              <a:ext uri="{FF2B5EF4-FFF2-40B4-BE49-F238E27FC236}">
                <a16:creationId xmlns:a16="http://schemas.microsoft.com/office/drawing/2014/main" id="{C3948603-A5A2-BB2B-3E53-3F12D3A301C8}"/>
              </a:ext>
            </a:extLst>
          </p:cNvPr>
          <p:cNvSpPr/>
          <p:nvPr/>
        </p:nvSpPr>
        <p:spPr>
          <a:xfrm>
            <a:off x="1231654" y="5755955"/>
            <a:ext cx="684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국민은행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B4B0EFF3-5AEF-89E9-5270-5E79FBB9577A}"/>
              </a:ext>
            </a:extLst>
          </p:cNvPr>
          <p:cNvSpPr/>
          <p:nvPr/>
        </p:nvSpPr>
        <p:spPr>
          <a:xfrm>
            <a:off x="1236877" y="6224724"/>
            <a:ext cx="1584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r>
              <a:rPr lang="en-US" altLang="ko-KR" sz="7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123-12-1234567</a:t>
            </a:r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D12FC7B6-89DD-41B9-2EB7-2B2C8BDD550C}"/>
              </a:ext>
            </a:extLst>
          </p:cNvPr>
          <p:cNvGrpSpPr/>
          <p:nvPr/>
        </p:nvGrpSpPr>
        <p:grpSpPr>
          <a:xfrm>
            <a:off x="253943" y="3056821"/>
            <a:ext cx="1651953" cy="144463"/>
            <a:chOff x="2156839" y="1593629"/>
            <a:chExt cx="1651953" cy="144463"/>
          </a:xfrm>
        </p:grpSpPr>
        <p:sp>
          <p:nvSpPr>
            <p:cNvPr id="66" name="Rectangle 191">
              <a:extLst>
                <a:ext uri="{FF2B5EF4-FFF2-40B4-BE49-F238E27FC236}">
                  <a16:creationId xmlns:a16="http://schemas.microsoft.com/office/drawing/2014/main" id="{86DB1ED4-9041-D321-3BF1-6A718EE8CC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9984" y="1614297"/>
              <a:ext cx="1498808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latinLnBrk="0">
                <a:defRPr/>
              </a:pPr>
              <a:r>
                <a:rPr lang="ko-KR" altLang="en-US" sz="700" b="1" kern="0" dirty="0">
                  <a:solidFill>
                    <a:srgbClr val="000000"/>
                  </a:solidFill>
                </a:rPr>
                <a:t>개인정보 수집 및 활용에 동의합니다</a:t>
              </a:r>
              <a:r>
                <a:rPr lang="en-US" altLang="ko-KR" sz="700" b="1" kern="0" dirty="0">
                  <a:solidFill>
                    <a:srgbClr val="000000"/>
                  </a:solidFill>
                </a:rPr>
                <a:t>.</a:t>
              </a:r>
              <a:endParaRPr lang="ko-KR" altLang="en-US" sz="700" b="1" kern="0" dirty="0">
                <a:solidFill>
                  <a:srgbClr val="000000"/>
                </a:solidFill>
              </a:endParaRPr>
            </a:p>
          </p:txBody>
        </p:sp>
        <p:graphicFrame>
          <p:nvGraphicFramePr>
            <p:cNvPr id="67" name="개체 66">
              <a:extLst>
                <a:ext uri="{FF2B5EF4-FFF2-40B4-BE49-F238E27FC236}">
                  <a16:creationId xmlns:a16="http://schemas.microsoft.com/office/drawing/2014/main" id="{729B2406-DE6B-6706-D53F-95BC9628F49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20316447"/>
                </p:ext>
              </p:extLst>
            </p:nvPr>
          </p:nvGraphicFramePr>
          <p:xfrm>
            <a:off x="2156839" y="1593629"/>
            <a:ext cx="144462" cy="144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145435" imgH="145435" progId="Visio.Drawing.11">
                    <p:embed/>
                  </p:oleObj>
                </mc:Choice>
                <mc:Fallback>
                  <p:oleObj name="Visio" r:id="rId4" imgW="145435" imgH="145435" progId="Visio.Drawing.11">
                    <p:embed/>
                    <p:pic>
                      <p:nvPicPr>
                        <p:cNvPr id="1068" name="개체 1067">
                          <a:extLst>
                            <a:ext uri="{FF2B5EF4-FFF2-40B4-BE49-F238E27FC236}">
                              <a16:creationId xmlns:a16="http://schemas.microsoft.com/office/drawing/2014/main" id="{2662BF51-F794-3A5C-B4F0-1E51EC04193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56839" y="1593629"/>
                          <a:ext cx="144462" cy="1444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8" name="Rectangle 191">
            <a:extLst>
              <a:ext uri="{FF2B5EF4-FFF2-40B4-BE49-F238E27FC236}">
                <a16:creationId xmlns:a16="http://schemas.microsoft.com/office/drawing/2014/main" id="{529EAD18-4A1D-F7ED-0F26-3E6ECF8460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7436" y="4391248"/>
            <a:ext cx="269304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학교명</a:t>
            </a:r>
          </a:p>
        </p:txBody>
      </p:sp>
      <p:sp>
        <p:nvSpPr>
          <p:cNvPr id="69" name="Rectangle 191">
            <a:extLst>
              <a:ext uri="{FF2B5EF4-FFF2-40B4-BE49-F238E27FC236}">
                <a16:creationId xmlns:a16="http://schemas.microsoft.com/office/drawing/2014/main" id="{6737DBB5-F508-98A3-F589-E5C3B93AC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0530" y="4391819"/>
            <a:ext cx="17953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학년</a:t>
            </a:r>
          </a:p>
        </p:txBody>
      </p:sp>
      <p:sp>
        <p:nvSpPr>
          <p:cNvPr id="70" name="Rectangle 191">
            <a:extLst>
              <a:ext uri="{FF2B5EF4-FFF2-40B4-BE49-F238E27FC236}">
                <a16:creationId xmlns:a16="http://schemas.microsoft.com/office/drawing/2014/main" id="{340ED280-01A9-17ED-CA9A-9144DF5C04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5170" y="4391819"/>
            <a:ext cx="17953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전공</a:t>
            </a:r>
          </a:p>
        </p:txBody>
      </p:sp>
      <p:pic>
        <p:nvPicPr>
          <p:cNvPr id="71" name="Picture 13">
            <a:extLst>
              <a:ext uri="{FF2B5EF4-FFF2-40B4-BE49-F238E27FC236}">
                <a16:creationId xmlns:a16="http://schemas.microsoft.com/office/drawing/2014/main" id="{793A2F02-9E0C-1FFA-9795-6C2CA08D59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937" y="3693645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3" name="직사각형 72">
            <a:extLst>
              <a:ext uri="{FF2B5EF4-FFF2-40B4-BE49-F238E27FC236}">
                <a16:creationId xmlns:a16="http://schemas.microsoft.com/office/drawing/2014/main" id="{AB743509-E187-7E81-54EC-D933D2DDCD6E}"/>
              </a:ext>
            </a:extLst>
          </p:cNvPr>
          <p:cNvSpPr/>
          <p:nvPr/>
        </p:nvSpPr>
        <p:spPr>
          <a:xfrm>
            <a:off x="1272813" y="3693909"/>
            <a:ext cx="245885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010</a:t>
            </a:r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1CA7ECAA-F561-60BC-2AD2-9404B6797C02}"/>
              </a:ext>
            </a:extLst>
          </p:cNvPr>
          <p:cNvSpPr/>
          <p:nvPr/>
        </p:nvSpPr>
        <p:spPr>
          <a:xfrm>
            <a:off x="1774926" y="3693909"/>
            <a:ext cx="325136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1234</a:t>
            </a:r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34F19381-7BC5-5629-46BF-35419EE28DE4}"/>
              </a:ext>
            </a:extLst>
          </p:cNvPr>
          <p:cNvSpPr/>
          <p:nvPr/>
        </p:nvSpPr>
        <p:spPr>
          <a:xfrm>
            <a:off x="1713829" y="3704097"/>
            <a:ext cx="36869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ko-KR" sz="700" dirty="0">
                <a:solidFill>
                  <a:prstClr val="black"/>
                </a:solidFill>
              </a:rPr>
              <a:t>-</a:t>
            </a:r>
            <a:endParaRPr lang="ko-KR" altLang="en-US" sz="700" dirty="0">
              <a:solidFill>
                <a:prstClr val="black"/>
              </a:solidFill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D298EF3E-30CC-7F30-326B-8B04A7C457F8}"/>
              </a:ext>
            </a:extLst>
          </p:cNvPr>
          <p:cNvSpPr/>
          <p:nvPr/>
        </p:nvSpPr>
        <p:spPr>
          <a:xfrm>
            <a:off x="2130766" y="3712048"/>
            <a:ext cx="36869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ko-KR" sz="700" dirty="0">
                <a:solidFill>
                  <a:prstClr val="black"/>
                </a:solidFill>
              </a:rPr>
              <a:t>-</a:t>
            </a:r>
            <a:endParaRPr lang="ko-KR" altLang="en-US" sz="700" dirty="0">
              <a:solidFill>
                <a:prstClr val="black"/>
              </a:solidFill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66EF7821-3BAB-9843-6504-EC9077F35741}"/>
              </a:ext>
            </a:extLst>
          </p:cNvPr>
          <p:cNvSpPr/>
          <p:nvPr/>
        </p:nvSpPr>
        <p:spPr>
          <a:xfrm>
            <a:off x="2198339" y="3693909"/>
            <a:ext cx="325136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5678</a:t>
            </a:r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AD77077A-8A7E-F0CB-5604-1DCD542255A2}"/>
              </a:ext>
            </a:extLst>
          </p:cNvPr>
          <p:cNvSpPr/>
          <p:nvPr/>
        </p:nvSpPr>
        <p:spPr>
          <a:xfrm>
            <a:off x="1277436" y="3923324"/>
            <a:ext cx="595041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honggil12</a:t>
            </a:r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0" name="Rectangle 191">
            <a:extLst>
              <a:ext uri="{FF2B5EF4-FFF2-40B4-BE49-F238E27FC236}">
                <a16:creationId xmlns:a16="http://schemas.microsoft.com/office/drawing/2014/main" id="{C219BB2C-C111-B6AB-EC11-E946471049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5028" y="3941463"/>
            <a:ext cx="7854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lvl="0" latinLnBrk="0">
              <a:defRPr/>
            </a:pPr>
            <a:r>
              <a:rPr kumimoji="0" lang="en-US" altLang="ko-KR" sz="7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@</a:t>
            </a:r>
            <a:endParaRPr kumimoji="0" lang="ko-KR" altLang="en-US" sz="7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1D27FD61-13FA-430F-FB18-934808F24334}"/>
              </a:ext>
            </a:extLst>
          </p:cNvPr>
          <p:cNvSpPr/>
          <p:nvPr/>
        </p:nvSpPr>
        <p:spPr>
          <a:xfrm>
            <a:off x="3310761" y="3923421"/>
            <a:ext cx="649136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직접입력</a:t>
            </a:r>
          </a:p>
        </p:txBody>
      </p:sp>
      <p:pic>
        <p:nvPicPr>
          <p:cNvPr id="82" name="Picture 13">
            <a:extLst>
              <a:ext uri="{FF2B5EF4-FFF2-40B4-BE49-F238E27FC236}">
                <a16:creationId xmlns:a16="http://schemas.microsoft.com/office/drawing/2014/main" id="{479D4B6E-DF39-875E-7619-FD55F3160E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3933" y="3924677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3" name="직사각형 82">
            <a:extLst>
              <a:ext uri="{FF2B5EF4-FFF2-40B4-BE49-F238E27FC236}">
                <a16:creationId xmlns:a16="http://schemas.microsoft.com/office/drawing/2014/main" id="{209E725E-DCFB-3073-054E-532E4B590277}"/>
              </a:ext>
            </a:extLst>
          </p:cNvPr>
          <p:cNvSpPr/>
          <p:nvPr/>
        </p:nvSpPr>
        <p:spPr>
          <a:xfrm>
            <a:off x="2006213" y="3923324"/>
            <a:ext cx="1278601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70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naver.com</a:t>
            </a:r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734431C4-7950-2927-17FC-F6106D8056FD}"/>
              </a:ext>
            </a:extLst>
          </p:cNvPr>
          <p:cNvSpPr>
            <a:spLocks noChangeAspect="1"/>
          </p:cNvSpPr>
          <p:nvPr/>
        </p:nvSpPr>
        <p:spPr>
          <a:xfrm>
            <a:off x="200472" y="2367200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23EA1013-32D9-12AE-1233-9B42A95D9017}"/>
              </a:ext>
            </a:extLst>
          </p:cNvPr>
          <p:cNvSpPr>
            <a:spLocks noChangeAspect="1"/>
          </p:cNvSpPr>
          <p:nvPr/>
        </p:nvSpPr>
        <p:spPr>
          <a:xfrm>
            <a:off x="200472" y="3350166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50D53C0A-90F8-85D3-752E-1D01D6DC8523}"/>
              </a:ext>
            </a:extLst>
          </p:cNvPr>
          <p:cNvSpPr>
            <a:spLocks noChangeAspect="1"/>
          </p:cNvSpPr>
          <p:nvPr/>
        </p:nvSpPr>
        <p:spPr>
          <a:xfrm>
            <a:off x="200472" y="5645362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F4D1DA14-2A32-98DE-14B0-81943FC467FF}"/>
              </a:ext>
            </a:extLst>
          </p:cNvPr>
          <p:cNvGrpSpPr/>
          <p:nvPr/>
        </p:nvGrpSpPr>
        <p:grpSpPr>
          <a:xfrm>
            <a:off x="1260923" y="4612932"/>
            <a:ext cx="3869183" cy="147301"/>
            <a:chOff x="1229119" y="4562220"/>
            <a:chExt cx="3869183" cy="147301"/>
          </a:xfrm>
        </p:grpSpPr>
        <p:sp>
          <p:nvSpPr>
            <p:cNvPr id="38" name="Rectangle 191">
              <a:extLst>
                <a:ext uri="{FF2B5EF4-FFF2-40B4-BE49-F238E27FC236}">
                  <a16:creationId xmlns:a16="http://schemas.microsoft.com/office/drawing/2014/main" id="{96B8047D-E4AB-A613-A02A-F637D3FC76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9419" y="4582009"/>
              <a:ext cx="1538883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공고일 기준 오산시 거주 확인 후 신청</a:t>
              </a:r>
            </a:p>
          </p:txBody>
        </p: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13FB078F-C360-F12C-8E5D-917EB9AD0096}"/>
                </a:ext>
              </a:extLst>
            </p:cNvPr>
            <p:cNvGrpSpPr/>
            <p:nvPr/>
          </p:nvGrpSpPr>
          <p:grpSpPr>
            <a:xfrm>
              <a:off x="1588840" y="4563639"/>
              <a:ext cx="415981" cy="144462"/>
              <a:chOff x="2716253" y="2405617"/>
              <a:chExt cx="415981" cy="144462"/>
            </a:xfrm>
          </p:grpSpPr>
          <p:sp>
            <p:nvSpPr>
              <p:cNvPr id="90" name="Rectangle 191">
                <a:extLst>
                  <a:ext uri="{FF2B5EF4-FFF2-40B4-BE49-F238E27FC236}">
                    <a16:creationId xmlns:a16="http://schemas.microsoft.com/office/drawing/2014/main" id="{12D88D8F-96A6-09C6-242C-39B873A21D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62930" y="2423987"/>
                <a:ext cx="269304" cy="10772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EAEAEA"/>
                    </a:solidFill>
                  </a14:hiddenFill>
                </a:ext>
                <a:ext uri="{91240B29-F687-4F45-9708-019B960494DF}">
                  <a14:hiddenLine xmlns:a14="http://schemas.microsoft.com/office/drawing/2010/main" w="635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7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보호자</a:t>
                </a:r>
              </a:p>
            </p:txBody>
          </p:sp>
          <p:graphicFrame>
            <p:nvGraphicFramePr>
              <p:cNvPr id="91" name="개체 90">
                <a:extLst>
                  <a:ext uri="{FF2B5EF4-FFF2-40B4-BE49-F238E27FC236}">
                    <a16:creationId xmlns:a16="http://schemas.microsoft.com/office/drawing/2014/main" id="{9C147DE0-EF04-649B-0042-315BA4D2819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716253" y="2405617"/>
              <a:ext cx="144462" cy="1444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Visio" r:id="rId6" imgW="145435" imgH="145435" progId="Visio.Drawing.11">
                      <p:embed/>
                    </p:oleObj>
                  </mc:Choice>
                  <mc:Fallback>
                    <p:oleObj name="Visio" r:id="rId6" imgW="145435" imgH="145435" progId="Visio.Drawing.11">
                      <p:embed/>
                      <p:pic>
                        <p:nvPicPr>
                          <p:cNvPr id="40" name="개체 39">
                            <a:extLst>
                              <a:ext uri="{FF2B5EF4-FFF2-40B4-BE49-F238E27FC236}">
                                <a16:creationId xmlns:a16="http://schemas.microsoft.com/office/drawing/2014/main" id="{799E54F7-3588-2E91-64C5-87A8C14BC80D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16253" y="2405617"/>
                            <a:ext cx="144462" cy="1444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EAEAEA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6350" algn="ctr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FAC0610F-330D-0C00-A2F5-F691014B377E}"/>
                </a:ext>
              </a:extLst>
            </p:cNvPr>
            <p:cNvGrpSpPr/>
            <p:nvPr/>
          </p:nvGrpSpPr>
          <p:grpSpPr>
            <a:xfrm>
              <a:off x="1229119" y="4563639"/>
              <a:ext cx="326896" cy="144463"/>
              <a:chOff x="2864768" y="2513669"/>
              <a:chExt cx="326896" cy="144463"/>
            </a:xfrm>
          </p:grpSpPr>
          <p:sp>
            <p:nvSpPr>
              <p:cNvPr id="88" name="Rectangle 191">
                <a:extLst>
                  <a:ext uri="{FF2B5EF4-FFF2-40B4-BE49-F238E27FC236}">
                    <a16:creationId xmlns:a16="http://schemas.microsoft.com/office/drawing/2014/main" id="{8CA21387-EC43-7EE7-2586-95A8883D0A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12128" y="2526153"/>
                <a:ext cx="179536" cy="10772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EAEAEA"/>
                    </a:solidFill>
                  </a14:hiddenFill>
                </a:ext>
                <a:ext uri="{91240B29-F687-4F45-9708-019B960494DF}">
                  <a14:hiddenLine xmlns:a14="http://schemas.microsoft.com/office/drawing/2010/main" w="635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7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본인</a:t>
                </a:r>
              </a:p>
            </p:txBody>
          </p:sp>
          <p:graphicFrame>
            <p:nvGraphicFramePr>
              <p:cNvPr id="89" name="개체 88">
                <a:extLst>
                  <a:ext uri="{FF2B5EF4-FFF2-40B4-BE49-F238E27FC236}">
                    <a16:creationId xmlns:a16="http://schemas.microsoft.com/office/drawing/2014/main" id="{C3B82577-896F-78A1-14B6-C5E2AE1D4AE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02041748"/>
                  </p:ext>
                </p:extLst>
              </p:nvPr>
            </p:nvGraphicFramePr>
            <p:xfrm>
              <a:off x="2864768" y="2513669"/>
              <a:ext cx="144462" cy="1444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Visio" r:id="rId8" imgW="145435" imgH="145435" progId="Visio.Drawing.11">
                      <p:embed/>
                    </p:oleObj>
                  </mc:Choice>
                  <mc:Fallback>
                    <p:oleObj name="Visio" r:id="rId8" imgW="145435" imgH="145435" progId="Visio.Drawing.11">
                      <p:embed/>
                      <p:pic>
                        <p:nvPicPr>
                          <p:cNvPr id="88" name="개체 87">
                            <a:extLst>
                              <a:ext uri="{FF2B5EF4-FFF2-40B4-BE49-F238E27FC236}">
                                <a16:creationId xmlns:a16="http://schemas.microsoft.com/office/drawing/2014/main" id="{490D6870-FF18-48BF-A6DB-37DAA685FF30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64768" y="2513669"/>
                            <a:ext cx="144462" cy="14446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EAEAEA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6350" algn="ctr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pic>
          <p:nvPicPr>
            <p:cNvPr id="41" name="Picture 13">
              <a:extLst>
                <a:ext uri="{FF2B5EF4-FFF2-40B4-BE49-F238E27FC236}">
                  <a16:creationId xmlns:a16="http://schemas.microsoft.com/office/drawing/2014/main" id="{774B7F31-8271-FA66-25DF-49265536C1E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09851" y="4562220"/>
              <a:ext cx="154667" cy="147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9D92441B-9B11-C77D-9C8A-1FC4F6DA2EB8}"/>
                </a:ext>
              </a:extLst>
            </p:cNvPr>
            <p:cNvSpPr/>
            <p:nvPr/>
          </p:nvSpPr>
          <p:spPr>
            <a:xfrm>
              <a:off x="2049961" y="4563870"/>
              <a:ext cx="35765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prstClr val="black">
                      <a:lumMod val="95000"/>
                      <a:lumOff val="5000"/>
                    </a:prstClr>
                  </a:solidFill>
                </a:rPr>
                <a:t>2008</a:t>
              </a:r>
              <a:r>
                <a:rPr lang="ko-KR" altLang="en-US" sz="700" dirty="0">
                  <a:solidFill>
                    <a:prstClr val="black">
                      <a:lumMod val="95000"/>
                      <a:lumOff val="5000"/>
                    </a:prstClr>
                  </a:solidFill>
                </a:rPr>
                <a:t>년</a:t>
              </a:r>
            </a:p>
          </p:txBody>
        </p:sp>
        <p:pic>
          <p:nvPicPr>
            <p:cNvPr id="84" name="Picture 13">
              <a:extLst>
                <a:ext uri="{FF2B5EF4-FFF2-40B4-BE49-F238E27FC236}">
                  <a16:creationId xmlns:a16="http://schemas.microsoft.com/office/drawing/2014/main" id="{7F8D57C2-8C27-6B5B-BD9E-A7A5A216EBB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0581" y="4562220"/>
              <a:ext cx="154667" cy="147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869A0244-4B12-D572-F6B6-C6E0DA3AA04D}"/>
                </a:ext>
              </a:extLst>
            </p:cNvPr>
            <p:cNvSpPr/>
            <p:nvPr/>
          </p:nvSpPr>
          <p:spPr>
            <a:xfrm>
              <a:off x="2575929" y="4563870"/>
              <a:ext cx="295578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prstClr val="black">
                      <a:lumMod val="95000"/>
                      <a:lumOff val="5000"/>
                    </a:prstClr>
                  </a:solidFill>
                </a:rPr>
                <a:t>01</a:t>
              </a:r>
              <a:r>
                <a:rPr lang="ko-KR" altLang="en-US" sz="700" dirty="0">
                  <a:solidFill>
                    <a:prstClr val="black">
                      <a:lumMod val="95000"/>
                      <a:lumOff val="5000"/>
                    </a:prstClr>
                  </a:solidFill>
                </a:rPr>
                <a:t>월</a:t>
              </a:r>
            </a:p>
          </p:txBody>
        </p:sp>
        <p:pic>
          <p:nvPicPr>
            <p:cNvPr id="86" name="Picture 13">
              <a:extLst>
                <a:ext uri="{FF2B5EF4-FFF2-40B4-BE49-F238E27FC236}">
                  <a16:creationId xmlns:a16="http://schemas.microsoft.com/office/drawing/2014/main" id="{824A40A3-B81E-B8BD-05AA-472B81590D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2434" y="4562220"/>
              <a:ext cx="154667" cy="147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5116D124-3591-5EBC-10C8-985BB1FCCD7F}"/>
                </a:ext>
              </a:extLst>
            </p:cNvPr>
            <p:cNvSpPr/>
            <p:nvPr/>
          </p:nvSpPr>
          <p:spPr>
            <a:xfrm>
              <a:off x="3047782" y="4563870"/>
              <a:ext cx="295578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prstClr val="black">
                      <a:lumMod val="95000"/>
                      <a:lumOff val="5000"/>
                    </a:prstClr>
                  </a:solidFill>
                </a:rPr>
                <a:t>01</a:t>
              </a:r>
              <a:r>
                <a:rPr lang="ko-KR" altLang="en-US" sz="700" dirty="0">
                  <a:solidFill>
                    <a:prstClr val="black">
                      <a:lumMod val="95000"/>
                      <a:lumOff val="5000"/>
                    </a:prstClr>
                  </a:solidFill>
                </a:rPr>
                <a:t>일</a:t>
              </a:r>
            </a:p>
          </p:txBody>
        </p:sp>
      </p:grp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126BEE93-05BB-68ED-AD04-3A09987C557D}"/>
              </a:ext>
            </a:extLst>
          </p:cNvPr>
          <p:cNvSpPr/>
          <p:nvPr/>
        </p:nvSpPr>
        <p:spPr>
          <a:xfrm>
            <a:off x="253943" y="4586644"/>
            <a:ext cx="6535794" cy="21600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6" name="Picture 13">
            <a:extLst>
              <a:ext uri="{FF2B5EF4-FFF2-40B4-BE49-F238E27FC236}">
                <a16:creationId xmlns:a16="http://schemas.microsoft.com/office/drawing/2014/main" id="{1BD32F4E-E492-79C7-8D81-5DC82BE716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7943" y="4149902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82F46E20-2D19-E49D-56A2-2BFD3368C64C}"/>
              </a:ext>
            </a:extLst>
          </p:cNvPr>
          <p:cNvSpPr/>
          <p:nvPr/>
        </p:nvSpPr>
        <p:spPr>
          <a:xfrm>
            <a:off x="1277436" y="4150166"/>
            <a:ext cx="1423105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세종대공동캠퍼스행복기숙사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연합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6677DAF-8002-C4BD-19F0-51DF5099AD7B}"/>
              </a:ext>
            </a:extLst>
          </p:cNvPr>
          <p:cNvSpPr/>
          <p:nvPr/>
        </p:nvSpPr>
        <p:spPr>
          <a:xfrm>
            <a:off x="253943" y="4126090"/>
            <a:ext cx="6535794" cy="21600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Rectangle 191">
            <a:extLst>
              <a:ext uri="{FF2B5EF4-FFF2-40B4-BE49-F238E27FC236}">
                <a16:creationId xmlns:a16="http://schemas.microsoft.com/office/drawing/2014/main" id="{ACE8819E-E7F8-2E83-D799-1F63E3F2B1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1595" y="5553526"/>
            <a:ext cx="1622240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사립행복기숙사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신청자만 계좌정보 기재</a:t>
            </a:r>
          </a:p>
        </p:txBody>
      </p:sp>
    </p:spTree>
    <p:extLst>
      <p:ext uri="{BB962C8B-B14F-4D97-AF65-F5344CB8AC3E}">
        <p14:creationId xmlns:p14="http://schemas.microsoft.com/office/powerpoint/2010/main" val="71913824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1A703-78ED-AA47-79A0-28697F351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44A55CB-B729-F8CA-B41C-5E90A606D985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행복기숙사입사비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신청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97F30DB-4569-73C7-998E-421C2B5261AB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프로그램신청관리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행복기숙사입사비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신청</a:t>
            </a: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26FAF697-B940-FABF-30B1-ED4246CFBB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5694717"/>
              </p:ext>
            </p:extLst>
          </p:nvPr>
        </p:nvGraphicFramePr>
        <p:xfrm>
          <a:off x="6969418" y="2548005"/>
          <a:ext cx="2772114" cy="1444480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최종전입일자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신청 시 설정한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최종전입일자로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본인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보호자 중 선택 및 전입일자를 설정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주소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신청 시 설정한 신청자 주소로 수정이 가능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우편번호 찾기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주소검색 팝업창에서 해당 주소 검색 및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선택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우편번호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기본주소가 주소란에 적용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상세주소 직접입력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3958271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은행명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신청 시 설정한신청자 본인 계좌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은행명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예금주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신청 시 자동 신청자의 회원 이름을 자동으로 표시하며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수정이 불가능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계좌번호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신청 시 설정한 본인 계좌의 계좌번호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59FF0526-230F-A25D-243D-F6F0B8550DBF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pad_application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A136127-BA65-2477-1C83-0CF0534E5194}"/>
              </a:ext>
            </a:extLst>
          </p:cNvPr>
          <p:cNvSpPr/>
          <p:nvPr/>
        </p:nvSpPr>
        <p:spPr>
          <a:xfrm>
            <a:off x="165100" y="1376772"/>
            <a:ext cx="6732116" cy="36877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BCA62E83-3142-B03C-20D1-AC667BC9AA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1468700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E10B040A-0EAE-47CC-2B21-99DCB36F900C}"/>
              </a:ext>
            </a:extLst>
          </p:cNvPr>
          <p:cNvSpPr/>
          <p:nvPr/>
        </p:nvSpPr>
        <p:spPr>
          <a:xfrm>
            <a:off x="5680946" y="1586865"/>
            <a:ext cx="1165384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오산시민 평생교육장려금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CA28598-3952-4EA7-2F8F-714F1E924B4D}"/>
              </a:ext>
            </a:extLst>
          </p:cNvPr>
          <p:cNvSpPr/>
          <p:nvPr/>
        </p:nvSpPr>
        <p:spPr>
          <a:xfrm>
            <a:off x="4831365" y="1586865"/>
            <a:ext cx="652423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 신청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CBCCB43-93D2-D55F-1C1F-32F3BD8F2568}"/>
              </a:ext>
            </a:extLst>
          </p:cNvPr>
          <p:cNvSpPr/>
          <p:nvPr/>
        </p:nvSpPr>
        <p:spPr>
          <a:xfrm>
            <a:off x="4223838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재단소식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30FE09B-A81C-3681-FDC3-713BF4945B50}"/>
              </a:ext>
            </a:extLst>
          </p:cNvPr>
          <p:cNvSpPr/>
          <p:nvPr/>
        </p:nvSpPr>
        <p:spPr>
          <a:xfrm>
            <a:off x="3616311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열린경영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9DD0470-FD5E-DFE7-64A4-DDA5E26F1B18}"/>
              </a:ext>
            </a:extLst>
          </p:cNvPr>
          <p:cNvSpPr/>
          <p:nvPr/>
        </p:nvSpPr>
        <p:spPr>
          <a:xfrm>
            <a:off x="3008784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B7CA741-6984-A3E3-A56E-33BBB40074E0}"/>
              </a:ext>
            </a:extLst>
          </p:cNvPr>
          <p:cNvSpPr/>
          <p:nvPr/>
        </p:nvSpPr>
        <p:spPr>
          <a:xfrm>
            <a:off x="165100" y="1790190"/>
            <a:ext cx="6732116" cy="469951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3E1CC63-D7AD-C8A5-A51F-39E14EAF5490}"/>
              </a:ext>
            </a:extLst>
          </p:cNvPr>
          <p:cNvSpPr/>
          <p:nvPr/>
        </p:nvSpPr>
        <p:spPr>
          <a:xfrm>
            <a:off x="5406844" y="1879740"/>
            <a:ext cx="1372172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행복기숙사입사비</a:t>
            </a:r>
            <a:endParaRPr kumimoji="0" lang="ko-KR" alt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E24A38D-D3F5-250C-6FB2-9909B2D1E424}"/>
              </a:ext>
            </a:extLst>
          </p:cNvPr>
          <p:cNvSpPr/>
          <p:nvPr/>
        </p:nvSpPr>
        <p:spPr>
          <a:xfrm>
            <a:off x="236476" y="1844824"/>
            <a:ext cx="963405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행복기숙사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9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입사비</a:t>
            </a:r>
            <a:endParaRPr kumimoji="0" lang="ko-KR" alt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AB5EB5D-ED46-4DB0-DC1E-7059D7E32197}"/>
              </a:ext>
            </a:extLst>
          </p:cNvPr>
          <p:cNvSpPr/>
          <p:nvPr/>
        </p:nvSpPr>
        <p:spPr>
          <a:xfrm>
            <a:off x="273050" y="2248819"/>
            <a:ext cx="1620636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800" b="1" dirty="0">
                <a:solidFill>
                  <a:prstClr val="black"/>
                </a:solidFill>
              </a:rPr>
              <a:t>개인정보 수집 및 활용에 대한 안내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3A571C4-ECA6-148D-B189-460B757325CD}"/>
              </a:ext>
            </a:extLst>
          </p:cNvPr>
          <p:cNvGrpSpPr/>
          <p:nvPr/>
        </p:nvGrpSpPr>
        <p:grpSpPr>
          <a:xfrm>
            <a:off x="6728560" y="2428508"/>
            <a:ext cx="77080" cy="612000"/>
            <a:chOff x="6781481" y="1888563"/>
            <a:chExt cx="77080" cy="612000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BF797954-4F66-42C4-AF9B-AB2DB6E2F251}"/>
                </a:ext>
              </a:extLst>
            </p:cNvPr>
            <p:cNvSpPr/>
            <p:nvPr/>
          </p:nvSpPr>
          <p:spPr>
            <a:xfrm>
              <a:off x="6786561" y="1888563"/>
              <a:ext cx="72000" cy="612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DD6F5D34-E11B-C300-5182-A99C0980D98F}"/>
                </a:ext>
              </a:extLst>
            </p:cNvPr>
            <p:cNvSpPr/>
            <p:nvPr/>
          </p:nvSpPr>
          <p:spPr>
            <a:xfrm>
              <a:off x="6781481" y="2116070"/>
              <a:ext cx="72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endParaRPr>
            </a:p>
          </p:txBody>
        </p:sp>
      </p:grp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95ABDAB-AD3F-CE3E-F6AD-5F521C910108}"/>
              </a:ext>
            </a:extLst>
          </p:cNvPr>
          <p:cNvSpPr/>
          <p:nvPr/>
        </p:nvSpPr>
        <p:spPr>
          <a:xfrm>
            <a:off x="258997" y="2428839"/>
            <a:ext cx="6464483" cy="60045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t"/>
          <a:lstStyle/>
          <a:p>
            <a:r>
              <a:rPr lang="ko-KR" altLang="en-US" sz="700" dirty="0">
                <a:solidFill>
                  <a:prstClr val="black"/>
                </a:solidFill>
              </a:rPr>
              <a:t>오산교육재단 홈페이지 프로그램 신청을 위하여 아래와 같이 개인정보를 수집・이용하고자 합니다</a:t>
            </a:r>
            <a:r>
              <a:rPr lang="en-US" altLang="ko-KR" sz="700" dirty="0">
                <a:solidFill>
                  <a:prstClr val="black"/>
                </a:solidFill>
              </a:rPr>
              <a:t>. </a:t>
            </a:r>
            <a:r>
              <a:rPr lang="ko-KR" altLang="en-US" sz="700" dirty="0">
                <a:solidFill>
                  <a:prstClr val="black"/>
                </a:solidFill>
              </a:rPr>
              <a:t>내용을 자세히 읽으신 후 동의 여부를 결정하여 주시기 바랍니다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</a:p>
          <a:p>
            <a:endParaRPr lang="en-US" altLang="ko-KR" sz="700" dirty="0">
              <a:solidFill>
                <a:prstClr val="black"/>
              </a:solidFill>
            </a:endParaRPr>
          </a:p>
          <a:p>
            <a:r>
              <a:rPr lang="ko-KR" altLang="en-US" sz="700" dirty="0">
                <a:solidFill>
                  <a:prstClr val="black"/>
                </a:solidFill>
              </a:rPr>
              <a:t>개인정보 </a:t>
            </a:r>
            <a:r>
              <a:rPr lang="ko-KR" altLang="en-US" sz="700" dirty="0" err="1">
                <a:solidFill>
                  <a:prstClr val="black"/>
                </a:solidFill>
              </a:rPr>
              <a:t>수집・이용</a:t>
            </a:r>
            <a:r>
              <a:rPr lang="ko-KR" altLang="en-US" sz="700" dirty="0">
                <a:solidFill>
                  <a:prstClr val="black"/>
                </a:solidFill>
              </a:rPr>
              <a:t> 내역</a:t>
            </a:r>
            <a:endParaRPr lang="en-US" altLang="ko-KR" sz="700" dirty="0">
              <a:solidFill>
                <a:prstClr val="black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2BDEE39-B660-2283-43C2-1C64CC9D4AB3}"/>
              </a:ext>
            </a:extLst>
          </p:cNvPr>
          <p:cNvSpPr/>
          <p:nvPr/>
        </p:nvSpPr>
        <p:spPr>
          <a:xfrm>
            <a:off x="273050" y="3248980"/>
            <a:ext cx="549831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800" b="1" dirty="0">
                <a:solidFill>
                  <a:prstClr val="black"/>
                </a:solidFill>
              </a:rPr>
              <a:t>신청자 정보</a:t>
            </a: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7E97AF46-2CCE-FD62-537E-1E2D36DDB7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9969408"/>
              </p:ext>
            </p:extLst>
          </p:nvPr>
        </p:nvGraphicFramePr>
        <p:xfrm>
          <a:off x="258996" y="3421894"/>
          <a:ext cx="6520019" cy="2069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97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13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2932">
                  <a:extLst>
                    <a:ext uri="{9D8B030D-6E8A-4147-A177-3AD203B41FA5}">
                      <a16:colId xmlns:a16="http://schemas.microsoft.com/office/drawing/2014/main" val="3116975180"/>
                    </a:ext>
                  </a:extLst>
                </a:gridCol>
                <a:gridCol w="2216010">
                  <a:extLst>
                    <a:ext uri="{9D8B030D-6E8A-4147-A177-3AD203B41FA5}">
                      <a16:colId xmlns:a16="http://schemas.microsoft.com/office/drawing/2014/main" val="4261210409"/>
                    </a:ext>
                  </a:extLst>
                </a:gridCol>
              </a:tblGrid>
              <a:tr h="229955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홍이삭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보호자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9955">
                <a:tc>
                  <a:txBody>
                    <a:bodyPr/>
                    <a:lstStyle/>
                    <a:p>
                      <a:pPr algn="r" latinLnBrk="0"/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연락처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보호자 연락처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9955">
                <a:tc>
                  <a:txBody>
                    <a:bodyPr/>
                    <a:lstStyle/>
                    <a:p>
                      <a:pPr algn="r" latinLnBrk="0"/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이메일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5422586"/>
                  </a:ext>
                </a:extLst>
              </a:tr>
              <a:tr h="229955">
                <a:tc>
                  <a:txBody>
                    <a:bodyPr/>
                    <a:lstStyle/>
                    <a:p>
                      <a:pPr algn="r" latinLnBrk="0"/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신청 기숙사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8278421"/>
                  </a:ext>
                </a:extLst>
              </a:tr>
              <a:tr h="229955">
                <a:tc>
                  <a:txBody>
                    <a:bodyPr/>
                    <a:lstStyle/>
                    <a:p>
                      <a:pPr algn="r" latinLnBrk="0"/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학교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latinLnBrk="0"/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4276378"/>
                  </a:ext>
                </a:extLst>
              </a:tr>
              <a:tr h="229955">
                <a:tc>
                  <a:txBody>
                    <a:bodyPr/>
                    <a:lstStyle/>
                    <a:p>
                      <a:pPr algn="r" latinLnBrk="0"/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최종전입일자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0775587"/>
                  </a:ext>
                </a:extLst>
              </a:tr>
              <a:tr h="229955">
                <a:tc rowSpan="3">
                  <a:txBody>
                    <a:bodyPr/>
                    <a:lstStyle/>
                    <a:p>
                      <a:pPr algn="r" latinLnBrk="0"/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주소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162364"/>
                  </a:ext>
                </a:extLst>
              </a:tr>
              <a:tr h="229955">
                <a:tc vMerge="1">
                  <a:txBody>
                    <a:bodyPr/>
                    <a:lstStyle/>
                    <a:p>
                      <a:pPr algn="r" latinLnBrk="0"/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5576740"/>
                  </a:ext>
                </a:extLst>
              </a:tr>
              <a:tr h="229955">
                <a:tc vMerge="1">
                  <a:txBody>
                    <a:bodyPr/>
                    <a:lstStyle/>
                    <a:p>
                      <a:pPr algn="r" latinLnBrk="0"/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latinLnBrk="0"/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515371"/>
                  </a:ext>
                </a:extLst>
              </a:tr>
            </a:tbl>
          </a:graphicData>
        </a:graphic>
      </p:graphicFrame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F0A8FB51-7825-6839-EBA9-9EE82C6257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1849976"/>
              </p:ext>
            </p:extLst>
          </p:nvPr>
        </p:nvGraphicFramePr>
        <p:xfrm>
          <a:off x="258996" y="5717408"/>
          <a:ext cx="6530741" cy="699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0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901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3308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은행명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308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예금주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홍이삭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308">
                <a:tc>
                  <a:txBody>
                    <a:bodyPr/>
                    <a:lstStyle/>
                    <a:p>
                      <a:pPr algn="r" latinLnBrk="0"/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계좌번호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직사각형 21">
            <a:extLst>
              <a:ext uri="{FF2B5EF4-FFF2-40B4-BE49-F238E27FC236}">
                <a16:creationId xmlns:a16="http://schemas.microsoft.com/office/drawing/2014/main" id="{234A6E6A-6054-E7C3-8B0E-2B49633E5908}"/>
              </a:ext>
            </a:extLst>
          </p:cNvPr>
          <p:cNvSpPr/>
          <p:nvPr/>
        </p:nvSpPr>
        <p:spPr>
          <a:xfrm>
            <a:off x="273050" y="5537041"/>
            <a:ext cx="755015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800" b="1" dirty="0">
                <a:solidFill>
                  <a:prstClr val="black"/>
                </a:solidFill>
              </a:rPr>
              <a:t>신청자 계좌정보</a:t>
            </a:r>
          </a:p>
        </p:txBody>
      </p:sp>
      <p:pic>
        <p:nvPicPr>
          <p:cNvPr id="23" name="Picture 13">
            <a:extLst>
              <a:ext uri="{FF2B5EF4-FFF2-40B4-BE49-F238E27FC236}">
                <a16:creationId xmlns:a16="http://schemas.microsoft.com/office/drawing/2014/main" id="{071A30DF-61F1-F38C-6718-451D9F926B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0334" y="3693645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589B1D23-791B-AA8C-23D1-D976885BB8D7}"/>
              </a:ext>
            </a:extLst>
          </p:cNvPr>
          <p:cNvSpPr/>
          <p:nvPr/>
        </p:nvSpPr>
        <p:spPr>
          <a:xfrm>
            <a:off x="4589210" y="3693909"/>
            <a:ext cx="245885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010</a:t>
            </a:r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CDB334A-9590-F57D-1FA5-9BA7F44D95BA}"/>
              </a:ext>
            </a:extLst>
          </p:cNvPr>
          <p:cNvSpPr/>
          <p:nvPr/>
        </p:nvSpPr>
        <p:spPr>
          <a:xfrm>
            <a:off x="5091323" y="3693909"/>
            <a:ext cx="325136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1234</a:t>
            </a:r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931345F-4DD6-7EAD-28D8-284C73D74EDE}"/>
              </a:ext>
            </a:extLst>
          </p:cNvPr>
          <p:cNvSpPr/>
          <p:nvPr/>
        </p:nvSpPr>
        <p:spPr>
          <a:xfrm>
            <a:off x="5030226" y="3704097"/>
            <a:ext cx="36869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ko-KR" sz="700" dirty="0">
                <a:solidFill>
                  <a:prstClr val="black"/>
                </a:solidFill>
              </a:rPr>
              <a:t>-</a:t>
            </a:r>
            <a:endParaRPr lang="ko-KR" altLang="en-US" sz="700" dirty="0">
              <a:solidFill>
                <a:prstClr val="black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B800FCA-483D-8777-3A4D-F60918FF980F}"/>
              </a:ext>
            </a:extLst>
          </p:cNvPr>
          <p:cNvSpPr/>
          <p:nvPr/>
        </p:nvSpPr>
        <p:spPr>
          <a:xfrm>
            <a:off x="5447163" y="3712048"/>
            <a:ext cx="36869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ko-KR" sz="700" dirty="0">
                <a:solidFill>
                  <a:prstClr val="black"/>
                </a:solidFill>
              </a:rPr>
              <a:t>-</a:t>
            </a:r>
            <a:endParaRPr lang="ko-KR" altLang="en-US" sz="700" dirty="0">
              <a:solidFill>
                <a:prstClr val="black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FA876EE-9FD7-8269-EDA5-9CFCF7805317}"/>
              </a:ext>
            </a:extLst>
          </p:cNvPr>
          <p:cNvSpPr/>
          <p:nvPr/>
        </p:nvSpPr>
        <p:spPr>
          <a:xfrm>
            <a:off x="5514736" y="3693909"/>
            <a:ext cx="325136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5678</a:t>
            </a:r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ED26844-4EDF-FB15-4C01-297BC69FD925}"/>
              </a:ext>
            </a:extLst>
          </p:cNvPr>
          <p:cNvSpPr/>
          <p:nvPr/>
        </p:nvSpPr>
        <p:spPr>
          <a:xfrm>
            <a:off x="1572115" y="4378113"/>
            <a:ext cx="864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오산대학교</a:t>
            </a:r>
          </a:p>
        </p:txBody>
      </p:sp>
      <p:pic>
        <p:nvPicPr>
          <p:cNvPr id="30" name="Picture 13">
            <a:extLst>
              <a:ext uri="{FF2B5EF4-FFF2-40B4-BE49-F238E27FC236}">
                <a16:creationId xmlns:a16="http://schemas.microsoft.com/office/drawing/2014/main" id="{46856B14-CB71-4D18-D470-14D7BC5B7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0716" y="4378767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1" name="직사각형 30">
            <a:extLst>
              <a:ext uri="{FF2B5EF4-FFF2-40B4-BE49-F238E27FC236}">
                <a16:creationId xmlns:a16="http://schemas.microsoft.com/office/drawing/2014/main" id="{56821FFD-A538-F19D-F65D-7AB722677DE8}"/>
              </a:ext>
            </a:extLst>
          </p:cNvPr>
          <p:cNvSpPr/>
          <p:nvPr/>
        </p:nvSpPr>
        <p:spPr>
          <a:xfrm>
            <a:off x="2705715" y="4379031"/>
            <a:ext cx="295578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2</a:t>
            </a: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학년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F6300AA-8CAA-4CBB-181C-708AA43AF95B}"/>
              </a:ext>
            </a:extLst>
          </p:cNvPr>
          <p:cNvSpPr/>
          <p:nvPr/>
        </p:nvSpPr>
        <p:spPr>
          <a:xfrm>
            <a:off x="3413432" y="4378113"/>
            <a:ext cx="864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r>
              <a:rPr lang="ko-KR" altLang="en-US" sz="700" b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경영학과</a:t>
            </a:r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5FDAF7D-CF85-8DEF-9791-DB82DE408B73}"/>
              </a:ext>
            </a:extLst>
          </p:cNvPr>
          <p:cNvSpPr/>
          <p:nvPr/>
        </p:nvSpPr>
        <p:spPr>
          <a:xfrm>
            <a:off x="4589209" y="3462646"/>
            <a:ext cx="864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홍길동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1B70163-A28B-DEE3-0EEB-6265280BAC29}"/>
              </a:ext>
            </a:extLst>
          </p:cNvPr>
          <p:cNvSpPr/>
          <p:nvPr/>
        </p:nvSpPr>
        <p:spPr>
          <a:xfrm>
            <a:off x="1792424" y="4832681"/>
            <a:ext cx="622908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우편번호 찾기</a:t>
            </a:r>
            <a:endParaRPr lang="ko-KR" altLang="en-US" sz="7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42D7132C-8A8D-E513-A0E4-62257BF59912}"/>
              </a:ext>
            </a:extLst>
          </p:cNvPr>
          <p:cNvSpPr/>
          <p:nvPr/>
        </p:nvSpPr>
        <p:spPr>
          <a:xfrm>
            <a:off x="1268922" y="4833285"/>
            <a:ext cx="476033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18131</a:t>
            </a:r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FDB3521-C874-BB33-E728-83868772DD3F}"/>
              </a:ext>
            </a:extLst>
          </p:cNvPr>
          <p:cNvSpPr/>
          <p:nvPr/>
        </p:nvSpPr>
        <p:spPr>
          <a:xfrm>
            <a:off x="1268922" y="5067525"/>
            <a:ext cx="2423496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경기 오산시 </a:t>
            </a:r>
            <a:r>
              <a:rPr lang="ko-KR" altLang="en-US" sz="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현충로</a:t>
            </a:r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9878A8F2-666A-71DD-571A-0C8099FC73DA}"/>
              </a:ext>
            </a:extLst>
          </p:cNvPr>
          <p:cNvSpPr/>
          <p:nvPr/>
        </p:nvSpPr>
        <p:spPr>
          <a:xfrm>
            <a:off x="1268922" y="5301224"/>
            <a:ext cx="2423496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오산아파트 </a:t>
            </a:r>
            <a:r>
              <a:rPr lang="en-US" altLang="ko-KR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101</a:t>
            </a:r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 </a:t>
            </a:r>
            <a:r>
              <a:rPr lang="en-US" altLang="ko-KR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203</a:t>
            </a:r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BC24B322-6B90-8E47-F105-7A1401228532}"/>
              </a:ext>
            </a:extLst>
          </p:cNvPr>
          <p:cNvSpPr/>
          <p:nvPr/>
        </p:nvSpPr>
        <p:spPr>
          <a:xfrm>
            <a:off x="3751760" y="5093358"/>
            <a:ext cx="307777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60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기본주소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74A487F8-193C-F7AA-4922-EA7617ECB6F3}"/>
              </a:ext>
            </a:extLst>
          </p:cNvPr>
          <p:cNvSpPr/>
          <p:nvPr/>
        </p:nvSpPr>
        <p:spPr>
          <a:xfrm>
            <a:off x="3751760" y="5327057"/>
            <a:ext cx="307777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상세주소</a:t>
            </a:r>
          </a:p>
        </p:txBody>
      </p:sp>
      <p:pic>
        <p:nvPicPr>
          <p:cNvPr id="46" name="Picture 13">
            <a:extLst>
              <a:ext uri="{FF2B5EF4-FFF2-40B4-BE49-F238E27FC236}">
                <a16:creationId xmlns:a16="http://schemas.microsoft.com/office/drawing/2014/main" id="{60F7B10A-41DC-75B2-A59A-D6BA29DAF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5978" y="5755691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7" name="직사각형 46">
            <a:extLst>
              <a:ext uri="{FF2B5EF4-FFF2-40B4-BE49-F238E27FC236}">
                <a16:creationId xmlns:a16="http://schemas.microsoft.com/office/drawing/2014/main" id="{AF8A17C3-514A-B114-5DF8-72DE33717191}"/>
              </a:ext>
            </a:extLst>
          </p:cNvPr>
          <p:cNvSpPr/>
          <p:nvPr/>
        </p:nvSpPr>
        <p:spPr>
          <a:xfrm>
            <a:off x="1231654" y="5755955"/>
            <a:ext cx="684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국민은행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7C924F1F-0CE2-9CCE-E950-08934B50E9FF}"/>
              </a:ext>
            </a:extLst>
          </p:cNvPr>
          <p:cNvSpPr/>
          <p:nvPr/>
        </p:nvSpPr>
        <p:spPr>
          <a:xfrm>
            <a:off x="1236877" y="6224724"/>
            <a:ext cx="1584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r>
              <a:rPr lang="en-US" altLang="ko-KR" sz="7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123-12-1234567</a:t>
            </a:r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3C1816BA-8D0A-4DA3-D7AA-0F02E26C1D01}"/>
              </a:ext>
            </a:extLst>
          </p:cNvPr>
          <p:cNvGrpSpPr/>
          <p:nvPr/>
        </p:nvGrpSpPr>
        <p:grpSpPr>
          <a:xfrm>
            <a:off x="253943" y="3056821"/>
            <a:ext cx="1651953" cy="144463"/>
            <a:chOff x="2156839" y="1593629"/>
            <a:chExt cx="1651953" cy="144463"/>
          </a:xfrm>
        </p:grpSpPr>
        <p:sp>
          <p:nvSpPr>
            <p:cNvPr id="50" name="Rectangle 191">
              <a:extLst>
                <a:ext uri="{FF2B5EF4-FFF2-40B4-BE49-F238E27FC236}">
                  <a16:creationId xmlns:a16="http://schemas.microsoft.com/office/drawing/2014/main" id="{3F5E367D-1433-6D3E-8554-D575BED437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9984" y="1614297"/>
              <a:ext cx="1498808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latinLnBrk="0">
                <a:defRPr/>
              </a:pPr>
              <a:r>
                <a:rPr lang="ko-KR" altLang="en-US" sz="700" b="1" kern="0" dirty="0">
                  <a:solidFill>
                    <a:srgbClr val="000000"/>
                  </a:solidFill>
                </a:rPr>
                <a:t>개인정보 수집 및 활용에 동의합니다</a:t>
              </a:r>
              <a:r>
                <a:rPr lang="en-US" altLang="ko-KR" sz="700" b="1" kern="0" dirty="0">
                  <a:solidFill>
                    <a:srgbClr val="000000"/>
                  </a:solidFill>
                </a:rPr>
                <a:t>.</a:t>
              </a:r>
              <a:endParaRPr lang="ko-KR" altLang="en-US" sz="700" b="1" kern="0" dirty="0">
                <a:solidFill>
                  <a:srgbClr val="000000"/>
                </a:solidFill>
              </a:endParaRPr>
            </a:p>
          </p:txBody>
        </p:sp>
        <p:graphicFrame>
          <p:nvGraphicFramePr>
            <p:cNvPr id="51" name="개체 50">
              <a:extLst>
                <a:ext uri="{FF2B5EF4-FFF2-40B4-BE49-F238E27FC236}">
                  <a16:creationId xmlns:a16="http://schemas.microsoft.com/office/drawing/2014/main" id="{94ECB56A-1F20-141A-6B8C-4D3DA0E7EF1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96456381"/>
                </p:ext>
              </p:extLst>
            </p:nvPr>
          </p:nvGraphicFramePr>
          <p:xfrm>
            <a:off x="2156839" y="1593629"/>
            <a:ext cx="144462" cy="144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145435" imgH="145435" progId="Visio.Drawing.11">
                    <p:embed/>
                  </p:oleObj>
                </mc:Choice>
                <mc:Fallback>
                  <p:oleObj name="Visio" r:id="rId4" imgW="145435" imgH="145435" progId="Visio.Drawing.11">
                    <p:embed/>
                    <p:pic>
                      <p:nvPicPr>
                        <p:cNvPr id="67" name="개체 66">
                          <a:extLst>
                            <a:ext uri="{FF2B5EF4-FFF2-40B4-BE49-F238E27FC236}">
                              <a16:creationId xmlns:a16="http://schemas.microsoft.com/office/drawing/2014/main" id="{729B2406-DE6B-6706-D53F-95BC9628F49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56839" y="1593629"/>
                          <a:ext cx="144462" cy="1444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2" name="Rectangle 191">
            <a:extLst>
              <a:ext uri="{FF2B5EF4-FFF2-40B4-BE49-F238E27FC236}">
                <a16:creationId xmlns:a16="http://schemas.microsoft.com/office/drawing/2014/main" id="{F339ABCE-C11D-2545-958C-B3E718E603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7436" y="4391248"/>
            <a:ext cx="269304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학교명</a:t>
            </a:r>
          </a:p>
        </p:txBody>
      </p:sp>
      <p:sp>
        <p:nvSpPr>
          <p:cNvPr id="53" name="Rectangle 191">
            <a:extLst>
              <a:ext uri="{FF2B5EF4-FFF2-40B4-BE49-F238E27FC236}">
                <a16:creationId xmlns:a16="http://schemas.microsoft.com/office/drawing/2014/main" id="{401180F9-CD41-9098-C2DC-1789C9C34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0530" y="4391819"/>
            <a:ext cx="17953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학년</a:t>
            </a:r>
          </a:p>
        </p:txBody>
      </p:sp>
      <p:sp>
        <p:nvSpPr>
          <p:cNvPr id="54" name="Rectangle 191">
            <a:extLst>
              <a:ext uri="{FF2B5EF4-FFF2-40B4-BE49-F238E27FC236}">
                <a16:creationId xmlns:a16="http://schemas.microsoft.com/office/drawing/2014/main" id="{E8EDCA81-3F7D-D89E-75A2-ADE9E6FD5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5170" y="4391819"/>
            <a:ext cx="17953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전공</a:t>
            </a:r>
          </a:p>
        </p:txBody>
      </p:sp>
      <p:pic>
        <p:nvPicPr>
          <p:cNvPr id="55" name="Picture 13">
            <a:extLst>
              <a:ext uri="{FF2B5EF4-FFF2-40B4-BE49-F238E27FC236}">
                <a16:creationId xmlns:a16="http://schemas.microsoft.com/office/drawing/2014/main" id="{6F9033A0-97C3-6D41-B71F-B90A2CBD05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937" y="3693645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6" name="직사각형 55">
            <a:extLst>
              <a:ext uri="{FF2B5EF4-FFF2-40B4-BE49-F238E27FC236}">
                <a16:creationId xmlns:a16="http://schemas.microsoft.com/office/drawing/2014/main" id="{BEAF3258-9075-A7EC-7E33-EE46F0A54660}"/>
              </a:ext>
            </a:extLst>
          </p:cNvPr>
          <p:cNvSpPr/>
          <p:nvPr/>
        </p:nvSpPr>
        <p:spPr>
          <a:xfrm>
            <a:off x="1272813" y="3693909"/>
            <a:ext cx="245885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010</a:t>
            </a:r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BE99A6AC-DE2A-F546-F96C-D53533498628}"/>
              </a:ext>
            </a:extLst>
          </p:cNvPr>
          <p:cNvSpPr/>
          <p:nvPr/>
        </p:nvSpPr>
        <p:spPr>
          <a:xfrm>
            <a:off x="1774926" y="3693909"/>
            <a:ext cx="325136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1234</a:t>
            </a:r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80993699-D389-519A-50BD-C2012E5268B0}"/>
              </a:ext>
            </a:extLst>
          </p:cNvPr>
          <p:cNvSpPr/>
          <p:nvPr/>
        </p:nvSpPr>
        <p:spPr>
          <a:xfrm>
            <a:off x="1713829" y="3704097"/>
            <a:ext cx="36869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ko-KR" sz="700" dirty="0">
                <a:solidFill>
                  <a:prstClr val="black"/>
                </a:solidFill>
              </a:rPr>
              <a:t>-</a:t>
            </a:r>
            <a:endParaRPr lang="ko-KR" altLang="en-US" sz="700" dirty="0">
              <a:solidFill>
                <a:prstClr val="black"/>
              </a:solidFill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057223A3-8042-0FB6-3356-FE1FB80A7326}"/>
              </a:ext>
            </a:extLst>
          </p:cNvPr>
          <p:cNvSpPr/>
          <p:nvPr/>
        </p:nvSpPr>
        <p:spPr>
          <a:xfrm>
            <a:off x="2130766" y="3712048"/>
            <a:ext cx="36869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altLang="ko-KR" sz="700" dirty="0">
                <a:solidFill>
                  <a:prstClr val="black"/>
                </a:solidFill>
              </a:rPr>
              <a:t>-</a:t>
            </a:r>
            <a:endParaRPr lang="ko-KR" altLang="en-US" sz="700" dirty="0">
              <a:solidFill>
                <a:prstClr val="black"/>
              </a:solidFill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A3078886-4A8D-7DD3-FA33-6113362C6D3D}"/>
              </a:ext>
            </a:extLst>
          </p:cNvPr>
          <p:cNvSpPr/>
          <p:nvPr/>
        </p:nvSpPr>
        <p:spPr>
          <a:xfrm>
            <a:off x="2198339" y="3693909"/>
            <a:ext cx="325136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5678</a:t>
            </a:r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F9374F03-7339-085A-3AB5-D064A2DB6CCE}"/>
              </a:ext>
            </a:extLst>
          </p:cNvPr>
          <p:cNvSpPr/>
          <p:nvPr/>
        </p:nvSpPr>
        <p:spPr>
          <a:xfrm>
            <a:off x="1277436" y="3923324"/>
            <a:ext cx="595041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honggil12</a:t>
            </a:r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" name="Rectangle 191">
            <a:extLst>
              <a:ext uri="{FF2B5EF4-FFF2-40B4-BE49-F238E27FC236}">
                <a16:creationId xmlns:a16="http://schemas.microsoft.com/office/drawing/2014/main" id="{087E6E6C-27E7-4E6E-87FF-F1EDBF803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5028" y="3941463"/>
            <a:ext cx="7854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lvl="0" latinLnBrk="0">
              <a:defRPr/>
            </a:pPr>
            <a:r>
              <a:rPr kumimoji="0" lang="en-US" altLang="ko-KR" sz="7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@</a:t>
            </a:r>
            <a:endParaRPr kumimoji="0" lang="ko-KR" altLang="en-US" sz="7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7F29564D-4067-BC0A-B278-85D0CF991EC1}"/>
              </a:ext>
            </a:extLst>
          </p:cNvPr>
          <p:cNvSpPr/>
          <p:nvPr/>
        </p:nvSpPr>
        <p:spPr>
          <a:xfrm>
            <a:off x="3310761" y="3923421"/>
            <a:ext cx="649136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직접입력</a:t>
            </a:r>
          </a:p>
        </p:txBody>
      </p:sp>
      <p:pic>
        <p:nvPicPr>
          <p:cNvPr id="65" name="Picture 13">
            <a:extLst>
              <a:ext uri="{FF2B5EF4-FFF2-40B4-BE49-F238E27FC236}">
                <a16:creationId xmlns:a16="http://schemas.microsoft.com/office/drawing/2014/main" id="{532FAA47-4C59-81CC-052D-FC0F9E1456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3933" y="3924677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6" name="직사각형 65">
            <a:extLst>
              <a:ext uri="{FF2B5EF4-FFF2-40B4-BE49-F238E27FC236}">
                <a16:creationId xmlns:a16="http://schemas.microsoft.com/office/drawing/2014/main" id="{B0500FE9-8880-0249-7674-A0B6A200BB42}"/>
              </a:ext>
            </a:extLst>
          </p:cNvPr>
          <p:cNvSpPr/>
          <p:nvPr/>
        </p:nvSpPr>
        <p:spPr>
          <a:xfrm>
            <a:off x="2006213" y="3923324"/>
            <a:ext cx="1278601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70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naver.com</a:t>
            </a:r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0B6690A4-8616-E228-835C-420668F23452}"/>
              </a:ext>
            </a:extLst>
          </p:cNvPr>
          <p:cNvSpPr>
            <a:spLocks noChangeAspect="1"/>
          </p:cNvSpPr>
          <p:nvPr/>
        </p:nvSpPr>
        <p:spPr>
          <a:xfrm>
            <a:off x="200472" y="2367200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8" name="타원 67">
            <a:extLst>
              <a:ext uri="{FF2B5EF4-FFF2-40B4-BE49-F238E27FC236}">
                <a16:creationId xmlns:a16="http://schemas.microsoft.com/office/drawing/2014/main" id="{5488BD2B-FBC2-9F18-E4EB-0467A40B14CA}"/>
              </a:ext>
            </a:extLst>
          </p:cNvPr>
          <p:cNvSpPr>
            <a:spLocks noChangeAspect="1"/>
          </p:cNvSpPr>
          <p:nvPr/>
        </p:nvSpPr>
        <p:spPr>
          <a:xfrm>
            <a:off x="200472" y="3350166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id="{4B7CE7FA-1BDC-04C5-CD58-7DB314AD9FF0}"/>
              </a:ext>
            </a:extLst>
          </p:cNvPr>
          <p:cNvSpPr>
            <a:spLocks noChangeAspect="1"/>
          </p:cNvSpPr>
          <p:nvPr/>
        </p:nvSpPr>
        <p:spPr>
          <a:xfrm>
            <a:off x="200472" y="5645362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F2E223DE-9460-0473-761A-16511ACA59BD}"/>
              </a:ext>
            </a:extLst>
          </p:cNvPr>
          <p:cNvGrpSpPr/>
          <p:nvPr/>
        </p:nvGrpSpPr>
        <p:grpSpPr>
          <a:xfrm>
            <a:off x="1260923" y="4612932"/>
            <a:ext cx="3869183" cy="147301"/>
            <a:chOff x="1229119" y="4562220"/>
            <a:chExt cx="3869183" cy="147301"/>
          </a:xfrm>
        </p:grpSpPr>
        <p:sp>
          <p:nvSpPr>
            <p:cNvPr id="71" name="Rectangle 191">
              <a:extLst>
                <a:ext uri="{FF2B5EF4-FFF2-40B4-BE49-F238E27FC236}">
                  <a16:creationId xmlns:a16="http://schemas.microsoft.com/office/drawing/2014/main" id="{DEC4DC41-5AEA-2FA4-C101-9B694930AA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9419" y="4582009"/>
              <a:ext cx="1538883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공고일 기준 오산시 거주 확인 후 신청</a:t>
              </a:r>
            </a:p>
          </p:txBody>
        </p:sp>
        <p:grpSp>
          <p:nvGrpSpPr>
            <p:cNvPr id="72" name="그룹 71">
              <a:extLst>
                <a:ext uri="{FF2B5EF4-FFF2-40B4-BE49-F238E27FC236}">
                  <a16:creationId xmlns:a16="http://schemas.microsoft.com/office/drawing/2014/main" id="{CEC15E8D-EF0C-3567-EA4F-02094A331EDE}"/>
                </a:ext>
              </a:extLst>
            </p:cNvPr>
            <p:cNvGrpSpPr/>
            <p:nvPr/>
          </p:nvGrpSpPr>
          <p:grpSpPr>
            <a:xfrm>
              <a:off x="1588840" y="4563639"/>
              <a:ext cx="415981" cy="144462"/>
              <a:chOff x="2716253" y="2405617"/>
              <a:chExt cx="415981" cy="144462"/>
            </a:xfrm>
          </p:grpSpPr>
          <p:sp>
            <p:nvSpPr>
              <p:cNvPr id="83" name="Rectangle 191">
                <a:extLst>
                  <a:ext uri="{FF2B5EF4-FFF2-40B4-BE49-F238E27FC236}">
                    <a16:creationId xmlns:a16="http://schemas.microsoft.com/office/drawing/2014/main" id="{218E37E9-90B7-5DF1-DEB5-7B92E15C4C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62930" y="2423987"/>
                <a:ext cx="269304" cy="10772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EAEAEA"/>
                    </a:solidFill>
                  </a14:hiddenFill>
                </a:ext>
                <a:ext uri="{91240B29-F687-4F45-9708-019B960494DF}">
                  <a14:hiddenLine xmlns:a14="http://schemas.microsoft.com/office/drawing/2010/main" w="635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7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보호자</a:t>
                </a:r>
              </a:p>
            </p:txBody>
          </p:sp>
          <p:graphicFrame>
            <p:nvGraphicFramePr>
              <p:cNvPr id="152" name="개체 151">
                <a:extLst>
                  <a:ext uri="{FF2B5EF4-FFF2-40B4-BE49-F238E27FC236}">
                    <a16:creationId xmlns:a16="http://schemas.microsoft.com/office/drawing/2014/main" id="{2D29ECB1-6F8E-BE20-4BCE-CD76B78ABE0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716253" y="2405617"/>
              <a:ext cx="144462" cy="1444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Visio" r:id="rId6" imgW="145435" imgH="145435" progId="Visio.Drawing.11">
                      <p:embed/>
                    </p:oleObj>
                  </mc:Choice>
                  <mc:Fallback>
                    <p:oleObj name="Visio" r:id="rId6" imgW="145435" imgH="145435" progId="Visio.Drawing.11">
                      <p:embed/>
                      <p:pic>
                        <p:nvPicPr>
                          <p:cNvPr id="91" name="개체 90">
                            <a:extLst>
                              <a:ext uri="{FF2B5EF4-FFF2-40B4-BE49-F238E27FC236}">
                                <a16:creationId xmlns:a16="http://schemas.microsoft.com/office/drawing/2014/main" id="{9C147DE0-EF04-649B-0042-315BA4D28194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16253" y="2405617"/>
                            <a:ext cx="144462" cy="1444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EAEAEA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6350" algn="ctr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73" name="그룹 72">
              <a:extLst>
                <a:ext uri="{FF2B5EF4-FFF2-40B4-BE49-F238E27FC236}">
                  <a16:creationId xmlns:a16="http://schemas.microsoft.com/office/drawing/2014/main" id="{10A83A34-7E27-EFA4-CDDF-CB1CAF09BE27}"/>
                </a:ext>
              </a:extLst>
            </p:cNvPr>
            <p:cNvGrpSpPr/>
            <p:nvPr/>
          </p:nvGrpSpPr>
          <p:grpSpPr>
            <a:xfrm>
              <a:off x="1229119" y="4563639"/>
              <a:ext cx="326896" cy="144463"/>
              <a:chOff x="2864768" y="2513669"/>
              <a:chExt cx="326896" cy="144463"/>
            </a:xfrm>
          </p:grpSpPr>
          <p:sp>
            <p:nvSpPr>
              <p:cNvPr id="81" name="Rectangle 191">
                <a:extLst>
                  <a:ext uri="{FF2B5EF4-FFF2-40B4-BE49-F238E27FC236}">
                    <a16:creationId xmlns:a16="http://schemas.microsoft.com/office/drawing/2014/main" id="{9C0C2CA3-98F2-F675-3D6B-F12E65ED68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12128" y="2526153"/>
                <a:ext cx="179536" cy="10772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EAEAEA"/>
                    </a:solidFill>
                  </a14:hiddenFill>
                </a:ext>
                <a:ext uri="{91240B29-F687-4F45-9708-019B960494DF}">
                  <a14:hiddenLine xmlns:a14="http://schemas.microsoft.com/office/drawing/2010/main" w="635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7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본인</a:t>
                </a:r>
              </a:p>
            </p:txBody>
          </p:sp>
          <p:graphicFrame>
            <p:nvGraphicFramePr>
              <p:cNvPr id="82" name="개체 81">
                <a:extLst>
                  <a:ext uri="{FF2B5EF4-FFF2-40B4-BE49-F238E27FC236}">
                    <a16:creationId xmlns:a16="http://schemas.microsoft.com/office/drawing/2014/main" id="{C2571CFA-D73F-7D85-D4BC-A24A310886B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41955232"/>
                  </p:ext>
                </p:extLst>
              </p:nvPr>
            </p:nvGraphicFramePr>
            <p:xfrm>
              <a:off x="2864768" y="2513669"/>
              <a:ext cx="144462" cy="1444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Visio" r:id="rId8" imgW="145435" imgH="145435" progId="Visio.Drawing.11">
                      <p:embed/>
                    </p:oleObj>
                  </mc:Choice>
                  <mc:Fallback>
                    <p:oleObj name="Visio" r:id="rId8" imgW="145435" imgH="145435" progId="Visio.Drawing.11">
                      <p:embed/>
                      <p:pic>
                        <p:nvPicPr>
                          <p:cNvPr id="89" name="개체 88">
                            <a:extLst>
                              <a:ext uri="{FF2B5EF4-FFF2-40B4-BE49-F238E27FC236}">
                                <a16:creationId xmlns:a16="http://schemas.microsoft.com/office/drawing/2014/main" id="{C3B82577-896F-78A1-14B6-C5E2AE1D4AEE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64768" y="2513669"/>
                            <a:ext cx="144462" cy="14446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EAEAEA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6350" algn="ctr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pic>
          <p:nvPicPr>
            <p:cNvPr id="75" name="Picture 13">
              <a:extLst>
                <a:ext uri="{FF2B5EF4-FFF2-40B4-BE49-F238E27FC236}">
                  <a16:creationId xmlns:a16="http://schemas.microsoft.com/office/drawing/2014/main" id="{18B49EBA-9723-AB00-C1CF-4D25F3B0D4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09851" y="4562220"/>
              <a:ext cx="154667" cy="147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B361D68A-F265-BFF0-C5D8-382003E7B8EA}"/>
                </a:ext>
              </a:extLst>
            </p:cNvPr>
            <p:cNvSpPr/>
            <p:nvPr/>
          </p:nvSpPr>
          <p:spPr>
            <a:xfrm>
              <a:off x="2049961" y="4563870"/>
              <a:ext cx="35765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prstClr val="black">
                      <a:lumMod val="95000"/>
                      <a:lumOff val="5000"/>
                    </a:prstClr>
                  </a:solidFill>
                </a:rPr>
                <a:t>2008</a:t>
              </a:r>
              <a:r>
                <a:rPr lang="ko-KR" altLang="en-US" sz="700" dirty="0">
                  <a:solidFill>
                    <a:prstClr val="black">
                      <a:lumMod val="95000"/>
                      <a:lumOff val="5000"/>
                    </a:prstClr>
                  </a:solidFill>
                </a:rPr>
                <a:t>년</a:t>
              </a:r>
            </a:p>
          </p:txBody>
        </p:sp>
        <p:pic>
          <p:nvPicPr>
            <p:cNvPr id="77" name="Picture 13">
              <a:extLst>
                <a:ext uri="{FF2B5EF4-FFF2-40B4-BE49-F238E27FC236}">
                  <a16:creationId xmlns:a16="http://schemas.microsoft.com/office/drawing/2014/main" id="{64C8A004-8896-F387-CAF1-6F6F8B469EA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0581" y="4562220"/>
              <a:ext cx="154667" cy="147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A6856771-F49C-5838-D7AA-B89377895799}"/>
                </a:ext>
              </a:extLst>
            </p:cNvPr>
            <p:cNvSpPr/>
            <p:nvPr/>
          </p:nvSpPr>
          <p:spPr>
            <a:xfrm>
              <a:off x="2575929" y="4563870"/>
              <a:ext cx="295578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prstClr val="black">
                      <a:lumMod val="95000"/>
                      <a:lumOff val="5000"/>
                    </a:prstClr>
                  </a:solidFill>
                </a:rPr>
                <a:t>01</a:t>
              </a:r>
              <a:r>
                <a:rPr lang="ko-KR" altLang="en-US" sz="700" dirty="0">
                  <a:solidFill>
                    <a:prstClr val="black">
                      <a:lumMod val="95000"/>
                      <a:lumOff val="5000"/>
                    </a:prstClr>
                  </a:solidFill>
                </a:rPr>
                <a:t>월</a:t>
              </a:r>
            </a:p>
          </p:txBody>
        </p:sp>
        <p:pic>
          <p:nvPicPr>
            <p:cNvPr id="79" name="Picture 13">
              <a:extLst>
                <a:ext uri="{FF2B5EF4-FFF2-40B4-BE49-F238E27FC236}">
                  <a16:creationId xmlns:a16="http://schemas.microsoft.com/office/drawing/2014/main" id="{54664A20-863F-25CA-894E-90583908E5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2434" y="4562220"/>
              <a:ext cx="154667" cy="147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4CFC4C62-15B7-FE32-04BE-643F3EFF9598}"/>
                </a:ext>
              </a:extLst>
            </p:cNvPr>
            <p:cNvSpPr/>
            <p:nvPr/>
          </p:nvSpPr>
          <p:spPr>
            <a:xfrm>
              <a:off x="3047782" y="4563870"/>
              <a:ext cx="295578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prstClr val="black">
                      <a:lumMod val="95000"/>
                      <a:lumOff val="5000"/>
                    </a:prstClr>
                  </a:solidFill>
                </a:rPr>
                <a:t>01</a:t>
              </a:r>
              <a:r>
                <a:rPr lang="ko-KR" altLang="en-US" sz="700" dirty="0">
                  <a:solidFill>
                    <a:prstClr val="black">
                      <a:lumMod val="95000"/>
                      <a:lumOff val="5000"/>
                    </a:prstClr>
                  </a:solidFill>
                </a:rPr>
                <a:t>일</a:t>
              </a:r>
            </a:p>
          </p:txBody>
        </p:sp>
      </p:grp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85ABAB7B-51A9-A3EA-DF54-2577D584F0D1}"/>
              </a:ext>
            </a:extLst>
          </p:cNvPr>
          <p:cNvSpPr/>
          <p:nvPr/>
        </p:nvSpPr>
        <p:spPr>
          <a:xfrm>
            <a:off x="253943" y="4586644"/>
            <a:ext cx="6535794" cy="21600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54" name="Picture 13">
            <a:extLst>
              <a:ext uri="{FF2B5EF4-FFF2-40B4-BE49-F238E27FC236}">
                <a16:creationId xmlns:a16="http://schemas.microsoft.com/office/drawing/2014/main" id="{43FB65E4-3D60-551D-EC66-0557CEF7D1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7943" y="4149902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BB996B3B-E192-B4D4-A571-7C19F3A5C4E1}"/>
              </a:ext>
            </a:extLst>
          </p:cNvPr>
          <p:cNvSpPr/>
          <p:nvPr/>
        </p:nvSpPr>
        <p:spPr>
          <a:xfrm>
            <a:off x="1277436" y="4150166"/>
            <a:ext cx="1423105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세종대공동캠퍼스행복기숙사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연합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id="{FD328733-C28D-AE77-5471-9623D49574A1}"/>
              </a:ext>
            </a:extLst>
          </p:cNvPr>
          <p:cNvSpPr/>
          <p:nvPr/>
        </p:nvSpPr>
        <p:spPr>
          <a:xfrm>
            <a:off x="253943" y="4126090"/>
            <a:ext cx="6535794" cy="21600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7" name="Rectangle 191">
            <a:extLst>
              <a:ext uri="{FF2B5EF4-FFF2-40B4-BE49-F238E27FC236}">
                <a16:creationId xmlns:a16="http://schemas.microsoft.com/office/drawing/2014/main" id="{C219748E-E4DA-D30A-BCAB-4D40B28226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1595" y="5553526"/>
            <a:ext cx="1622240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사립행복기숙사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신청자만 계좌정보 기재</a:t>
            </a:r>
          </a:p>
        </p:txBody>
      </p:sp>
    </p:spTree>
    <p:extLst>
      <p:ext uri="{BB962C8B-B14F-4D97-AF65-F5344CB8AC3E}">
        <p14:creationId xmlns:p14="http://schemas.microsoft.com/office/powerpoint/2010/main" val="194056241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5E79A-9EDB-2200-3D32-1183D9FF3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AE4286B-A5B1-C825-B649-94CEBF6EE94F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행복기숙사입사비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신청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F0855C1-E0DE-ABBF-B3C8-14029B99D606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프로그램신청관리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행복기숙사입사비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신청</a:t>
            </a: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41591E4E-8973-788F-6081-DDD2B983E0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4939951"/>
              </p:ext>
            </p:extLst>
          </p:nvPr>
        </p:nvGraphicFramePr>
        <p:xfrm>
          <a:off x="6969418" y="2548005"/>
          <a:ext cx="2772114" cy="3089520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구분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행복기숙사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입사비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표시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제목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회원이 신청한 공고의 제목을 표시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접수기간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회원이 신청한 공고의 접수기간을 표시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주민등록초본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제출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] : 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제출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클릭 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제출 서류 파일 선택 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첨부완료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받기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클릭 시 첨부된 제출 서류 파일 다운로드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가족관계증명서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제출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] : 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제출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클릭 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제출 서류 파일 선택 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첨부완료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받기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클릭 시 첨부된 제출 서류 파일 다운로드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재학증명서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제출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] : 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제출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클릭 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제출 서류 파일 선택 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첨부완료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받기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클릭 시 첨부된 제출 서류 파일 다운로드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건강보험자격득실확인서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제출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] : 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제출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클릭 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제출 서류 파일 선택 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첨부완료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받기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클릭 시 첨부된 제출 서류 파일 다운로드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서약서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첨부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: 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제출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클릭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제출 서류 파일 선택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첨부완료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받기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클릭 시 첨부된 제출 서류 파일 다운로드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양식받기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클릭 시 서약서 양식 파일을 다운 받는다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CDFB3C21-1014-CFFD-79C7-543BE7FAD3DC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pad_application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F45166F-FF98-A4FF-6C4A-799506043578}"/>
              </a:ext>
            </a:extLst>
          </p:cNvPr>
          <p:cNvSpPr/>
          <p:nvPr/>
        </p:nvSpPr>
        <p:spPr>
          <a:xfrm>
            <a:off x="165100" y="1376363"/>
            <a:ext cx="6732116" cy="460414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7A70FB6-9148-BE2D-9E8B-FA7C93B70D01}"/>
              </a:ext>
            </a:extLst>
          </p:cNvPr>
          <p:cNvSpPr/>
          <p:nvPr/>
        </p:nvSpPr>
        <p:spPr>
          <a:xfrm>
            <a:off x="292846" y="1448780"/>
            <a:ext cx="1304844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800" b="1" dirty="0" err="1">
                <a:solidFill>
                  <a:prstClr val="black"/>
                </a:solidFill>
              </a:rPr>
              <a:t>행복기숙사</a:t>
            </a:r>
            <a:r>
              <a:rPr lang="ko-KR" altLang="en-US" sz="800" b="1" dirty="0">
                <a:solidFill>
                  <a:prstClr val="black"/>
                </a:solidFill>
              </a:rPr>
              <a:t> </a:t>
            </a:r>
            <a:r>
              <a:rPr lang="ko-KR" altLang="en-US" sz="800" b="1" dirty="0" err="1">
                <a:solidFill>
                  <a:prstClr val="black"/>
                </a:solidFill>
              </a:rPr>
              <a:t>입사비</a:t>
            </a:r>
            <a:r>
              <a:rPr lang="ko-KR" altLang="en-US" sz="800" b="1" dirty="0">
                <a:solidFill>
                  <a:prstClr val="black"/>
                </a:solidFill>
              </a:rPr>
              <a:t> 신청정보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807C929-C21B-6E48-DFB9-9CD321FC046A}"/>
              </a:ext>
            </a:extLst>
          </p:cNvPr>
          <p:cNvSpPr/>
          <p:nvPr/>
        </p:nvSpPr>
        <p:spPr>
          <a:xfrm>
            <a:off x="165100" y="6023481"/>
            <a:ext cx="6732116" cy="46622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C01478D3-FD27-62BA-2153-599BEC9808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6165304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8CE667A-21C6-F410-69CC-3CAAC1B9600B}"/>
              </a:ext>
            </a:extLst>
          </p:cNvPr>
          <p:cNvSpPr txBox="1"/>
          <p:nvPr/>
        </p:nvSpPr>
        <p:spPr>
          <a:xfrm>
            <a:off x="1172580" y="6077394"/>
            <a:ext cx="31242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경기 오산시 성호대로 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141 (</a:t>
            </a:r>
            <a:r>
              <a:rPr lang="ko-KR" altLang="en-US" sz="600" b="0" i="0" dirty="0" err="1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오산동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오산시청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오산교육재단</a:t>
            </a:r>
            <a:endParaRPr lang="en-US" altLang="ko-KR" sz="600" b="0" i="0" dirty="0">
              <a:solidFill>
                <a:srgbClr val="666666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>
              <a:buNone/>
            </a:pP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TEL. (031)8036-8905 FAX. (031)8036-8905</a:t>
            </a:r>
          </a:p>
          <a:p>
            <a:pPr algn="l">
              <a:buNone/>
            </a:pP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Copyright©2025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오산교육재단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 ALL RIGHTSRESERVED</a:t>
            </a:r>
          </a:p>
        </p:txBody>
      </p: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4751BF8F-EC43-4AC0-5571-08C65911C5E2}"/>
              </a:ext>
            </a:extLst>
          </p:cNvPr>
          <p:cNvSpPr/>
          <p:nvPr/>
        </p:nvSpPr>
        <p:spPr>
          <a:xfrm>
            <a:off x="6397011" y="4599152"/>
            <a:ext cx="392727" cy="19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목록</a:t>
            </a:r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2D9D851C-D43F-0C49-3BA8-A67F394B307E}"/>
              </a:ext>
            </a:extLst>
          </p:cNvPr>
          <p:cNvSpPr/>
          <p:nvPr/>
        </p:nvSpPr>
        <p:spPr>
          <a:xfrm>
            <a:off x="5936915" y="4599152"/>
            <a:ext cx="392727" cy="198000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신청</a:t>
            </a: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2CC9B8C0-E859-D239-4E1F-E943F59A9526}"/>
              </a:ext>
            </a:extLst>
          </p:cNvPr>
          <p:cNvSpPr>
            <a:spLocks noChangeAspect="1"/>
          </p:cNvSpPr>
          <p:nvPr/>
        </p:nvSpPr>
        <p:spPr>
          <a:xfrm>
            <a:off x="5773339" y="4629846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0F473D4-BB43-3729-BA5C-67F3CC6B97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8923286"/>
              </p:ext>
            </p:extLst>
          </p:nvPr>
        </p:nvGraphicFramePr>
        <p:xfrm>
          <a:off x="269272" y="1628406"/>
          <a:ext cx="6517257" cy="28504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87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685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4735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구분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행복기숙사 입사비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894265"/>
                  </a:ext>
                </a:extLst>
              </a:tr>
              <a:tr h="234735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</a:t>
                      </a:r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하반기 행복기숙사 입사비 신청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735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접수기간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2025.09.20 10:00 </a:t>
                      </a:r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~ 2025.09.30 10:00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4735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주민등록초본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8780625"/>
                  </a:ext>
                </a:extLst>
              </a:tr>
              <a:tr h="356266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가족관계증명서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재학증명서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0061422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건강보험자격득실확인서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1754730"/>
                  </a:ext>
                </a:extLst>
              </a:tr>
              <a:tr h="234735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서약서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1334131"/>
                  </a:ext>
                </a:extLst>
              </a:tr>
              <a:tr h="36566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기타 및 추가서류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594525"/>
                  </a:ext>
                </a:extLst>
              </a:tr>
              <a:tr h="234735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7124804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8F44322C-C687-7061-6868-5EB44FB7CBC5}"/>
              </a:ext>
            </a:extLst>
          </p:cNvPr>
          <p:cNvSpPr/>
          <p:nvPr/>
        </p:nvSpPr>
        <p:spPr>
          <a:xfrm>
            <a:off x="1444710" y="2370246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주민등록초본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8F52976-1274-7A79-745E-9CA139B9C930}"/>
              </a:ext>
            </a:extLst>
          </p:cNvPr>
          <p:cNvSpPr/>
          <p:nvPr/>
        </p:nvSpPr>
        <p:spPr>
          <a:xfrm>
            <a:off x="3097708" y="2370238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02F1C52-9001-C038-078D-046F69A882D4}"/>
              </a:ext>
            </a:extLst>
          </p:cNvPr>
          <p:cNvSpPr/>
          <p:nvPr/>
        </p:nvSpPr>
        <p:spPr>
          <a:xfrm>
            <a:off x="3409617" y="2370238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D9C7A30-8176-F9A7-C764-E10F087AEB98}"/>
              </a:ext>
            </a:extLst>
          </p:cNvPr>
          <p:cNvSpPr/>
          <p:nvPr/>
        </p:nvSpPr>
        <p:spPr>
          <a:xfrm>
            <a:off x="1444710" y="2600916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가족관계증명서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B2DBB6B-F551-075E-CF55-7ACD02BA321C}"/>
              </a:ext>
            </a:extLst>
          </p:cNvPr>
          <p:cNvSpPr/>
          <p:nvPr/>
        </p:nvSpPr>
        <p:spPr>
          <a:xfrm>
            <a:off x="3097708" y="2600908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3DF36FE-E339-E742-FB9C-F75D3515442D}"/>
              </a:ext>
            </a:extLst>
          </p:cNvPr>
          <p:cNvSpPr/>
          <p:nvPr/>
        </p:nvSpPr>
        <p:spPr>
          <a:xfrm>
            <a:off x="3409617" y="2600908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</a:p>
        </p:txBody>
      </p:sp>
      <p:sp>
        <p:nvSpPr>
          <p:cNvPr id="18" name="Rectangle 191">
            <a:extLst>
              <a:ext uri="{FF2B5EF4-FFF2-40B4-BE49-F238E27FC236}">
                <a16:creationId xmlns:a16="http://schemas.microsoft.com/office/drawing/2014/main" id="{09A60DD3-B3D7-A816-21C4-0C4A1C36BB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4411" y="2798560"/>
            <a:ext cx="1933223" cy="92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보호자 주민등록초본 제출 시 가족관계증명서 제출 필수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450A0B8-9EED-17EF-70CC-6597CAAD960B}"/>
              </a:ext>
            </a:extLst>
          </p:cNvPr>
          <p:cNvSpPr/>
          <p:nvPr/>
        </p:nvSpPr>
        <p:spPr>
          <a:xfrm>
            <a:off x="1444710" y="2960956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재학증명서</a:t>
            </a:r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D83701F-4CE3-C612-A613-5438E5EDAD1E}"/>
              </a:ext>
            </a:extLst>
          </p:cNvPr>
          <p:cNvSpPr/>
          <p:nvPr/>
        </p:nvSpPr>
        <p:spPr>
          <a:xfrm>
            <a:off x="3097708" y="2960948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C0A979F-66EC-1196-9B87-0B3623009940}"/>
              </a:ext>
            </a:extLst>
          </p:cNvPr>
          <p:cNvSpPr/>
          <p:nvPr/>
        </p:nvSpPr>
        <p:spPr>
          <a:xfrm>
            <a:off x="3409617" y="2960948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Rectangle 191">
            <a:extLst>
              <a:ext uri="{FF2B5EF4-FFF2-40B4-BE49-F238E27FC236}">
                <a16:creationId xmlns:a16="http://schemas.microsoft.com/office/drawing/2014/main" id="{975C727D-A3D1-11CD-D147-EF84232EBC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4411" y="3154768"/>
            <a:ext cx="3835987" cy="92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6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신입생의 경우 합격증명서</a:t>
            </a:r>
            <a:r>
              <a:rPr lang="en-US" altLang="ko-KR" sz="6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6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합격통지서</a:t>
            </a:r>
            <a:r>
              <a:rPr lang="en-US" altLang="ko-KR" sz="6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6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또는 대학지원수험표</a:t>
            </a:r>
            <a:r>
              <a:rPr lang="en-US" altLang="ko-KR" sz="6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6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휴학</a:t>
            </a:r>
            <a:r>
              <a:rPr lang="en-US" altLang="ko-KR" sz="6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6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졸업 유예</a:t>
            </a:r>
            <a:r>
              <a:rPr lang="en-US" altLang="ko-KR" sz="6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6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졸업의 경우 해당하는 증명서 제출</a:t>
            </a:r>
            <a:endParaRPr kumimoji="0" lang="ko-KR" altLang="en-US" sz="6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7F4D9E4-2D6C-D886-A503-8B833A3DD5DF}"/>
              </a:ext>
            </a:extLst>
          </p:cNvPr>
          <p:cNvSpPr/>
          <p:nvPr/>
        </p:nvSpPr>
        <p:spPr>
          <a:xfrm>
            <a:off x="1444710" y="3315293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건강보험자격득실확인서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3CDF2F0-9743-EB28-3945-DC64EA618AD6}"/>
              </a:ext>
            </a:extLst>
          </p:cNvPr>
          <p:cNvSpPr/>
          <p:nvPr/>
        </p:nvSpPr>
        <p:spPr>
          <a:xfrm>
            <a:off x="3097708" y="3315285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5595C99-7ABD-76F9-E747-392F550B21B3}"/>
              </a:ext>
            </a:extLst>
          </p:cNvPr>
          <p:cNvSpPr/>
          <p:nvPr/>
        </p:nvSpPr>
        <p:spPr>
          <a:xfrm>
            <a:off x="3409617" y="3315285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</a:p>
        </p:txBody>
      </p:sp>
      <p:sp>
        <p:nvSpPr>
          <p:cNvPr id="27" name="Rectangle 191">
            <a:extLst>
              <a:ext uri="{FF2B5EF4-FFF2-40B4-BE49-F238E27FC236}">
                <a16:creationId xmlns:a16="http://schemas.microsoft.com/office/drawing/2014/main" id="{D5A83138-7AF5-CD36-51A3-B1ACC3816D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4411" y="3512937"/>
            <a:ext cx="1981312" cy="92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취업준비생은 필수 제출</a:t>
            </a:r>
            <a:r>
              <a:rPr kumimoji="0" lang="en-US" altLang="ko-KR" sz="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단기 근로 경우 근로계약서 제출</a:t>
            </a:r>
            <a:r>
              <a:rPr kumimoji="0" lang="en-US" altLang="ko-KR" sz="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0" lang="ko-KR" altLang="en-US" sz="6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FA7EB40C-BD48-4A34-7B4D-453598BBE25A}"/>
              </a:ext>
            </a:extLst>
          </p:cNvPr>
          <p:cNvGrpSpPr/>
          <p:nvPr/>
        </p:nvGrpSpPr>
        <p:grpSpPr>
          <a:xfrm>
            <a:off x="1444710" y="3686385"/>
            <a:ext cx="2702354" cy="144016"/>
            <a:chOff x="3327015" y="1986936"/>
            <a:chExt cx="2702354" cy="144016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3986B051-80B6-CE92-2FAD-047FB8FEFDF5}"/>
                </a:ext>
              </a:extLst>
            </p:cNvPr>
            <p:cNvSpPr/>
            <p:nvPr/>
          </p:nvSpPr>
          <p:spPr>
            <a:xfrm>
              <a:off x="3327015" y="1986944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서약서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FB1951FA-5EF7-1D7E-FA0F-AFB62352A163}"/>
                </a:ext>
              </a:extLst>
            </p:cNvPr>
            <p:cNvSpPr/>
            <p:nvPr/>
          </p:nvSpPr>
          <p:spPr>
            <a:xfrm>
              <a:off x="4980013" y="1986936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제출</a:t>
              </a: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3AC51F1A-FD48-1C13-21B4-EB78F66540CD}"/>
                </a:ext>
              </a:extLst>
            </p:cNvPr>
            <p:cNvSpPr/>
            <p:nvPr/>
          </p:nvSpPr>
          <p:spPr>
            <a:xfrm>
              <a:off x="5288523" y="1986936"/>
              <a:ext cx="264174" cy="144016"/>
            </a:xfrm>
            <a:prstGeom prst="rect">
              <a:avLst/>
            </a:prstGeom>
            <a:solidFill>
              <a:srgbClr val="66FF66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98D4893E-582F-B594-E45F-B74C85C0CBAE}"/>
                </a:ext>
              </a:extLst>
            </p:cNvPr>
            <p:cNvSpPr/>
            <p:nvPr/>
          </p:nvSpPr>
          <p:spPr>
            <a:xfrm>
              <a:off x="5603914" y="1986936"/>
              <a:ext cx="425455" cy="14401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양식받기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5DD1D2D-18FA-03A8-6814-20339DAD46E6}"/>
              </a:ext>
            </a:extLst>
          </p:cNvPr>
          <p:cNvSpPr/>
          <p:nvPr/>
        </p:nvSpPr>
        <p:spPr>
          <a:xfrm>
            <a:off x="1444710" y="3911410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기타추가서류</a:t>
            </a:r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.zip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1DB224E-9464-2537-8234-654938C0452E}"/>
              </a:ext>
            </a:extLst>
          </p:cNvPr>
          <p:cNvSpPr/>
          <p:nvPr/>
        </p:nvSpPr>
        <p:spPr>
          <a:xfrm>
            <a:off x="3097708" y="3911402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추가</a:t>
            </a:r>
          </a:p>
        </p:txBody>
      </p:sp>
      <p:sp>
        <p:nvSpPr>
          <p:cNvPr id="36" name="Rectangle 191">
            <a:extLst>
              <a:ext uri="{FF2B5EF4-FFF2-40B4-BE49-F238E27FC236}">
                <a16:creationId xmlns:a16="http://schemas.microsoft.com/office/drawing/2014/main" id="{A7E22A69-7FA0-F7CA-17C1-BE112DC864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4411" y="4108949"/>
            <a:ext cx="2172069" cy="92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기숙사 거주증명서</a:t>
            </a:r>
            <a:r>
              <a:rPr kumimoji="0" lang="en-US" altLang="ko-KR" sz="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기숙사 납입증명서</a:t>
            </a:r>
            <a:r>
              <a:rPr kumimoji="0" lang="en-US" altLang="ko-KR" sz="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건강보험납입증명서 등</a:t>
            </a: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0262C502-0A3F-BAAC-6BED-EFA70A087AB1}"/>
              </a:ext>
            </a:extLst>
          </p:cNvPr>
          <p:cNvGrpSpPr/>
          <p:nvPr/>
        </p:nvGrpSpPr>
        <p:grpSpPr>
          <a:xfrm>
            <a:off x="1456460" y="4301121"/>
            <a:ext cx="1105196" cy="128396"/>
            <a:chOff x="3438680" y="4305150"/>
            <a:chExt cx="1105196" cy="128396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594F541-CD30-4231-6912-005E5438D337}"/>
                </a:ext>
              </a:extLst>
            </p:cNvPr>
            <p:cNvSpPr txBox="1"/>
            <p:nvPr/>
          </p:nvSpPr>
          <p:spPr>
            <a:xfrm>
              <a:off x="3438680" y="4305150"/>
              <a:ext cx="971420" cy="10772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신청 관련 부가 서류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39" name="Picture 10">
              <a:extLst>
                <a:ext uri="{FF2B5EF4-FFF2-40B4-BE49-F238E27FC236}">
                  <a16:creationId xmlns:a16="http://schemas.microsoft.com/office/drawing/2014/main" id="{1B690668-F0E1-4ACC-4BF0-01B39816F5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7418" y="4312303"/>
              <a:ext cx="106458" cy="121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0A62E17F-EDD0-1BFA-A3F0-4232E2928EC2}"/>
              </a:ext>
            </a:extLst>
          </p:cNvPr>
          <p:cNvGrpSpPr/>
          <p:nvPr/>
        </p:nvGrpSpPr>
        <p:grpSpPr>
          <a:xfrm>
            <a:off x="2642873" y="4301121"/>
            <a:ext cx="1105196" cy="128396"/>
            <a:chOff x="3438680" y="4305150"/>
            <a:chExt cx="1105196" cy="128396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C95BEC8-34AE-42F3-9A12-440F3B73630C}"/>
                </a:ext>
              </a:extLst>
            </p:cNvPr>
            <p:cNvSpPr txBox="1"/>
            <p:nvPr/>
          </p:nvSpPr>
          <p:spPr>
            <a:xfrm>
              <a:off x="3438680" y="4305150"/>
              <a:ext cx="971420" cy="10772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신청 관련 부가 서류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42" name="Picture 10">
              <a:extLst>
                <a:ext uri="{FF2B5EF4-FFF2-40B4-BE49-F238E27FC236}">
                  <a16:creationId xmlns:a16="http://schemas.microsoft.com/office/drawing/2014/main" id="{ADC04FB1-D16A-921F-43CC-FB60F05D17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7418" y="4312303"/>
              <a:ext cx="106458" cy="121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43" name="타원 42">
            <a:extLst>
              <a:ext uri="{FF2B5EF4-FFF2-40B4-BE49-F238E27FC236}">
                <a16:creationId xmlns:a16="http://schemas.microsoft.com/office/drawing/2014/main" id="{81C6169F-0AB0-6E5B-E6AA-F4098EB8CFEC}"/>
              </a:ext>
            </a:extLst>
          </p:cNvPr>
          <p:cNvSpPr>
            <a:spLocks noChangeAspect="1"/>
          </p:cNvSpPr>
          <p:nvPr/>
        </p:nvSpPr>
        <p:spPr>
          <a:xfrm>
            <a:off x="200472" y="1550951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F0A91DF2-CAEE-E633-9322-EDB699CEC768}"/>
              </a:ext>
            </a:extLst>
          </p:cNvPr>
          <p:cNvSpPr/>
          <p:nvPr/>
        </p:nvSpPr>
        <p:spPr>
          <a:xfrm>
            <a:off x="268381" y="2338976"/>
            <a:ext cx="6517256" cy="2139849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6619471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005ED-B199-68FB-2119-4E130912E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816C99B-1BB7-3344-E0AB-34BD508936B3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행복기숙사입사비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신청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9BBD01F-8386-3516-D0FC-0342C871E2CD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프로그램신청관리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행복기숙사입사비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신청</a:t>
            </a: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43B243AD-D6C1-DC82-1AB3-3BEDA8D18A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3397637"/>
              </p:ext>
            </p:extLst>
          </p:nvPr>
        </p:nvGraphicFramePr>
        <p:xfrm>
          <a:off x="6969418" y="2548005"/>
          <a:ext cx="2772114" cy="966960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기타 및 추가서류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추가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클릭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첨부파일 선택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첨부 설정완료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[x]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anose="020B0503020000020004" pitchFamily="50" charset="-127"/>
                          <a:cs typeface="+mn-cs"/>
                        </a:rPr>
                        <a:t>클릭 시 해당 첨부된 파일 삭제 처리 된다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저장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} 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신청정보 설정 후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저장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]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을 클릭 하면 수정이 완료 된다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.</a:t>
                      </a: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닫기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] 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클릭 시 신청정보 수정이 취소 되며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팝업창이 닫힌다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.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6FC47DC2-8B0E-432F-9A0C-382C8F91CC85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pad_application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DAAA289-378A-3503-7386-F0702EA5C5AC}"/>
              </a:ext>
            </a:extLst>
          </p:cNvPr>
          <p:cNvSpPr/>
          <p:nvPr/>
        </p:nvSpPr>
        <p:spPr>
          <a:xfrm>
            <a:off x="165100" y="1376363"/>
            <a:ext cx="6732116" cy="460414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3611C00-9BA0-F738-D5A4-C64AC05C6703}"/>
              </a:ext>
            </a:extLst>
          </p:cNvPr>
          <p:cNvSpPr/>
          <p:nvPr/>
        </p:nvSpPr>
        <p:spPr>
          <a:xfrm>
            <a:off x="292846" y="1448780"/>
            <a:ext cx="1304844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800" b="1" dirty="0" err="1">
                <a:solidFill>
                  <a:prstClr val="black"/>
                </a:solidFill>
              </a:rPr>
              <a:t>행복기숙사</a:t>
            </a:r>
            <a:r>
              <a:rPr lang="ko-KR" altLang="en-US" sz="800" b="1" dirty="0">
                <a:solidFill>
                  <a:prstClr val="black"/>
                </a:solidFill>
              </a:rPr>
              <a:t> </a:t>
            </a:r>
            <a:r>
              <a:rPr lang="ko-KR" altLang="en-US" sz="800" b="1" dirty="0" err="1">
                <a:solidFill>
                  <a:prstClr val="black"/>
                </a:solidFill>
              </a:rPr>
              <a:t>입사비</a:t>
            </a:r>
            <a:r>
              <a:rPr lang="ko-KR" altLang="en-US" sz="800" b="1" dirty="0">
                <a:solidFill>
                  <a:prstClr val="black"/>
                </a:solidFill>
              </a:rPr>
              <a:t> 신청정보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670BA50-1AA8-C26E-B1C4-A8275603B1AE}"/>
              </a:ext>
            </a:extLst>
          </p:cNvPr>
          <p:cNvSpPr/>
          <p:nvPr/>
        </p:nvSpPr>
        <p:spPr>
          <a:xfrm>
            <a:off x="165100" y="6023481"/>
            <a:ext cx="6732116" cy="46622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15998A76-DBF5-FCA5-D7C2-CE7F78799A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6165304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1F71111-D057-1961-120F-E79BA358DC7F}"/>
              </a:ext>
            </a:extLst>
          </p:cNvPr>
          <p:cNvSpPr txBox="1"/>
          <p:nvPr/>
        </p:nvSpPr>
        <p:spPr>
          <a:xfrm>
            <a:off x="1172580" y="6077394"/>
            <a:ext cx="31242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경기 오산시 성호대로 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141 (</a:t>
            </a:r>
            <a:r>
              <a:rPr lang="ko-KR" altLang="en-US" sz="600" b="0" i="0" dirty="0" err="1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오산동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오산시청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오산교육재단</a:t>
            </a:r>
            <a:endParaRPr lang="en-US" altLang="ko-KR" sz="600" b="0" i="0" dirty="0">
              <a:solidFill>
                <a:srgbClr val="666666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>
              <a:buNone/>
            </a:pP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TEL. (031)8036-8905 FAX. (031)8036-8905</a:t>
            </a:r>
          </a:p>
          <a:p>
            <a:pPr algn="l">
              <a:buNone/>
            </a:pP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Copyright©2025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오산교육재단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 ALL RIGHTSRESERVED</a:t>
            </a:r>
          </a:p>
        </p:txBody>
      </p: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1EC7A0B6-F984-09FD-1BEA-3AD59ECBA8F2}"/>
              </a:ext>
            </a:extLst>
          </p:cNvPr>
          <p:cNvSpPr/>
          <p:nvPr/>
        </p:nvSpPr>
        <p:spPr>
          <a:xfrm>
            <a:off x="6397011" y="4599152"/>
            <a:ext cx="392727" cy="19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목록</a:t>
            </a:r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9559C539-C0DE-7DF5-FF70-02FC0D1739DD}"/>
              </a:ext>
            </a:extLst>
          </p:cNvPr>
          <p:cNvSpPr/>
          <p:nvPr/>
        </p:nvSpPr>
        <p:spPr>
          <a:xfrm>
            <a:off x="5936915" y="4599152"/>
            <a:ext cx="392727" cy="198000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신청</a:t>
            </a: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B5DE2FB2-E2E3-6EC1-B5CF-764E5177EE5E}"/>
              </a:ext>
            </a:extLst>
          </p:cNvPr>
          <p:cNvSpPr>
            <a:spLocks noChangeAspect="1"/>
          </p:cNvSpPr>
          <p:nvPr/>
        </p:nvSpPr>
        <p:spPr>
          <a:xfrm>
            <a:off x="5773339" y="4629846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5538C5F4-F36C-87C2-B9E5-EA7F074AC46A}"/>
              </a:ext>
            </a:extLst>
          </p:cNvPr>
          <p:cNvGraphicFramePr>
            <a:graphicFrameLocks noGrp="1"/>
          </p:cNvGraphicFramePr>
          <p:nvPr/>
        </p:nvGraphicFramePr>
        <p:xfrm>
          <a:off x="269272" y="1628406"/>
          <a:ext cx="6517257" cy="28504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87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685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4735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구분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행복기숙사 입사비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894265"/>
                  </a:ext>
                </a:extLst>
              </a:tr>
              <a:tr h="234735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</a:t>
                      </a:r>
                      <a:r>
                        <a:rPr lang="ko-KR" altLang="en-US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하반기 행복기숙사 입사비 신청</a:t>
                      </a: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735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접수기간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2025.09.20 10:00 </a:t>
                      </a:r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~ 2025.09.30 10:00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4735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주민등록초본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8780625"/>
                  </a:ext>
                </a:extLst>
              </a:tr>
              <a:tr h="356266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가족관계증명서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재학증명서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0061422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건강보험자격득실확인서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1754730"/>
                  </a:ext>
                </a:extLst>
              </a:tr>
              <a:tr h="234735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서약서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1334131"/>
                  </a:ext>
                </a:extLst>
              </a:tr>
              <a:tr h="365663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기타 및 추가서류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594525"/>
                  </a:ext>
                </a:extLst>
              </a:tr>
              <a:tr h="234735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7124804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D6849B61-2B5B-DFB0-7C06-0982F3B0E093}"/>
              </a:ext>
            </a:extLst>
          </p:cNvPr>
          <p:cNvSpPr/>
          <p:nvPr/>
        </p:nvSpPr>
        <p:spPr>
          <a:xfrm>
            <a:off x="1444710" y="2370246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주민등록초본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F3D4D5F-3A35-31EB-F00B-987AF3859B4D}"/>
              </a:ext>
            </a:extLst>
          </p:cNvPr>
          <p:cNvSpPr/>
          <p:nvPr/>
        </p:nvSpPr>
        <p:spPr>
          <a:xfrm>
            <a:off x="3097708" y="2370238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1E18B68-A5AD-8DDF-E307-5F9A2CE361C0}"/>
              </a:ext>
            </a:extLst>
          </p:cNvPr>
          <p:cNvSpPr/>
          <p:nvPr/>
        </p:nvSpPr>
        <p:spPr>
          <a:xfrm>
            <a:off x="3409617" y="2370238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C428AB0-E4F4-8119-4F9F-1E8B6BC00A09}"/>
              </a:ext>
            </a:extLst>
          </p:cNvPr>
          <p:cNvSpPr/>
          <p:nvPr/>
        </p:nvSpPr>
        <p:spPr>
          <a:xfrm>
            <a:off x="1444710" y="2600916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가족관계증명서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6ED8059-4E9B-FEC5-FEFF-C235B3436EE3}"/>
              </a:ext>
            </a:extLst>
          </p:cNvPr>
          <p:cNvSpPr/>
          <p:nvPr/>
        </p:nvSpPr>
        <p:spPr>
          <a:xfrm>
            <a:off x="3097708" y="2600908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DA4332F-FB5C-FE8C-F802-ED95462EA3DB}"/>
              </a:ext>
            </a:extLst>
          </p:cNvPr>
          <p:cNvSpPr/>
          <p:nvPr/>
        </p:nvSpPr>
        <p:spPr>
          <a:xfrm>
            <a:off x="3409617" y="2600908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</a:p>
        </p:txBody>
      </p:sp>
      <p:sp>
        <p:nvSpPr>
          <p:cNvPr id="18" name="Rectangle 191">
            <a:extLst>
              <a:ext uri="{FF2B5EF4-FFF2-40B4-BE49-F238E27FC236}">
                <a16:creationId xmlns:a16="http://schemas.microsoft.com/office/drawing/2014/main" id="{43C48DB6-F12C-68EE-5C3C-66A4A13D03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4411" y="2798560"/>
            <a:ext cx="1933223" cy="92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보호자 주민등록초본 제출 시 가족관계증명서 제출 필수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15F9112-CA1D-2C9D-CB2F-9E43D7A0294C}"/>
              </a:ext>
            </a:extLst>
          </p:cNvPr>
          <p:cNvSpPr/>
          <p:nvPr/>
        </p:nvSpPr>
        <p:spPr>
          <a:xfrm>
            <a:off x="1444710" y="2960956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재학증명서</a:t>
            </a:r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A244C3E-464E-D88F-08F6-B9098535AE7A}"/>
              </a:ext>
            </a:extLst>
          </p:cNvPr>
          <p:cNvSpPr/>
          <p:nvPr/>
        </p:nvSpPr>
        <p:spPr>
          <a:xfrm>
            <a:off x="3097708" y="2960948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79299BE-85AD-2D7D-7C63-A8C34D9949EC}"/>
              </a:ext>
            </a:extLst>
          </p:cNvPr>
          <p:cNvSpPr/>
          <p:nvPr/>
        </p:nvSpPr>
        <p:spPr>
          <a:xfrm>
            <a:off x="3409617" y="2960948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Rectangle 191">
            <a:extLst>
              <a:ext uri="{FF2B5EF4-FFF2-40B4-BE49-F238E27FC236}">
                <a16:creationId xmlns:a16="http://schemas.microsoft.com/office/drawing/2014/main" id="{314CBE45-8C55-FA1F-48C5-C40142AD3C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4411" y="3154768"/>
            <a:ext cx="3835987" cy="92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6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신입생의 경우 합격증명서</a:t>
            </a:r>
            <a:r>
              <a:rPr lang="en-US" altLang="ko-KR" sz="6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6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합격통지서</a:t>
            </a:r>
            <a:r>
              <a:rPr lang="en-US" altLang="ko-KR" sz="6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6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또는 대학지원수험표</a:t>
            </a:r>
            <a:r>
              <a:rPr lang="en-US" altLang="ko-KR" sz="6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6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휴학</a:t>
            </a:r>
            <a:r>
              <a:rPr lang="en-US" altLang="ko-KR" sz="6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6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졸업 유예</a:t>
            </a:r>
            <a:r>
              <a:rPr lang="en-US" altLang="ko-KR" sz="6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6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졸업의 경우 해당하는 증명서 제출</a:t>
            </a:r>
            <a:endParaRPr kumimoji="0" lang="ko-KR" altLang="en-US" sz="6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520F651-40F6-0A21-7C59-EE6467CBAC98}"/>
              </a:ext>
            </a:extLst>
          </p:cNvPr>
          <p:cNvSpPr/>
          <p:nvPr/>
        </p:nvSpPr>
        <p:spPr>
          <a:xfrm>
            <a:off x="1444710" y="3315293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건강보험자격득실확인서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49650F4-CBCA-98DE-2408-BB1E1C231646}"/>
              </a:ext>
            </a:extLst>
          </p:cNvPr>
          <p:cNvSpPr/>
          <p:nvPr/>
        </p:nvSpPr>
        <p:spPr>
          <a:xfrm>
            <a:off x="3097708" y="3315285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104C907-1D44-EC65-7159-950BCEA989A9}"/>
              </a:ext>
            </a:extLst>
          </p:cNvPr>
          <p:cNvSpPr/>
          <p:nvPr/>
        </p:nvSpPr>
        <p:spPr>
          <a:xfrm>
            <a:off x="3409617" y="3315285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</a:p>
        </p:txBody>
      </p:sp>
      <p:sp>
        <p:nvSpPr>
          <p:cNvPr id="27" name="Rectangle 191">
            <a:extLst>
              <a:ext uri="{FF2B5EF4-FFF2-40B4-BE49-F238E27FC236}">
                <a16:creationId xmlns:a16="http://schemas.microsoft.com/office/drawing/2014/main" id="{5FA95C62-5D3C-7FFF-A40B-DDA93F5184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4411" y="3512937"/>
            <a:ext cx="1981312" cy="92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취업준비생은 필수 제출</a:t>
            </a:r>
            <a:r>
              <a:rPr kumimoji="0" lang="en-US" altLang="ko-KR" sz="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단기 근로 경우 근로계약서 제출</a:t>
            </a:r>
            <a:r>
              <a:rPr kumimoji="0" lang="en-US" altLang="ko-KR" sz="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0" lang="ko-KR" altLang="en-US" sz="6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0B7DD290-61E0-2C48-116F-085AFE0ECFCE}"/>
              </a:ext>
            </a:extLst>
          </p:cNvPr>
          <p:cNvGrpSpPr/>
          <p:nvPr/>
        </p:nvGrpSpPr>
        <p:grpSpPr>
          <a:xfrm>
            <a:off x="1444710" y="3686385"/>
            <a:ext cx="2702354" cy="144016"/>
            <a:chOff x="3327015" y="1986936"/>
            <a:chExt cx="2702354" cy="144016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30B68A98-B4F7-AB05-6F27-1C7CC064E1A1}"/>
                </a:ext>
              </a:extLst>
            </p:cNvPr>
            <p:cNvSpPr/>
            <p:nvPr/>
          </p:nvSpPr>
          <p:spPr>
            <a:xfrm>
              <a:off x="3327015" y="1986944"/>
              <a:ext cx="1620000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rIns="3600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서약서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A43CDFE4-6E92-F18E-4F44-2BB9C01D8D32}"/>
                </a:ext>
              </a:extLst>
            </p:cNvPr>
            <p:cNvSpPr/>
            <p:nvPr/>
          </p:nvSpPr>
          <p:spPr>
            <a:xfrm>
              <a:off x="4980013" y="1986936"/>
              <a:ext cx="264174" cy="1440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제출</a:t>
              </a: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299A3B1A-72D0-A4E8-2920-199CBC9274E2}"/>
                </a:ext>
              </a:extLst>
            </p:cNvPr>
            <p:cNvSpPr/>
            <p:nvPr/>
          </p:nvSpPr>
          <p:spPr>
            <a:xfrm>
              <a:off x="5288523" y="1986936"/>
              <a:ext cx="264174" cy="144016"/>
            </a:xfrm>
            <a:prstGeom prst="rect">
              <a:avLst/>
            </a:prstGeom>
            <a:solidFill>
              <a:srgbClr val="66FF66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68A67705-E5E8-411C-BDF2-3D09CB3B50A3}"/>
                </a:ext>
              </a:extLst>
            </p:cNvPr>
            <p:cNvSpPr/>
            <p:nvPr/>
          </p:nvSpPr>
          <p:spPr>
            <a:xfrm>
              <a:off x="5603914" y="1986936"/>
              <a:ext cx="425455" cy="144016"/>
            </a:xfrm>
            <a:prstGeom prst="rect">
              <a:avLst/>
            </a:prstGeom>
            <a:solidFill>
              <a:srgbClr val="FFFF00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양식받기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E3EFBFE-9EA3-F0BD-F973-899C50792722}"/>
              </a:ext>
            </a:extLst>
          </p:cNvPr>
          <p:cNvSpPr/>
          <p:nvPr/>
        </p:nvSpPr>
        <p:spPr>
          <a:xfrm>
            <a:off x="1444710" y="3911410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기타추가서류</a:t>
            </a:r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.zip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4934DCD3-0A16-0BE8-86A6-6B57835EBF4A}"/>
              </a:ext>
            </a:extLst>
          </p:cNvPr>
          <p:cNvSpPr/>
          <p:nvPr/>
        </p:nvSpPr>
        <p:spPr>
          <a:xfrm>
            <a:off x="3097708" y="3911402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추가</a:t>
            </a:r>
          </a:p>
        </p:txBody>
      </p:sp>
      <p:sp>
        <p:nvSpPr>
          <p:cNvPr id="36" name="Rectangle 191">
            <a:extLst>
              <a:ext uri="{FF2B5EF4-FFF2-40B4-BE49-F238E27FC236}">
                <a16:creationId xmlns:a16="http://schemas.microsoft.com/office/drawing/2014/main" id="{3445D62A-0B1B-8EF9-5961-391CBAC3F1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4411" y="4108949"/>
            <a:ext cx="2172069" cy="92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기숙사 거주증명서</a:t>
            </a:r>
            <a:r>
              <a:rPr kumimoji="0" lang="en-US" altLang="ko-KR" sz="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기숙사 납입증명서</a:t>
            </a:r>
            <a:r>
              <a:rPr kumimoji="0" lang="en-US" altLang="ko-KR" sz="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건강보험납입증명서 등</a:t>
            </a: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85527FEB-18CD-BB05-AB45-B8F65AF70659}"/>
              </a:ext>
            </a:extLst>
          </p:cNvPr>
          <p:cNvGrpSpPr/>
          <p:nvPr/>
        </p:nvGrpSpPr>
        <p:grpSpPr>
          <a:xfrm>
            <a:off x="1456460" y="4301121"/>
            <a:ext cx="1105196" cy="128396"/>
            <a:chOff x="3438680" y="4305150"/>
            <a:chExt cx="1105196" cy="128396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96AC5CE-CC63-B590-C414-6B23D59AF172}"/>
                </a:ext>
              </a:extLst>
            </p:cNvPr>
            <p:cNvSpPr txBox="1"/>
            <p:nvPr/>
          </p:nvSpPr>
          <p:spPr>
            <a:xfrm>
              <a:off x="3438680" y="4305150"/>
              <a:ext cx="971420" cy="10772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신청 관련 부가 서류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39" name="Picture 10">
              <a:extLst>
                <a:ext uri="{FF2B5EF4-FFF2-40B4-BE49-F238E27FC236}">
                  <a16:creationId xmlns:a16="http://schemas.microsoft.com/office/drawing/2014/main" id="{48D5E51D-53B1-D239-1E67-201F021FE5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7418" y="4312303"/>
              <a:ext cx="106458" cy="121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95FC8DD5-EF05-F89B-3744-3F4C478C1669}"/>
              </a:ext>
            </a:extLst>
          </p:cNvPr>
          <p:cNvGrpSpPr/>
          <p:nvPr/>
        </p:nvGrpSpPr>
        <p:grpSpPr>
          <a:xfrm>
            <a:off x="2642873" y="4301121"/>
            <a:ext cx="1105196" cy="128396"/>
            <a:chOff x="3438680" y="4305150"/>
            <a:chExt cx="1105196" cy="128396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BFBBC5E-66D1-1645-3A26-6A83759F4B9E}"/>
                </a:ext>
              </a:extLst>
            </p:cNvPr>
            <p:cNvSpPr txBox="1"/>
            <p:nvPr/>
          </p:nvSpPr>
          <p:spPr>
            <a:xfrm>
              <a:off x="3438680" y="4305150"/>
              <a:ext cx="971420" cy="10772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신청 관련 부가 서류</a:t>
              </a:r>
              <a:r>
                <a:rPr kumimoji="0" lang="en-US" altLang="ko-KR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.pdf</a:t>
              </a:r>
              <a:endPara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42" name="Picture 10">
              <a:extLst>
                <a:ext uri="{FF2B5EF4-FFF2-40B4-BE49-F238E27FC236}">
                  <a16:creationId xmlns:a16="http://schemas.microsoft.com/office/drawing/2014/main" id="{03E6D6E4-D7C3-9135-302A-EB40262F1B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7418" y="4312303"/>
              <a:ext cx="106458" cy="1212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43" name="타원 42">
            <a:extLst>
              <a:ext uri="{FF2B5EF4-FFF2-40B4-BE49-F238E27FC236}">
                <a16:creationId xmlns:a16="http://schemas.microsoft.com/office/drawing/2014/main" id="{CB7C02C7-1E1D-96B4-CEFD-DBE92B5F63E8}"/>
              </a:ext>
            </a:extLst>
          </p:cNvPr>
          <p:cNvSpPr>
            <a:spLocks noChangeAspect="1"/>
          </p:cNvSpPr>
          <p:nvPr/>
        </p:nvSpPr>
        <p:spPr>
          <a:xfrm>
            <a:off x="200472" y="1550951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7AA5D27-EABA-1F8F-A702-1A0015BF816D}"/>
              </a:ext>
            </a:extLst>
          </p:cNvPr>
          <p:cNvSpPr/>
          <p:nvPr/>
        </p:nvSpPr>
        <p:spPr>
          <a:xfrm>
            <a:off x="268381" y="2338976"/>
            <a:ext cx="6517256" cy="2139849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4128561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5227B-1BBB-0DEF-09B4-F0DFE0F4A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44">
            <a:extLst>
              <a:ext uri="{FF2B5EF4-FFF2-40B4-BE49-F238E27FC236}">
                <a16:creationId xmlns:a16="http://schemas.microsoft.com/office/drawing/2014/main" id="{7DF9CA3A-F1FE-67D4-E18E-87C826162556}"/>
              </a:ext>
            </a:extLst>
          </p:cNvPr>
          <p:cNvSpPr txBox="1"/>
          <p:nvPr/>
        </p:nvSpPr>
        <p:spPr>
          <a:xfrm rot="16200000">
            <a:off x="-432110" y="1197338"/>
            <a:ext cx="23066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Noto Sans" panose="020B0502040504020204" pitchFamily="34" charset="0"/>
                <a:ea typeface="맑은 고딕" panose="020B0503020000020004" pitchFamily="50" charset="-127"/>
                <a:cs typeface="+mn-cs"/>
              </a:rPr>
              <a:t>C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D7D7D7"/>
                </a:solidFill>
                <a:effectLst/>
                <a:uLnTx/>
                <a:uFillTx/>
                <a:latin typeface="Noto Sans" panose="020B0502040504020204" pitchFamily="34" charset="0"/>
                <a:ea typeface="맑은 고딕" panose="020B0503020000020004" pitchFamily="50" charset="-127"/>
                <a:cs typeface="+mn-cs"/>
              </a:rPr>
              <a:t>O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Noto Sans" panose="020B0502040504020204" pitchFamily="34" charset="0"/>
                <a:ea typeface="맑은 고딕" panose="020B0503020000020004" pitchFamily="50" charset="-127"/>
                <a:cs typeface="+mn-cs"/>
              </a:rPr>
              <a:t>NTENT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Noto Sans" panose="020B0502040504020204" pitchFamily="34" charset="0"/>
                <a:ea typeface="맑은 고딕" panose="020B0503020000020004" pitchFamily="50" charset="-127"/>
                <a:cs typeface="+mn-cs"/>
              </a:rPr>
              <a:t>S</a:t>
            </a:r>
            <a:endParaRPr kumimoji="0" lang="ko-KR" altLang="en-US" sz="3000" b="1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Noto Sans" panose="020B050204050402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0" name="Text Box 11">
            <a:extLst>
              <a:ext uri="{FF2B5EF4-FFF2-40B4-BE49-F238E27FC236}">
                <a16:creationId xmlns:a16="http://schemas.microsoft.com/office/drawing/2014/main" id="{3D4A90FA-E526-8A62-7586-D5FC832CA4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5436" y="2140622"/>
            <a:ext cx="4765463" cy="677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굴림" pitchFamily="50" charset="-127"/>
              </a:rPr>
              <a:t>평생교육장려금 신청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굴림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굴림" pitchFamily="50" charset="-127"/>
              </a:rPr>
              <a:t>● 평생교육장려금 프로그램 조회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굴림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굴림" pitchFamily="50" charset="-127"/>
              </a:rPr>
              <a:t>● 평생교육장려금 신청 등록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굴림" pitchFamily="50" charset="-127"/>
            </a:endParaRPr>
          </a:p>
        </p:txBody>
      </p:sp>
      <p:sp>
        <p:nvSpPr>
          <p:cNvPr id="31" name="Text Box 5">
            <a:extLst>
              <a:ext uri="{FF2B5EF4-FFF2-40B4-BE49-F238E27FC236}">
                <a16:creationId xmlns:a16="http://schemas.microsoft.com/office/drawing/2014/main" id="{40CFED1C-6C92-9860-AD47-15256A6CA2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6305" y="1477454"/>
            <a:ext cx="3703099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Noto Sans" panose="020B0502040504020204" pitchFamily="34" charset="0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Noto Sans" panose="020B0502040504020204" pitchFamily="34" charset="0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Noto Sans" panose="020B0502040504020204" pitchFamily="34" charset="0"/>
                <a:ea typeface="맑은 고딕" panose="020B0503020000020004" pitchFamily="50" charset="-127"/>
                <a:cs typeface="+mn-cs"/>
              </a:rPr>
              <a:t>프로그램신청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Noto Sans" panose="020B0502040504020204" pitchFamily="34" charset="0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Noto Sans" panose="020B0502040504020204" pitchFamily="34" charset="0"/>
                <a:ea typeface="맑은 고딕" panose="020B0503020000020004" pitchFamily="50" charset="-127"/>
                <a:cs typeface="+mn-cs"/>
              </a:rPr>
              <a:t>평생교육장려금</a:t>
            </a: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Noto Sans" panose="020B050204050402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TextBox 13">
            <a:extLst>
              <a:ext uri="{FF2B5EF4-FFF2-40B4-BE49-F238E27FC236}">
                <a16:creationId xmlns:a16="http://schemas.microsoft.com/office/drawing/2014/main" id="{0295B3C4-49D4-4429-C8D8-59307EC42E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0483" y="1369732"/>
            <a:ext cx="764953" cy="55399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0</a:t>
            </a:r>
            <a:r>
              <a:rPr lang="en-US" altLang="ko-KR" sz="2000" b="1" dirty="0">
                <a:solidFill>
                  <a:prstClr val="white"/>
                </a:solidFill>
                <a:latin typeface="맑은 고딕"/>
                <a:ea typeface="맑은 고딕" panose="020B0503020000020004" pitchFamily="50" charset="-127"/>
              </a:rPr>
              <a:t>5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085187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192DE-B897-308B-668C-445F112CC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Group 1091">
            <a:extLst>
              <a:ext uri="{FF2B5EF4-FFF2-40B4-BE49-F238E27FC236}">
                <a16:creationId xmlns:a16="http://schemas.microsoft.com/office/drawing/2014/main" id="{867607DB-FD99-10A4-C2E5-09BE7477EE1A}"/>
              </a:ext>
            </a:extLst>
          </p:cNvPr>
          <p:cNvGraphicFramePr>
            <a:graphicFrameLocks/>
          </p:cNvGraphicFramePr>
          <p:nvPr/>
        </p:nvGraphicFramePr>
        <p:xfrm>
          <a:off x="165100" y="1175295"/>
          <a:ext cx="9575800" cy="237482"/>
        </p:xfrm>
        <a:graphic>
          <a:graphicData uri="http://schemas.openxmlformats.org/drawingml/2006/table">
            <a:tbl>
              <a:tblPr/>
              <a:tblGrid>
                <a:gridCol w="957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9436"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홈페이지 메뉴 구조</a:t>
                      </a:r>
                    </a:p>
                  </a:txBody>
                  <a:tcPr marL="53177" marR="53177" marT="42541" marB="42541" anchor="ctr" horzOverflow="overflow">
                    <a:lnL cap="flat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5" name="모서리가 둥근 직사각형 74">
            <a:extLst>
              <a:ext uri="{FF2B5EF4-FFF2-40B4-BE49-F238E27FC236}">
                <a16:creationId xmlns:a16="http://schemas.microsoft.com/office/drawing/2014/main" id="{4A6D7950-5DE7-D141-1581-735CBA9F6772}"/>
              </a:ext>
            </a:extLst>
          </p:cNvPr>
          <p:cNvSpPr/>
          <p:nvPr/>
        </p:nvSpPr>
        <p:spPr>
          <a:xfrm>
            <a:off x="4064743" y="1520788"/>
            <a:ext cx="1931636" cy="229116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tx1">
                <a:lumMod val="95000"/>
                <a:lumOff val="5000"/>
              </a:schemeClr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오산교육재단 홈페이지</a:t>
            </a:r>
          </a:p>
        </p:txBody>
      </p:sp>
      <p:sp>
        <p:nvSpPr>
          <p:cNvPr id="76" name="모서리가 둥근 직사각형 75">
            <a:extLst>
              <a:ext uri="{FF2B5EF4-FFF2-40B4-BE49-F238E27FC236}">
                <a16:creationId xmlns:a16="http://schemas.microsoft.com/office/drawing/2014/main" id="{7BA2DDBC-3F4E-463D-2B8E-D4043CF6D001}"/>
              </a:ext>
            </a:extLst>
          </p:cNvPr>
          <p:cNvSpPr/>
          <p:nvPr/>
        </p:nvSpPr>
        <p:spPr>
          <a:xfrm>
            <a:off x="164468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메인</a:t>
            </a:r>
          </a:p>
        </p:txBody>
      </p:sp>
      <p:sp>
        <p:nvSpPr>
          <p:cNvPr id="81" name="모서리가 둥근 직사각형 80">
            <a:extLst>
              <a:ext uri="{FF2B5EF4-FFF2-40B4-BE49-F238E27FC236}">
                <a16:creationId xmlns:a16="http://schemas.microsoft.com/office/drawing/2014/main" id="{472352B4-D917-5841-E3D5-9A742076285A}"/>
              </a:ext>
            </a:extLst>
          </p:cNvPr>
          <p:cNvSpPr/>
          <p:nvPr/>
        </p:nvSpPr>
        <p:spPr>
          <a:xfrm>
            <a:off x="1068205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로그인</a:t>
            </a:r>
          </a:p>
        </p:txBody>
      </p:sp>
      <p:sp>
        <p:nvSpPr>
          <p:cNvPr id="82" name="모서리가 둥근 직사각형 81">
            <a:extLst>
              <a:ext uri="{FF2B5EF4-FFF2-40B4-BE49-F238E27FC236}">
                <a16:creationId xmlns:a16="http://schemas.microsoft.com/office/drawing/2014/main" id="{27795B09-1144-9831-A2F7-F0D1BE0ADB00}"/>
              </a:ext>
            </a:extLst>
          </p:cNvPr>
          <p:cNvSpPr/>
          <p:nvPr/>
        </p:nvSpPr>
        <p:spPr>
          <a:xfrm>
            <a:off x="1976252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회원가입</a:t>
            </a:r>
          </a:p>
        </p:txBody>
      </p:sp>
      <p:sp>
        <p:nvSpPr>
          <p:cNvPr id="83" name="모서리가 둥근 직사각형 82">
            <a:extLst>
              <a:ext uri="{FF2B5EF4-FFF2-40B4-BE49-F238E27FC236}">
                <a16:creationId xmlns:a16="http://schemas.microsoft.com/office/drawing/2014/main" id="{817B6479-4554-79B4-B751-48F942ED5F1A}"/>
              </a:ext>
            </a:extLst>
          </p:cNvPr>
          <p:cNvSpPr/>
          <p:nvPr/>
        </p:nvSpPr>
        <p:spPr>
          <a:xfrm>
            <a:off x="2919280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ID/PW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찾기</a:t>
            </a:r>
          </a:p>
        </p:txBody>
      </p:sp>
      <p:sp>
        <p:nvSpPr>
          <p:cNvPr id="84" name="모서리가 둥근 직사각형 83">
            <a:extLst>
              <a:ext uri="{FF2B5EF4-FFF2-40B4-BE49-F238E27FC236}">
                <a16:creationId xmlns:a16="http://schemas.microsoft.com/office/drawing/2014/main" id="{273526B8-13E8-1B95-318E-9BC58F2F3350}"/>
              </a:ext>
            </a:extLst>
          </p:cNvPr>
          <p:cNvSpPr/>
          <p:nvPr/>
        </p:nvSpPr>
        <p:spPr>
          <a:xfrm>
            <a:off x="3859353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재단소개</a:t>
            </a:r>
          </a:p>
        </p:txBody>
      </p:sp>
      <p:sp>
        <p:nvSpPr>
          <p:cNvPr id="85" name="모서리가 둥근 직사각형 84">
            <a:extLst>
              <a:ext uri="{FF2B5EF4-FFF2-40B4-BE49-F238E27FC236}">
                <a16:creationId xmlns:a16="http://schemas.microsoft.com/office/drawing/2014/main" id="{6AFC3FB7-A635-69D2-C840-B366E040A8A0}"/>
              </a:ext>
            </a:extLst>
          </p:cNvPr>
          <p:cNvSpPr/>
          <p:nvPr/>
        </p:nvSpPr>
        <p:spPr>
          <a:xfrm>
            <a:off x="4772461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열린경영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5" name="모서리가 둥근 직사각형 94">
            <a:extLst>
              <a:ext uri="{FF2B5EF4-FFF2-40B4-BE49-F238E27FC236}">
                <a16:creationId xmlns:a16="http://schemas.microsoft.com/office/drawing/2014/main" id="{BD4D6CCC-A9B2-BFC4-A33D-B1242D9B7B5E}"/>
              </a:ext>
            </a:extLst>
          </p:cNvPr>
          <p:cNvSpPr/>
          <p:nvPr/>
        </p:nvSpPr>
        <p:spPr>
          <a:xfrm>
            <a:off x="8876900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마이페이지</a:t>
            </a:r>
          </a:p>
        </p:txBody>
      </p:sp>
      <p:cxnSp>
        <p:nvCxnSpPr>
          <p:cNvPr id="104" name="꺾인 연결선 103">
            <a:extLst>
              <a:ext uri="{FF2B5EF4-FFF2-40B4-BE49-F238E27FC236}">
                <a16:creationId xmlns:a16="http://schemas.microsoft.com/office/drawing/2014/main" id="{7B52DE98-AE2B-5495-B726-8FAFA67F7EA0}"/>
              </a:ext>
            </a:extLst>
          </p:cNvPr>
          <p:cNvCxnSpPr>
            <a:stCxn id="76" idx="0"/>
            <a:endCxn id="75" idx="2"/>
          </p:cNvCxnSpPr>
          <p:nvPr/>
        </p:nvCxnSpPr>
        <p:spPr>
          <a:xfrm rot="5400000" flipH="1" flipV="1">
            <a:off x="2641771" y="-295398"/>
            <a:ext cx="343487" cy="4434093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꺾인 연결선 105">
            <a:extLst>
              <a:ext uri="{FF2B5EF4-FFF2-40B4-BE49-F238E27FC236}">
                <a16:creationId xmlns:a16="http://schemas.microsoft.com/office/drawing/2014/main" id="{9864BE6A-6605-E0C3-0759-947B55812360}"/>
              </a:ext>
            </a:extLst>
          </p:cNvPr>
          <p:cNvCxnSpPr>
            <a:stCxn id="81" idx="0"/>
            <a:endCxn id="75" idx="2"/>
          </p:cNvCxnSpPr>
          <p:nvPr/>
        </p:nvCxnSpPr>
        <p:spPr>
          <a:xfrm rot="5400000" flipH="1" flipV="1">
            <a:off x="3093640" y="156470"/>
            <a:ext cx="343487" cy="3530356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꺾인 연결선 106">
            <a:extLst>
              <a:ext uri="{FF2B5EF4-FFF2-40B4-BE49-F238E27FC236}">
                <a16:creationId xmlns:a16="http://schemas.microsoft.com/office/drawing/2014/main" id="{A5FF9129-6BD3-DCF7-0671-656BF10FB293}"/>
              </a:ext>
            </a:extLst>
          </p:cNvPr>
          <p:cNvCxnSpPr>
            <a:stCxn id="82" idx="0"/>
            <a:endCxn id="75" idx="2"/>
          </p:cNvCxnSpPr>
          <p:nvPr/>
        </p:nvCxnSpPr>
        <p:spPr>
          <a:xfrm rot="5400000" flipH="1" flipV="1">
            <a:off x="3547663" y="610494"/>
            <a:ext cx="343487" cy="2622309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꺾인 연결선 108">
            <a:extLst>
              <a:ext uri="{FF2B5EF4-FFF2-40B4-BE49-F238E27FC236}">
                <a16:creationId xmlns:a16="http://schemas.microsoft.com/office/drawing/2014/main" id="{5D566DE5-1E1E-E5BA-8FDA-46DA1896A729}"/>
              </a:ext>
            </a:extLst>
          </p:cNvPr>
          <p:cNvCxnSpPr>
            <a:cxnSpLocks/>
            <a:stCxn id="83" idx="0"/>
            <a:endCxn id="75" idx="2"/>
          </p:cNvCxnSpPr>
          <p:nvPr/>
        </p:nvCxnSpPr>
        <p:spPr>
          <a:xfrm rot="5400000" flipH="1" flipV="1">
            <a:off x="4019177" y="1082008"/>
            <a:ext cx="343487" cy="1679281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꺾인 연결선 109">
            <a:extLst>
              <a:ext uri="{FF2B5EF4-FFF2-40B4-BE49-F238E27FC236}">
                <a16:creationId xmlns:a16="http://schemas.microsoft.com/office/drawing/2014/main" id="{D22649E4-E4D5-91F7-4271-DE67BCD7CE3F}"/>
              </a:ext>
            </a:extLst>
          </p:cNvPr>
          <p:cNvCxnSpPr>
            <a:stCxn id="84" idx="0"/>
            <a:endCxn id="75" idx="2"/>
          </p:cNvCxnSpPr>
          <p:nvPr/>
        </p:nvCxnSpPr>
        <p:spPr>
          <a:xfrm rot="5400000" flipH="1" flipV="1">
            <a:off x="4489214" y="1552044"/>
            <a:ext cx="343487" cy="739208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꺾인 연결선 111">
            <a:extLst>
              <a:ext uri="{FF2B5EF4-FFF2-40B4-BE49-F238E27FC236}">
                <a16:creationId xmlns:a16="http://schemas.microsoft.com/office/drawing/2014/main" id="{6455CB9E-53A5-89AC-DB1D-A3945B73793E}"/>
              </a:ext>
            </a:extLst>
          </p:cNvPr>
          <p:cNvCxnSpPr>
            <a:stCxn id="85" idx="0"/>
            <a:endCxn id="75" idx="2"/>
          </p:cNvCxnSpPr>
          <p:nvPr/>
        </p:nvCxnSpPr>
        <p:spPr>
          <a:xfrm rot="16200000" flipV="1">
            <a:off x="4945768" y="1834698"/>
            <a:ext cx="343487" cy="173900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꺾인 연결선 116">
            <a:extLst>
              <a:ext uri="{FF2B5EF4-FFF2-40B4-BE49-F238E27FC236}">
                <a16:creationId xmlns:a16="http://schemas.microsoft.com/office/drawing/2014/main" id="{62195C16-24F7-CD80-E7B8-23516B434A92}"/>
              </a:ext>
            </a:extLst>
          </p:cNvPr>
          <p:cNvCxnSpPr>
            <a:cxnSpLocks/>
            <a:stCxn id="14" idx="0"/>
            <a:endCxn id="75" idx="2"/>
          </p:cNvCxnSpPr>
          <p:nvPr/>
        </p:nvCxnSpPr>
        <p:spPr>
          <a:xfrm rot="16200000" flipV="1">
            <a:off x="5854079" y="926387"/>
            <a:ext cx="343487" cy="1990521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꺾인 연결선 145">
            <a:extLst>
              <a:ext uri="{FF2B5EF4-FFF2-40B4-BE49-F238E27FC236}">
                <a16:creationId xmlns:a16="http://schemas.microsoft.com/office/drawing/2014/main" id="{D7A410BC-7AC6-EDF4-CC7C-2409264FB281}"/>
              </a:ext>
            </a:extLst>
          </p:cNvPr>
          <p:cNvCxnSpPr>
            <a:cxnSpLocks/>
            <a:stCxn id="95" idx="0"/>
            <a:endCxn id="75" idx="2"/>
          </p:cNvCxnSpPr>
          <p:nvPr/>
        </p:nvCxnSpPr>
        <p:spPr>
          <a:xfrm rot="16200000" flipV="1">
            <a:off x="6997988" y="-217522"/>
            <a:ext cx="343487" cy="4278339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모서리가 둥근 직사각형 84">
            <a:extLst>
              <a:ext uri="{FF2B5EF4-FFF2-40B4-BE49-F238E27FC236}">
                <a16:creationId xmlns:a16="http://schemas.microsoft.com/office/drawing/2014/main" id="{F18F2CC2-69E0-6EA9-8536-F9985FCA5220}"/>
              </a:ext>
            </a:extLst>
          </p:cNvPr>
          <p:cNvSpPr/>
          <p:nvPr/>
        </p:nvSpPr>
        <p:spPr>
          <a:xfrm>
            <a:off x="6589082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</a:t>
            </a:r>
          </a:p>
        </p:txBody>
      </p:sp>
      <p:sp>
        <p:nvSpPr>
          <p:cNvPr id="164" name="모서리가 둥근 직사각형 84">
            <a:extLst>
              <a:ext uri="{FF2B5EF4-FFF2-40B4-BE49-F238E27FC236}">
                <a16:creationId xmlns:a16="http://schemas.microsoft.com/office/drawing/2014/main" id="{3ABED07A-C6C7-A069-D55C-3C706D54CDF8}"/>
              </a:ext>
            </a:extLst>
          </p:cNvPr>
          <p:cNvSpPr/>
          <p:nvPr/>
        </p:nvSpPr>
        <p:spPr>
          <a:xfrm>
            <a:off x="5685569" y="2093391"/>
            <a:ext cx="864000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재단소식</a:t>
            </a:r>
          </a:p>
        </p:txBody>
      </p:sp>
      <p:cxnSp>
        <p:nvCxnSpPr>
          <p:cNvPr id="165" name="꺾인 연결선 111">
            <a:extLst>
              <a:ext uri="{FF2B5EF4-FFF2-40B4-BE49-F238E27FC236}">
                <a16:creationId xmlns:a16="http://schemas.microsoft.com/office/drawing/2014/main" id="{A225E5FB-8FD4-CF6D-DFDF-9FC6F123EC03}"/>
              </a:ext>
            </a:extLst>
          </p:cNvPr>
          <p:cNvCxnSpPr>
            <a:cxnSpLocks/>
            <a:stCxn id="164" idx="0"/>
            <a:endCxn id="75" idx="2"/>
          </p:cNvCxnSpPr>
          <p:nvPr/>
        </p:nvCxnSpPr>
        <p:spPr>
          <a:xfrm rot="16200000" flipV="1">
            <a:off x="5402322" y="1378144"/>
            <a:ext cx="343487" cy="1087008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모서리가 둥근 직사각형 83">
            <a:extLst>
              <a:ext uri="{FF2B5EF4-FFF2-40B4-BE49-F238E27FC236}">
                <a16:creationId xmlns:a16="http://schemas.microsoft.com/office/drawing/2014/main" id="{82E450FC-DB9A-9AD7-0B6F-12FB09D9A736}"/>
              </a:ext>
            </a:extLst>
          </p:cNvPr>
          <p:cNvSpPr/>
          <p:nvPr/>
        </p:nvSpPr>
        <p:spPr>
          <a:xfrm>
            <a:off x="7120246" y="2344450"/>
            <a:ext cx="935392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고등학생 장학금</a:t>
            </a:r>
          </a:p>
        </p:txBody>
      </p:sp>
      <p:cxnSp>
        <p:nvCxnSpPr>
          <p:cNvPr id="40" name="꺾인 연결선 111">
            <a:extLst>
              <a:ext uri="{FF2B5EF4-FFF2-40B4-BE49-F238E27FC236}">
                <a16:creationId xmlns:a16="http://schemas.microsoft.com/office/drawing/2014/main" id="{83CF0E88-0F1D-8C9F-CFE1-F20ACC05716A}"/>
              </a:ext>
            </a:extLst>
          </p:cNvPr>
          <p:cNvCxnSpPr>
            <a:cxnSpLocks/>
            <a:stCxn id="39" idx="1"/>
            <a:endCxn id="14" idx="2"/>
          </p:cNvCxnSpPr>
          <p:nvPr/>
        </p:nvCxnSpPr>
        <p:spPr>
          <a:xfrm rot="10800000">
            <a:off x="7021082" y="2282743"/>
            <a:ext cx="99164" cy="147776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모서리가 둥근 직사각형 83">
            <a:extLst>
              <a:ext uri="{FF2B5EF4-FFF2-40B4-BE49-F238E27FC236}">
                <a16:creationId xmlns:a16="http://schemas.microsoft.com/office/drawing/2014/main" id="{E36C34DA-437C-62BB-5E72-709DB79ADE40}"/>
              </a:ext>
            </a:extLst>
          </p:cNvPr>
          <p:cNvSpPr/>
          <p:nvPr/>
        </p:nvSpPr>
        <p:spPr>
          <a:xfrm>
            <a:off x="7120246" y="2558046"/>
            <a:ext cx="935392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대학생 장학금</a:t>
            </a:r>
          </a:p>
        </p:txBody>
      </p:sp>
      <p:sp>
        <p:nvSpPr>
          <p:cNvPr id="46" name="모서리가 둥근 직사각형 83">
            <a:extLst>
              <a:ext uri="{FF2B5EF4-FFF2-40B4-BE49-F238E27FC236}">
                <a16:creationId xmlns:a16="http://schemas.microsoft.com/office/drawing/2014/main" id="{07DF4E56-5F79-4139-CA0E-C85066133895}"/>
              </a:ext>
            </a:extLst>
          </p:cNvPr>
          <p:cNvSpPr/>
          <p:nvPr/>
        </p:nvSpPr>
        <p:spPr>
          <a:xfrm>
            <a:off x="7120246" y="2771833"/>
            <a:ext cx="935392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특기생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장학금</a:t>
            </a:r>
          </a:p>
        </p:txBody>
      </p:sp>
      <p:sp>
        <p:nvSpPr>
          <p:cNvPr id="50" name="모서리가 둥근 직사각형 83">
            <a:extLst>
              <a:ext uri="{FF2B5EF4-FFF2-40B4-BE49-F238E27FC236}">
                <a16:creationId xmlns:a16="http://schemas.microsoft.com/office/drawing/2014/main" id="{DA7314C4-CB6E-C51D-D3FD-0ED2C7779FA9}"/>
              </a:ext>
            </a:extLst>
          </p:cNvPr>
          <p:cNvSpPr/>
          <p:nvPr/>
        </p:nvSpPr>
        <p:spPr>
          <a:xfrm>
            <a:off x="7120246" y="2987887"/>
            <a:ext cx="935392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행복기숙사</a:t>
            </a: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입사비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3" name="모서리가 둥근 직사각형 83">
            <a:extLst>
              <a:ext uri="{FF2B5EF4-FFF2-40B4-BE49-F238E27FC236}">
                <a16:creationId xmlns:a16="http://schemas.microsoft.com/office/drawing/2014/main" id="{B73A9A78-5B51-093E-DCE3-E6F073BD51E5}"/>
              </a:ext>
            </a:extLst>
          </p:cNvPr>
          <p:cNvSpPr/>
          <p:nvPr/>
        </p:nvSpPr>
        <p:spPr>
          <a:xfrm>
            <a:off x="7120246" y="3207195"/>
            <a:ext cx="935392" cy="172138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평생교육장려금</a:t>
            </a:r>
          </a:p>
        </p:txBody>
      </p:sp>
      <p:cxnSp>
        <p:nvCxnSpPr>
          <p:cNvPr id="54" name="꺾인 연결선 111">
            <a:extLst>
              <a:ext uri="{FF2B5EF4-FFF2-40B4-BE49-F238E27FC236}">
                <a16:creationId xmlns:a16="http://schemas.microsoft.com/office/drawing/2014/main" id="{F61BE84D-0B51-60F7-586D-135939289A7A}"/>
              </a:ext>
            </a:extLst>
          </p:cNvPr>
          <p:cNvCxnSpPr>
            <a:cxnSpLocks/>
            <a:stCxn id="45" idx="1"/>
            <a:endCxn id="14" idx="2"/>
          </p:cNvCxnSpPr>
          <p:nvPr/>
        </p:nvCxnSpPr>
        <p:spPr>
          <a:xfrm rot="10800000">
            <a:off x="7021082" y="2282743"/>
            <a:ext cx="99164" cy="361372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꺾인 연결선 111">
            <a:extLst>
              <a:ext uri="{FF2B5EF4-FFF2-40B4-BE49-F238E27FC236}">
                <a16:creationId xmlns:a16="http://schemas.microsoft.com/office/drawing/2014/main" id="{26C945D1-0E7A-38A3-2098-38283EAF3C66}"/>
              </a:ext>
            </a:extLst>
          </p:cNvPr>
          <p:cNvCxnSpPr>
            <a:cxnSpLocks/>
            <a:stCxn id="46" idx="1"/>
            <a:endCxn id="14" idx="2"/>
          </p:cNvCxnSpPr>
          <p:nvPr/>
        </p:nvCxnSpPr>
        <p:spPr>
          <a:xfrm rot="10800000">
            <a:off x="7021082" y="2282744"/>
            <a:ext cx="99164" cy="575159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꺾인 연결선 111">
            <a:extLst>
              <a:ext uri="{FF2B5EF4-FFF2-40B4-BE49-F238E27FC236}">
                <a16:creationId xmlns:a16="http://schemas.microsoft.com/office/drawing/2014/main" id="{558176E9-47B5-157D-9943-7C5ACAADB2CB}"/>
              </a:ext>
            </a:extLst>
          </p:cNvPr>
          <p:cNvCxnSpPr>
            <a:cxnSpLocks/>
            <a:stCxn id="50" idx="1"/>
            <a:endCxn id="14" idx="2"/>
          </p:cNvCxnSpPr>
          <p:nvPr/>
        </p:nvCxnSpPr>
        <p:spPr>
          <a:xfrm rot="10800000">
            <a:off x="7021082" y="2282744"/>
            <a:ext cx="99164" cy="791213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꺾인 연결선 111">
            <a:extLst>
              <a:ext uri="{FF2B5EF4-FFF2-40B4-BE49-F238E27FC236}">
                <a16:creationId xmlns:a16="http://schemas.microsoft.com/office/drawing/2014/main" id="{39FC07CD-45C1-0ADB-B0AD-A7323F3C65FB}"/>
              </a:ext>
            </a:extLst>
          </p:cNvPr>
          <p:cNvCxnSpPr>
            <a:cxnSpLocks/>
            <a:stCxn id="53" idx="1"/>
            <a:endCxn id="14" idx="2"/>
          </p:cNvCxnSpPr>
          <p:nvPr/>
        </p:nvCxnSpPr>
        <p:spPr>
          <a:xfrm rot="10800000">
            <a:off x="7021082" y="2282744"/>
            <a:ext cx="99164" cy="1010521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모서리가 둥근 직사각형 83">
            <a:extLst>
              <a:ext uri="{FF2B5EF4-FFF2-40B4-BE49-F238E27FC236}">
                <a16:creationId xmlns:a16="http://schemas.microsoft.com/office/drawing/2014/main" id="{B4A23A7B-F82D-35FE-3AEF-F78438348C27}"/>
              </a:ext>
            </a:extLst>
          </p:cNvPr>
          <p:cNvSpPr/>
          <p:nvPr/>
        </p:nvSpPr>
        <p:spPr>
          <a:xfrm>
            <a:off x="7120246" y="3684710"/>
            <a:ext cx="935392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교육사업 신청</a:t>
            </a:r>
          </a:p>
        </p:txBody>
      </p:sp>
      <p:cxnSp>
        <p:nvCxnSpPr>
          <p:cNvPr id="62" name="꺾인 연결선 111">
            <a:extLst>
              <a:ext uri="{FF2B5EF4-FFF2-40B4-BE49-F238E27FC236}">
                <a16:creationId xmlns:a16="http://schemas.microsoft.com/office/drawing/2014/main" id="{2B946375-C6FB-C1A6-CC5E-5B4762103874}"/>
              </a:ext>
            </a:extLst>
          </p:cNvPr>
          <p:cNvCxnSpPr>
            <a:cxnSpLocks/>
            <a:stCxn id="60" idx="1"/>
            <a:endCxn id="14" idx="2"/>
          </p:cNvCxnSpPr>
          <p:nvPr/>
        </p:nvCxnSpPr>
        <p:spPr>
          <a:xfrm rot="10800000">
            <a:off x="7021082" y="2282743"/>
            <a:ext cx="99164" cy="1488036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모서리가 둥근 직사각형 84">
            <a:extLst>
              <a:ext uri="{FF2B5EF4-FFF2-40B4-BE49-F238E27FC236}">
                <a16:creationId xmlns:a16="http://schemas.microsoft.com/office/drawing/2014/main" id="{CCC56F39-2FE2-684D-5BF0-4E5065FF9B36}"/>
              </a:ext>
            </a:extLst>
          </p:cNvPr>
          <p:cNvSpPr/>
          <p:nvPr/>
        </p:nvSpPr>
        <p:spPr>
          <a:xfrm>
            <a:off x="7532495" y="2093391"/>
            <a:ext cx="1264982" cy="18935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오산시민평생교육장려금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9" name="꺾인 연결선 145">
            <a:extLst>
              <a:ext uri="{FF2B5EF4-FFF2-40B4-BE49-F238E27FC236}">
                <a16:creationId xmlns:a16="http://schemas.microsoft.com/office/drawing/2014/main" id="{B9F38E2D-B47C-46AF-D5BC-2821E52D600B}"/>
              </a:ext>
            </a:extLst>
          </p:cNvPr>
          <p:cNvCxnSpPr>
            <a:cxnSpLocks/>
            <a:stCxn id="17" idx="0"/>
            <a:endCxn id="75" idx="2"/>
          </p:cNvCxnSpPr>
          <p:nvPr/>
        </p:nvCxnSpPr>
        <p:spPr>
          <a:xfrm rot="16200000" flipV="1">
            <a:off x="6426031" y="354435"/>
            <a:ext cx="343487" cy="3134425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모서리가 둥근 직사각형 83">
            <a:extLst>
              <a:ext uri="{FF2B5EF4-FFF2-40B4-BE49-F238E27FC236}">
                <a16:creationId xmlns:a16="http://schemas.microsoft.com/office/drawing/2014/main" id="{535D2D9A-F345-3781-85C2-5020FE6C1865}"/>
              </a:ext>
            </a:extLst>
          </p:cNvPr>
          <p:cNvSpPr/>
          <p:nvPr/>
        </p:nvSpPr>
        <p:spPr>
          <a:xfrm>
            <a:off x="7687106" y="3443937"/>
            <a:ext cx="935392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 조회</a:t>
            </a:r>
          </a:p>
        </p:txBody>
      </p:sp>
      <p:cxnSp>
        <p:nvCxnSpPr>
          <p:cNvPr id="4" name="꺾인 연결선 111">
            <a:extLst>
              <a:ext uri="{FF2B5EF4-FFF2-40B4-BE49-F238E27FC236}">
                <a16:creationId xmlns:a16="http://schemas.microsoft.com/office/drawing/2014/main" id="{A90C7DF4-2601-16D8-FFE0-1BD8784CDB6B}"/>
              </a:ext>
            </a:extLst>
          </p:cNvPr>
          <p:cNvCxnSpPr>
            <a:cxnSpLocks/>
            <a:stCxn id="3" idx="1"/>
            <a:endCxn id="53" idx="2"/>
          </p:cNvCxnSpPr>
          <p:nvPr/>
        </p:nvCxnSpPr>
        <p:spPr>
          <a:xfrm rot="10800000">
            <a:off x="7587942" y="3379334"/>
            <a:ext cx="99164" cy="150673"/>
          </a:xfrm>
          <a:prstGeom prst="bentConnector2">
            <a:avLst/>
          </a:prstGeom>
          <a:ln w="6350">
            <a:solidFill>
              <a:schemeClr val="bg1">
                <a:lumMod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모서리가 둥근 직사각형 83">
            <a:extLst>
              <a:ext uri="{FF2B5EF4-FFF2-40B4-BE49-F238E27FC236}">
                <a16:creationId xmlns:a16="http://schemas.microsoft.com/office/drawing/2014/main" id="{0CF1A58D-86B8-8D03-2F8D-B897215E708D}"/>
              </a:ext>
            </a:extLst>
          </p:cNvPr>
          <p:cNvSpPr/>
          <p:nvPr/>
        </p:nvSpPr>
        <p:spPr>
          <a:xfrm>
            <a:off x="8646351" y="3443937"/>
            <a:ext cx="935392" cy="1721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25400" dist="12700" dir="5400000" algn="t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장학금 신청</a:t>
            </a:r>
          </a:p>
        </p:txBody>
      </p:sp>
    </p:spTree>
    <p:extLst>
      <p:ext uri="{BB962C8B-B14F-4D97-AF65-F5344CB8AC3E}">
        <p14:creationId xmlns:p14="http://schemas.microsoft.com/office/powerpoint/2010/main" val="62657074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186E8-67A6-0F62-1558-7D7CB3EF1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125AB7-5F7D-2080-EAAC-0726D3905676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평생교육장려금 조회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CD72E36-B471-49C9-720E-E78FE3826DA0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프로그램신청관리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평생교육장려금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조회</a:t>
            </a: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0A9A1ED7-BF09-84A8-2B37-855CA367FF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8752058"/>
              </p:ext>
            </p:extLst>
          </p:nvPr>
        </p:nvGraphicFramePr>
        <p:xfrm>
          <a:off x="6969418" y="2548005"/>
          <a:ext cx="2772114" cy="3459899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프로그램신청 메뉴 중 평생교육장려금 클릭 시 보이는 화면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전체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선택 후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검색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시 등록된 모든 공고를 목록에 표시 한다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.</a:t>
                      </a: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준비중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조회일 기준 접수기간 이전일 경우의 상태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선택 후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검색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시 준비중 상태의 공고를 목록에 표시 한다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접수중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조회일 기준 접수기간일 경우의 상태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선택 후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검색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시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접수중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상태의 공고를 목록에 표시 한다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마감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조회일 기준 접수기간이 지난 경우의 상태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선택 후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검색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시 마감 상태의 공고를 목록에 표시 한다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검색조건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제목 고정 표시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공고의 제목 입력 후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검색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시 해당 조건에 맞는 공고가 목록에 보인다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.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제목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공고 등록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수정 시 설정된 제목을 표시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접수기간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공고 등록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수정 시 설정된 접수기간을 표시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상태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준비중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/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접수중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/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마감 중 표시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준비중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조회일 기준 접수기간 이전일 경우의 상태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접수중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조회일 기준 접수기간일 경우의 상태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70DA1AE7-F87C-02D7-363B-10341D654922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pal_hit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E97693B8-E37F-C6F2-2E69-8EEFB61260FF}"/>
              </a:ext>
            </a:extLst>
          </p:cNvPr>
          <p:cNvSpPr/>
          <p:nvPr/>
        </p:nvSpPr>
        <p:spPr>
          <a:xfrm>
            <a:off x="165100" y="1376772"/>
            <a:ext cx="6732116" cy="36877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9FA0EBB7-4ADF-838A-4D8D-13B23CBC05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1468700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D46C4E54-73B0-0A85-28C3-45DDD3EF161D}"/>
              </a:ext>
            </a:extLst>
          </p:cNvPr>
          <p:cNvSpPr/>
          <p:nvPr/>
        </p:nvSpPr>
        <p:spPr>
          <a:xfrm>
            <a:off x="5680946" y="1586865"/>
            <a:ext cx="1165384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오산시민 평생교육장려금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EDD2B74-1D70-2E00-D79D-EC0155563CC5}"/>
              </a:ext>
            </a:extLst>
          </p:cNvPr>
          <p:cNvSpPr/>
          <p:nvPr/>
        </p:nvSpPr>
        <p:spPr>
          <a:xfrm>
            <a:off x="4831365" y="1586865"/>
            <a:ext cx="652423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 신청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78C4B7B-2189-35B9-9DB7-5B74F7EB25B4}"/>
              </a:ext>
            </a:extLst>
          </p:cNvPr>
          <p:cNvSpPr/>
          <p:nvPr/>
        </p:nvSpPr>
        <p:spPr>
          <a:xfrm>
            <a:off x="4223838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재단소식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CDF7B86-F0F7-0CB5-7B3F-0E15DD587191}"/>
              </a:ext>
            </a:extLst>
          </p:cNvPr>
          <p:cNvSpPr/>
          <p:nvPr/>
        </p:nvSpPr>
        <p:spPr>
          <a:xfrm>
            <a:off x="3616311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열린경영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4A3D163-9105-FDB5-02BA-A5E0C6133679}"/>
              </a:ext>
            </a:extLst>
          </p:cNvPr>
          <p:cNvSpPr/>
          <p:nvPr/>
        </p:nvSpPr>
        <p:spPr>
          <a:xfrm>
            <a:off x="3008784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EA76AC4-279E-7D9D-64DC-B1AAA47714BC}"/>
              </a:ext>
            </a:extLst>
          </p:cNvPr>
          <p:cNvSpPr/>
          <p:nvPr/>
        </p:nvSpPr>
        <p:spPr>
          <a:xfrm>
            <a:off x="165100" y="1790190"/>
            <a:ext cx="6732116" cy="469951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163E15B-1758-8D95-8BE8-541A974641F1}"/>
              </a:ext>
            </a:extLst>
          </p:cNvPr>
          <p:cNvSpPr/>
          <p:nvPr/>
        </p:nvSpPr>
        <p:spPr>
          <a:xfrm>
            <a:off x="5483789" y="1879740"/>
            <a:ext cx="1295227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평생교육장려금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3A8801D-CBA3-3126-8356-788CA7E50A20}"/>
              </a:ext>
            </a:extLst>
          </p:cNvPr>
          <p:cNvSpPr/>
          <p:nvPr/>
        </p:nvSpPr>
        <p:spPr>
          <a:xfrm>
            <a:off x="236476" y="1844824"/>
            <a:ext cx="807913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평생교육장려금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D847BA4-6411-B56E-CDE1-5302E55113BA}"/>
              </a:ext>
            </a:extLst>
          </p:cNvPr>
          <p:cNvSpPr/>
          <p:nvPr/>
        </p:nvSpPr>
        <p:spPr>
          <a:xfrm>
            <a:off x="3824511" y="2248048"/>
            <a:ext cx="277591" cy="144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검색</a:t>
            </a: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83613B4-C2EE-6A28-0CF3-62955AEE4542}"/>
              </a:ext>
            </a:extLst>
          </p:cNvPr>
          <p:cNvSpPr/>
          <p:nvPr/>
        </p:nvSpPr>
        <p:spPr>
          <a:xfrm>
            <a:off x="2610475" y="2248048"/>
            <a:ext cx="1193641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검색어를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입력하세요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3" name="Picture 13">
            <a:extLst>
              <a:ext uri="{FF2B5EF4-FFF2-40B4-BE49-F238E27FC236}">
                <a16:creationId xmlns:a16="http://schemas.microsoft.com/office/drawing/2014/main" id="{D171E5AB-408F-D419-6CDC-E34526FEED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2534" y="2246398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6D39B8F3-BF43-1A85-4AB8-077C246A740F}"/>
              </a:ext>
            </a:extLst>
          </p:cNvPr>
          <p:cNvSpPr/>
          <p:nvPr/>
        </p:nvSpPr>
        <p:spPr>
          <a:xfrm>
            <a:off x="2025221" y="2248048"/>
            <a:ext cx="393415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제목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5F78FFE3-E56E-BC9F-8950-9DBD15C9A237}"/>
              </a:ext>
            </a:extLst>
          </p:cNvPr>
          <p:cNvGrpSpPr/>
          <p:nvPr/>
        </p:nvGrpSpPr>
        <p:grpSpPr>
          <a:xfrm>
            <a:off x="1169162" y="2246542"/>
            <a:ext cx="408361" cy="144462"/>
            <a:chOff x="2403014" y="4597515"/>
            <a:chExt cx="408361" cy="144462"/>
          </a:xfrm>
        </p:grpSpPr>
        <p:sp>
          <p:nvSpPr>
            <p:cNvPr id="30" name="Rectangle 191">
              <a:extLst>
                <a:ext uri="{FF2B5EF4-FFF2-40B4-BE49-F238E27FC236}">
                  <a16:creationId xmlns:a16="http://schemas.microsoft.com/office/drawing/2014/main" id="{709AA407-A753-56DB-74DA-A0FCBDAC79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2071" y="4615885"/>
              <a:ext cx="269304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접수중</a:t>
              </a:r>
            </a:p>
          </p:txBody>
        </p:sp>
        <p:graphicFrame>
          <p:nvGraphicFramePr>
            <p:cNvPr id="31" name="개체 30">
              <a:extLst>
                <a:ext uri="{FF2B5EF4-FFF2-40B4-BE49-F238E27FC236}">
                  <a16:creationId xmlns:a16="http://schemas.microsoft.com/office/drawing/2014/main" id="{F2DDBCB1-566C-794C-941C-8A2E3F27172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03014" y="4597515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145435" imgH="145435" progId="Visio.Drawing.11">
                    <p:embed/>
                  </p:oleObj>
                </mc:Choice>
                <mc:Fallback>
                  <p:oleObj name="Visio" r:id="rId4" imgW="145435" imgH="145435" progId="Visio.Drawing.11">
                    <p:embed/>
                    <p:pic>
                      <p:nvPicPr>
                        <p:cNvPr id="31" name="개체 30">
                          <a:extLst>
                            <a:ext uri="{FF2B5EF4-FFF2-40B4-BE49-F238E27FC236}">
                              <a16:creationId xmlns:a16="http://schemas.microsoft.com/office/drawing/2014/main" id="{14750A14-E90C-6006-06CB-0393941BBC9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3014" y="4597515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4A2112EC-9C25-9876-1932-578797800B2C}"/>
              </a:ext>
            </a:extLst>
          </p:cNvPr>
          <p:cNvGrpSpPr/>
          <p:nvPr/>
        </p:nvGrpSpPr>
        <p:grpSpPr>
          <a:xfrm>
            <a:off x="266961" y="2246398"/>
            <a:ext cx="316600" cy="144462"/>
            <a:chOff x="2145750" y="2807609"/>
            <a:chExt cx="316600" cy="144462"/>
          </a:xfrm>
        </p:grpSpPr>
        <p:sp>
          <p:nvSpPr>
            <p:cNvPr id="33" name="Rectangle 191">
              <a:extLst>
                <a:ext uri="{FF2B5EF4-FFF2-40B4-BE49-F238E27FC236}">
                  <a16:creationId xmlns:a16="http://schemas.microsoft.com/office/drawing/2014/main" id="{E5A284CD-9C76-B08D-6577-B8D2CB459B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2814" y="2826123"/>
              <a:ext cx="179536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전체</a:t>
              </a:r>
            </a:p>
          </p:txBody>
        </p:sp>
        <p:graphicFrame>
          <p:nvGraphicFramePr>
            <p:cNvPr id="34" name="개체 33">
              <a:extLst>
                <a:ext uri="{FF2B5EF4-FFF2-40B4-BE49-F238E27FC236}">
                  <a16:creationId xmlns:a16="http://schemas.microsoft.com/office/drawing/2014/main" id="{FA841023-C5EE-1B7C-7E6A-B7A88822AA2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45750" y="2807609"/>
            <a:ext cx="144463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6" imgW="145435" imgH="145435" progId="Visio.Drawing.11">
                    <p:embed/>
                  </p:oleObj>
                </mc:Choice>
                <mc:Fallback>
                  <p:oleObj name="Visio" r:id="rId6" imgW="145435" imgH="145435" progId="Visio.Drawing.11">
                    <p:embed/>
                    <p:pic>
                      <p:nvPicPr>
                        <p:cNvPr id="34" name="개체 33">
                          <a:extLst>
                            <a:ext uri="{FF2B5EF4-FFF2-40B4-BE49-F238E27FC236}">
                              <a16:creationId xmlns:a16="http://schemas.microsoft.com/office/drawing/2014/main" id="{6B28E06E-A4B2-AED8-0BDF-D74A1A92C9E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45750" y="2807609"/>
                          <a:ext cx="144463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8045201B-0886-46EA-7A92-294EF4A8F609}"/>
              </a:ext>
            </a:extLst>
          </p:cNvPr>
          <p:cNvGrpSpPr/>
          <p:nvPr/>
        </p:nvGrpSpPr>
        <p:grpSpPr>
          <a:xfrm>
            <a:off x="1666143" y="2246542"/>
            <a:ext cx="318593" cy="144462"/>
            <a:chOff x="2403014" y="4597515"/>
            <a:chExt cx="318593" cy="144462"/>
          </a:xfrm>
        </p:grpSpPr>
        <p:sp>
          <p:nvSpPr>
            <p:cNvPr id="36" name="Rectangle 191">
              <a:extLst>
                <a:ext uri="{FF2B5EF4-FFF2-40B4-BE49-F238E27FC236}">
                  <a16:creationId xmlns:a16="http://schemas.microsoft.com/office/drawing/2014/main" id="{E8AF77F5-B9CC-31F0-BBB7-9B3146206A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2071" y="4615885"/>
              <a:ext cx="179536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마감</a:t>
              </a:r>
            </a:p>
          </p:txBody>
        </p:sp>
        <p:graphicFrame>
          <p:nvGraphicFramePr>
            <p:cNvPr id="37" name="개체 36">
              <a:extLst>
                <a:ext uri="{FF2B5EF4-FFF2-40B4-BE49-F238E27FC236}">
                  <a16:creationId xmlns:a16="http://schemas.microsoft.com/office/drawing/2014/main" id="{C81EB793-D4DE-D232-6A2F-77F5AD64DB2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03014" y="4597515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145435" imgH="145435" progId="Visio.Drawing.11">
                    <p:embed/>
                  </p:oleObj>
                </mc:Choice>
                <mc:Fallback>
                  <p:oleObj name="Visio" r:id="rId4" imgW="145435" imgH="145435" progId="Visio.Drawing.11">
                    <p:embed/>
                    <p:pic>
                      <p:nvPicPr>
                        <p:cNvPr id="37" name="개체 36">
                          <a:extLst>
                            <a:ext uri="{FF2B5EF4-FFF2-40B4-BE49-F238E27FC236}">
                              <a16:creationId xmlns:a16="http://schemas.microsoft.com/office/drawing/2014/main" id="{98721F3C-F45E-2B11-F648-892F0C395F0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3014" y="4597515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08A3ABB1-7380-01B3-E491-F0AF43FF21ED}"/>
              </a:ext>
            </a:extLst>
          </p:cNvPr>
          <p:cNvGrpSpPr/>
          <p:nvPr/>
        </p:nvGrpSpPr>
        <p:grpSpPr>
          <a:xfrm>
            <a:off x="672181" y="2246542"/>
            <a:ext cx="408361" cy="144462"/>
            <a:chOff x="2403014" y="4597515"/>
            <a:chExt cx="408361" cy="144462"/>
          </a:xfrm>
        </p:grpSpPr>
        <p:sp>
          <p:nvSpPr>
            <p:cNvPr id="39" name="Rectangle 191">
              <a:extLst>
                <a:ext uri="{FF2B5EF4-FFF2-40B4-BE49-F238E27FC236}">
                  <a16:creationId xmlns:a16="http://schemas.microsoft.com/office/drawing/2014/main" id="{5DAC271B-0958-11B1-BDED-3C5A3D77E1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2071" y="4615885"/>
              <a:ext cx="269304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준비중</a:t>
              </a:r>
            </a:p>
          </p:txBody>
        </p:sp>
        <p:graphicFrame>
          <p:nvGraphicFramePr>
            <p:cNvPr id="40" name="개체 39">
              <a:extLst>
                <a:ext uri="{FF2B5EF4-FFF2-40B4-BE49-F238E27FC236}">
                  <a16:creationId xmlns:a16="http://schemas.microsoft.com/office/drawing/2014/main" id="{912D5499-B176-493A-CCCF-480C4F9BCDC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03014" y="4597515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145435" imgH="145435" progId="Visio.Drawing.11">
                    <p:embed/>
                  </p:oleObj>
                </mc:Choice>
                <mc:Fallback>
                  <p:oleObj name="Visio" r:id="rId4" imgW="145435" imgH="145435" progId="Visio.Drawing.11">
                    <p:embed/>
                    <p:pic>
                      <p:nvPicPr>
                        <p:cNvPr id="40" name="개체 39">
                          <a:extLst>
                            <a:ext uri="{FF2B5EF4-FFF2-40B4-BE49-F238E27FC236}">
                              <a16:creationId xmlns:a16="http://schemas.microsoft.com/office/drawing/2014/main" id="{509E9A6C-B0EE-B9F4-4738-374A3B30B9B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3014" y="4597515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1C33F428-B0BA-F04D-3C5E-48AA782A18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5869527"/>
              </p:ext>
            </p:extLst>
          </p:nvPr>
        </p:nvGraphicFramePr>
        <p:xfrm>
          <a:off x="284966" y="2881893"/>
          <a:ext cx="6494051" cy="27033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6426">
                  <a:extLst>
                    <a:ext uri="{9D8B030D-6E8A-4147-A177-3AD203B41FA5}">
                      <a16:colId xmlns:a16="http://schemas.microsoft.com/office/drawing/2014/main" val="795720410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1696">
                  <a:extLst>
                    <a:ext uri="{9D8B030D-6E8A-4147-A177-3AD203B41FA5}">
                      <a16:colId xmlns:a16="http://schemas.microsoft.com/office/drawing/2014/main" val="3302419106"/>
                    </a:ext>
                  </a:extLst>
                </a:gridCol>
                <a:gridCol w="69227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545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접수기간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신청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b="0" dirty="0">
                          <a:latin typeface="맑은 고딕" panose="020B0503020000020004" pitchFamily="50" charset="-127"/>
                          <a:ea typeface="+mn-ea"/>
                        </a:rPr>
                        <a:t>2025</a:t>
                      </a:r>
                      <a:r>
                        <a:rPr lang="ko-KR" altLang="en-US" sz="700" b="0" dirty="0">
                          <a:latin typeface="맑은 고딕" panose="020B0503020000020004" pitchFamily="50" charset="-127"/>
                          <a:ea typeface="+mn-ea"/>
                        </a:rPr>
                        <a:t>년 하반기 평생교육장려금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준비중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 하반기 평생교육장려금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접수중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7312254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 하반기 평생교육장려금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접수중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8246901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 하반기 평생교육장려금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마감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1439070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 하반기 평생교육장려금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마감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3880563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 하반기 평생교육장려금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마감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0006018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 하반기 평생교육장려금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2894528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 하반기 평생교육장려금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6804240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 하반기 평생교육장려금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마감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6797012"/>
                  </a:ext>
                </a:extLst>
              </a:tr>
            </a:tbl>
          </a:graphicData>
        </a:graphic>
      </p:graphicFrame>
      <p:sp>
        <p:nvSpPr>
          <p:cNvPr id="19" name="직사각형 18">
            <a:extLst>
              <a:ext uri="{FF2B5EF4-FFF2-40B4-BE49-F238E27FC236}">
                <a16:creationId xmlns:a16="http://schemas.microsoft.com/office/drawing/2014/main" id="{42EDC659-70F0-1E4E-1C48-8839B1090E7E}"/>
              </a:ext>
            </a:extLst>
          </p:cNvPr>
          <p:cNvSpPr/>
          <p:nvPr/>
        </p:nvSpPr>
        <p:spPr>
          <a:xfrm>
            <a:off x="3352870" y="5661248"/>
            <a:ext cx="902491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처음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◀  1  ▶  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마지막</a:t>
            </a:r>
          </a:p>
        </p:txBody>
      </p:sp>
      <p:pic>
        <p:nvPicPr>
          <p:cNvPr id="23" name="Picture 13">
            <a:extLst>
              <a:ext uri="{FF2B5EF4-FFF2-40B4-BE49-F238E27FC236}">
                <a16:creationId xmlns:a16="http://schemas.microsoft.com/office/drawing/2014/main" id="{3E421D6F-FA42-E6E2-79B1-AD47E9A27F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1455" y="2655760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07233038-0316-D3C0-AAD1-C979CB49A23B}"/>
              </a:ext>
            </a:extLst>
          </p:cNvPr>
          <p:cNvSpPr/>
          <p:nvPr/>
        </p:nvSpPr>
        <p:spPr>
          <a:xfrm>
            <a:off x="6254137" y="2649459"/>
            <a:ext cx="35765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10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건</a:t>
            </a:r>
          </a:p>
        </p:txBody>
      </p:sp>
      <p:sp>
        <p:nvSpPr>
          <p:cNvPr id="25" name="Rectangle 191">
            <a:extLst>
              <a:ext uri="{FF2B5EF4-FFF2-40B4-BE49-F238E27FC236}">
                <a16:creationId xmlns:a16="http://schemas.microsoft.com/office/drawing/2014/main" id="{CDB3F3E6-6868-11E3-AB0E-0132F2C6DC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778" y="2666591"/>
            <a:ext cx="261290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총 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7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건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60E858D-EE91-C7F8-C04F-67677CCD25BA}"/>
              </a:ext>
            </a:extLst>
          </p:cNvPr>
          <p:cNvSpPr/>
          <p:nvPr/>
        </p:nvSpPr>
        <p:spPr>
          <a:xfrm>
            <a:off x="6205078" y="3470683"/>
            <a:ext cx="468001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신청하기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D1B0695-66FF-71B4-4F6D-44F002AC8002}"/>
              </a:ext>
            </a:extLst>
          </p:cNvPr>
          <p:cNvSpPr/>
          <p:nvPr/>
        </p:nvSpPr>
        <p:spPr>
          <a:xfrm>
            <a:off x="6205078" y="3738165"/>
            <a:ext cx="468001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신청하기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EE911777-B22A-279D-FB78-6306E4F8C28F}"/>
              </a:ext>
            </a:extLst>
          </p:cNvPr>
          <p:cNvSpPr>
            <a:spLocks noChangeAspect="1"/>
          </p:cNvSpPr>
          <p:nvPr/>
        </p:nvSpPr>
        <p:spPr>
          <a:xfrm>
            <a:off x="113466" y="2240173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CEC96E7F-548F-3434-735D-1A9F0F036D5C}"/>
              </a:ext>
            </a:extLst>
          </p:cNvPr>
          <p:cNvSpPr>
            <a:spLocks noChangeAspect="1"/>
          </p:cNvSpPr>
          <p:nvPr/>
        </p:nvSpPr>
        <p:spPr>
          <a:xfrm>
            <a:off x="226603" y="2812217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7269306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1C8E3-065C-3C15-18DA-196E6BE93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F8BDF60-BE00-EA6C-DDF7-2120A9331076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평생교육장려금 조회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3592911-E7B0-C99B-019E-3D872E98AAC1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프로그램신청관리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평생교육장려금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조회</a:t>
            </a: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C3A09F85-353E-55B4-9975-DC80DB5A8B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5475935"/>
              </p:ext>
            </p:extLst>
          </p:nvPr>
        </p:nvGraphicFramePr>
        <p:xfrm>
          <a:off x="6969418" y="2548005"/>
          <a:ext cx="2772114" cy="1184520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상태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준비중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/ 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접수중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/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마감 중 표시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준비중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조회일 기준 접수기간 이전일 경우의 상태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접수중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조회일 기준 접수기간일 경우의 상태로 회원이 평생교육장려금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산칭하기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가 가능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마감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조회일 기준 접수기간이 지난 경우의 상태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신청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신청하기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공고 상태가 접수중일 경우에 한해 보이며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시 평생교육장려금 신청 화면으로 이동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AA21B015-9800-119F-FA59-866302914CE7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pal_hit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16133A56-1CEE-665D-C857-5A72D4A620E8}"/>
              </a:ext>
            </a:extLst>
          </p:cNvPr>
          <p:cNvSpPr/>
          <p:nvPr/>
        </p:nvSpPr>
        <p:spPr>
          <a:xfrm>
            <a:off x="165100" y="1376772"/>
            <a:ext cx="6732116" cy="36877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9F92DCE1-246F-C1A7-56DD-59E7A9E05A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1468700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3A65FC95-547D-2B28-3D17-7D4E1BB656A9}"/>
              </a:ext>
            </a:extLst>
          </p:cNvPr>
          <p:cNvSpPr/>
          <p:nvPr/>
        </p:nvSpPr>
        <p:spPr>
          <a:xfrm>
            <a:off x="5680946" y="1586865"/>
            <a:ext cx="1165384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오산시민 평생교육장려금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8909F7D-A33F-5B35-6489-EE38661C2684}"/>
              </a:ext>
            </a:extLst>
          </p:cNvPr>
          <p:cNvSpPr/>
          <p:nvPr/>
        </p:nvSpPr>
        <p:spPr>
          <a:xfrm>
            <a:off x="4831365" y="1586865"/>
            <a:ext cx="652423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 신청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46D8FA6-FA73-B85D-5F23-6A3509EE6729}"/>
              </a:ext>
            </a:extLst>
          </p:cNvPr>
          <p:cNvSpPr/>
          <p:nvPr/>
        </p:nvSpPr>
        <p:spPr>
          <a:xfrm>
            <a:off x="4223838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재단소식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B8FA6AC-691E-07E4-1679-0620A9AD03DD}"/>
              </a:ext>
            </a:extLst>
          </p:cNvPr>
          <p:cNvSpPr/>
          <p:nvPr/>
        </p:nvSpPr>
        <p:spPr>
          <a:xfrm>
            <a:off x="3616311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열린경영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1CC2294-F8BA-E52C-CF33-38116287CDE6}"/>
              </a:ext>
            </a:extLst>
          </p:cNvPr>
          <p:cNvSpPr/>
          <p:nvPr/>
        </p:nvSpPr>
        <p:spPr>
          <a:xfrm>
            <a:off x="3008784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9EDEA88-3CCE-5A6B-F2BA-220F26E0173E}"/>
              </a:ext>
            </a:extLst>
          </p:cNvPr>
          <p:cNvSpPr/>
          <p:nvPr/>
        </p:nvSpPr>
        <p:spPr>
          <a:xfrm>
            <a:off x="165100" y="1790190"/>
            <a:ext cx="6732116" cy="469951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9867D7F-0C16-F0AF-5D08-6D9D805B538F}"/>
              </a:ext>
            </a:extLst>
          </p:cNvPr>
          <p:cNvSpPr/>
          <p:nvPr/>
        </p:nvSpPr>
        <p:spPr>
          <a:xfrm>
            <a:off x="5483789" y="1879740"/>
            <a:ext cx="1295227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평생교육장려금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9CDE8DF-3993-284C-1D27-344A087C7328}"/>
              </a:ext>
            </a:extLst>
          </p:cNvPr>
          <p:cNvSpPr/>
          <p:nvPr/>
        </p:nvSpPr>
        <p:spPr>
          <a:xfrm>
            <a:off x="236476" y="1844824"/>
            <a:ext cx="807913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평생교육장려금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644CA3C-BEBA-B58C-3D94-D73FBF43E392}"/>
              </a:ext>
            </a:extLst>
          </p:cNvPr>
          <p:cNvSpPr/>
          <p:nvPr/>
        </p:nvSpPr>
        <p:spPr>
          <a:xfrm>
            <a:off x="3824511" y="2248048"/>
            <a:ext cx="277591" cy="144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검색</a:t>
            </a: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91A8F2C-F067-B196-3FFA-FD76F7C48E9F}"/>
              </a:ext>
            </a:extLst>
          </p:cNvPr>
          <p:cNvSpPr/>
          <p:nvPr/>
        </p:nvSpPr>
        <p:spPr>
          <a:xfrm>
            <a:off x="2610475" y="2248048"/>
            <a:ext cx="1193641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검색어를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입력하세요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3" name="Picture 13">
            <a:extLst>
              <a:ext uri="{FF2B5EF4-FFF2-40B4-BE49-F238E27FC236}">
                <a16:creationId xmlns:a16="http://schemas.microsoft.com/office/drawing/2014/main" id="{A4D96524-DF08-64D7-B0B0-A87DB52154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2534" y="2246398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A3376C24-F9F7-ED6D-C446-5E361BE154EE}"/>
              </a:ext>
            </a:extLst>
          </p:cNvPr>
          <p:cNvSpPr/>
          <p:nvPr/>
        </p:nvSpPr>
        <p:spPr>
          <a:xfrm>
            <a:off x="2025221" y="2248048"/>
            <a:ext cx="393415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제목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7AC981BA-F6E3-09C8-0A15-95D4920907FF}"/>
              </a:ext>
            </a:extLst>
          </p:cNvPr>
          <p:cNvGrpSpPr/>
          <p:nvPr/>
        </p:nvGrpSpPr>
        <p:grpSpPr>
          <a:xfrm>
            <a:off x="1169162" y="2246542"/>
            <a:ext cx="408361" cy="144462"/>
            <a:chOff x="2403014" y="4597515"/>
            <a:chExt cx="408361" cy="144462"/>
          </a:xfrm>
        </p:grpSpPr>
        <p:sp>
          <p:nvSpPr>
            <p:cNvPr id="30" name="Rectangle 191">
              <a:extLst>
                <a:ext uri="{FF2B5EF4-FFF2-40B4-BE49-F238E27FC236}">
                  <a16:creationId xmlns:a16="http://schemas.microsoft.com/office/drawing/2014/main" id="{EEB2362D-5BF4-C7ED-3B43-7DE9FF1E45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2071" y="4615885"/>
              <a:ext cx="269304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접수중</a:t>
              </a:r>
            </a:p>
          </p:txBody>
        </p:sp>
        <p:graphicFrame>
          <p:nvGraphicFramePr>
            <p:cNvPr id="31" name="개체 30">
              <a:extLst>
                <a:ext uri="{FF2B5EF4-FFF2-40B4-BE49-F238E27FC236}">
                  <a16:creationId xmlns:a16="http://schemas.microsoft.com/office/drawing/2014/main" id="{856726F6-D46D-1721-AFCC-B793BD5910C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03014" y="4597515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145435" imgH="145435" progId="Visio.Drawing.11">
                    <p:embed/>
                  </p:oleObj>
                </mc:Choice>
                <mc:Fallback>
                  <p:oleObj name="Visio" r:id="rId4" imgW="145435" imgH="145435" progId="Visio.Drawing.11">
                    <p:embed/>
                    <p:pic>
                      <p:nvPicPr>
                        <p:cNvPr id="31" name="개체 30">
                          <a:extLst>
                            <a:ext uri="{FF2B5EF4-FFF2-40B4-BE49-F238E27FC236}">
                              <a16:creationId xmlns:a16="http://schemas.microsoft.com/office/drawing/2014/main" id="{F2DDBCB1-566C-794C-941C-8A2E3F27172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3014" y="4597515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842B2769-F86E-D667-3768-C7FA0EB303D2}"/>
              </a:ext>
            </a:extLst>
          </p:cNvPr>
          <p:cNvGrpSpPr/>
          <p:nvPr/>
        </p:nvGrpSpPr>
        <p:grpSpPr>
          <a:xfrm>
            <a:off x="266961" y="2246398"/>
            <a:ext cx="316600" cy="144462"/>
            <a:chOff x="2145750" y="2807609"/>
            <a:chExt cx="316600" cy="144462"/>
          </a:xfrm>
        </p:grpSpPr>
        <p:sp>
          <p:nvSpPr>
            <p:cNvPr id="33" name="Rectangle 191">
              <a:extLst>
                <a:ext uri="{FF2B5EF4-FFF2-40B4-BE49-F238E27FC236}">
                  <a16:creationId xmlns:a16="http://schemas.microsoft.com/office/drawing/2014/main" id="{890B0092-73CA-1CB6-FC93-CA5EB66F5D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2814" y="2826123"/>
              <a:ext cx="179536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전체</a:t>
              </a:r>
            </a:p>
          </p:txBody>
        </p:sp>
        <p:graphicFrame>
          <p:nvGraphicFramePr>
            <p:cNvPr id="34" name="개체 33">
              <a:extLst>
                <a:ext uri="{FF2B5EF4-FFF2-40B4-BE49-F238E27FC236}">
                  <a16:creationId xmlns:a16="http://schemas.microsoft.com/office/drawing/2014/main" id="{DED0E0CC-579D-830E-D475-1E73ED8EB7A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45750" y="2807609"/>
            <a:ext cx="144463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6" imgW="145435" imgH="145435" progId="Visio.Drawing.11">
                    <p:embed/>
                  </p:oleObj>
                </mc:Choice>
                <mc:Fallback>
                  <p:oleObj name="Visio" r:id="rId6" imgW="145435" imgH="145435" progId="Visio.Drawing.11">
                    <p:embed/>
                    <p:pic>
                      <p:nvPicPr>
                        <p:cNvPr id="34" name="개체 33">
                          <a:extLst>
                            <a:ext uri="{FF2B5EF4-FFF2-40B4-BE49-F238E27FC236}">
                              <a16:creationId xmlns:a16="http://schemas.microsoft.com/office/drawing/2014/main" id="{FA841023-C5EE-1B7C-7E6A-B7A88822AA2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45750" y="2807609"/>
                          <a:ext cx="144463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F5CA1DA7-7E2C-83B9-6233-05EA6608009E}"/>
              </a:ext>
            </a:extLst>
          </p:cNvPr>
          <p:cNvGrpSpPr/>
          <p:nvPr/>
        </p:nvGrpSpPr>
        <p:grpSpPr>
          <a:xfrm>
            <a:off x="1666143" y="2246542"/>
            <a:ext cx="318593" cy="144462"/>
            <a:chOff x="2403014" y="4597515"/>
            <a:chExt cx="318593" cy="144462"/>
          </a:xfrm>
        </p:grpSpPr>
        <p:sp>
          <p:nvSpPr>
            <p:cNvPr id="36" name="Rectangle 191">
              <a:extLst>
                <a:ext uri="{FF2B5EF4-FFF2-40B4-BE49-F238E27FC236}">
                  <a16:creationId xmlns:a16="http://schemas.microsoft.com/office/drawing/2014/main" id="{3DA7920F-A2BE-BC2D-C2E9-C76EA6BB9F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2071" y="4615885"/>
              <a:ext cx="179536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마감</a:t>
              </a:r>
            </a:p>
          </p:txBody>
        </p:sp>
        <p:graphicFrame>
          <p:nvGraphicFramePr>
            <p:cNvPr id="37" name="개체 36">
              <a:extLst>
                <a:ext uri="{FF2B5EF4-FFF2-40B4-BE49-F238E27FC236}">
                  <a16:creationId xmlns:a16="http://schemas.microsoft.com/office/drawing/2014/main" id="{E05EE83D-1F3C-A989-029E-3025B50C369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03014" y="4597515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145435" imgH="145435" progId="Visio.Drawing.11">
                    <p:embed/>
                  </p:oleObj>
                </mc:Choice>
                <mc:Fallback>
                  <p:oleObj name="Visio" r:id="rId4" imgW="145435" imgH="145435" progId="Visio.Drawing.11">
                    <p:embed/>
                    <p:pic>
                      <p:nvPicPr>
                        <p:cNvPr id="37" name="개체 36">
                          <a:extLst>
                            <a:ext uri="{FF2B5EF4-FFF2-40B4-BE49-F238E27FC236}">
                              <a16:creationId xmlns:a16="http://schemas.microsoft.com/office/drawing/2014/main" id="{C81EB793-D4DE-D232-6A2F-77F5AD64DB2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3014" y="4597515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31A96BF3-DB51-548A-2CB7-5BEFC09AB720}"/>
              </a:ext>
            </a:extLst>
          </p:cNvPr>
          <p:cNvGrpSpPr/>
          <p:nvPr/>
        </p:nvGrpSpPr>
        <p:grpSpPr>
          <a:xfrm>
            <a:off x="672181" y="2246542"/>
            <a:ext cx="408361" cy="144462"/>
            <a:chOff x="2403014" y="4597515"/>
            <a:chExt cx="408361" cy="144462"/>
          </a:xfrm>
        </p:grpSpPr>
        <p:sp>
          <p:nvSpPr>
            <p:cNvPr id="39" name="Rectangle 191">
              <a:extLst>
                <a:ext uri="{FF2B5EF4-FFF2-40B4-BE49-F238E27FC236}">
                  <a16:creationId xmlns:a16="http://schemas.microsoft.com/office/drawing/2014/main" id="{8EFFAF48-5795-CC0B-7A60-71EE45380D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2071" y="4615885"/>
              <a:ext cx="269304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준비중</a:t>
              </a:r>
            </a:p>
          </p:txBody>
        </p:sp>
        <p:graphicFrame>
          <p:nvGraphicFramePr>
            <p:cNvPr id="40" name="개체 39">
              <a:extLst>
                <a:ext uri="{FF2B5EF4-FFF2-40B4-BE49-F238E27FC236}">
                  <a16:creationId xmlns:a16="http://schemas.microsoft.com/office/drawing/2014/main" id="{13F2C80B-4A41-EEB6-0C9F-701F6867057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03014" y="4597515"/>
            <a:ext cx="144462" cy="144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145435" imgH="145435" progId="Visio.Drawing.11">
                    <p:embed/>
                  </p:oleObj>
                </mc:Choice>
                <mc:Fallback>
                  <p:oleObj name="Visio" r:id="rId4" imgW="145435" imgH="145435" progId="Visio.Drawing.11">
                    <p:embed/>
                    <p:pic>
                      <p:nvPicPr>
                        <p:cNvPr id="40" name="개체 39">
                          <a:extLst>
                            <a:ext uri="{FF2B5EF4-FFF2-40B4-BE49-F238E27FC236}">
                              <a16:creationId xmlns:a16="http://schemas.microsoft.com/office/drawing/2014/main" id="{912D5499-B176-493A-CCCF-480C4F9BCDC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3014" y="4597515"/>
                          <a:ext cx="144462" cy="144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45062857-A650-7CAB-0049-E5B07883D622}"/>
              </a:ext>
            </a:extLst>
          </p:cNvPr>
          <p:cNvGraphicFramePr>
            <a:graphicFrameLocks noGrp="1"/>
          </p:cNvGraphicFramePr>
          <p:nvPr/>
        </p:nvGraphicFramePr>
        <p:xfrm>
          <a:off x="284966" y="2881893"/>
          <a:ext cx="6494051" cy="27033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6426">
                  <a:extLst>
                    <a:ext uri="{9D8B030D-6E8A-4147-A177-3AD203B41FA5}">
                      <a16:colId xmlns:a16="http://schemas.microsoft.com/office/drawing/2014/main" val="795720410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1696">
                  <a:extLst>
                    <a:ext uri="{9D8B030D-6E8A-4147-A177-3AD203B41FA5}">
                      <a16:colId xmlns:a16="http://schemas.microsoft.com/office/drawing/2014/main" val="3302419106"/>
                    </a:ext>
                  </a:extLst>
                </a:gridCol>
                <a:gridCol w="69227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545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lang="ko-KR" altLang="en-US" sz="7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접수기간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신청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b="0" dirty="0">
                          <a:latin typeface="맑은 고딕" panose="020B0503020000020004" pitchFamily="50" charset="-127"/>
                          <a:ea typeface="+mn-ea"/>
                        </a:rPr>
                        <a:t>2025</a:t>
                      </a:r>
                      <a:r>
                        <a:rPr lang="ko-KR" altLang="en-US" sz="700" b="0" dirty="0">
                          <a:latin typeface="맑은 고딕" panose="020B0503020000020004" pitchFamily="50" charset="-127"/>
                          <a:ea typeface="+mn-ea"/>
                        </a:rPr>
                        <a:t>년 하반기 평생교육장려금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준비중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 하반기 평생교육장려금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접수중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7312254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 하반기 평생교육장려금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kumimoji="0" lang="ko-KR" altLang="en-US" sz="7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접수중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8246901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 하반기 평생교육장려금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마감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1439070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 하반기 평생교육장려금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마감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3880563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 하반기 평생교육장려금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마감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0006018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</a:t>
                      </a:r>
                      <a:r>
                        <a:rPr kumimoji="0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 하반기 평생교육장려금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2894528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 하반기 평생교육장려금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6804240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 하반기 평생교육장려금 신청</a:t>
                      </a:r>
                      <a:endParaRPr lang="ko-KR" altLang="en-US" sz="7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latin typeface="맑은 고딕" panose="020B0503020000020004" pitchFamily="50" charset="-127"/>
                          <a:ea typeface="+mn-ea"/>
                        </a:rPr>
                        <a:t>2025.09.15 00:00 ~ 2025.09.19 23:59</a:t>
                      </a:r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마감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6797012"/>
                  </a:ext>
                </a:extLst>
              </a:tr>
            </a:tbl>
          </a:graphicData>
        </a:graphic>
      </p:graphicFrame>
      <p:sp>
        <p:nvSpPr>
          <p:cNvPr id="19" name="직사각형 18">
            <a:extLst>
              <a:ext uri="{FF2B5EF4-FFF2-40B4-BE49-F238E27FC236}">
                <a16:creationId xmlns:a16="http://schemas.microsoft.com/office/drawing/2014/main" id="{6FCD378B-4783-D9EB-0713-2F1D2D393B1D}"/>
              </a:ext>
            </a:extLst>
          </p:cNvPr>
          <p:cNvSpPr/>
          <p:nvPr/>
        </p:nvSpPr>
        <p:spPr>
          <a:xfrm>
            <a:off x="3352870" y="5661248"/>
            <a:ext cx="902491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처음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◀  1  ▶  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마지막</a:t>
            </a:r>
          </a:p>
        </p:txBody>
      </p:sp>
      <p:pic>
        <p:nvPicPr>
          <p:cNvPr id="23" name="Picture 13">
            <a:extLst>
              <a:ext uri="{FF2B5EF4-FFF2-40B4-BE49-F238E27FC236}">
                <a16:creationId xmlns:a16="http://schemas.microsoft.com/office/drawing/2014/main" id="{04843812-C6C0-8CCF-7FE2-9B415C0EFF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1455" y="2655760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77E9D751-7843-F8BE-1093-D76562C0ED20}"/>
              </a:ext>
            </a:extLst>
          </p:cNvPr>
          <p:cNvSpPr/>
          <p:nvPr/>
        </p:nvSpPr>
        <p:spPr>
          <a:xfrm>
            <a:off x="6254137" y="2649459"/>
            <a:ext cx="35765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10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건</a:t>
            </a:r>
          </a:p>
        </p:txBody>
      </p:sp>
      <p:sp>
        <p:nvSpPr>
          <p:cNvPr id="25" name="Rectangle 191">
            <a:extLst>
              <a:ext uri="{FF2B5EF4-FFF2-40B4-BE49-F238E27FC236}">
                <a16:creationId xmlns:a16="http://schemas.microsoft.com/office/drawing/2014/main" id="{160F55DF-F578-69E6-4973-EC17AF80A1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778" y="2666591"/>
            <a:ext cx="261290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총 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7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건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C84A88F-A830-0142-38F1-D28A1FC43693}"/>
              </a:ext>
            </a:extLst>
          </p:cNvPr>
          <p:cNvSpPr/>
          <p:nvPr/>
        </p:nvSpPr>
        <p:spPr>
          <a:xfrm>
            <a:off x="6205078" y="3470683"/>
            <a:ext cx="468001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신청하기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C6EAA42-F646-DA7B-C937-18F2AB969939}"/>
              </a:ext>
            </a:extLst>
          </p:cNvPr>
          <p:cNvSpPr/>
          <p:nvPr/>
        </p:nvSpPr>
        <p:spPr>
          <a:xfrm>
            <a:off x="6205078" y="3738165"/>
            <a:ext cx="468001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신청하기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B7400FE1-647C-AED8-5299-EA63563083E5}"/>
              </a:ext>
            </a:extLst>
          </p:cNvPr>
          <p:cNvSpPr>
            <a:spLocks noChangeAspect="1"/>
          </p:cNvSpPr>
          <p:nvPr/>
        </p:nvSpPr>
        <p:spPr>
          <a:xfrm>
            <a:off x="113466" y="2240173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7C57E1EF-A7D4-B318-363B-AA8C1F22EB3C}"/>
              </a:ext>
            </a:extLst>
          </p:cNvPr>
          <p:cNvSpPr>
            <a:spLocks noChangeAspect="1"/>
          </p:cNvSpPr>
          <p:nvPr/>
        </p:nvSpPr>
        <p:spPr>
          <a:xfrm>
            <a:off x="226603" y="2812217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709325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1D25C-FC54-EE46-CDE8-840F11FB1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46C887B-93F3-B634-D124-C42623D1DD92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평생교육장려금 신청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BEADE87-8C66-52F0-F32C-3D159C7BBEB5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프로그램신청관리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평생교육장려금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신청</a:t>
            </a: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C4376FE1-1A02-F47C-4E41-E7C317C698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7881836"/>
              </p:ext>
            </p:extLst>
          </p:nvPr>
        </p:nvGraphicFramePr>
        <p:xfrm>
          <a:off x="6969418" y="2548005"/>
          <a:ext cx="2772114" cy="3298219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프로그램신청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평생교육장려금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조회 화면 목록에서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신청하기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클릭 시 보이는 화면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사이트관리자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프로그램신청관리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개인정보동의관리에서 설정된 개인정보 수집 및 활용에 대한 동의 내용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개인정보 수집 및 활용에 동의합니다 체크 시 신청이 가능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프로그램신청관리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개인정보동의관리에서 설정된 서약서에 대한 동의 내용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내용에 동의합니다 체크 시 신청이 가능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779"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이름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신청자 회원의 이름을 표시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최종전입일자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신청 시 설정한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최종전입일자로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수정이 가능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생년월일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신청 시 설정한 신청자의 생년월일로 수정이 가능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연락처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신청 시 설정한 본인 연락처로 수정이 가능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주소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신청 시 설정한 신청자 주소로 수정이 가능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우편번호 찾기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주소검색 팝업창에서 해당 주소 검색 및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선택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우편번호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기본주소가 주소란에 적용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상세주소 직접입력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주민등록초본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신청 시 첨부된 주민등록초본 파일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제출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: 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제출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주민등록초본 파일 선택 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&gt;&gt;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첨부 설정완료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받기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] : 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+mn-ea"/>
                          <a:cs typeface="+mn-cs"/>
                        </a:rPr>
                        <a:t>클릭 시 첨부된 주민등록초본 파일 다운로드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0398668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EC29C53F-71F0-D595-403E-4B0125B4A0EC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pal_application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A63AAC90-6CBC-67C8-858D-523B91E8546A}"/>
              </a:ext>
            </a:extLst>
          </p:cNvPr>
          <p:cNvSpPr/>
          <p:nvPr/>
        </p:nvSpPr>
        <p:spPr>
          <a:xfrm>
            <a:off x="165100" y="1376772"/>
            <a:ext cx="6732116" cy="36877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5AA0AC64-8C50-824B-48E3-CD80377010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1468700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A333DC04-1A6B-2AE0-6A0D-C97907F5336C}"/>
              </a:ext>
            </a:extLst>
          </p:cNvPr>
          <p:cNvSpPr/>
          <p:nvPr/>
        </p:nvSpPr>
        <p:spPr>
          <a:xfrm>
            <a:off x="5680946" y="1586865"/>
            <a:ext cx="1165384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오산시민 평생교육장려금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B8B1CD5-7501-F1A3-EF86-694A5D7145AF}"/>
              </a:ext>
            </a:extLst>
          </p:cNvPr>
          <p:cNvSpPr/>
          <p:nvPr/>
        </p:nvSpPr>
        <p:spPr>
          <a:xfrm>
            <a:off x="4831365" y="1586865"/>
            <a:ext cx="652423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 신청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C0D0C25-E50A-EF0F-94D4-BCE3A911F684}"/>
              </a:ext>
            </a:extLst>
          </p:cNvPr>
          <p:cNvSpPr/>
          <p:nvPr/>
        </p:nvSpPr>
        <p:spPr>
          <a:xfrm>
            <a:off x="4223838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재단소식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5C25697-D0A4-316F-693E-54FE612AA3D2}"/>
              </a:ext>
            </a:extLst>
          </p:cNvPr>
          <p:cNvSpPr/>
          <p:nvPr/>
        </p:nvSpPr>
        <p:spPr>
          <a:xfrm>
            <a:off x="3616311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열린경영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668F1B5-B97F-5FDB-0922-FFA7996ECD46}"/>
              </a:ext>
            </a:extLst>
          </p:cNvPr>
          <p:cNvSpPr/>
          <p:nvPr/>
        </p:nvSpPr>
        <p:spPr>
          <a:xfrm>
            <a:off x="3008784" y="1586865"/>
            <a:ext cx="410369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재단소개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5D1EBC4-12AF-8C50-A3C6-901B6B7ADDD0}"/>
              </a:ext>
            </a:extLst>
          </p:cNvPr>
          <p:cNvSpPr/>
          <p:nvPr/>
        </p:nvSpPr>
        <p:spPr>
          <a:xfrm>
            <a:off x="165100" y="1790190"/>
            <a:ext cx="6732116" cy="469951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23F60B7-3D0E-428C-8D14-5ABA5772E490}"/>
              </a:ext>
            </a:extLst>
          </p:cNvPr>
          <p:cNvSpPr/>
          <p:nvPr/>
        </p:nvSpPr>
        <p:spPr>
          <a:xfrm>
            <a:off x="5483789" y="1879740"/>
            <a:ext cx="1295227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평생교육장려금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D032B81-59BE-5BD0-C95D-3BBAC1EB8A81}"/>
              </a:ext>
            </a:extLst>
          </p:cNvPr>
          <p:cNvSpPr/>
          <p:nvPr/>
        </p:nvSpPr>
        <p:spPr>
          <a:xfrm>
            <a:off x="236476" y="1844824"/>
            <a:ext cx="807913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평생교육장려금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622DD15-4B0A-3A12-CF01-CE02C62544EB}"/>
              </a:ext>
            </a:extLst>
          </p:cNvPr>
          <p:cNvSpPr/>
          <p:nvPr/>
        </p:nvSpPr>
        <p:spPr>
          <a:xfrm>
            <a:off x="293117" y="2253975"/>
            <a:ext cx="1620636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800" b="1" dirty="0">
                <a:solidFill>
                  <a:prstClr val="black"/>
                </a:solidFill>
              </a:rPr>
              <a:t>개인정보 수집 및 활용에 대한 안내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BB0F1673-F42A-2C7C-A303-E795A79D9A2B}"/>
              </a:ext>
            </a:extLst>
          </p:cNvPr>
          <p:cNvGrpSpPr/>
          <p:nvPr/>
        </p:nvGrpSpPr>
        <p:grpSpPr>
          <a:xfrm>
            <a:off x="6712124" y="2433664"/>
            <a:ext cx="77080" cy="792000"/>
            <a:chOff x="6781481" y="1888563"/>
            <a:chExt cx="77080" cy="792000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B92A0323-52E6-D667-8A9B-A5493920F1D1}"/>
                </a:ext>
              </a:extLst>
            </p:cNvPr>
            <p:cNvSpPr/>
            <p:nvPr/>
          </p:nvSpPr>
          <p:spPr>
            <a:xfrm>
              <a:off x="6786561" y="1888563"/>
              <a:ext cx="72000" cy="792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8640F317-7132-621F-F091-99798CDED772}"/>
                </a:ext>
              </a:extLst>
            </p:cNvPr>
            <p:cNvSpPr/>
            <p:nvPr/>
          </p:nvSpPr>
          <p:spPr>
            <a:xfrm>
              <a:off x="6781481" y="2116070"/>
              <a:ext cx="72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endParaRPr>
            </a:p>
          </p:txBody>
        </p:sp>
      </p:grp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EFC7105-DA48-D36F-48BE-523E619A0884}"/>
              </a:ext>
            </a:extLst>
          </p:cNvPr>
          <p:cNvSpPr/>
          <p:nvPr/>
        </p:nvSpPr>
        <p:spPr>
          <a:xfrm>
            <a:off x="279064" y="2433995"/>
            <a:ext cx="6427980" cy="78963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t"/>
          <a:lstStyle/>
          <a:p>
            <a:r>
              <a:rPr lang="ko-KR" altLang="en-US" sz="700" dirty="0">
                <a:solidFill>
                  <a:prstClr val="black"/>
                </a:solidFill>
              </a:rPr>
              <a:t>오산교육재단 홈페이지 프로그램 신청을 위하여 아래와 같이 개인정보를 수집・이용하고자 합니다</a:t>
            </a:r>
            <a:r>
              <a:rPr lang="en-US" altLang="ko-KR" sz="700" dirty="0">
                <a:solidFill>
                  <a:prstClr val="black"/>
                </a:solidFill>
              </a:rPr>
              <a:t>. </a:t>
            </a:r>
            <a:r>
              <a:rPr lang="ko-KR" altLang="en-US" sz="700" dirty="0">
                <a:solidFill>
                  <a:prstClr val="black"/>
                </a:solidFill>
              </a:rPr>
              <a:t>내용을 자세히 읽으신 후 동의 여부를 결정하여 주시기 바랍니다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</a:p>
          <a:p>
            <a:endParaRPr lang="en-US" altLang="ko-KR" sz="700" dirty="0">
              <a:solidFill>
                <a:prstClr val="black"/>
              </a:solidFill>
            </a:endParaRPr>
          </a:p>
          <a:p>
            <a:r>
              <a:rPr lang="ko-KR" altLang="en-US" sz="700" dirty="0">
                <a:solidFill>
                  <a:prstClr val="black"/>
                </a:solidFill>
              </a:rPr>
              <a:t>개인정보 수집・이용 내역</a:t>
            </a:r>
            <a:endParaRPr lang="en-US" altLang="ko-KR" sz="700" dirty="0">
              <a:solidFill>
                <a:prstClr val="black"/>
              </a:solidFill>
            </a:endParaRPr>
          </a:p>
          <a:p>
            <a:r>
              <a:rPr lang="en-US" altLang="ko-KR" sz="700" dirty="0">
                <a:solidFill>
                  <a:prstClr val="black"/>
                </a:solidFill>
              </a:rPr>
              <a:t>1. </a:t>
            </a:r>
            <a:r>
              <a:rPr lang="ko-KR" altLang="en-US" sz="700" dirty="0">
                <a:solidFill>
                  <a:prstClr val="black"/>
                </a:solidFill>
              </a:rPr>
              <a:t>항목</a:t>
            </a:r>
            <a:endParaRPr lang="en-US" altLang="ko-KR" sz="700" dirty="0">
              <a:solidFill>
                <a:prstClr val="black"/>
              </a:solidFill>
            </a:endParaRPr>
          </a:p>
          <a:p>
            <a:r>
              <a:rPr lang="en-US" altLang="ko-KR" sz="700" dirty="0">
                <a:solidFill>
                  <a:prstClr val="black"/>
                </a:solidFill>
              </a:rPr>
              <a:t>‣ </a:t>
            </a:r>
            <a:r>
              <a:rPr lang="ko-KR" altLang="en-US" sz="700" dirty="0">
                <a:solidFill>
                  <a:prstClr val="black"/>
                </a:solidFill>
              </a:rPr>
              <a:t>필수항목 </a:t>
            </a:r>
            <a:r>
              <a:rPr lang="en-US" altLang="ko-KR" sz="700" dirty="0">
                <a:solidFill>
                  <a:prstClr val="black"/>
                </a:solidFill>
              </a:rPr>
              <a:t>: </a:t>
            </a:r>
            <a:r>
              <a:rPr lang="ko-KR" altLang="en-US" sz="700" dirty="0">
                <a:solidFill>
                  <a:prstClr val="black"/>
                </a:solidFill>
              </a:rPr>
              <a:t>성명</a:t>
            </a:r>
            <a:r>
              <a:rPr lang="en-US" altLang="ko-KR" sz="700" dirty="0">
                <a:solidFill>
                  <a:prstClr val="black"/>
                </a:solidFill>
              </a:rPr>
              <a:t>, </a:t>
            </a:r>
            <a:r>
              <a:rPr lang="ko-KR" altLang="en-US" sz="700" dirty="0">
                <a:solidFill>
                  <a:prstClr val="black"/>
                </a:solidFill>
              </a:rPr>
              <a:t>아이디</a:t>
            </a:r>
            <a:r>
              <a:rPr lang="en-US" altLang="ko-KR" sz="700" dirty="0">
                <a:solidFill>
                  <a:prstClr val="black"/>
                </a:solidFill>
              </a:rPr>
              <a:t>, </a:t>
            </a:r>
            <a:r>
              <a:rPr lang="ko-KR" altLang="en-US" sz="700" dirty="0">
                <a:solidFill>
                  <a:prstClr val="black"/>
                </a:solidFill>
              </a:rPr>
              <a:t>비밀번호</a:t>
            </a:r>
            <a:r>
              <a:rPr lang="en-US" altLang="ko-KR" sz="700" dirty="0">
                <a:solidFill>
                  <a:prstClr val="black"/>
                </a:solidFill>
              </a:rPr>
              <a:t>, </a:t>
            </a:r>
            <a:r>
              <a:rPr lang="ko-KR" altLang="en-US" sz="700" dirty="0">
                <a:solidFill>
                  <a:prstClr val="black"/>
                </a:solidFill>
              </a:rPr>
              <a:t>휴대폰번호</a:t>
            </a:r>
            <a:r>
              <a:rPr lang="en-US" altLang="ko-KR" sz="700" dirty="0">
                <a:solidFill>
                  <a:prstClr val="black"/>
                </a:solidFill>
              </a:rPr>
              <a:t>, </a:t>
            </a:r>
            <a:r>
              <a:rPr lang="ko-KR" altLang="en-US" sz="700" dirty="0" err="1">
                <a:solidFill>
                  <a:prstClr val="black"/>
                </a:solidFill>
              </a:rPr>
              <a:t>이메일주소</a:t>
            </a:r>
            <a:r>
              <a:rPr lang="en-US" altLang="ko-KR" sz="700" dirty="0">
                <a:solidFill>
                  <a:prstClr val="black"/>
                </a:solidFill>
              </a:rPr>
              <a:t>, </a:t>
            </a:r>
            <a:r>
              <a:rPr lang="ko-KR" altLang="en-US" sz="700" dirty="0">
                <a:solidFill>
                  <a:prstClr val="black"/>
                </a:solidFill>
              </a:rPr>
              <a:t>관리를 위해 수집함</a:t>
            </a:r>
            <a:endParaRPr lang="en-US" altLang="ko-KR" sz="700" dirty="0">
              <a:solidFill>
                <a:prstClr val="black"/>
              </a:solidFill>
            </a:endParaRP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9809BD68-BF3F-E436-167B-B60AE285C1A0}"/>
              </a:ext>
            </a:extLst>
          </p:cNvPr>
          <p:cNvGrpSpPr/>
          <p:nvPr/>
        </p:nvGrpSpPr>
        <p:grpSpPr>
          <a:xfrm>
            <a:off x="274010" y="3254981"/>
            <a:ext cx="1651953" cy="144463"/>
            <a:chOff x="2156839" y="1593629"/>
            <a:chExt cx="1651953" cy="144463"/>
          </a:xfrm>
        </p:grpSpPr>
        <p:sp>
          <p:nvSpPr>
            <p:cNvPr id="62" name="Rectangle 191">
              <a:extLst>
                <a:ext uri="{FF2B5EF4-FFF2-40B4-BE49-F238E27FC236}">
                  <a16:creationId xmlns:a16="http://schemas.microsoft.com/office/drawing/2014/main" id="{A4DA4275-F3B7-A8A0-2E20-1FCFA50DAB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9984" y="1614297"/>
              <a:ext cx="1498808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latinLnBrk="0">
                <a:defRPr/>
              </a:pPr>
              <a:r>
                <a:rPr lang="ko-KR" altLang="en-US" sz="700" b="1" kern="0" dirty="0">
                  <a:solidFill>
                    <a:srgbClr val="000000"/>
                  </a:solidFill>
                </a:rPr>
                <a:t>개인정보 수집 및 활용에 동의합니다</a:t>
              </a:r>
              <a:r>
                <a:rPr lang="en-US" altLang="ko-KR" sz="700" b="1" kern="0" dirty="0">
                  <a:solidFill>
                    <a:srgbClr val="000000"/>
                  </a:solidFill>
                </a:rPr>
                <a:t>.</a:t>
              </a:r>
              <a:endParaRPr lang="ko-KR" altLang="en-US" sz="700" b="1" kern="0" dirty="0">
                <a:solidFill>
                  <a:srgbClr val="000000"/>
                </a:solidFill>
              </a:endParaRPr>
            </a:p>
          </p:txBody>
        </p:sp>
        <p:graphicFrame>
          <p:nvGraphicFramePr>
            <p:cNvPr id="63" name="개체 62">
              <a:extLst>
                <a:ext uri="{FF2B5EF4-FFF2-40B4-BE49-F238E27FC236}">
                  <a16:creationId xmlns:a16="http://schemas.microsoft.com/office/drawing/2014/main" id="{D8FAC563-DD90-29D0-E5C5-9BE50CA8417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03337888"/>
                </p:ext>
              </p:extLst>
            </p:nvPr>
          </p:nvGraphicFramePr>
          <p:xfrm>
            <a:off x="2156839" y="1593629"/>
            <a:ext cx="144462" cy="144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3" imgW="145435" imgH="145435" progId="Visio.Drawing.11">
                    <p:embed/>
                  </p:oleObj>
                </mc:Choice>
                <mc:Fallback>
                  <p:oleObj name="Visio" r:id="rId3" imgW="145435" imgH="145435" progId="Visio.Drawing.11">
                    <p:embed/>
                    <p:pic>
                      <p:nvPicPr>
                        <p:cNvPr id="44" name="개체 43">
                          <a:extLst>
                            <a:ext uri="{FF2B5EF4-FFF2-40B4-BE49-F238E27FC236}">
                              <a16:creationId xmlns:a16="http://schemas.microsoft.com/office/drawing/2014/main" id="{A1BAED55-4B45-AB8F-FB7B-3BCF86692C2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56839" y="1593629"/>
                          <a:ext cx="144462" cy="1444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D4F6F-631D-E895-33D7-10E873DB44F3}"/>
              </a:ext>
            </a:extLst>
          </p:cNvPr>
          <p:cNvSpPr/>
          <p:nvPr/>
        </p:nvSpPr>
        <p:spPr>
          <a:xfrm>
            <a:off x="293117" y="3520679"/>
            <a:ext cx="307777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800" b="1" dirty="0">
                <a:solidFill>
                  <a:prstClr val="black"/>
                </a:solidFill>
              </a:rPr>
              <a:t>서약서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B71D3A61-7D12-A0A1-CAC4-514F81E6592C}"/>
              </a:ext>
            </a:extLst>
          </p:cNvPr>
          <p:cNvGrpSpPr/>
          <p:nvPr/>
        </p:nvGrpSpPr>
        <p:grpSpPr>
          <a:xfrm>
            <a:off x="6712124" y="3700368"/>
            <a:ext cx="77080" cy="792000"/>
            <a:chOff x="6781481" y="1888563"/>
            <a:chExt cx="77080" cy="79200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4B4BD207-7AC7-C084-2BF2-00F053FE562D}"/>
                </a:ext>
              </a:extLst>
            </p:cNvPr>
            <p:cNvSpPr/>
            <p:nvPr/>
          </p:nvSpPr>
          <p:spPr>
            <a:xfrm>
              <a:off x="6786561" y="1888563"/>
              <a:ext cx="72000" cy="792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03876206-05A6-8CB6-BEA2-C02C888B6BB4}"/>
                </a:ext>
              </a:extLst>
            </p:cNvPr>
            <p:cNvSpPr/>
            <p:nvPr/>
          </p:nvSpPr>
          <p:spPr>
            <a:xfrm>
              <a:off x="6781481" y="2116070"/>
              <a:ext cx="72000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endParaRPr>
            </a:p>
          </p:txBody>
        </p:sp>
      </p:grp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A56A396-A4E2-E540-8B13-9F927CE47F68}"/>
              </a:ext>
            </a:extLst>
          </p:cNvPr>
          <p:cNvSpPr/>
          <p:nvPr/>
        </p:nvSpPr>
        <p:spPr>
          <a:xfrm>
            <a:off x="279064" y="3700699"/>
            <a:ext cx="6427980" cy="78963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t"/>
          <a:lstStyle/>
          <a:p>
            <a:r>
              <a:rPr lang="ko-KR" altLang="en-US" sz="700" dirty="0">
                <a:solidFill>
                  <a:prstClr val="black"/>
                </a:solidFill>
              </a:rPr>
              <a:t>본인은 </a:t>
            </a:r>
            <a:r>
              <a:rPr lang="en-US" altLang="ko-KR" sz="700" dirty="0">
                <a:solidFill>
                  <a:prstClr val="black"/>
                </a:solidFill>
              </a:rPr>
              <a:t>(</a:t>
            </a:r>
            <a:r>
              <a:rPr lang="ko-KR" altLang="en-US" sz="700" dirty="0">
                <a:solidFill>
                  <a:prstClr val="black"/>
                </a:solidFill>
              </a:rPr>
              <a:t>재</a:t>
            </a:r>
            <a:r>
              <a:rPr lang="en-US" altLang="ko-KR" sz="700" dirty="0">
                <a:solidFill>
                  <a:prstClr val="black"/>
                </a:solidFill>
              </a:rPr>
              <a:t>)</a:t>
            </a:r>
            <a:r>
              <a:rPr lang="ko-KR" altLang="en-US" sz="700" dirty="0">
                <a:solidFill>
                  <a:prstClr val="black"/>
                </a:solidFill>
              </a:rPr>
              <a:t>오산교육재단 오산시민 평생교육장려금 신청 관련하여 다음 사항을 준수할 것을 서약합니다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</a:p>
          <a:p>
            <a:endParaRPr lang="en-US" altLang="ko-KR" sz="700" dirty="0">
              <a:solidFill>
                <a:prstClr val="black"/>
              </a:solidFill>
            </a:endParaRPr>
          </a:p>
          <a:p>
            <a:pPr marL="87313" indent="-87313"/>
            <a:r>
              <a:rPr lang="en-US" altLang="ko-KR" sz="700" dirty="0">
                <a:solidFill>
                  <a:prstClr val="black"/>
                </a:solidFill>
              </a:rPr>
              <a:t>1. </a:t>
            </a:r>
            <a:r>
              <a:rPr lang="ko-KR" altLang="en-US" sz="700" dirty="0">
                <a:solidFill>
                  <a:prstClr val="black"/>
                </a:solidFill>
              </a:rPr>
              <a:t>이용자로 선정되었으나</a:t>
            </a:r>
            <a:r>
              <a:rPr lang="en-US" altLang="ko-KR" sz="700" dirty="0">
                <a:solidFill>
                  <a:prstClr val="black"/>
                </a:solidFill>
              </a:rPr>
              <a:t>, </a:t>
            </a:r>
            <a:r>
              <a:rPr lang="ko-KR" altLang="en-US" sz="700" dirty="0">
                <a:solidFill>
                  <a:prstClr val="black"/>
                </a:solidFill>
              </a:rPr>
              <a:t>장려금 </a:t>
            </a:r>
            <a:r>
              <a:rPr lang="ko-KR" altLang="en-US" sz="700" dirty="0" err="1">
                <a:solidFill>
                  <a:prstClr val="black"/>
                </a:solidFill>
              </a:rPr>
              <a:t>청구시</a:t>
            </a:r>
            <a:r>
              <a:rPr lang="ko-KR" altLang="en-US" sz="700" dirty="0">
                <a:solidFill>
                  <a:prstClr val="black"/>
                </a:solidFill>
              </a:rPr>
              <a:t> 자격 및 서류 불충분 사유로 장려금지급이 거절될 수 있음을 확인하였습니다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</a:p>
          <a:p>
            <a:pPr marL="87313" indent="-87313"/>
            <a:r>
              <a:rPr lang="en-US" altLang="ko-KR" sz="700" dirty="0">
                <a:solidFill>
                  <a:prstClr val="black"/>
                </a:solidFill>
              </a:rPr>
              <a:t>2. </a:t>
            </a:r>
            <a:r>
              <a:rPr lang="ko-KR" altLang="en-US" sz="700" dirty="0">
                <a:solidFill>
                  <a:prstClr val="black"/>
                </a:solidFill>
              </a:rPr>
              <a:t>평생교육장려금 부정 및 대리사용을 하지 않겠습니다</a:t>
            </a:r>
            <a:r>
              <a:rPr lang="en-US" altLang="ko-KR" sz="700" dirty="0">
                <a:solidFill>
                  <a:prstClr val="black"/>
                </a:solidFill>
              </a:rPr>
              <a:t>. (</a:t>
            </a:r>
            <a:r>
              <a:rPr lang="ko-KR" altLang="en-US" sz="700" dirty="0">
                <a:solidFill>
                  <a:prstClr val="black"/>
                </a:solidFill>
              </a:rPr>
              <a:t>부정사용 및 대리사용 </a:t>
            </a:r>
            <a:r>
              <a:rPr lang="ko-KR" altLang="en-US" sz="700" dirty="0" err="1">
                <a:solidFill>
                  <a:prstClr val="black"/>
                </a:solidFill>
              </a:rPr>
              <a:t>발견시</a:t>
            </a:r>
            <a:r>
              <a:rPr lang="ko-KR" altLang="en-US" sz="700" dirty="0">
                <a:solidFill>
                  <a:prstClr val="black"/>
                </a:solidFill>
              </a:rPr>
              <a:t> 즉시 자격 상실됨</a:t>
            </a:r>
            <a:r>
              <a:rPr lang="en-US" altLang="ko-KR" sz="700" dirty="0">
                <a:solidFill>
                  <a:prstClr val="black"/>
                </a:solidFill>
              </a:rPr>
              <a:t>)</a:t>
            </a:r>
          </a:p>
          <a:p>
            <a:pPr marL="87313" indent="-87313"/>
            <a:r>
              <a:rPr lang="en-US" altLang="ko-KR" sz="700" dirty="0">
                <a:solidFill>
                  <a:prstClr val="black"/>
                </a:solidFill>
              </a:rPr>
              <a:t>2. </a:t>
            </a:r>
            <a:r>
              <a:rPr lang="ko-KR" altLang="en-US" sz="700" dirty="0">
                <a:solidFill>
                  <a:prstClr val="black"/>
                </a:solidFill>
              </a:rPr>
              <a:t>오산시민의 보편적 학습권을 보장하는 사업으로서 장려금     지원 및 금액 </a:t>
            </a:r>
            <a:r>
              <a:rPr lang="ko-KR" altLang="en-US" sz="700" dirty="0" err="1">
                <a:solidFill>
                  <a:prstClr val="black"/>
                </a:solidFill>
              </a:rPr>
              <a:t>청구시</a:t>
            </a:r>
            <a:r>
              <a:rPr lang="ko-KR" altLang="en-US" sz="700" dirty="0">
                <a:solidFill>
                  <a:prstClr val="black"/>
                </a:solidFill>
              </a:rPr>
              <a:t> 출석 </a:t>
            </a:r>
            <a:r>
              <a:rPr lang="en-US" altLang="ko-KR" sz="700" dirty="0">
                <a:solidFill>
                  <a:prstClr val="black"/>
                </a:solidFill>
              </a:rPr>
              <a:t>60%</a:t>
            </a:r>
            <a:r>
              <a:rPr lang="ko-KR" altLang="en-US" sz="700" dirty="0">
                <a:solidFill>
                  <a:prstClr val="black"/>
                </a:solidFill>
              </a:rPr>
              <a:t>이상이 확인된 출석부 및 수료증</a:t>
            </a:r>
            <a:r>
              <a:rPr lang="en-US" altLang="ko-KR" sz="700" dirty="0">
                <a:solidFill>
                  <a:prstClr val="black"/>
                </a:solidFill>
              </a:rPr>
              <a:t>, </a:t>
            </a:r>
            <a:r>
              <a:rPr lang="ko-KR" altLang="en-US" sz="700" dirty="0">
                <a:solidFill>
                  <a:prstClr val="black"/>
                </a:solidFill>
              </a:rPr>
              <a:t>주민등록초본</a:t>
            </a:r>
            <a:r>
              <a:rPr lang="en-US" altLang="ko-KR" sz="700" dirty="0">
                <a:solidFill>
                  <a:prstClr val="black"/>
                </a:solidFill>
              </a:rPr>
              <a:t>(</a:t>
            </a:r>
            <a:r>
              <a:rPr lang="ko-KR" altLang="en-US" sz="700" dirty="0">
                <a:solidFill>
                  <a:prstClr val="black"/>
                </a:solidFill>
              </a:rPr>
              <a:t>청구일 기준 </a:t>
            </a:r>
            <a:r>
              <a:rPr lang="en-US" altLang="ko-KR" sz="700" dirty="0">
                <a:solidFill>
                  <a:prstClr val="black"/>
                </a:solidFill>
              </a:rPr>
              <a:t>7</a:t>
            </a:r>
            <a:r>
              <a:rPr lang="ko-KR" altLang="en-US" sz="700" dirty="0">
                <a:solidFill>
                  <a:prstClr val="black"/>
                </a:solidFill>
              </a:rPr>
              <a:t>일 이내 </a:t>
            </a:r>
            <a:r>
              <a:rPr lang="ko-KR" altLang="en-US" sz="700" dirty="0" err="1">
                <a:solidFill>
                  <a:prstClr val="black"/>
                </a:solidFill>
              </a:rPr>
              <a:t>발급본</a:t>
            </a:r>
            <a:r>
              <a:rPr lang="en-US" altLang="ko-KR" sz="700" dirty="0">
                <a:solidFill>
                  <a:prstClr val="black"/>
                </a:solidFill>
              </a:rPr>
              <a:t>)</a:t>
            </a:r>
            <a:r>
              <a:rPr lang="ko-KR" altLang="en-US" sz="700" dirty="0">
                <a:solidFill>
                  <a:prstClr val="black"/>
                </a:solidFill>
              </a:rPr>
              <a:t>을 첨부하겠습니다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4EBED9FD-731E-BF26-1C9A-91FB644B945F}"/>
              </a:ext>
            </a:extLst>
          </p:cNvPr>
          <p:cNvGrpSpPr/>
          <p:nvPr/>
        </p:nvGrpSpPr>
        <p:grpSpPr>
          <a:xfrm>
            <a:off x="274010" y="4521685"/>
            <a:ext cx="927396" cy="144463"/>
            <a:chOff x="2156839" y="1593629"/>
            <a:chExt cx="927396" cy="144463"/>
          </a:xfrm>
        </p:grpSpPr>
        <p:sp>
          <p:nvSpPr>
            <p:cNvPr id="20" name="Rectangle 191">
              <a:extLst>
                <a:ext uri="{FF2B5EF4-FFF2-40B4-BE49-F238E27FC236}">
                  <a16:creationId xmlns:a16="http://schemas.microsoft.com/office/drawing/2014/main" id="{3CF8DF4C-A5A1-76DB-085C-AF4E93AECF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9984" y="1614297"/>
              <a:ext cx="774251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latinLnBrk="0">
                <a:defRPr/>
              </a:pPr>
              <a:r>
                <a:rPr lang="ko-KR" altLang="en-US" sz="700" b="1" kern="0" dirty="0">
                  <a:solidFill>
                    <a:srgbClr val="000000"/>
                  </a:solidFill>
                </a:rPr>
                <a:t>내용에 동의합니다</a:t>
              </a:r>
              <a:r>
                <a:rPr lang="en-US" altLang="ko-KR" sz="700" b="1" kern="0" dirty="0">
                  <a:solidFill>
                    <a:srgbClr val="000000"/>
                  </a:solidFill>
                </a:rPr>
                <a:t>.</a:t>
              </a:r>
              <a:endParaRPr lang="ko-KR" altLang="en-US" sz="700" b="1" kern="0" dirty="0">
                <a:solidFill>
                  <a:srgbClr val="000000"/>
                </a:solidFill>
              </a:endParaRPr>
            </a:p>
          </p:txBody>
        </p:sp>
        <p:graphicFrame>
          <p:nvGraphicFramePr>
            <p:cNvPr id="22" name="개체 21">
              <a:extLst>
                <a:ext uri="{FF2B5EF4-FFF2-40B4-BE49-F238E27FC236}">
                  <a16:creationId xmlns:a16="http://schemas.microsoft.com/office/drawing/2014/main" id="{8FFEE46C-E7EC-1EA5-5617-F084AE55924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03337888"/>
                </p:ext>
              </p:extLst>
            </p:nvPr>
          </p:nvGraphicFramePr>
          <p:xfrm>
            <a:off x="2156839" y="1593629"/>
            <a:ext cx="144462" cy="144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3" imgW="145435" imgH="145435" progId="Visio.Drawing.11">
                    <p:embed/>
                  </p:oleObj>
                </mc:Choice>
                <mc:Fallback>
                  <p:oleObj name="Visio" r:id="rId3" imgW="145435" imgH="145435" progId="Visio.Drawing.11">
                    <p:embed/>
                    <p:pic>
                      <p:nvPicPr>
                        <p:cNvPr id="63" name="개체 62">
                          <a:extLst>
                            <a:ext uri="{FF2B5EF4-FFF2-40B4-BE49-F238E27FC236}">
                              <a16:creationId xmlns:a16="http://schemas.microsoft.com/office/drawing/2014/main" id="{D8FAC563-DD90-29D0-E5C5-9BE50CA8417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56839" y="1593629"/>
                          <a:ext cx="144462" cy="1444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EAEAEA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6350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EF1153D-6367-9FB9-576F-A78D71C3FAFF}"/>
              </a:ext>
            </a:extLst>
          </p:cNvPr>
          <p:cNvSpPr/>
          <p:nvPr/>
        </p:nvSpPr>
        <p:spPr>
          <a:xfrm>
            <a:off x="293117" y="4833156"/>
            <a:ext cx="549831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800" b="1" dirty="0">
                <a:solidFill>
                  <a:prstClr val="black"/>
                </a:solidFill>
              </a:rPr>
              <a:t>신청자 정보</a:t>
            </a: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04677B90-99CA-A21F-3399-7DD1D523F5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2529019"/>
              </p:ext>
            </p:extLst>
          </p:nvPr>
        </p:nvGraphicFramePr>
        <p:xfrm>
          <a:off x="279064" y="5006070"/>
          <a:ext cx="6510673" cy="1379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7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8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1451">
                  <a:extLst>
                    <a:ext uri="{9D8B030D-6E8A-4147-A177-3AD203B41FA5}">
                      <a16:colId xmlns:a16="http://schemas.microsoft.com/office/drawing/2014/main" val="3116975180"/>
                    </a:ext>
                  </a:extLst>
                </a:gridCol>
                <a:gridCol w="2212834">
                  <a:extLst>
                    <a:ext uri="{9D8B030D-6E8A-4147-A177-3AD203B41FA5}">
                      <a16:colId xmlns:a16="http://schemas.microsoft.com/office/drawing/2014/main" val="4261210409"/>
                    </a:ext>
                  </a:extLst>
                </a:gridCol>
              </a:tblGrid>
              <a:tr h="229955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이름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홍이삭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최종전입일자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9955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생년월일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en-US" altLang="ko-KR" sz="7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2008.05.23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연락처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9955">
                <a:tc rowSpan="3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주소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584227"/>
                  </a:ext>
                </a:extLst>
              </a:tr>
              <a:tr h="22995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805151"/>
                  </a:ext>
                </a:extLst>
              </a:tr>
              <a:tr h="229955">
                <a:tc vMerge="1"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4821748"/>
                  </a:ext>
                </a:extLst>
              </a:tr>
              <a:tr h="229955">
                <a:tc>
                  <a:txBody>
                    <a:bodyPr/>
                    <a:lstStyle/>
                    <a:p>
                      <a:pPr algn="r" latinLnBrk="0"/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주민등록초본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latinLnBrk="0"/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515371"/>
                  </a:ext>
                </a:extLst>
              </a:tr>
            </a:tbl>
          </a:graphicData>
        </a:graphic>
      </p:graphicFrame>
      <p:pic>
        <p:nvPicPr>
          <p:cNvPr id="28" name="Picture 13">
            <a:extLst>
              <a:ext uri="{FF2B5EF4-FFF2-40B4-BE49-F238E27FC236}">
                <a16:creationId xmlns:a16="http://schemas.microsoft.com/office/drawing/2014/main" id="{093FB273-7451-FF24-FB1E-C6E9F84EBE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6065" y="5271205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9" name="직사각형 28">
            <a:extLst>
              <a:ext uri="{FF2B5EF4-FFF2-40B4-BE49-F238E27FC236}">
                <a16:creationId xmlns:a16="http://schemas.microsoft.com/office/drawing/2014/main" id="{1B6B7EC4-7C0C-9917-322F-18312CB7C9D0}"/>
              </a:ext>
            </a:extLst>
          </p:cNvPr>
          <p:cNvSpPr/>
          <p:nvPr/>
        </p:nvSpPr>
        <p:spPr>
          <a:xfrm>
            <a:off x="1246175" y="5271469"/>
            <a:ext cx="35765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2008</a:t>
            </a: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년</a:t>
            </a:r>
          </a:p>
        </p:txBody>
      </p:sp>
      <p:pic>
        <p:nvPicPr>
          <p:cNvPr id="30" name="Picture 13">
            <a:extLst>
              <a:ext uri="{FF2B5EF4-FFF2-40B4-BE49-F238E27FC236}">
                <a16:creationId xmlns:a16="http://schemas.microsoft.com/office/drawing/2014/main" id="{05C54AF6-5ED0-1C8E-A7E4-02D6A9145B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6795" y="5271205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1" name="직사각형 30">
            <a:extLst>
              <a:ext uri="{FF2B5EF4-FFF2-40B4-BE49-F238E27FC236}">
                <a16:creationId xmlns:a16="http://schemas.microsoft.com/office/drawing/2014/main" id="{21CD0023-32D6-68F4-623B-1F430E586BBB}"/>
              </a:ext>
            </a:extLst>
          </p:cNvPr>
          <p:cNvSpPr/>
          <p:nvPr/>
        </p:nvSpPr>
        <p:spPr>
          <a:xfrm>
            <a:off x="1772143" y="5271469"/>
            <a:ext cx="295578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01</a:t>
            </a: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월</a:t>
            </a:r>
          </a:p>
        </p:txBody>
      </p:sp>
      <p:pic>
        <p:nvPicPr>
          <p:cNvPr id="32" name="Picture 13">
            <a:extLst>
              <a:ext uri="{FF2B5EF4-FFF2-40B4-BE49-F238E27FC236}">
                <a16:creationId xmlns:a16="http://schemas.microsoft.com/office/drawing/2014/main" id="{68C29D2E-C1BC-D305-33F3-00AD115B9D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8648" y="5271205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3" name="직사각형 32">
            <a:extLst>
              <a:ext uri="{FF2B5EF4-FFF2-40B4-BE49-F238E27FC236}">
                <a16:creationId xmlns:a16="http://schemas.microsoft.com/office/drawing/2014/main" id="{68012AD4-178B-177C-1E8E-CF7093F51BAE}"/>
              </a:ext>
            </a:extLst>
          </p:cNvPr>
          <p:cNvSpPr/>
          <p:nvPr/>
        </p:nvSpPr>
        <p:spPr>
          <a:xfrm>
            <a:off x="2243996" y="5271469"/>
            <a:ext cx="295578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01</a:t>
            </a: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일</a:t>
            </a: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CED165DF-FC3D-258A-0DC4-B866229E00D0}"/>
              </a:ext>
            </a:extLst>
          </p:cNvPr>
          <p:cNvGrpSpPr/>
          <p:nvPr/>
        </p:nvGrpSpPr>
        <p:grpSpPr>
          <a:xfrm>
            <a:off x="4601057" y="5277821"/>
            <a:ext cx="1250662" cy="147301"/>
            <a:chOff x="5245715" y="2249734"/>
            <a:chExt cx="1250662" cy="147301"/>
          </a:xfrm>
        </p:grpSpPr>
        <p:pic>
          <p:nvPicPr>
            <p:cNvPr id="35" name="Picture 13">
              <a:extLst>
                <a:ext uri="{FF2B5EF4-FFF2-40B4-BE49-F238E27FC236}">
                  <a16:creationId xmlns:a16="http://schemas.microsoft.com/office/drawing/2014/main" id="{9603D8C4-E1FE-DC06-CCA4-B8143CCFB5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06839" y="2249734"/>
              <a:ext cx="154667" cy="147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325DC987-A204-A5B7-938F-153EDF9252B7}"/>
                </a:ext>
              </a:extLst>
            </p:cNvPr>
            <p:cNvSpPr/>
            <p:nvPr/>
          </p:nvSpPr>
          <p:spPr>
            <a:xfrm>
              <a:off x="5245715" y="2249998"/>
              <a:ext cx="245885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prstClr val="black">
                      <a:lumMod val="95000"/>
                      <a:lumOff val="5000"/>
                    </a:prstClr>
                  </a:solidFill>
                </a:rPr>
                <a:t>010</a:t>
              </a:r>
              <a:endPara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endParaRP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F685F79B-7FA5-782B-ED07-13963D9E8EFB}"/>
                </a:ext>
              </a:extLst>
            </p:cNvPr>
            <p:cNvSpPr/>
            <p:nvPr/>
          </p:nvSpPr>
          <p:spPr>
            <a:xfrm>
              <a:off x="5747828" y="2249998"/>
              <a:ext cx="325136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prstClr val="black">
                      <a:lumMod val="95000"/>
                      <a:lumOff val="5000"/>
                    </a:prstClr>
                  </a:solidFill>
                </a:rPr>
                <a:t>1234</a:t>
              </a:r>
              <a:endPara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endParaRP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1761785E-428C-C5DB-CE49-22499CB3D521}"/>
                </a:ext>
              </a:extLst>
            </p:cNvPr>
            <p:cNvSpPr/>
            <p:nvPr/>
          </p:nvSpPr>
          <p:spPr>
            <a:xfrm>
              <a:off x="5686731" y="2260186"/>
              <a:ext cx="36869" cy="107722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algn="r"/>
              <a:r>
                <a:rPr lang="en-US" altLang="ko-KR" sz="700" dirty="0">
                  <a:solidFill>
                    <a:prstClr val="black"/>
                  </a:solidFill>
                </a:rPr>
                <a:t>-</a:t>
              </a:r>
              <a:endParaRPr lang="ko-KR" altLang="en-US" sz="700" dirty="0">
                <a:solidFill>
                  <a:prstClr val="black"/>
                </a:solidFill>
              </a:endParaRP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80176149-204A-05FF-FE7C-185BF7BC9F9A}"/>
                </a:ext>
              </a:extLst>
            </p:cNvPr>
            <p:cNvSpPr/>
            <p:nvPr/>
          </p:nvSpPr>
          <p:spPr>
            <a:xfrm>
              <a:off x="6103668" y="2268137"/>
              <a:ext cx="36869" cy="107722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algn="r"/>
              <a:r>
                <a:rPr lang="en-US" altLang="ko-KR" sz="700" dirty="0">
                  <a:solidFill>
                    <a:prstClr val="black"/>
                  </a:solidFill>
                </a:rPr>
                <a:t>-</a:t>
              </a:r>
              <a:endParaRPr lang="ko-KR" altLang="en-US" sz="700" dirty="0">
                <a:solidFill>
                  <a:prstClr val="black"/>
                </a:solidFill>
              </a:endParaRP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2EF06250-D9CE-B429-C36B-89D3D3FCD724}"/>
                </a:ext>
              </a:extLst>
            </p:cNvPr>
            <p:cNvSpPr/>
            <p:nvPr/>
          </p:nvSpPr>
          <p:spPr>
            <a:xfrm>
              <a:off x="6171241" y="2249998"/>
              <a:ext cx="325136" cy="14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prstClr val="black">
                      <a:lumMod val="95000"/>
                      <a:lumOff val="5000"/>
                    </a:prstClr>
                  </a:solidFill>
                </a:rPr>
                <a:t>5678</a:t>
              </a:r>
              <a:endPara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endParaRPr>
            </a:p>
          </p:txBody>
        </p:sp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133D72E4-9A40-3FA8-8C26-E428244C7166}"/>
              </a:ext>
            </a:extLst>
          </p:cNvPr>
          <p:cNvSpPr/>
          <p:nvPr/>
        </p:nvSpPr>
        <p:spPr>
          <a:xfrm>
            <a:off x="1775141" y="5496838"/>
            <a:ext cx="622908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우편번호 찾기</a:t>
            </a:r>
            <a:endParaRPr lang="ko-KR" altLang="en-US" sz="7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BD15341E-2016-CFD1-A947-C2B45F8B3A62}"/>
              </a:ext>
            </a:extLst>
          </p:cNvPr>
          <p:cNvSpPr/>
          <p:nvPr/>
        </p:nvSpPr>
        <p:spPr>
          <a:xfrm>
            <a:off x="1251639" y="5497442"/>
            <a:ext cx="476033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18131</a:t>
            </a:r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CE30D94B-891B-D5CC-2093-AE494F6C9AC2}"/>
              </a:ext>
            </a:extLst>
          </p:cNvPr>
          <p:cNvSpPr/>
          <p:nvPr/>
        </p:nvSpPr>
        <p:spPr>
          <a:xfrm>
            <a:off x="1251639" y="5731682"/>
            <a:ext cx="2423496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경기 오산시 </a:t>
            </a:r>
            <a:r>
              <a:rPr lang="ko-KR" altLang="en-US" sz="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현충로</a:t>
            </a:r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73619617-9C1A-A098-0071-9D3AA4F6D167}"/>
              </a:ext>
            </a:extLst>
          </p:cNvPr>
          <p:cNvSpPr/>
          <p:nvPr/>
        </p:nvSpPr>
        <p:spPr>
          <a:xfrm>
            <a:off x="1251639" y="5965381"/>
            <a:ext cx="2423496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오산아파트 </a:t>
            </a:r>
            <a:r>
              <a:rPr lang="en-US" altLang="ko-KR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101</a:t>
            </a:r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 </a:t>
            </a:r>
            <a:r>
              <a:rPr lang="en-US" altLang="ko-KR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203</a:t>
            </a:r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BDEBFD18-8B27-0DCF-2F17-E0A30FE5361F}"/>
              </a:ext>
            </a:extLst>
          </p:cNvPr>
          <p:cNvSpPr/>
          <p:nvPr/>
        </p:nvSpPr>
        <p:spPr>
          <a:xfrm>
            <a:off x="3734477" y="5757515"/>
            <a:ext cx="307777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60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기본주소</a:t>
            </a:r>
            <a:endParaRPr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5BCF8566-15FA-A393-CFC4-A7CD36E804EA}"/>
              </a:ext>
            </a:extLst>
          </p:cNvPr>
          <p:cNvSpPr/>
          <p:nvPr/>
        </p:nvSpPr>
        <p:spPr>
          <a:xfrm>
            <a:off x="3734477" y="5991214"/>
            <a:ext cx="307777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상세주소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E4245D90-1366-C02B-9479-448ADEC0AAEA}"/>
              </a:ext>
            </a:extLst>
          </p:cNvPr>
          <p:cNvSpPr/>
          <p:nvPr/>
        </p:nvSpPr>
        <p:spPr>
          <a:xfrm>
            <a:off x="1247045" y="6190519"/>
            <a:ext cx="1620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주민등록초본</a:t>
            </a:r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.pdf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6800A569-B783-00E5-EE8A-454804A2230E}"/>
              </a:ext>
            </a:extLst>
          </p:cNvPr>
          <p:cNvSpPr/>
          <p:nvPr/>
        </p:nvSpPr>
        <p:spPr>
          <a:xfrm>
            <a:off x="2915945" y="6190511"/>
            <a:ext cx="264174" cy="1440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제출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E96AD955-F1C8-B886-3D71-84B2DB85900D}"/>
              </a:ext>
            </a:extLst>
          </p:cNvPr>
          <p:cNvSpPr/>
          <p:nvPr/>
        </p:nvSpPr>
        <p:spPr>
          <a:xfrm>
            <a:off x="3226881" y="6190511"/>
            <a:ext cx="264174" cy="144016"/>
          </a:xfrm>
          <a:prstGeom prst="rect">
            <a:avLst/>
          </a:prstGeom>
          <a:solidFill>
            <a:srgbClr val="66FF66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받기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1" name="Picture 13">
            <a:extLst>
              <a:ext uri="{FF2B5EF4-FFF2-40B4-BE49-F238E27FC236}">
                <a16:creationId xmlns:a16="http://schemas.microsoft.com/office/drawing/2014/main" id="{04FFAA39-7000-8149-CC51-1C7A1BAC4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3923" y="5047801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2" name="직사각형 51">
            <a:extLst>
              <a:ext uri="{FF2B5EF4-FFF2-40B4-BE49-F238E27FC236}">
                <a16:creationId xmlns:a16="http://schemas.microsoft.com/office/drawing/2014/main" id="{24632080-5B87-8F9F-B4DC-F011B849EC06}"/>
              </a:ext>
            </a:extLst>
          </p:cNvPr>
          <p:cNvSpPr/>
          <p:nvPr/>
        </p:nvSpPr>
        <p:spPr>
          <a:xfrm>
            <a:off x="4604033" y="5048065"/>
            <a:ext cx="35765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2023</a:t>
            </a: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년</a:t>
            </a:r>
          </a:p>
        </p:txBody>
      </p:sp>
      <p:pic>
        <p:nvPicPr>
          <p:cNvPr id="53" name="Picture 13">
            <a:extLst>
              <a:ext uri="{FF2B5EF4-FFF2-40B4-BE49-F238E27FC236}">
                <a16:creationId xmlns:a16="http://schemas.microsoft.com/office/drawing/2014/main" id="{7FA92636-19C9-7090-6A7D-48D36A889A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4653" y="5047801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4" name="직사각형 53">
            <a:extLst>
              <a:ext uri="{FF2B5EF4-FFF2-40B4-BE49-F238E27FC236}">
                <a16:creationId xmlns:a16="http://schemas.microsoft.com/office/drawing/2014/main" id="{0B2B6004-0EBB-E938-F4FB-82ADC4B833B2}"/>
              </a:ext>
            </a:extLst>
          </p:cNvPr>
          <p:cNvSpPr/>
          <p:nvPr/>
        </p:nvSpPr>
        <p:spPr>
          <a:xfrm>
            <a:off x="5130001" y="5048065"/>
            <a:ext cx="295578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03</a:t>
            </a: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월</a:t>
            </a:r>
          </a:p>
        </p:txBody>
      </p:sp>
      <p:pic>
        <p:nvPicPr>
          <p:cNvPr id="55" name="Picture 13">
            <a:extLst>
              <a:ext uri="{FF2B5EF4-FFF2-40B4-BE49-F238E27FC236}">
                <a16:creationId xmlns:a16="http://schemas.microsoft.com/office/drawing/2014/main" id="{D3F0EDFB-0855-05AC-051F-5966C7F254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6506" y="5047801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6" name="직사각형 55">
            <a:extLst>
              <a:ext uri="{FF2B5EF4-FFF2-40B4-BE49-F238E27FC236}">
                <a16:creationId xmlns:a16="http://schemas.microsoft.com/office/drawing/2014/main" id="{CF72C8F6-B113-E7AB-99D1-2133D66C2E9C}"/>
              </a:ext>
            </a:extLst>
          </p:cNvPr>
          <p:cNvSpPr/>
          <p:nvPr/>
        </p:nvSpPr>
        <p:spPr>
          <a:xfrm>
            <a:off x="5601854" y="5048065"/>
            <a:ext cx="295578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24</a:t>
            </a:r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일</a:t>
            </a:r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25391C91-4564-5FFE-A9F7-B82D5845C406}"/>
              </a:ext>
            </a:extLst>
          </p:cNvPr>
          <p:cNvSpPr>
            <a:spLocks noChangeAspect="1"/>
          </p:cNvSpPr>
          <p:nvPr/>
        </p:nvSpPr>
        <p:spPr>
          <a:xfrm>
            <a:off x="200472" y="2359249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5A400FB0-C776-357C-FA20-BE70B9D01147}"/>
              </a:ext>
            </a:extLst>
          </p:cNvPr>
          <p:cNvSpPr>
            <a:spLocks noChangeAspect="1"/>
          </p:cNvSpPr>
          <p:nvPr/>
        </p:nvSpPr>
        <p:spPr>
          <a:xfrm>
            <a:off x="200472" y="3621187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6752402B-76D6-F4A6-66DB-410A7FE9EE12}"/>
              </a:ext>
            </a:extLst>
          </p:cNvPr>
          <p:cNvSpPr>
            <a:spLocks noChangeAspect="1"/>
          </p:cNvSpPr>
          <p:nvPr/>
        </p:nvSpPr>
        <p:spPr>
          <a:xfrm>
            <a:off x="200472" y="4939157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2285664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53E61-573D-1175-71C5-9740142B9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B886228-5095-B672-436C-EF1AE2B15DE7}"/>
              </a:ext>
            </a:extLst>
          </p:cNvPr>
          <p:cNvSpPr txBox="1"/>
          <p:nvPr/>
        </p:nvSpPr>
        <p:spPr>
          <a:xfrm>
            <a:off x="8329496" y="1825869"/>
            <a:ext cx="13754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평생교육장려금 신청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F956891-7400-4C44-1C57-7A24D2E3EC2A}"/>
              </a:ext>
            </a:extLst>
          </p:cNvPr>
          <p:cNvSpPr txBox="1"/>
          <p:nvPr/>
        </p:nvSpPr>
        <p:spPr>
          <a:xfrm>
            <a:off x="7343138" y="2073804"/>
            <a:ext cx="2397762" cy="200055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프로그램신청관리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평생교육장려금</a:t>
            </a:r>
            <a:r>
              <a:rPr kumimoji="0" lang="en-US" altLang="ko-KR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신청</a:t>
            </a:r>
          </a:p>
        </p:txBody>
      </p:sp>
      <p:graphicFrame>
        <p:nvGraphicFramePr>
          <p:cNvPr id="21" name="Group 260">
            <a:extLst>
              <a:ext uri="{FF2B5EF4-FFF2-40B4-BE49-F238E27FC236}">
                <a16:creationId xmlns:a16="http://schemas.microsoft.com/office/drawing/2014/main" id="{3D2D9846-D702-4B67-8DC8-3B9ED7D58E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2878896"/>
              </p:ext>
            </p:extLst>
          </p:nvPr>
        </p:nvGraphicFramePr>
        <p:xfrm>
          <a:off x="6969418" y="2548005"/>
          <a:ext cx="2772114" cy="1469880"/>
        </p:xfrm>
        <a:graphic>
          <a:graphicData uri="http://schemas.openxmlformats.org/drawingml/2006/table">
            <a:tbl>
              <a:tblPr/>
              <a:tblGrid>
                <a:gridCol w="34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은행명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신청 시 설정한신청자 본인 계좌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은행명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예금주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신청 시 자동 신청자의 회원 이름을 자동으로 표시하며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수정이 불가능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계좌번호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신청 시 설정한 본인 계좌의 계좌번호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신청</a:t>
                      </a: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]</a:t>
                      </a: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신청정보 설정 후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신청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클릭 시 등록이 완료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홈페이지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마이페이지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나의신청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평생교육장려금에 보이게 됨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182563" marR="0" lvl="1" indent="-90488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나눔고딕" panose="020D0604000000000000" pitchFamily="50" charset="-127"/>
                        <a:buChar char="–"/>
                        <a:tabLst/>
                        <a:defRPr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사이트관리자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프로그램신청관리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평생교육장려금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설정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접수관리에 보이게 됨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92075" marR="0" lvl="0" indent="-92075" algn="l" defTabSz="1279525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[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목록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] :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클릭 시 신청이 취소 되며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조회 화면으로 이동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2001" marR="36000" marT="36000" marB="36000"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7016635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8078DB27-3EBF-E4BD-09F2-25BB8118D919}"/>
              </a:ext>
            </a:extLst>
          </p:cNvPr>
          <p:cNvSpPr txBox="1"/>
          <p:nvPr/>
        </p:nvSpPr>
        <p:spPr>
          <a:xfrm>
            <a:off x="6977108" y="1818185"/>
            <a:ext cx="13523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pal_application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BBE2648-DC8F-A10E-EB8A-FE3162AEDCE3}"/>
              </a:ext>
            </a:extLst>
          </p:cNvPr>
          <p:cNvSpPr/>
          <p:nvPr/>
        </p:nvSpPr>
        <p:spPr>
          <a:xfrm>
            <a:off x="165100" y="1376363"/>
            <a:ext cx="6732116" cy="460414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1323D2A-E1A6-4172-A088-84E77F420D68}"/>
              </a:ext>
            </a:extLst>
          </p:cNvPr>
          <p:cNvSpPr/>
          <p:nvPr/>
        </p:nvSpPr>
        <p:spPr>
          <a:xfrm>
            <a:off x="6397011" y="2449005"/>
            <a:ext cx="392727" cy="19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목록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124B651-E9AB-2623-9E58-C7B3E17F33F5}"/>
              </a:ext>
            </a:extLst>
          </p:cNvPr>
          <p:cNvSpPr/>
          <p:nvPr/>
        </p:nvSpPr>
        <p:spPr>
          <a:xfrm>
            <a:off x="5936915" y="2449005"/>
            <a:ext cx="392727" cy="198000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신청</a:t>
            </a:r>
          </a:p>
        </p:txBody>
      </p:sp>
      <p:graphicFrame>
        <p:nvGraphicFramePr>
          <p:cNvPr id="64" name="표 63">
            <a:extLst>
              <a:ext uri="{FF2B5EF4-FFF2-40B4-BE49-F238E27FC236}">
                <a16:creationId xmlns:a16="http://schemas.microsoft.com/office/drawing/2014/main" id="{ED203192-5D0D-55B3-B8A6-D63EF7A139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3026217"/>
              </p:ext>
            </p:extLst>
          </p:nvPr>
        </p:nvGraphicFramePr>
        <p:xfrm>
          <a:off x="279064" y="1628775"/>
          <a:ext cx="6510674" cy="699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7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30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3308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은행명</a:t>
                      </a:r>
                      <a:endParaRPr lang="ko-KR" altLang="en-US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308">
                <a:tc>
                  <a:txBody>
                    <a:bodyPr/>
                    <a:lstStyle/>
                    <a:p>
                      <a:pPr algn="r" latinLnBrk="0">
                        <a:buFont typeface="Arial" pitchFamily="34" charset="0"/>
                        <a:buNone/>
                      </a:pP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예금주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7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홍이삭</a:t>
                      </a:r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308">
                <a:tc>
                  <a:txBody>
                    <a:bodyPr/>
                    <a:lstStyle/>
                    <a:p>
                      <a:pPr algn="r" latinLnBrk="0"/>
                      <a:r>
                        <a:rPr lang="en-US" altLang="ko-KR" sz="700" b="1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*</a:t>
                      </a:r>
                      <a:r>
                        <a:rPr lang="ko-KR" altLang="en-US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계좌번호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7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5" name="직사각형 64">
            <a:extLst>
              <a:ext uri="{FF2B5EF4-FFF2-40B4-BE49-F238E27FC236}">
                <a16:creationId xmlns:a16="http://schemas.microsoft.com/office/drawing/2014/main" id="{26F6FCA7-8E5E-1D26-1D70-4BDD72457F6F}"/>
              </a:ext>
            </a:extLst>
          </p:cNvPr>
          <p:cNvSpPr/>
          <p:nvPr/>
        </p:nvSpPr>
        <p:spPr>
          <a:xfrm>
            <a:off x="293117" y="1448408"/>
            <a:ext cx="755015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ko-KR" altLang="en-US" sz="800" b="1" dirty="0">
                <a:solidFill>
                  <a:prstClr val="black"/>
                </a:solidFill>
              </a:rPr>
              <a:t>신청자 계좌정보</a:t>
            </a:r>
          </a:p>
        </p:txBody>
      </p:sp>
      <p:pic>
        <p:nvPicPr>
          <p:cNvPr id="66" name="Picture 13">
            <a:extLst>
              <a:ext uri="{FF2B5EF4-FFF2-40B4-BE49-F238E27FC236}">
                <a16:creationId xmlns:a16="http://schemas.microsoft.com/office/drawing/2014/main" id="{11F67320-1E9D-D7ED-BE23-B508686B0D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0499" y="1667058"/>
            <a:ext cx="154667" cy="147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7" name="직사각형 66">
            <a:extLst>
              <a:ext uri="{FF2B5EF4-FFF2-40B4-BE49-F238E27FC236}">
                <a16:creationId xmlns:a16="http://schemas.microsoft.com/office/drawing/2014/main" id="{3850D9E4-BAED-6D99-F5BF-C17A341CCFDB}"/>
              </a:ext>
            </a:extLst>
          </p:cNvPr>
          <p:cNvSpPr/>
          <p:nvPr/>
        </p:nvSpPr>
        <p:spPr>
          <a:xfrm>
            <a:off x="1246175" y="1667322"/>
            <a:ext cx="684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dirty="0">
                <a:solidFill>
                  <a:prstClr val="black">
                    <a:lumMod val="95000"/>
                    <a:lumOff val="5000"/>
                  </a:prstClr>
                </a:solidFill>
              </a:rPr>
              <a:t>국민은행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4F709F76-81FE-4F2E-576A-62A0F211BFD2}"/>
              </a:ext>
            </a:extLst>
          </p:cNvPr>
          <p:cNvSpPr/>
          <p:nvPr/>
        </p:nvSpPr>
        <p:spPr>
          <a:xfrm>
            <a:off x="1251398" y="2136091"/>
            <a:ext cx="1584000" cy="1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rIns="36000" rtlCol="0" anchor="ctr"/>
          <a:lstStyle/>
          <a:p>
            <a:r>
              <a:rPr lang="en-US" altLang="ko-KR" sz="7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123-12-1234567</a:t>
            </a:r>
            <a:endParaRPr lang="ko-KR" altLang="en-US" sz="7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BC11D4D-F965-DDC8-E3EA-C90885C3D53B}"/>
              </a:ext>
            </a:extLst>
          </p:cNvPr>
          <p:cNvSpPr/>
          <p:nvPr/>
        </p:nvSpPr>
        <p:spPr>
          <a:xfrm>
            <a:off x="165100" y="6023481"/>
            <a:ext cx="6732116" cy="46622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" name="Picture 3" descr="D:\01 work\20211026 오산교육재단 - 진로이력제 플랫폼 구축\99 템플릿\img_logo.png">
            <a:extLst>
              <a:ext uri="{FF2B5EF4-FFF2-40B4-BE49-F238E27FC236}">
                <a16:creationId xmlns:a16="http://schemas.microsoft.com/office/drawing/2014/main" id="{B92DA51B-B186-0285-A22A-AC432C24E3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29" y="6165304"/>
            <a:ext cx="809323" cy="20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5C88A82-9F94-595C-09B5-5E6C49FB5845}"/>
              </a:ext>
            </a:extLst>
          </p:cNvPr>
          <p:cNvSpPr txBox="1"/>
          <p:nvPr/>
        </p:nvSpPr>
        <p:spPr>
          <a:xfrm>
            <a:off x="1172580" y="6077394"/>
            <a:ext cx="31242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경기 오산시 성호대로 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141 (</a:t>
            </a:r>
            <a:r>
              <a:rPr lang="ko-KR" altLang="en-US" sz="600" b="0" i="0" dirty="0" err="1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오산동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오산시청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오산교육재단</a:t>
            </a:r>
            <a:endParaRPr lang="en-US" altLang="ko-KR" sz="600" b="0" i="0" dirty="0">
              <a:solidFill>
                <a:srgbClr val="666666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>
              <a:buNone/>
            </a:pP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TEL. (031)8036-8905 FAX. (031)8036-8905</a:t>
            </a:r>
          </a:p>
          <a:p>
            <a:pPr algn="l">
              <a:buNone/>
            </a:pP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Copyright©2025 </a:t>
            </a:r>
            <a:r>
              <a:rPr lang="ko-KR" altLang="en-US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오산교육재단</a:t>
            </a:r>
            <a:r>
              <a:rPr lang="en-US" altLang="ko-KR" sz="600" b="0" i="0" dirty="0">
                <a:solidFill>
                  <a:srgbClr val="6666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 ALL RIGHTSRESERVED</a:t>
            </a: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9D010298-3C8B-1650-1506-28781AE79D81}"/>
              </a:ext>
            </a:extLst>
          </p:cNvPr>
          <p:cNvSpPr>
            <a:spLocks noChangeAspect="1"/>
          </p:cNvSpPr>
          <p:nvPr/>
        </p:nvSpPr>
        <p:spPr>
          <a:xfrm>
            <a:off x="5773339" y="2476005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E1297049-50A8-6026-FAC0-E3F8049545B2}"/>
              </a:ext>
            </a:extLst>
          </p:cNvPr>
          <p:cNvSpPr>
            <a:spLocks noChangeAspect="1"/>
          </p:cNvSpPr>
          <p:nvPr/>
        </p:nvSpPr>
        <p:spPr>
          <a:xfrm>
            <a:off x="200472" y="1561046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7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9538845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B0F0"/>
        </a:solidFill>
        <a:ln w="3175">
          <a:solidFill>
            <a:srgbClr val="005C2A"/>
          </a:solidFill>
        </a:ln>
        <a:effectLst>
          <a:outerShdw blurRad="25400" dist="12700" dir="5400000" algn="t" rotWithShape="0">
            <a:schemeClr val="tx1">
              <a:lumMod val="50000"/>
              <a:lumOff val="50000"/>
              <a:alpha val="40000"/>
            </a:schemeClr>
          </a:outerShdw>
        </a:effectLst>
      </a:spPr>
      <a:bodyPr lIns="252000" rtlCol="0" anchor="ctr"/>
      <a:lstStyle>
        <a:defPPr>
          <a:defRPr sz="700" b="1" smtClean="0">
            <a:solidFill>
              <a:schemeClr val="bg1"/>
            </a:solidFill>
            <a:latin typeface="나눔고딕" pitchFamily="50" charset="-127"/>
            <a:ea typeface="나눔고딕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bg1">
              <a:lumMod val="50000"/>
            </a:schemeClr>
          </a:solidFill>
          <a:prstDash val="sysDash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9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9_Office 테마">
  <a:themeElements>
    <a:clrScheme name="사용자 지정 9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D7E8C6"/>
      </a:hlink>
      <a:folHlink>
        <a:srgbClr val="FFFFFF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6350">
          <a:solidFill>
            <a:schemeClr val="bg1">
              <a:lumMod val="50000"/>
            </a:schemeClr>
          </a:solidFill>
        </a:ln>
        <a:effectLst>
          <a:outerShdw blurRad="50800" dist="38100" dir="2700000" algn="tl" rotWithShape="0">
            <a:schemeClr val="tx1">
              <a:lumMod val="50000"/>
              <a:lumOff val="50000"/>
              <a:alpha val="40000"/>
            </a:schemeClr>
          </a:outerShdw>
        </a:effectLst>
      </a:spPr>
      <a:bodyPr wrap="none" rtlCol="0" anchor="ctr"/>
      <a:lstStyle>
        <a:defPPr algn="ctr">
          <a:defRPr sz="700" smtClean="0">
            <a:solidFill>
              <a:schemeClr val="tx1">
                <a:lumMod val="95000"/>
                <a:lumOff val="5000"/>
              </a:schemeClr>
            </a:solidFill>
            <a:latin typeface="맑은 고딕" pitchFamily="50" charset="-127"/>
            <a:ea typeface="맑은 고딕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rgbClr val="FF0000"/>
          </a:solidFill>
          <a:prstDash val="sysDash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900" dirty="0" smtClean="0"/>
        </a:defPPr>
      </a:lstStyle>
    </a:txDef>
  </a:objectDefaults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110420</TotalTime>
  <Words>14045</Words>
  <Application>Microsoft Office PowerPoint</Application>
  <PresentationFormat>A4 용지(210x297mm)</PresentationFormat>
  <Paragraphs>4515</Paragraphs>
  <Slides>62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3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62</vt:i4>
      </vt:variant>
    </vt:vector>
  </HeadingPairs>
  <TitlesOfParts>
    <vt:vector size="72" baseType="lpstr">
      <vt:lpstr>굴림</vt:lpstr>
      <vt:lpstr>굴림체</vt:lpstr>
      <vt:lpstr>나눔고딕</vt:lpstr>
      <vt:lpstr>맑은 고딕</vt:lpstr>
      <vt:lpstr>Arial</vt:lpstr>
      <vt:lpstr>Noto Sans</vt:lpstr>
      <vt:lpstr>1_Office 테마</vt:lpstr>
      <vt:lpstr>9_Office 테마</vt:lpstr>
      <vt:lpstr>2_Office 테마</vt:lpstr>
      <vt:lpstr>Visio</vt:lpstr>
      <vt:lpstr>오산교육재단 홈페이지 개편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Kimkyu</dc:creator>
  <cp:lastModifiedBy>성열 최</cp:lastModifiedBy>
  <cp:revision>3747</cp:revision>
  <cp:lastPrinted>2022-07-06T11:39:49Z</cp:lastPrinted>
  <dcterms:created xsi:type="dcterms:W3CDTF">2011-08-08T03:42:49Z</dcterms:created>
  <dcterms:modified xsi:type="dcterms:W3CDTF">2025-11-05T02:38:06Z</dcterms:modified>
</cp:coreProperties>
</file>